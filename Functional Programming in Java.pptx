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64" r:id="rId5"/>
    <p:sldId id="265" r:id="rId6"/>
    <p:sldId id="263" r:id="rId7"/>
    <p:sldId id="268" r:id="rId8"/>
    <p:sldId id="266" r:id="rId9"/>
    <p:sldId id="258" r:id="rId10"/>
    <p:sldId id="260" r:id="rId11"/>
    <p:sldId id="261"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64D9C-B252-9860-86B6-3975829A6C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825F24-D9C0-2067-D962-FE923CA0D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8E142D-4EAA-472F-4457-89D940A54775}"/>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5" name="Footer Placeholder 4">
            <a:extLst>
              <a:ext uri="{FF2B5EF4-FFF2-40B4-BE49-F238E27FC236}">
                <a16:creationId xmlns:a16="http://schemas.microsoft.com/office/drawing/2014/main" id="{4BFE98D5-0101-F461-0032-506B192F60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C31087-780D-C7DE-6602-4CB2C31E6A5E}"/>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2251638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5DB05-1D12-EE3D-CFF2-9F9C258DA8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ED4170-651F-2862-7B5C-F4E5AE0456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F4E15E-BBD6-E78B-F1E5-ADAD0D7228F6}"/>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5" name="Footer Placeholder 4">
            <a:extLst>
              <a:ext uri="{FF2B5EF4-FFF2-40B4-BE49-F238E27FC236}">
                <a16:creationId xmlns:a16="http://schemas.microsoft.com/office/drawing/2014/main" id="{09324437-8ED2-DB4C-90D6-0D1A6C764A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34C9D6-5744-8910-5803-FDFA5353B044}"/>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3852153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0AC7-1D7D-0778-265E-1E05ABF27F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904D4B-5DB9-B4E0-0153-A5B0A4112A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94ED05-5E0E-4482-DE52-21D79D07611D}"/>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5" name="Footer Placeholder 4">
            <a:extLst>
              <a:ext uri="{FF2B5EF4-FFF2-40B4-BE49-F238E27FC236}">
                <a16:creationId xmlns:a16="http://schemas.microsoft.com/office/drawing/2014/main" id="{B52E9920-4F72-A3BE-61CE-EC0F27CBBA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83E5EF-88E2-6479-6191-129EBA204977}"/>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1386827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48927-18AF-C6F8-12D0-A556E79A0C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F57F0A-07EF-2B12-B52C-A59335DF08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A24CD6-31D0-8714-8548-6856A6AFEC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A29190-CEA6-90E0-B8E1-EC5303A052B2}"/>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6" name="Footer Placeholder 5">
            <a:extLst>
              <a:ext uri="{FF2B5EF4-FFF2-40B4-BE49-F238E27FC236}">
                <a16:creationId xmlns:a16="http://schemas.microsoft.com/office/drawing/2014/main" id="{3EDCD45F-1953-83D7-DA07-4E87A29417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B41495-60EA-3D5E-B52B-336E89302692}"/>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11962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BF87C-0160-AB14-16FD-50D383C831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B3B532-2CBA-30EF-8463-F009B6EAF2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C00DE-3193-931B-4AE2-E8160F6DE3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643B51-0A97-C5E2-4FA0-4B7735CFFD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B4EF99-C0CC-278D-CEF0-AF918742D4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534781-31CE-95F3-0580-46ED4C48F9AB}"/>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8" name="Footer Placeholder 7">
            <a:extLst>
              <a:ext uri="{FF2B5EF4-FFF2-40B4-BE49-F238E27FC236}">
                <a16:creationId xmlns:a16="http://schemas.microsoft.com/office/drawing/2014/main" id="{4AFF73EA-8D98-59BD-7C31-78C1AF8E27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688972-3544-1B6C-26D7-D6ED5DF0CA0D}"/>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2174943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D98B9-DC83-C8FF-2721-6F3EB25BE8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D33ED4-3DFA-24CA-35D9-0D51317E52F9}"/>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4" name="Footer Placeholder 3">
            <a:extLst>
              <a:ext uri="{FF2B5EF4-FFF2-40B4-BE49-F238E27FC236}">
                <a16:creationId xmlns:a16="http://schemas.microsoft.com/office/drawing/2014/main" id="{D1184EE0-7E96-1B69-5D99-106B0A1723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6A636B-7E24-1CF7-9547-E25DBF24898A}"/>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591199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6DF983-00AA-3C80-8CB6-9FA8397F16FE}"/>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3" name="Footer Placeholder 2">
            <a:extLst>
              <a:ext uri="{FF2B5EF4-FFF2-40B4-BE49-F238E27FC236}">
                <a16:creationId xmlns:a16="http://schemas.microsoft.com/office/drawing/2014/main" id="{A3AA253C-5A5A-3178-F38C-CF57823432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ABC4EB-1576-7CAE-94F5-1DBF31EE526A}"/>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4014166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F900D-0647-9946-0AC6-AD4C78D49F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B1491B-6ACC-726E-D484-BDAC679DB8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58D87B-7C9D-00B5-A203-B2BEB43FE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81967-76B7-7B1E-B24D-C06D2AFB75FD}"/>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6" name="Footer Placeholder 5">
            <a:extLst>
              <a:ext uri="{FF2B5EF4-FFF2-40B4-BE49-F238E27FC236}">
                <a16:creationId xmlns:a16="http://schemas.microsoft.com/office/drawing/2014/main" id="{29984BDE-4477-A85A-3C6B-F7CDD95BB9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A71944-486E-9FCA-2734-9519B7E9B39A}"/>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3687114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19323-D8C1-BE85-2508-742A91013E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BC944A-0971-A008-A53B-054739F446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DE488E8-8594-2AE7-B8F7-0D81C4125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EA9212-38F9-7F1A-6828-B5336EC7909F}"/>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6" name="Footer Placeholder 5">
            <a:extLst>
              <a:ext uri="{FF2B5EF4-FFF2-40B4-BE49-F238E27FC236}">
                <a16:creationId xmlns:a16="http://schemas.microsoft.com/office/drawing/2014/main" id="{7215E568-2203-574D-1EAD-157CE24ED1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114114-F52C-4775-D31C-38DB00D5D313}"/>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80321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F2E7-7450-12D5-1FE9-4E133AD746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F6CB92-2AD2-C205-3504-B1942186E0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9E89A-214B-B557-741C-0F76033AA99E}"/>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5" name="Footer Placeholder 4">
            <a:extLst>
              <a:ext uri="{FF2B5EF4-FFF2-40B4-BE49-F238E27FC236}">
                <a16:creationId xmlns:a16="http://schemas.microsoft.com/office/drawing/2014/main" id="{0447B446-07B3-5AC6-CBC3-F863FE4E06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6B8283-A7AD-F61C-24FA-1AED5F459607}"/>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2300126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40B5F-3EE5-DA9A-CC7D-3CBD4B5263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D2E21B-850E-807A-3B41-F45519340D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508C1-E74A-E6C8-7E87-15D189CE3D1D}"/>
              </a:ext>
            </a:extLst>
          </p:cNvPr>
          <p:cNvSpPr>
            <a:spLocks noGrp="1"/>
          </p:cNvSpPr>
          <p:nvPr>
            <p:ph type="dt" sz="half" idx="10"/>
          </p:nvPr>
        </p:nvSpPr>
        <p:spPr/>
        <p:txBody>
          <a:bodyPr/>
          <a:lstStyle/>
          <a:p>
            <a:fld id="{0ED6C887-FD0D-4256-B71C-C5EDF4853D63}" type="datetimeFigureOut">
              <a:rPr lang="en-IN" smtClean="0"/>
              <a:t>17-10-2023</a:t>
            </a:fld>
            <a:endParaRPr lang="en-IN"/>
          </a:p>
        </p:txBody>
      </p:sp>
      <p:sp>
        <p:nvSpPr>
          <p:cNvPr id="5" name="Footer Placeholder 4">
            <a:extLst>
              <a:ext uri="{FF2B5EF4-FFF2-40B4-BE49-F238E27FC236}">
                <a16:creationId xmlns:a16="http://schemas.microsoft.com/office/drawing/2014/main" id="{BA9C74F6-FA98-95B8-1CED-3398DEF33C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7A465-88F0-E76A-40F9-2E1B2BD39C59}"/>
              </a:ext>
            </a:extLst>
          </p:cNvPr>
          <p:cNvSpPr>
            <a:spLocks noGrp="1"/>
          </p:cNvSpPr>
          <p:nvPr>
            <p:ph type="sldNum" sz="quarter" idx="12"/>
          </p:nvPr>
        </p:nvSpPr>
        <p:spPr/>
        <p:txBody>
          <a:bodyPr/>
          <a:lstStyle/>
          <a:p>
            <a:fld id="{5967E25B-AF40-4F92-8FE4-22BA41C9C572}" type="slidenum">
              <a:rPr lang="en-IN" smtClean="0"/>
              <a:t>‹#›</a:t>
            </a:fld>
            <a:endParaRPr lang="en-IN"/>
          </a:p>
        </p:txBody>
      </p:sp>
    </p:spTree>
    <p:extLst>
      <p:ext uri="{BB962C8B-B14F-4D97-AF65-F5344CB8AC3E}">
        <p14:creationId xmlns:p14="http://schemas.microsoft.com/office/powerpoint/2010/main" val="746500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1751A8-D138-20F3-1343-C57B7E1C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ECF61D-3255-8728-F439-AD05708C3B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6DAD2-BA81-2700-1202-B74ECD25AA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D6C887-FD0D-4256-B71C-C5EDF4853D63}" type="datetimeFigureOut">
              <a:rPr lang="en-IN" smtClean="0"/>
              <a:t>17-10-2023</a:t>
            </a:fld>
            <a:endParaRPr lang="en-IN"/>
          </a:p>
        </p:txBody>
      </p:sp>
      <p:sp>
        <p:nvSpPr>
          <p:cNvPr id="5" name="Footer Placeholder 4">
            <a:extLst>
              <a:ext uri="{FF2B5EF4-FFF2-40B4-BE49-F238E27FC236}">
                <a16:creationId xmlns:a16="http://schemas.microsoft.com/office/drawing/2014/main" id="{AC7D101A-42E1-0CE4-404A-962670DE2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6E384E-C13F-8F92-D023-DF246CD1D3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67E25B-AF40-4F92-8FE4-22BA41C9C572}" type="slidenum">
              <a:rPr lang="en-IN" smtClean="0"/>
              <a:t>‹#›</a:t>
            </a:fld>
            <a:endParaRPr lang="en-IN"/>
          </a:p>
        </p:txBody>
      </p:sp>
    </p:spTree>
    <p:extLst>
      <p:ext uri="{BB962C8B-B14F-4D97-AF65-F5344CB8AC3E}">
        <p14:creationId xmlns:p14="http://schemas.microsoft.com/office/powerpoint/2010/main" val="1233198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scaler.com/topics/java/functional-programming-in-java/" TargetMode="External"/><Relationship Id="rId2" Type="http://schemas.openxmlformats.org/officeDocument/2006/relationships/hyperlink" Target="https://blog.knoldus.com/functional-java-understanding-pure-functions-with-java/"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lambda-expressions-java-8/"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baeldung.com/java-functional-programming" TargetMode="External"/><Relationship Id="rId2" Type="http://schemas.openxmlformats.org/officeDocument/2006/relationships/hyperlink" Target="https://www.freecodecamp.org/news/functional-programming-in-java/#:~:text=In%20functional%20programming%2C%20functions%20are,manipulate%20functions%20in%20Java%20code" TargetMode="External"/><Relationship Id="rId1" Type="http://schemas.openxmlformats.org/officeDocument/2006/relationships/slideLayout" Target="../slideLayouts/slideLayout6.xml"/><Relationship Id="rId5" Type="http://schemas.openxmlformats.org/officeDocument/2006/relationships/hyperlink" Target="https://www.scaler.com/topics/java/functional-programming-in-java/" TargetMode="External"/><Relationship Id="rId4" Type="http://schemas.openxmlformats.org/officeDocument/2006/relationships/hyperlink" Target="https://www.geeksforgeeks.org/functional-programming-in-java-with-exam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7658-E015-FBDC-676B-0124326B05E1}"/>
              </a:ext>
            </a:extLst>
          </p:cNvPr>
          <p:cNvSpPr>
            <a:spLocks noGrp="1"/>
          </p:cNvSpPr>
          <p:nvPr>
            <p:ph type="ctrTitle"/>
          </p:nvPr>
        </p:nvSpPr>
        <p:spPr/>
        <p:txBody>
          <a:bodyPr/>
          <a:lstStyle/>
          <a:p>
            <a:r>
              <a:rPr lang="en-IN" dirty="0"/>
              <a:t>Functional Programming in Java</a:t>
            </a:r>
          </a:p>
        </p:txBody>
      </p:sp>
      <p:sp>
        <p:nvSpPr>
          <p:cNvPr id="3" name="Subtitle 2">
            <a:extLst>
              <a:ext uri="{FF2B5EF4-FFF2-40B4-BE49-F238E27FC236}">
                <a16:creationId xmlns:a16="http://schemas.microsoft.com/office/drawing/2014/main" id="{9D39081B-947B-17C8-5FF6-8A6DFAAA790A}"/>
              </a:ext>
            </a:extLst>
          </p:cNvPr>
          <p:cNvSpPr>
            <a:spLocks noGrp="1"/>
          </p:cNvSpPr>
          <p:nvPr>
            <p:ph type="subTitle" idx="1"/>
          </p:nvPr>
        </p:nvSpPr>
        <p:spPr/>
        <p:txBody>
          <a:bodyPr/>
          <a:lstStyle/>
          <a:p>
            <a:r>
              <a:rPr lang="en-IN" dirty="0"/>
              <a:t>Ayan Sengupta</a:t>
            </a:r>
          </a:p>
        </p:txBody>
      </p:sp>
    </p:spTree>
    <p:extLst>
      <p:ext uri="{BB962C8B-B14F-4D97-AF65-F5344CB8AC3E}">
        <p14:creationId xmlns:p14="http://schemas.microsoft.com/office/powerpoint/2010/main" val="2782414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ightbox">
            <a:extLst>
              <a:ext uri="{FF2B5EF4-FFF2-40B4-BE49-F238E27FC236}">
                <a16:creationId xmlns:a16="http://schemas.microsoft.com/office/drawing/2014/main" id="{5DD04128-3EDE-1880-9BAC-3C79E0797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275" y="1879828"/>
            <a:ext cx="10077450" cy="4295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DB36FDB-6E84-0FEA-24BF-58088D69B42D}"/>
              </a:ext>
            </a:extLst>
          </p:cNvPr>
          <p:cNvSpPr txBox="1"/>
          <p:nvPr/>
        </p:nvSpPr>
        <p:spPr>
          <a:xfrm>
            <a:off x="762000" y="420078"/>
            <a:ext cx="4463143" cy="1200329"/>
          </a:xfrm>
          <a:prstGeom prst="rect">
            <a:avLst/>
          </a:prstGeom>
          <a:noFill/>
        </p:spPr>
        <p:txBody>
          <a:bodyPr wrap="square">
            <a:spAutoFit/>
          </a:bodyPr>
          <a:lstStyle/>
          <a:p>
            <a:r>
              <a:rPr lang="en-US" b="1" i="0" dirty="0">
                <a:solidFill>
                  <a:srgbClr val="000000"/>
                </a:solidFill>
                <a:effectLst/>
                <a:latin typeface="Raleway" panose="020F0502020204030204" pitchFamily="2" charset="0"/>
              </a:rPr>
              <a:t>imperative approach </a:t>
            </a:r>
            <a:r>
              <a:rPr lang="en-US" i="0" dirty="0">
                <a:solidFill>
                  <a:srgbClr val="000000"/>
                </a:solidFill>
                <a:effectLst/>
                <a:latin typeface="Raleway" panose="020F0502020204030204" pitchFamily="2" charset="0"/>
              </a:rPr>
              <a:t>defines a program as a sequence of statements that change the program’s state until it reaches the final state. Focuses on </a:t>
            </a:r>
            <a:r>
              <a:rPr lang="en-US" b="1" i="0" dirty="0">
                <a:solidFill>
                  <a:srgbClr val="000000"/>
                </a:solidFill>
                <a:effectLst/>
                <a:latin typeface="Raleway" panose="020F0502020204030204" pitchFamily="2" charset="0"/>
              </a:rPr>
              <a:t>HOW</a:t>
            </a:r>
            <a:endParaRPr lang="en-IN" b="1" dirty="0"/>
          </a:p>
        </p:txBody>
      </p:sp>
      <p:sp>
        <p:nvSpPr>
          <p:cNvPr id="7" name="TextBox 6">
            <a:extLst>
              <a:ext uri="{FF2B5EF4-FFF2-40B4-BE49-F238E27FC236}">
                <a16:creationId xmlns:a16="http://schemas.microsoft.com/office/drawing/2014/main" id="{D11F39DD-69A1-3526-27F6-28005E85B5A7}"/>
              </a:ext>
            </a:extLst>
          </p:cNvPr>
          <p:cNvSpPr txBox="1"/>
          <p:nvPr/>
        </p:nvSpPr>
        <p:spPr>
          <a:xfrm>
            <a:off x="5475514" y="420078"/>
            <a:ext cx="6096000" cy="923330"/>
          </a:xfrm>
          <a:prstGeom prst="rect">
            <a:avLst/>
          </a:prstGeom>
          <a:noFill/>
        </p:spPr>
        <p:txBody>
          <a:bodyPr wrap="square">
            <a:spAutoFit/>
          </a:bodyPr>
          <a:lstStyle/>
          <a:p>
            <a:r>
              <a:rPr lang="en-US" i="0" dirty="0">
                <a:solidFill>
                  <a:srgbClr val="000000"/>
                </a:solidFill>
                <a:effectLst/>
                <a:latin typeface="Raleway" pitchFamily="2" charset="0"/>
              </a:rPr>
              <a:t>In contrast, the</a:t>
            </a:r>
            <a:r>
              <a:rPr lang="en-US" b="1" i="0" dirty="0">
                <a:solidFill>
                  <a:srgbClr val="000000"/>
                </a:solidFill>
                <a:effectLst/>
                <a:latin typeface="Raleway" pitchFamily="2" charset="0"/>
              </a:rPr>
              <a:t> declarative </a:t>
            </a:r>
            <a:r>
              <a:rPr lang="en-US" i="0" dirty="0">
                <a:solidFill>
                  <a:srgbClr val="000000"/>
                </a:solidFill>
                <a:effectLst/>
                <a:latin typeface="Raleway" pitchFamily="2" charset="0"/>
              </a:rPr>
              <a:t>approach expresses the logic of a computation without describing its control flow. Focuses on </a:t>
            </a:r>
            <a:r>
              <a:rPr lang="en-US" b="1" i="0" dirty="0">
                <a:solidFill>
                  <a:srgbClr val="000000"/>
                </a:solidFill>
                <a:effectLst/>
                <a:latin typeface="Raleway" pitchFamily="2" charset="0"/>
              </a:rPr>
              <a:t>WHAT</a:t>
            </a:r>
            <a:endParaRPr lang="en-IN" b="1" dirty="0"/>
          </a:p>
        </p:txBody>
      </p:sp>
    </p:spTree>
    <p:extLst>
      <p:ext uri="{BB962C8B-B14F-4D97-AF65-F5344CB8AC3E}">
        <p14:creationId xmlns:p14="http://schemas.microsoft.com/office/powerpoint/2010/main" val="825618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F5A3AC-80A1-C8F3-A64A-0C65694DFCB5}"/>
              </a:ext>
            </a:extLst>
          </p:cNvPr>
          <p:cNvSpPr txBox="1"/>
          <p:nvPr/>
        </p:nvSpPr>
        <p:spPr>
          <a:xfrm>
            <a:off x="952499" y="1010922"/>
            <a:ext cx="10287001" cy="4801314"/>
          </a:xfrm>
          <a:prstGeom prst="rect">
            <a:avLst/>
          </a:prstGeom>
          <a:noFill/>
        </p:spPr>
        <p:txBody>
          <a:bodyPr wrap="square">
            <a:spAutoFit/>
          </a:bodyPr>
          <a:lstStyle/>
          <a:p>
            <a:r>
              <a:rPr lang="en-US" b="0" i="0" dirty="0">
                <a:solidFill>
                  <a:srgbClr val="0A0A23"/>
                </a:solidFill>
                <a:effectLst/>
                <a:latin typeface="Lato" panose="020F0502020204030204" pitchFamily="34" charset="0"/>
              </a:rPr>
              <a:t>In functional programming, functions are </a:t>
            </a:r>
            <a:r>
              <a:rPr lang="en-US" b="1" i="0" dirty="0">
                <a:solidFill>
                  <a:srgbClr val="0A0A23"/>
                </a:solidFill>
                <a:effectLst/>
                <a:latin typeface="Lato" panose="020F0502020204030204" pitchFamily="34" charset="0"/>
              </a:rPr>
              <a:t>first-class citizens</a:t>
            </a:r>
            <a:r>
              <a:rPr lang="en-US" b="0" i="0" dirty="0">
                <a:solidFill>
                  <a:srgbClr val="0A0A23"/>
                </a:solidFill>
                <a:effectLst/>
                <a:latin typeface="Lato" panose="020F0502020204030204" pitchFamily="34" charset="0"/>
              </a:rPr>
              <a:t>, meaning that they can be passed around as </a:t>
            </a:r>
            <a:r>
              <a:rPr lang="en-US" b="1" i="0" dirty="0">
                <a:solidFill>
                  <a:srgbClr val="0A0A23"/>
                </a:solidFill>
                <a:effectLst/>
                <a:latin typeface="Lato" panose="020F0502020204030204" pitchFamily="34" charset="0"/>
              </a:rPr>
              <a:t>values</a:t>
            </a:r>
            <a:r>
              <a:rPr lang="en-US" b="0" i="0" dirty="0">
                <a:solidFill>
                  <a:srgbClr val="0A0A23"/>
                </a:solidFill>
                <a:effectLst/>
                <a:latin typeface="Lato" panose="020F0502020204030204" pitchFamily="34" charset="0"/>
              </a:rPr>
              <a:t>, stored in variables or data structures, and used as arguments or return values of other functions.</a:t>
            </a:r>
          </a:p>
          <a:p>
            <a:endParaRPr lang="en-US" dirty="0">
              <a:solidFill>
                <a:srgbClr val="0A0A23"/>
              </a:solidFill>
              <a:latin typeface="Lato" panose="020F0502020204030204" pitchFamily="34" charset="0"/>
            </a:endParaRPr>
          </a:p>
          <a:p>
            <a:r>
              <a:rPr lang="en-US" b="0" i="0" dirty="0">
                <a:solidFill>
                  <a:srgbClr val="0A0A23"/>
                </a:solidFill>
                <a:effectLst/>
                <a:latin typeface="Lato" panose="020F0502020204030203" pitchFamily="34" charset="0"/>
              </a:rPr>
              <a:t>The </a:t>
            </a:r>
            <a:r>
              <a:rPr lang="en-US" b="1" i="0" dirty="0">
                <a:solidFill>
                  <a:srgbClr val="0A0A23"/>
                </a:solidFill>
                <a:effectLst/>
                <a:latin typeface="Lato" panose="020F0502020204030203" pitchFamily="34" charset="0"/>
              </a:rPr>
              <a:t>function interface </a:t>
            </a:r>
            <a:r>
              <a:rPr lang="en-US" b="0" i="0" dirty="0">
                <a:solidFill>
                  <a:srgbClr val="0A0A23"/>
                </a:solidFill>
                <a:effectLst/>
                <a:latin typeface="Lato" panose="020F0502020204030203" pitchFamily="34" charset="0"/>
              </a:rPr>
              <a:t>provides a way to define and manipulate functions in Java code. </a:t>
            </a:r>
            <a:r>
              <a:rPr lang="en-US" dirty="0">
                <a:solidFill>
                  <a:srgbClr val="0A0A23"/>
                </a:solidFill>
                <a:latin typeface="Lato" panose="020F0502020204030203" pitchFamily="34" charset="0"/>
              </a:rPr>
              <a:t>A</a:t>
            </a:r>
            <a:r>
              <a:rPr lang="en-US" b="0" i="0" dirty="0">
                <a:solidFill>
                  <a:srgbClr val="0A0A23"/>
                </a:solidFill>
                <a:effectLst/>
                <a:latin typeface="Lato" panose="020F0502020204030203" pitchFamily="34" charset="0"/>
              </a:rPr>
              <a:t>ny interface with a single abstract method can serve as a functional interface</a:t>
            </a:r>
          </a:p>
          <a:p>
            <a:endParaRPr lang="en-US" b="1" dirty="0">
              <a:solidFill>
                <a:srgbClr val="0A0A23"/>
              </a:solidFill>
              <a:latin typeface="Lato" panose="020F0502020204030203" pitchFamily="34" charset="0"/>
            </a:endParaRPr>
          </a:p>
          <a:p>
            <a:r>
              <a:rPr lang="en-US" b="1" dirty="0">
                <a:solidFill>
                  <a:srgbClr val="0A0A23"/>
                </a:solidFill>
                <a:latin typeface="Lato" panose="020F0502020204030204" pitchFamily="34" charset="0"/>
              </a:rPr>
              <a:t>Higher-order functions </a:t>
            </a:r>
            <a:r>
              <a:rPr lang="en-US" dirty="0">
                <a:solidFill>
                  <a:srgbClr val="0A0A23"/>
                </a:solidFill>
                <a:latin typeface="Lato" panose="020F0502020204030204" pitchFamily="34" charset="0"/>
              </a:rPr>
              <a:t>are capable of receiving functions as arguments and returning a function as a result.</a:t>
            </a:r>
          </a:p>
          <a:p>
            <a:endParaRPr lang="en-US" dirty="0">
              <a:solidFill>
                <a:srgbClr val="0A0A23"/>
              </a:solidFill>
              <a:latin typeface="Lato" panose="020F0502020204030204" pitchFamily="34" charset="0"/>
            </a:endParaRPr>
          </a:p>
          <a:p>
            <a:r>
              <a:rPr lang="en-US" i="0" dirty="0">
                <a:solidFill>
                  <a:srgbClr val="000000"/>
                </a:solidFill>
                <a:effectLst/>
                <a:latin typeface="Raleway" pitchFamily="2" charset="0"/>
              </a:rPr>
              <a:t>a </a:t>
            </a:r>
            <a:r>
              <a:rPr lang="en-US" b="1" i="0" dirty="0">
                <a:solidFill>
                  <a:srgbClr val="000000"/>
                </a:solidFill>
                <a:effectLst/>
                <a:latin typeface="Raleway" pitchFamily="2" charset="0"/>
              </a:rPr>
              <a:t>pure function </a:t>
            </a:r>
            <a:r>
              <a:rPr lang="en-US" i="0" dirty="0">
                <a:solidFill>
                  <a:srgbClr val="000000"/>
                </a:solidFill>
                <a:effectLst/>
                <a:latin typeface="Raleway" pitchFamily="2" charset="0"/>
              </a:rPr>
              <a:t>should return a value based only on the arguments and should have no side effects</a:t>
            </a:r>
            <a:r>
              <a:rPr lang="en-US" dirty="0">
                <a:solidFill>
                  <a:srgbClr val="000000"/>
                </a:solidFill>
                <a:latin typeface="Raleway" pitchFamily="2" charset="0"/>
              </a:rPr>
              <a:t>. (i.e.) modifying global or local state or saving data to a database or disk. Pure functions can be run in parallel without race condition or data corruption. See </a:t>
            </a:r>
            <a:r>
              <a:rPr lang="en-US" dirty="0">
                <a:solidFill>
                  <a:srgbClr val="000000"/>
                </a:solidFill>
                <a:latin typeface="Raleway" pitchFamily="2" charset="0"/>
                <a:hlinkClick r:id="rId2"/>
              </a:rPr>
              <a:t>here</a:t>
            </a:r>
            <a:endParaRPr lang="en-US" dirty="0">
              <a:solidFill>
                <a:srgbClr val="000000"/>
              </a:solidFill>
              <a:latin typeface="Raleway" pitchFamily="2" charset="0"/>
            </a:endParaRPr>
          </a:p>
          <a:p>
            <a:endParaRPr lang="en-US" dirty="0">
              <a:solidFill>
                <a:srgbClr val="000000"/>
              </a:solidFill>
              <a:latin typeface="Raleway" pitchFamily="2" charset="0"/>
            </a:endParaRPr>
          </a:p>
          <a:p>
            <a:r>
              <a:rPr lang="en-US" dirty="0">
                <a:solidFill>
                  <a:srgbClr val="000000"/>
                </a:solidFill>
                <a:latin typeface="Raleway" pitchFamily="2" charset="0"/>
              </a:rPr>
              <a:t>An expression is </a:t>
            </a:r>
            <a:r>
              <a:rPr lang="en-US" b="1" dirty="0">
                <a:solidFill>
                  <a:srgbClr val="000000"/>
                </a:solidFill>
                <a:latin typeface="Raleway" pitchFamily="2" charset="0"/>
              </a:rPr>
              <a:t>referentially transparent </a:t>
            </a:r>
            <a:r>
              <a:rPr lang="en-US" dirty="0">
                <a:solidFill>
                  <a:srgbClr val="000000"/>
                </a:solidFill>
                <a:latin typeface="Raleway" pitchFamily="2" charset="0"/>
              </a:rPr>
              <a:t>if it can be replaced with its corresponding value without changing the program's behavior. If all functions involved in the expression are pure and immutable functions, then the expression is referentially transparent See </a:t>
            </a:r>
            <a:r>
              <a:rPr lang="en-US" dirty="0">
                <a:solidFill>
                  <a:srgbClr val="000000"/>
                </a:solidFill>
                <a:latin typeface="Raleway" pitchFamily="2" charset="0"/>
                <a:hlinkClick r:id="rId3"/>
              </a:rPr>
              <a:t>here</a:t>
            </a:r>
            <a:endParaRPr lang="en-IN" dirty="0">
              <a:solidFill>
                <a:srgbClr val="000000"/>
              </a:solidFill>
              <a:latin typeface="Raleway" pitchFamily="2" charset="0"/>
            </a:endParaRPr>
          </a:p>
        </p:txBody>
      </p:sp>
      <p:sp>
        <p:nvSpPr>
          <p:cNvPr id="4" name="TextBox 3">
            <a:extLst>
              <a:ext uri="{FF2B5EF4-FFF2-40B4-BE49-F238E27FC236}">
                <a16:creationId xmlns:a16="http://schemas.microsoft.com/office/drawing/2014/main" id="{E1613B77-F948-041A-23F8-BA3510863AB0}"/>
              </a:ext>
            </a:extLst>
          </p:cNvPr>
          <p:cNvSpPr txBox="1"/>
          <p:nvPr/>
        </p:nvSpPr>
        <p:spPr>
          <a:xfrm>
            <a:off x="609600" y="294305"/>
            <a:ext cx="6096000" cy="461665"/>
          </a:xfrm>
          <a:prstGeom prst="rect">
            <a:avLst/>
          </a:prstGeom>
          <a:noFill/>
        </p:spPr>
        <p:txBody>
          <a:bodyPr wrap="square">
            <a:spAutoFit/>
          </a:bodyPr>
          <a:lstStyle/>
          <a:p>
            <a:pPr algn="l" fontAlgn="base"/>
            <a:r>
              <a:rPr lang="en-IN" sz="2400" b="1" i="0" dirty="0">
                <a:effectLst/>
                <a:latin typeface="-apple-system"/>
              </a:rPr>
              <a:t>Fundamentals</a:t>
            </a:r>
          </a:p>
        </p:txBody>
      </p:sp>
    </p:spTree>
    <p:extLst>
      <p:ext uri="{BB962C8B-B14F-4D97-AF65-F5344CB8AC3E}">
        <p14:creationId xmlns:p14="http://schemas.microsoft.com/office/powerpoint/2010/main" val="1795275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B61BC25-D855-AA48-53C2-0689D2197280}"/>
              </a:ext>
            </a:extLst>
          </p:cNvPr>
          <p:cNvGraphicFramePr>
            <a:graphicFrameLocks noGrp="1"/>
          </p:cNvGraphicFramePr>
          <p:nvPr>
            <p:extLst>
              <p:ext uri="{D42A27DB-BD31-4B8C-83A1-F6EECF244321}">
                <p14:modId xmlns:p14="http://schemas.microsoft.com/office/powerpoint/2010/main" val="51990229"/>
              </p:ext>
            </p:extLst>
          </p:nvPr>
        </p:nvGraphicFramePr>
        <p:xfrm>
          <a:off x="2031999" y="719666"/>
          <a:ext cx="7914106" cy="4754880"/>
        </p:xfrm>
        <a:graphic>
          <a:graphicData uri="http://schemas.openxmlformats.org/drawingml/2006/table">
            <a:tbl>
              <a:tblPr firstRow="1" bandRow="1">
                <a:tableStyleId>{5C22544A-7EE6-4342-B048-85BDC9FD1C3A}</a:tableStyleId>
              </a:tblPr>
              <a:tblGrid>
                <a:gridCol w="3957053">
                  <a:extLst>
                    <a:ext uri="{9D8B030D-6E8A-4147-A177-3AD203B41FA5}">
                      <a16:colId xmlns:a16="http://schemas.microsoft.com/office/drawing/2014/main" val="1037134072"/>
                    </a:ext>
                  </a:extLst>
                </a:gridCol>
                <a:gridCol w="3957053">
                  <a:extLst>
                    <a:ext uri="{9D8B030D-6E8A-4147-A177-3AD203B41FA5}">
                      <a16:colId xmlns:a16="http://schemas.microsoft.com/office/drawing/2014/main" val="3023737247"/>
                    </a:ext>
                  </a:extLst>
                </a:gridCol>
              </a:tblGrid>
              <a:tr h="370840">
                <a:tc>
                  <a:txBody>
                    <a:bodyPr/>
                    <a:lstStyle/>
                    <a:p>
                      <a:pPr algn="ctr"/>
                      <a:r>
                        <a:rPr lang="en-IN" dirty="0">
                          <a:effectLst/>
                        </a:rPr>
                        <a:t>Functional Programming Paradigm</a:t>
                      </a:r>
                    </a:p>
                  </a:txBody>
                  <a:tcPr anchor="ctr"/>
                </a:tc>
                <a:tc>
                  <a:txBody>
                    <a:bodyPr/>
                    <a:lstStyle/>
                    <a:p>
                      <a:pPr algn="ctr"/>
                      <a:r>
                        <a:rPr lang="en-IN">
                          <a:effectLst/>
                        </a:rPr>
                        <a:t>Object-Oriented Programming Paradigm</a:t>
                      </a:r>
                    </a:p>
                  </a:txBody>
                  <a:tcPr anchor="ctr"/>
                </a:tc>
                <a:extLst>
                  <a:ext uri="{0D108BD9-81ED-4DB2-BD59-A6C34878D82A}">
                    <a16:rowId xmlns:a16="http://schemas.microsoft.com/office/drawing/2014/main" val="2319073669"/>
                  </a:ext>
                </a:extLst>
              </a:tr>
              <a:tr h="370840">
                <a:tc>
                  <a:txBody>
                    <a:bodyPr/>
                    <a:lstStyle/>
                    <a:p>
                      <a:pPr algn="ctr"/>
                      <a:r>
                        <a:rPr lang="en-US">
                          <a:effectLst/>
                        </a:rPr>
                        <a:t>Functional programming follows </a:t>
                      </a:r>
                      <a:r>
                        <a:rPr lang="en-US" b="1">
                          <a:effectLst/>
                        </a:rPr>
                        <a:t>declarative programming paradigm</a:t>
                      </a:r>
                      <a:r>
                        <a:rPr lang="en-US">
                          <a:effectLst/>
                        </a:rPr>
                        <a:t>.</a:t>
                      </a:r>
                    </a:p>
                  </a:txBody>
                  <a:tcPr anchor="ctr"/>
                </a:tc>
                <a:tc>
                  <a:txBody>
                    <a:bodyPr/>
                    <a:lstStyle/>
                    <a:p>
                      <a:pPr algn="ctr"/>
                      <a:r>
                        <a:rPr lang="en-US">
                          <a:effectLst/>
                        </a:rPr>
                        <a:t>Object-Oriented programming follows </a:t>
                      </a:r>
                      <a:r>
                        <a:rPr lang="en-US" b="1">
                          <a:effectLst/>
                        </a:rPr>
                        <a:t>imperative programming paradigm</a:t>
                      </a:r>
                      <a:r>
                        <a:rPr lang="en-US">
                          <a:effectLst/>
                        </a:rPr>
                        <a:t>.</a:t>
                      </a:r>
                    </a:p>
                  </a:txBody>
                  <a:tcPr anchor="ctr"/>
                </a:tc>
                <a:extLst>
                  <a:ext uri="{0D108BD9-81ED-4DB2-BD59-A6C34878D82A}">
                    <a16:rowId xmlns:a16="http://schemas.microsoft.com/office/drawing/2014/main" val="3169699862"/>
                  </a:ext>
                </a:extLst>
              </a:tr>
              <a:tr h="370840">
                <a:tc>
                  <a:txBody>
                    <a:bodyPr/>
                    <a:lstStyle/>
                    <a:p>
                      <a:pPr algn="ctr"/>
                      <a:r>
                        <a:rPr lang="en-US">
                          <a:effectLst/>
                        </a:rPr>
                        <a:t>Functional programming uses </a:t>
                      </a:r>
                      <a:r>
                        <a:rPr lang="en-US" b="1">
                          <a:effectLst/>
                        </a:rPr>
                        <a:t>immutable data</a:t>
                      </a:r>
                      <a:r>
                        <a:rPr lang="en-US">
                          <a:effectLst/>
                        </a:rPr>
                        <a:t>.</a:t>
                      </a:r>
                    </a:p>
                  </a:txBody>
                  <a:tcPr anchor="ctr"/>
                </a:tc>
                <a:tc>
                  <a:txBody>
                    <a:bodyPr/>
                    <a:lstStyle/>
                    <a:p>
                      <a:pPr algn="ctr"/>
                      <a:r>
                        <a:rPr lang="en-US">
                          <a:effectLst/>
                        </a:rPr>
                        <a:t>Object-Oriented programming uses </a:t>
                      </a:r>
                      <a:r>
                        <a:rPr lang="en-US" b="1">
                          <a:effectLst/>
                        </a:rPr>
                        <a:t>mutable data</a:t>
                      </a:r>
                      <a:r>
                        <a:rPr lang="en-US">
                          <a:effectLst/>
                        </a:rPr>
                        <a:t>.</a:t>
                      </a:r>
                    </a:p>
                  </a:txBody>
                  <a:tcPr anchor="ctr"/>
                </a:tc>
                <a:extLst>
                  <a:ext uri="{0D108BD9-81ED-4DB2-BD59-A6C34878D82A}">
                    <a16:rowId xmlns:a16="http://schemas.microsoft.com/office/drawing/2014/main" val="1825101204"/>
                  </a:ext>
                </a:extLst>
              </a:tr>
              <a:tr h="370840">
                <a:tc>
                  <a:txBody>
                    <a:bodyPr/>
                    <a:lstStyle/>
                    <a:p>
                      <a:pPr algn="ctr"/>
                      <a:r>
                        <a:rPr lang="en-IN">
                          <a:effectLst/>
                        </a:rPr>
                        <a:t>Functional programming supports parallel programming.</a:t>
                      </a:r>
                    </a:p>
                  </a:txBody>
                  <a:tcPr anchor="ctr"/>
                </a:tc>
                <a:tc>
                  <a:txBody>
                    <a:bodyPr/>
                    <a:lstStyle/>
                    <a:p>
                      <a:pPr algn="ctr"/>
                      <a:r>
                        <a:rPr lang="en-US">
                          <a:effectLst/>
                        </a:rPr>
                        <a:t>Object-Oriented programming doesn't support parallel programming.</a:t>
                      </a:r>
                    </a:p>
                  </a:txBody>
                  <a:tcPr anchor="ctr"/>
                </a:tc>
                <a:extLst>
                  <a:ext uri="{0D108BD9-81ED-4DB2-BD59-A6C34878D82A}">
                    <a16:rowId xmlns:a16="http://schemas.microsoft.com/office/drawing/2014/main" val="4207217637"/>
                  </a:ext>
                </a:extLst>
              </a:tr>
              <a:tr h="370840">
                <a:tc>
                  <a:txBody>
                    <a:bodyPr/>
                    <a:lstStyle/>
                    <a:p>
                      <a:pPr algn="ctr"/>
                      <a:r>
                        <a:rPr lang="en-US">
                          <a:effectLst/>
                        </a:rPr>
                        <a:t>Functional programming operates on </a:t>
                      </a:r>
                      <a:r>
                        <a:rPr lang="en-US" b="1">
                          <a:effectLst/>
                        </a:rPr>
                        <a:t>variables</a:t>
                      </a:r>
                      <a:r>
                        <a:rPr lang="en-US">
                          <a:effectLst/>
                        </a:rPr>
                        <a:t> and </a:t>
                      </a:r>
                      <a:r>
                        <a:rPr lang="en-US" b="1">
                          <a:effectLst/>
                        </a:rPr>
                        <a:t>functions</a:t>
                      </a:r>
                      <a:r>
                        <a:rPr lang="en-US">
                          <a:effectLst/>
                        </a:rPr>
                        <a:t>.</a:t>
                      </a:r>
                    </a:p>
                  </a:txBody>
                  <a:tcPr anchor="ctr"/>
                </a:tc>
                <a:tc>
                  <a:txBody>
                    <a:bodyPr/>
                    <a:lstStyle/>
                    <a:p>
                      <a:pPr algn="ctr"/>
                      <a:r>
                        <a:rPr lang="en-US">
                          <a:effectLst/>
                        </a:rPr>
                        <a:t>Object-Oriented programming operates on </a:t>
                      </a:r>
                      <a:r>
                        <a:rPr lang="en-US" b="1">
                          <a:effectLst/>
                        </a:rPr>
                        <a:t>objects</a:t>
                      </a:r>
                      <a:r>
                        <a:rPr lang="en-US">
                          <a:effectLst/>
                        </a:rPr>
                        <a:t> and </a:t>
                      </a:r>
                      <a:r>
                        <a:rPr lang="en-US" b="1">
                          <a:effectLst/>
                        </a:rPr>
                        <a:t>methods</a:t>
                      </a:r>
                      <a:r>
                        <a:rPr lang="en-US">
                          <a:effectLst/>
                        </a:rPr>
                        <a:t>.</a:t>
                      </a:r>
                    </a:p>
                  </a:txBody>
                  <a:tcPr anchor="ctr"/>
                </a:tc>
                <a:extLst>
                  <a:ext uri="{0D108BD9-81ED-4DB2-BD59-A6C34878D82A}">
                    <a16:rowId xmlns:a16="http://schemas.microsoft.com/office/drawing/2014/main" val="151907957"/>
                  </a:ext>
                </a:extLst>
              </a:tr>
              <a:tr h="370840">
                <a:tc>
                  <a:txBody>
                    <a:bodyPr/>
                    <a:lstStyle/>
                    <a:p>
                      <a:pPr algn="ctr"/>
                      <a:r>
                        <a:rPr lang="en-US">
                          <a:effectLst/>
                        </a:rPr>
                        <a:t>Functional programming uses </a:t>
                      </a:r>
                      <a:r>
                        <a:rPr lang="en-US" b="1">
                          <a:effectLst/>
                        </a:rPr>
                        <a:t>recursion</a:t>
                      </a:r>
                      <a:r>
                        <a:rPr lang="en-US">
                          <a:effectLst/>
                        </a:rPr>
                        <a:t> for iteration.</a:t>
                      </a:r>
                    </a:p>
                  </a:txBody>
                  <a:tcPr anchor="ctr"/>
                </a:tc>
                <a:tc>
                  <a:txBody>
                    <a:bodyPr/>
                    <a:lstStyle/>
                    <a:p>
                      <a:pPr algn="ctr"/>
                      <a:r>
                        <a:rPr lang="en-US">
                          <a:effectLst/>
                        </a:rPr>
                        <a:t>Object-Oriented programming uses </a:t>
                      </a:r>
                      <a:r>
                        <a:rPr lang="en-US" b="1">
                          <a:effectLst/>
                        </a:rPr>
                        <a:t>loops</a:t>
                      </a:r>
                      <a:r>
                        <a:rPr lang="en-US">
                          <a:effectLst/>
                        </a:rPr>
                        <a:t> for iteration.</a:t>
                      </a:r>
                    </a:p>
                  </a:txBody>
                  <a:tcPr anchor="ctr"/>
                </a:tc>
                <a:extLst>
                  <a:ext uri="{0D108BD9-81ED-4DB2-BD59-A6C34878D82A}">
                    <a16:rowId xmlns:a16="http://schemas.microsoft.com/office/drawing/2014/main" val="3636977337"/>
                  </a:ext>
                </a:extLst>
              </a:tr>
              <a:tr h="370840">
                <a:tc>
                  <a:txBody>
                    <a:bodyPr/>
                    <a:lstStyle/>
                    <a:p>
                      <a:pPr algn="ctr"/>
                      <a:r>
                        <a:rPr lang="en-IN">
                          <a:effectLst/>
                        </a:rPr>
                        <a:t>Functional programming is </a:t>
                      </a:r>
                      <a:r>
                        <a:rPr lang="en-IN" b="1">
                          <a:effectLst/>
                        </a:rPr>
                        <a:t>stateless</a:t>
                      </a:r>
                      <a:r>
                        <a:rPr lang="en-IN">
                          <a:effectLst/>
                        </a:rPr>
                        <a:t>.</a:t>
                      </a:r>
                    </a:p>
                  </a:txBody>
                  <a:tcPr anchor="ctr"/>
                </a:tc>
                <a:tc>
                  <a:txBody>
                    <a:bodyPr/>
                    <a:lstStyle/>
                    <a:p>
                      <a:pPr algn="ctr"/>
                      <a:r>
                        <a:rPr lang="en-IN" dirty="0">
                          <a:effectLst/>
                        </a:rPr>
                        <a:t>Object-Oriented programming is </a:t>
                      </a:r>
                      <a:r>
                        <a:rPr lang="en-IN" b="1" dirty="0">
                          <a:effectLst/>
                        </a:rPr>
                        <a:t>stateful</a:t>
                      </a:r>
                      <a:r>
                        <a:rPr lang="en-IN" dirty="0">
                          <a:effectLst/>
                        </a:rPr>
                        <a:t>.</a:t>
                      </a:r>
                    </a:p>
                  </a:txBody>
                  <a:tcPr anchor="ctr"/>
                </a:tc>
                <a:extLst>
                  <a:ext uri="{0D108BD9-81ED-4DB2-BD59-A6C34878D82A}">
                    <a16:rowId xmlns:a16="http://schemas.microsoft.com/office/drawing/2014/main" val="1793416346"/>
                  </a:ext>
                </a:extLst>
              </a:tr>
            </a:tbl>
          </a:graphicData>
        </a:graphic>
      </p:graphicFrame>
    </p:spTree>
    <p:extLst>
      <p:ext uri="{BB962C8B-B14F-4D97-AF65-F5344CB8AC3E}">
        <p14:creationId xmlns:p14="http://schemas.microsoft.com/office/powerpoint/2010/main" val="3719156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5A0957-FFF5-1D4C-EBCF-391E8281E974}"/>
              </a:ext>
            </a:extLst>
          </p:cNvPr>
          <p:cNvSpPr txBox="1"/>
          <p:nvPr/>
        </p:nvSpPr>
        <p:spPr>
          <a:xfrm>
            <a:off x="304799" y="1032353"/>
            <a:ext cx="11149263" cy="4893647"/>
          </a:xfrm>
          <a:prstGeom prst="rect">
            <a:avLst/>
          </a:prstGeom>
          <a:noFill/>
        </p:spPr>
        <p:txBody>
          <a:bodyPr wrap="square">
            <a:spAutoFit/>
          </a:bodyPr>
          <a:lstStyle/>
          <a:p>
            <a:pPr algn="l">
              <a:buFont typeface="Arial" panose="020B0604020202020204" pitchFamily="34" charset="0"/>
              <a:buChar char="•"/>
            </a:pPr>
            <a:r>
              <a:rPr lang="en-US" sz="2400" b="0" i="0" dirty="0">
                <a:solidFill>
                  <a:srgbClr val="61738E"/>
                </a:solidFill>
                <a:effectLst/>
                <a:latin typeface="__Source_Sans_Pro_fea366"/>
              </a:rPr>
              <a:t>Functional programming uses </a:t>
            </a:r>
            <a:r>
              <a:rPr lang="en-US" sz="2400" b="1" i="0" dirty="0">
                <a:solidFill>
                  <a:srgbClr val="61738E"/>
                </a:solidFill>
                <a:effectLst/>
                <a:latin typeface="__Source_Sans_Pro_fea366"/>
              </a:rPr>
              <a:t>pure functions</a:t>
            </a:r>
            <a:r>
              <a:rPr lang="en-US" sz="2400" b="0" i="0" dirty="0">
                <a:solidFill>
                  <a:srgbClr val="61738E"/>
                </a:solidFill>
                <a:effectLst/>
                <a:latin typeface="__Source_Sans_Pro_fea366"/>
              </a:rPr>
              <a:t>, which only depend on the input parameters passed to the function and always produced the same output for the given input.</a:t>
            </a:r>
          </a:p>
          <a:p>
            <a:pPr algn="l">
              <a:buFont typeface="Arial" panose="020B0604020202020204" pitchFamily="34" charset="0"/>
              <a:buChar char="•"/>
            </a:pPr>
            <a:r>
              <a:rPr lang="en-US" sz="2400" b="0" i="0" dirty="0">
                <a:solidFill>
                  <a:srgbClr val="61738E"/>
                </a:solidFill>
                <a:effectLst/>
                <a:latin typeface="__Source_Sans_Pro_fea366"/>
              </a:rPr>
              <a:t>Functional programming deals with </a:t>
            </a:r>
            <a:r>
              <a:rPr lang="en-US" sz="2400" b="1" i="0" dirty="0">
                <a:solidFill>
                  <a:srgbClr val="61738E"/>
                </a:solidFill>
                <a:effectLst/>
                <a:latin typeface="__Source_Sans_Pro_fea366"/>
              </a:rPr>
              <a:t>immutable data</a:t>
            </a:r>
            <a:r>
              <a:rPr lang="en-US" sz="2400" b="0" i="0" dirty="0">
                <a:solidFill>
                  <a:srgbClr val="61738E"/>
                </a:solidFill>
                <a:effectLst/>
                <a:latin typeface="__Source_Sans_Pro_fea366"/>
              </a:rPr>
              <a:t> (i.e.) the state doesn't change, so it is easier to debug.</a:t>
            </a:r>
          </a:p>
          <a:p>
            <a:pPr algn="l">
              <a:buFont typeface="Arial" panose="020B0604020202020204" pitchFamily="34" charset="0"/>
              <a:buChar char="•"/>
            </a:pPr>
            <a:r>
              <a:rPr lang="en-US" sz="2400" b="0" i="0" dirty="0">
                <a:solidFill>
                  <a:srgbClr val="61738E"/>
                </a:solidFill>
                <a:effectLst/>
                <a:latin typeface="__Source_Sans_Pro_fea366"/>
              </a:rPr>
              <a:t>Functional programming supports </a:t>
            </a:r>
            <a:r>
              <a:rPr lang="en-US" sz="2400" b="1" i="0" dirty="0">
                <a:solidFill>
                  <a:srgbClr val="61738E"/>
                </a:solidFill>
                <a:effectLst/>
                <a:latin typeface="__Source_Sans_Pro_fea366"/>
              </a:rPr>
              <a:t>parallel programming</a:t>
            </a:r>
            <a:r>
              <a:rPr lang="en-US" sz="2400" b="0" i="0" dirty="0">
                <a:solidFill>
                  <a:srgbClr val="61738E"/>
                </a:solidFill>
                <a:effectLst/>
                <a:latin typeface="__Source_Sans_Pro_fea366"/>
              </a:rPr>
              <a:t> because pure functions don't change the state and operate exclusively on the input parameters.</a:t>
            </a:r>
          </a:p>
          <a:p>
            <a:pPr algn="l">
              <a:buFont typeface="Arial" panose="020B0604020202020204" pitchFamily="34" charset="0"/>
              <a:buChar char="•"/>
            </a:pPr>
            <a:r>
              <a:rPr lang="en-US" sz="2400" b="0" i="0" dirty="0">
                <a:solidFill>
                  <a:srgbClr val="61738E"/>
                </a:solidFill>
                <a:effectLst/>
                <a:latin typeface="__Source_Sans_Pro_fea366"/>
              </a:rPr>
              <a:t>Functional programming supports </a:t>
            </a:r>
            <a:r>
              <a:rPr lang="en-US" sz="2400" b="1" i="0" dirty="0">
                <a:solidFill>
                  <a:srgbClr val="61738E"/>
                </a:solidFill>
                <a:effectLst/>
                <a:latin typeface="__Source_Sans_Pro_fea366"/>
              </a:rPr>
              <a:t>lazy evaluation</a:t>
            </a:r>
            <a:r>
              <a:rPr lang="en-US" sz="2400" b="0" i="0" dirty="0">
                <a:solidFill>
                  <a:srgbClr val="61738E"/>
                </a:solidFill>
                <a:effectLst/>
                <a:latin typeface="__Source_Sans_Pro_fea366"/>
              </a:rPr>
              <a:t>, which avoids unwanted and repeated computations and saves time.</a:t>
            </a:r>
          </a:p>
          <a:p>
            <a:pPr algn="l">
              <a:buFont typeface="Arial" panose="020B0604020202020204" pitchFamily="34" charset="0"/>
              <a:buChar char="•"/>
            </a:pPr>
            <a:r>
              <a:rPr lang="en-US" sz="2400" b="0" i="0" dirty="0">
                <a:solidFill>
                  <a:srgbClr val="61738E"/>
                </a:solidFill>
                <a:effectLst/>
                <a:latin typeface="__Source_Sans_Pro_fea366"/>
              </a:rPr>
              <a:t>Functional programming is </a:t>
            </a:r>
            <a:r>
              <a:rPr lang="en-US" sz="2400" b="1" i="0" dirty="0">
                <a:solidFill>
                  <a:srgbClr val="61738E"/>
                </a:solidFill>
                <a:effectLst/>
                <a:latin typeface="__Source_Sans_Pro_fea366"/>
              </a:rPr>
              <a:t>thread-safe</a:t>
            </a:r>
            <a:r>
              <a:rPr lang="en-US" sz="2400" b="0" i="0" dirty="0">
                <a:solidFill>
                  <a:srgbClr val="61738E"/>
                </a:solidFill>
                <a:effectLst/>
                <a:latin typeface="__Source_Sans_Pro_fea366"/>
              </a:rPr>
              <a:t> because pure functions don't modify the state of a program, and there is no shared state.</a:t>
            </a:r>
          </a:p>
          <a:p>
            <a:pPr algn="l">
              <a:buFont typeface="Arial" panose="020B0604020202020204" pitchFamily="34" charset="0"/>
              <a:buChar char="•"/>
            </a:pPr>
            <a:r>
              <a:rPr lang="en-US" sz="2400" b="0" i="0" dirty="0">
                <a:solidFill>
                  <a:srgbClr val="61738E"/>
                </a:solidFill>
                <a:effectLst/>
                <a:latin typeface="__Source_Sans_Pro_fea366"/>
              </a:rPr>
              <a:t>In functional programming, functions can be stored in variables and passed to other functions. This enhances the </a:t>
            </a:r>
            <a:r>
              <a:rPr lang="en-US" sz="2400" b="1" i="0" dirty="0">
                <a:solidFill>
                  <a:srgbClr val="61738E"/>
                </a:solidFill>
                <a:effectLst/>
                <a:latin typeface="__Source_Sans_Pro_fea366"/>
              </a:rPr>
              <a:t>readability</a:t>
            </a:r>
            <a:r>
              <a:rPr lang="en-US" sz="2400" b="0" i="0" dirty="0">
                <a:solidFill>
                  <a:srgbClr val="61738E"/>
                </a:solidFill>
                <a:effectLst/>
                <a:latin typeface="__Source_Sans_Pro_fea366"/>
              </a:rPr>
              <a:t> of code.</a:t>
            </a:r>
          </a:p>
        </p:txBody>
      </p:sp>
      <p:sp>
        <p:nvSpPr>
          <p:cNvPr id="4" name="TextBox 3">
            <a:extLst>
              <a:ext uri="{FF2B5EF4-FFF2-40B4-BE49-F238E27FC236}">
                <a16:creationId xmlns:a16="http://schemas.microsoft.com/office/drawing/2014/main" id="{94EC6A20-58F3-3101-E6D9-7EADC2026332}"/>
              </a:ext>
            </a:extLst>
          </p:cNvPr>
          <p:cNvSpPr txBox="1"/>
          <p:nvPr/>
        </p:nvSpPr>
        <p:spPr>
          <a:xfrm>
            <a:off x="609600" y="294305"/>
            <a:ext cx="6096000" cy="461665"/>
          </a:xfrm>
          <a:prstGeom prst="rect">
            <a:avLst/>
          </a:prstGeom>
          <a:noFill/>
        </p:spPr>
        <p:txBody>
          <a:bodyPr wrap="square">
            <a:spAutoFit/>
          </a:bodyPr>
          <a:lstStyle/>
          <a:p>
            <a:pPr algn="l" fontAlgn="base"/>
            <a:r>
              <a:rPr lang="en-US" sz="2400" b="1" i="0" dirty="0">
                <a:effectLst/>
                <a:latin typeface="-apple-system"/>
              </a:rPr>
              <a:t>Advantages of the Functional Programming</a:t>
            </a:r>
          </a:p>
        </p:txBody>
      </p:sp>
    </p:spTree>
    <p:extLst>
      <p:ext uri="{BB962C8B-B14F-4D97-AF65-F5344CB8AC3E}">
        <p14:creationId xmlns:p14="http://schemas.microsoft.com/office/powerpoint/2010/main" val="279361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342858-15C5-8165-F356-AA1D0508185C}"/>
              </a:ext>
            </a:extLst>
          </p:cNvPr>
          <p:cNvSpPr txBox="1"/>
          <p:nvPr/>
        </p:nvSpPr>
        <p:spPr>
          <a:xfrm>
            <a:off x="533400" y="326962"/>
            <a:ext cx="6096000" cy="369332"/>
          </a:xfrm>
          <a:prstGeom prst="rect">
            <a:avLst/>
          </a:prstGeom>
          <a:noFill/>
        </p:spPr>
        <p:txBody>
          <a:bodyPr wrap="square">
            <a:spAutoFit/>
          </a:bodyPr>
          <a:lstStyle/>
          <a:p>
            <a:pPr algn="l"/>
            <a:r>
              <a:rPr lang="en-IN" b="1" i="0" dirty="0">
                <a:solidFill>
                  <a:srgbClr val="333333"/>
                </a:solidFill>
                <a:effectLst/>
                <a:latin typeface="Raleway" pitchFamily="2" charset="0"/>
              </a:rPr>
              <a:t>Functional Interfaces in Java</a:t>
            </a:r>
          </a:p>
        </p:txBody>
      </p:sp>
      <p:sp>
        <p:nvSpPr>
          <p:cNvPr id="5" name="TextBox 4">
            <a:extLst>
              <a:ext uri="{FF2B5EF4-FFF2-40B4-BE49-F238E27FC236}">
                <a16:creationId xmlns:a16="http://schemas.microsoft.com/office/drawing/2014/main" id="{7D02472F-3CFB-9172-F51D-5A5885F1B859}"/>
              </a:ext>
            </a:extLst>
          </p:cNvPr>
          <p:cNvSpPr txBox="1"/>
          <p:nvPr/>
        </p:nvSpPr>
        <p:spPr>
          <a:xfrm>
            <a:off x="446313" y="1934368"/>
            <a:ext cx="11310257" cy="4524315"/>
          </a:xfrm>
          <a:prstGeom prst="rect">
            <a:avLst/>
          </a:prstGeom>
          <a:noFill/>
        </p:spPr>
        <p:txBody>
          <a:bodyPr wrap="square">
            <a:spAutoFit/>
          </a:bodyPr>
          <a:lstStyle/>
          <a:p>
            <a:pPr marL="285750" indent="-285750">
              <a:buFont typeface="Arial" panose="020B0604020202020204" pitchFamily="34" charset="0"/>
              <a:buChar char="•"/>
            </a:pPr>
            <a:r>
              <a:rPr lang="en-IN" b="1" dirty="0">
                <a:latin typeface="Nunito" pitchFamily="2" charset="0"/>
              </a:rPr>
              <a:t>Consumer</a:t>
            </a:r>
            <a:r>
              <a:rPr lang="en-IN" dirty="0">
                <a:latin typeface="Nunito" pitchFamily="2" charset="0"/>
              </a:rPr>
              <a:t> : accepts only one argument and returns nothing. </a:t>
            </a:r>
          </a:p>
          <a:p>
            <a:pPr marL="742950" lvl="1" indent="-285750">
              <a:buFont typeface="Arial" panose="020B0604020202020204" pitchFamily="34" charset="0"/>
              <a:buChar char="•"/>
            </a:pPr>
            <a:r>
              <a:rPr lang="en-IN" dirty="0">
                <a:latin typeface="Nunito" pitchFamily="2" charset="0"/>
              </a:rPr>
              <a:t>Variants : </a:t>
            </a:r>
            <a:r>
              <a:rPr lang="en-IN" dirty="0" err="1">
                <a:latin typeface="Nunito" pitchFamily="2" charset="0"/>
              </a:rPr>
              <a:t>BiConsumer</a:t>
            </a:r>
            <a:r>
              <a:rPr lang="en-IN" dirty="0">
                <a:latin typeface="Nunito" pitchFamily="2" charset="0"/>
              </a:rPr>
              <a:t>, </a:t>
            </a:r>
            <a:r>
              <a:rPr lang="en-IN" dirty="0" err="1">
                <a:latin typeface="Nunito" pitchFamily="2" charset="0"/>
              </a:rPr>
              <a:t>DoubleConsumer</a:t>
            </a:r>
            <a:r>
              <a:rPr lang="en-IN" dirty="0">
                <a:latin typeface="Nunito" pitchFamily="2" charset="0"/>
              </a:rPr>
              <a:t>, </a:t>
            </a:r>
            <a:r>
              <a:rPr lang="en-IN" dirty="0" err="1">
                <a:latin typeface="Nunito" pitchFamily="2" charset="0"/>
              </a:rPr>
              <a:t>IntConsumer</a:t>
            </a:r>
            <a:r>
              <a:rPr lang="en-IN" dirty="0">
                <a:latin typeface="Nunito" pitchFamily="2" charset="0"/>
              </a:rPr>
              <a:t>, and </a:t>
            </a:r>
            <a:r>
              <a:rPr lang="en-IN" dirty="0" err="1">
                <a:latin typeface="Nunito" pitchFamily="2" charset="0"/>
              </a:rPr>
              <a:t>LongConsumer</a:t>
            </a:r>
            <a:endParaRPr lang="en-IN" dirty="0">
              <a:latin typeface="Nunito" pitchFamily="2" charset="0"/>
            </a:endParaRPr>
          </a:p>
          <a:p>
            <a:pPr marL="742950" lvl="1" indent="-285750">
              <a:buFont typeface="Arial" panose="020B0604020202020204" pitchFamily="34" charset="0"/>
              <a:buChar char="•"/>
            </a:pPr>
            <a:r>
              <a:rPr lang="en-IN" dirty="0">
                <a:latin typeface="Nunito" pitchFamily="2" charset="0"/>
              </a:rPr>
              <a:t>Example :	Consumer&lt;Integer&gt; consumer = (value) -&gt; </a:t>
            </a:r>
            <a:r>
              <a:rPr lang="en-IN" dirty="0" err="1">
                <a:latin typeface="Nunito" pitchFamily="2" charset="0"/>
              </a:rPr>
              <a:t>System.out.println</a:t>
            </a:r>
            <a:r>
              <a:rPr lang="en-IN" dirty="0">
                <a:latin typeface="Nunito" pitchFamily="2" charset="0"/>
              </a:rPr>
              <a:t>(value);</a:t>
            </a:r>
          </a:p>
          <a:p>
            <a:pPr marL="285750" indent="-285750">
              <a:buFont typeface="Arial" panose="020B0604020202020204" pitchFamily="34" charset="0"/>
              <a:buChar char="•"/>
            </a:pPr>
            <a:endParaRPr lang="en-IN" dirty="0">
              <a:latin typeface="Nunito" pitchFamily="2" charset="0"/>
            </a:endParaRPr>
          </a:p>
          <a:p>
            <a:pPr marL="285750" indent="-285750">
              <a:buFont typeface="Arial" panose="020B0604020202020204" pitchFamily="34" charset="0"/>
              <a:buChar char="•"/>
            </a:pPr>
            <a:r>
              <a:rPr lang="en-IN" b="1" dirty="0">
                <a:latin typeface="Nunito" pitchFamily="2" charset="0"/>
              </a:rPr>
              <a:t>Supplier</a:t>
            </a:r>
            <a:r>
              <a:rPr lang="en-IN" dirty="0">
                <a:latin typeface="Nunito" pitchFamily="2" charset="0"/>
              </a:rPr>
              <a:t> : </a:t>
            </a:r>
            <a:r>
              <a:rPr lang="en-US" dirty="0">
                <a:latin typeface="Nunito" pitchFamily="2" charset="0"/>
              </a:rPr>
              <a:t>does not take any input or argument and yet returns a single output</a:t>
            </a:r>
          </a:p>
          <a:p>
            <a:pPr marL="742950" lvl="1" indent="-285750">
              <a:buFont typeface="Arial" panose="020B0604020202020204" pitchFamily="34" charset="0"/>
              <a:buChar char="•"/>
            </a:pPr>
            <a:r>
              <a:rPr lang="en-US" dirty="0">
                <a:latin typeface="Nunito" pitchFamily="2" charset="0"/>
              </a:rPr>
              <a:t>Variant : </a:t>
            </a:r>
            <a:r>
              <a:rPr lang="en-US" dirty="0" err="1">
                <a:latin typeface="Nunito" pitchFamily="2" charset="0"/>
              </a:rPr>
              <a:t>BooleanSupplier</a:t>
            </a:r>
            <a:r>
              <a:rPr lang="en-US" dirty="0">
                <a:latin typeface="Nunito" pitchFamily="2" charset="0"/>
              </a:rPr>
              <a:t>, </a:t>
            </a:r>
            <a:r>
              <a:rPr lang="en-US" dirty="0" err="1">
                <a:latin typeface="Nunito" pitchFamily="2" charset="0"/>
              </a:rPr>
              <a:t>DoubleSupplier</a:t>
            </a:r>
            <a:r>
              <a:rPr lang="en-US" dirty="0">
                <a:latin typeface="Nunito" pitchFamily="2" charset="0"/>
              </a:rPr>
              <a:t>, </a:t>
            </a:r>
            <a:r>
              <a:rPr lang="en-US" dirty="0" err="1">
                <a:latin typeface="Nunito" pitchFamily="2" charset="0"/>
              </a:rPr>
              <a:t>LongSupplier</a:t>
            </a:r>
            <a:r>
              <a:rPr lang="en-US" dirty="0">
                <a:latin typeface="Nunito" pitchFamily="2" charset="0"/>
              </a:rPr>
              <a:t>, and </a:t>
            </a:r>
            <a:r>
              <a:rPr lang="en-US" dirty="0" err="1">
                <a:latin typeface="Nunito" pitchFamily="2" charset="0"/>
              </a:rPr>
              <a:t>IntSupplier</a:t>
            </a:r>
            <a:endParaRPr lang="en-US" dirty="0">
              <a:latin typeface="Nunito" pitchFamily="2" charset="0"/>
            </a:endParaRPr>
          </a:p>
          <a:p>
            <a:pPr marL="742950" lvl="1" indent="-285750">
              <a:buFont typeface="Arial" panose="020B0604020202020204" pitchFamily="34" charset="0"/>
              <a:buChar char="•"/>
            </a:pPr>
            <a:r>
              <a:rPr lang="en-US" dirty="0">
                <a:latin typeface="Nunito" pitchFamily="2" charset="0"/>
              </a:rPr>
              <a:t>Example : </a:t>
            </a:r>
            <a:r>
              <a:rPr lang="fr-FR" dirty="0">
                <a:latin typeface="Nunito" pitchFamily="2" charset="0"/>
              </a:rPr>
              <a:t>Supplier&lt;Double&gt; </a:t>
            </a:r>
            <a:r>
              <a:rPr lang="fr-FR" dirty="0" err="1">
                <a:latin typeface="Nunito" pitchFamily="2" charset="0"/>
              </a:rPr>
              <a:t>randomValue</a:t>
            </a:r>
            <a:r>
              <a:rPr lang="fr-FR" dirty="0">
                <a:latin typeface="Nunito" pitchFamily="2" charset="0"/>
              </a:rPr>
              <a:t> = () -&gt; </a:t>
            </a:r>
            <a:r>
              <a:rPr lang="fr-FR" dirty="0" err="1">
                <a:latin typeface="Nunito" pitchFamily="2" charset="0"/>
              </a:rPr>
              <a:t>Math.random</a:t>
            </a:r>
            <a:r>
              <a:rPr lang="fr-FR" dirty="0">
                <a:latin typeface="Nunito" pitchFamily="2" charset="0"/>
              </a:rPr>
              <a:t>();</a:t>
            </a:r>
            <a:endParaRPr lang="en-IN" dirty="0">
              <a:latin typeface="Nunito" pitchFamily="2" charset="0"/>
            </a:endParaRPr>
          </a:p>
          <a:p>
            <a:pPr marL="285750" indent="-285750">
              <a:buFont typeface="Arial" panose="020B0604020202020204" pitchFamily="34" charset="0"/>
              <a:buChar char="•"/>
            </a:pPr>
            <a:endParaRPr lang="en-IN" dirty="0">
              <a:latin typeface="Nunito" pitchFamily="2" charset="0"/>
            </a:endParaRPr>
          </a:p>
          <a:p>
            <a:pPr marL="285750" indent="-285750">
              <a:buFont typeface="Arial" panose="020B0604020202020204" pitchFamily="34" charset="0"/>
              <a:buChar char="•"/>
            </a:pPr>
            <a:r>
              <a:rPr lang="en-IN" b="1" dirty="0">
                <a:latin typeface="Nunito" pitchFamily="2" charset="0"/>
              </a:rPr>
              <a:t>Predicate</a:t>
            </a:r>
            <a:r>
              <a:rPr lang="en-IN" dirty="0">
                <a:latin typeface="Nunito" pitchFamily="2" charset="0"/>
              </a:rPr>
              <a:t> : </a:t>
            </a:r>
            <a:r>
              <a:rPr lang="en-US" dirty="0">
                <a:latin typeface="Nunito" pitchFamily="2" charset="0"/>
              </a:rPr>
              <a:t>accepts an argument and, in return, generates a </a:t>
            </a:r>
            <a:r>
              <a:rPr lang="en-US" dirty="0" err="1">
                <a:latin typeface="Nunito" pitchFamily="2" charset="0"/>
              </a:rPr>
              <a:t>boolean</a:t>
            </a:r>
            <a:r>
              <a:rPr lang="en-US" dirty="0">
                <a:latin typeface="Nunito" pitchFamily="2" charset="0"/>
              </a:rPr>
              <a:t> value</a:t>
            </a:r>
          </a:p>
          <a:p>
            <a:pPr marL="742950" lvl="1" indent="-285750">
              <a:buFont typeface="Arial" panose="020B0604020202020204" pitchFamily="34" charset="0"/>
              <a:buChar char="•"/>
            </a:pPr>
            <a:r>
              <a:rPr lang="en-US" dirty="0">
                <a:latin typeface="Nunito" pitchFamily="2" charset="0"/>
              </a:rPr>
              <a:t>Variants : </a:t>
            </a:r>
            <a:r>
              <a:rPr lang="en-US" dirty="0" err="1">
                <a:latin typeface="Nunito" pitchFamily="2" charset="0"/>
              </a:rPr>
              <a:t>BiPredicate</a:t>
            </a:r>
            <a:r>
              <a:rPr lang="en-US" dirty="0">
                <a:latin typeface="Nunito" pitchFamily="2" charset="0"/>
              </a:rPr>
              <a:t>, </a:t>
            </a:r>
            <a:r>
              <a:rPr lang="en-US" dirty="0" err="1">
                <a:latin typeface="Nunito" pitchFamily="2" charset="0"/>
              </a:rPr>
              <a:t>IntPredicate</a:t>
            </a:r>
            <a:r>
              <a:rPr lang="en-US" dirty="0">
                <a:latin typeface="Nunito" pitchFamily="2" charset="0"/>
              </a:rPr>
              <a:t>, </a:t>
            </a:r>
            <a:r>
              <a:rPr lang="en-US" dirty="0" err="1">
                <a:latin typeface="Nunito" pitchFamily="2" charset="0"/>
              </a:rPr>
              <a:t>DoublePredicate</a:t>
            </a:r>
            <a:r>
              <a:rPr lang="en-US" dirty="0">
                <a:latin typeface="Nunito" pitchFamily="2" charset="0"/>
              </a:rPr>
              <a:t>, and </a:t>
            </a:r>
            <a:r>
              <a:rPr lang="en-US" dirty="0" err="1">
                <a:latin typeface="Nunito" pitchFamily="2" charset="0"/>
              </a:rPr>
              <a:t>LongPredicate</a:t>
            </a:r>
            <a:endParaRPr lang="en-US" dirty="0">
              <a:latin typeface="Nunito" pitchFamily="2" charset="0"/>
            </a:endParaRPr>
          </a:p>
          <a:p>
            <a:pPr marL="742950" lvl="1" indent="-285750">
              <a:buFont typeface="Arial" panose="020B0604020202020204" pitchFamily="34" charset="0"/>
              <a:buChar char="•"/>
            </a:pPr>
            <a:r>
              <a:rPr lang="en-US" dirty="0">
                <a:latin typeface="Nunito" pitchFamily="2" charset="0"/>
              </a:rPr>
              <a:t>Example : Predicate </a:t>
            </a:r>
            <a:r>
              <a:rPr lang="en-US" dirty="0" err="1">
                <a:latin typeface="Nunito" pitchFamily="2" charset="0"/>
              </a:rPr>
              <a:t>predicate</a:t>
            </a:r>
            <a:r>
              <a:rPr lang="en-US" dirty="0">
                <a:latin typeface="Nunito" pitchFamily="2" charset="0"/>
              </a:rPr>
              <a:t> = (value) -&gt; value != null;</a:t>
            </a:r>
            <a:endParaRPr lang="en-IN" dirty="0">
              <a:latin typeface="Nunito" pitchFamily="2" charset="0"/>
            </a:endParaRPr>
          </a:p>
          <a:p>
            <a:pPr marL="285750" indent="-285750">
              <a:buFont typeface="Arial" panose="020B0604020202020204" pitchFamily="34" charset="0"/>
              <a:buChar char="•"/>
            </a:pPr>
            <a:endParaRPr lang="en-IN" dirty="0">
              <a:latin typeface="Nunito" pitchFamily="2" charset="0"/>
            </a:endParaRPr>
          </a:p>
          <a:p>
            <a:pPr marL="285750" indent="-285750">
              <a:buFont typeface="Arial" panose="020B0604020202020204" pitchFamily="34" charset="0"/>
              <a:buChar char="•"/>
            </a:pPr>
            <a:r>
              <a:rPr lang="en-IN" b="1" dirty="0">
                <a:latin typeface="Nunito" pitchFamily="2" charset="0"/>
              </a:rPr>
              <a:t>Function</a:t>
            </a:r>
            <a:r>
              <a:rPr lang="en-IN" dirty="0">
                <a:latin typeface="Nunito" pitchFamily="2" charset="0"/>
              </a:rPr>
              <a:t> : </a:t>
            </a:r>
            <a:r>
              <a:rPr lang="en-US" dirty="0">
                <a:latin typeface="Nunito" pitchFamily="2" charset="0"/>
              </a:rPr>
              <a:t>receives only a single argument and returns a value after the required processing</a:t>
            </a:r>
          </a:p>
          <a:p>
            <a:pPr marL="742950" lvl="1" indent="-285750">
              <a:buFont typeface="Arial" panose="020B0604020202020204" pitchFamily="34" charset="0"/>
              <a:buChar char="•"/>
            </a:pPr>
            <a:r>
              <a:rPr lang="en-US" dirty="0">
                <a:latin typeface="Nunito" pitchFamily="2" charset="0"/>
              </a:rPr>
              <a:t>Variants : </a:t>
            </a:r>
            <a:r>
              <a:rPr lang="en-US" dirty="0" err="1">
                <a:latin typeface="Nunito" pitchFamily="2" charset="0"/>
              </a:rPr>
              <a:t>BiFunction</a:t>
            </a:r>
            <a:r>
              <a:rPr lang="en-US" dirty="0">
                <a:latin typeface="Nunito" pitchFamily="2" charset="0"/>
              </a:rPr>
              <a:t>, </a:t>
            </a:r>
            <a:r>
              <a:rPr lang="en-US" b="1" dirty="0">
                <a:latin typeface="Nunito" pitchFamily="2" charset="0"/>
              </a:rPr>
              <a:t>Operator</a:t>
            </a:r>
            <a:r>
              <a:rPr lang="en-US" dirty="0">
                <a:latin typeface="Nunito" pitchFamily="2" charset="0"/>
              </a:rPr>
              <a:t> (</a:t>
            </a:r>
            <a:r>
              <a:rPr lang="en-US" dirty="0" err="1">
                <a:latin typeface="Nunito" pitchFamily="2" charset="0"/>
              </a:rPr>
              <a:t>UnaryOperator</a:t>
            </a:r>
            <a:r>
              <a:rPr lang="en-US" dirty="0">
                <a:latin typeface="Nunito" pitchFamily="2" charset="0"/>
              </a:rPr>
              <a:t> and </a:t>
            </a:r>
            <a:r>
              <a:rPr lang="en-US" dirty="0" err="1">
                <a:latin typeface="Nunito" pitchFamily="2" charset="0"/>
              </a:rPr>
              <a:t>BinaryOperator</a:t>
            </a:r>
            <a:r>
              <a:rPr lang="en-US" dirty="0">
                <a:latin typeface="Nunito" pitchFamily="2" charset="0"/>
              </a:rPr>
              <a:t>) extends Function and must return the same data type</a:t>
            </a:r>
          </a:p>
          <a:p>
            <a:pPr marL="742950" lvl="1" indent="-285750">
              <a:buFont typeface="Arial" panose="020B0604020202020204" pitchFamily="34" charset="0"/>
              <a:buChar char="•"/>
            </a:pPr>
            <a:r>
              <a:rPr lang="en-US" dirty="0">
                <a:latin typeface="Nunito" pitchFamily="2" charset="0"/>
              </a:rPr>
              <a:t>Example : Function&lt;Integer, Integer&gt; square = x -&gt; x*x;</a:t>
            </a:r>
          </a:p>
        </p:txBody>
      </p:sp>
      <p:sp>
        <p:nvSpPr>
          <p:cNvPr id="7" name="TextBox 6">
            <a:extLst>
              <a:ext uri="{FF2B5EF4-FFF2-40B4-BE49-F238E27FC236}">
                <a16:creationId xmlns:a16="http://schemas.microsoft.com/office/drawing/2014/main" id="{62737DA2-DE92-FA15-494F-02F9B05D1C2B}"/>
              </a:ext>
            </a:extLst>
          </p:cNvPr>
          <p:cNvSpPr txBox="1"/>
          <p:nvPr/>
        </p:nvSpPr>
        <p:spPr>
          <a:xfrm>
            <a:off x="533399" y="853666"/>
            <a:ext cx="11310257" cy="923330"/>
          </a:xfrm>
          <a:prstGeom prst="rect">
            <a:avLst/>
          </a:prstGeom>
          <a:noFill/>
        </p:spPr>
        <p:txBody>
          <a:bodyPr wrap="square">
            <a:spAutoFit/>
          </a:bodyPr>
          <a:lstStyle/>
          <a:p>
            <a:r>
              <a:rPr lang="en-US" i="0" dirty="0">
                <a:effectLst/>
                <a:latin typeface="Nunito" pitchFamily="2" charset="0"/>
              </a:rPr>
              <a:t>A functional interface is an interface that contains </a:t>
            </a:r>
            <a:r>
              <a:rPr lang="en-US" b="1" i="0" dirty="0">
                <a:effectLst/>
                <a:latin typeface="Nunito" pitchFamily="2" charset="0"/>
              </a:rPr>
              <a:t>single abstract method</a:t>
            </a:r>
            <a:r>
              <a:rPr lang="en-US" i="0" dirty="0">
                <a:effectLst/>
                <a:latin typeface="Nunito" pitchFamily="2" charset="0"/>
              </a:rPr>
              <a:t>. They can have only one functionality to exhibit. From Java 8 onwards, </a:t>
            </a:r>
            <a:r>
              <a:rPr lang="en-US" i="0" u="sng" dirty="0">
                <a:effectLst/>
                <a:latin typeface="Nunito" pitchFamily="2" charset="0"/>
                <a:hlinkClick r:id="rId2">
                  <a:extLst>
                    <a:ext uri="{A12FA001-AC4F-418D-AE19-62706E023703}">
                      <ahyp:hlinkClr xmlns:ahyp="http://schemas.microsoft.com/office/drawing/2018/hyperlinkcolor" val="tx"/>
                    </a:ext>
                  </a:extLst>
                </a:hlinkClick>
              </a:rPr>
              <a:t>lambda expressions</a:t>
            </a:r>
            <a:r>
              <a:rPr lang="en-US" i="0" dirty="0">
                <a:effectLst/>
                <a:latin typeface="Nunito" pitchFamily="2" charset="0"/>
              </a:rPr>
              <a:t> can be used to represent the instance of a functional interface. A functional interface can have any number of default methods</a:t>
            </a:r>
            <a:endParaRPr lang="en-IN" dirty="0"/>
          </a:p>
        </p:txBody>
      </p:sp>
    </p:spTree>
    <p:extLst>
      <p:ext uri="{BB962C8B-B14F-4D97-AF65-F5344CB8AC3E}">
        <p14:creationId xmlns:p14="http://schemas.microsoft.com/office/powerpoint/2010/main" val="2248254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342858-15C5-8165-F356-AA1D0508185C}"/>
              </a:ext>
            </a:extLst>
          </p:cNvPr>
          <p:cNvSpPr txBox="1"/>
          <p:nvPr/>
        </p:nvSpPr>
        <p:spPr>
          <a:xfrm>
            <a:off x="533400" y="326962"/>
            <a:ext cx="6096000" cy="369332"/>
          </a:xfrm>
          <a:prstGeom prst="rect">
            <a:avLst/>
          </a:prstGeom>
          <a:noFill/>
        </p:spPr>
        <p:txBody>
          <a:bodyPr wrap="square">
            <a:spAutoFit/>
          </a:bodyPr>
          <a:lstStyle/>
          <a:p>
            <a:pPr algn="l"/>
            <a:r>
              <a:rPr lang="en-IN" b="1" i="0" dirty="0">
                <a:solidFill>
                  <a:srgbClr val="333333"/>
                </a:solidFill>
                <a:effectLst/>
                <a:latin typeface="Raleway" pitchFamily="2" charset="0"/>
              </a:rPr>
              <a:t>Lambdas</a:t>
            </a:r>
          </a:p>
        </p:txBody>
      </p:sp>
      <p:sp>
        <p:nvSpPr>
          <p:cNvPr id="5" name="TextBox 4">
            <a:extLst>
              <a:ext uri="{FF2B5EF4-FFF2-40B4-BE49-F238E27FC236}">
                <a16:creationId xmlns:a16="http://schemas.microsoft.com/office/drawing/2014/main" id="{7D02472F-3CFB-9172-F51D-5A5885F1B859}"/>
              </a:ext>
            </a:extLst>
          </p:cNvPr>
          <p:cNvSpPr txBox="1"/>
          <p:nvPr/>
        </p:nvSpPr>
        <p:spPr>
          <a:xfrm>
            <a:off x="533400" y="896035"/>
            <a:ext cx="10983686" cy="923330"/>
          </a:xfrm>
          <a:prstGeom prst="rect">
            <a:avLst/>
          </a:prstGeom>
          <a:noFill/>
        </p:spPr>
        <p:txBody>
          <a:bodyPr wrap="square">
            <a:spAutoFit/>
          </a:bodyPr>
          <a:lstStyle/>
          <a:p>
            <a:r>
              <a:rPr lang="en-US" b="0" i="0" dirty="0">
                <a:effectLst/>
                <a:latin typeface="Nunito" pitchFamily="2" charset="0"/>
              </a:rPr>
              <a:t>Lambda Expression basically expresses an </a:t>
            </a:r>
            <a:r>
              <a:rPr lang="en-US" b="1" i="0" dirty="0">
                <a:effectLst/>
                <a:latin typeface="Nunito" pitchFamily="2" charset="0"/>
              </a:rPr>
              <a:t>instance of the functional interface</a:t>
            </a:r>
            <a:r>
              <a:rPr lang="en-US" b="0" i="0" dirty="0">
                <a:effectLst/>
                <a:latin typeface="Nunito" pitchFamily="2" charset="0"/>
              </a:rPr>
              <a:t>, in other words, you can say it provides a clear and concise way to represent a method of the functional interface using an expression. </a:t>
            </a:r>
            <a:endParaRPr lang="en-IN" dirty="0"/>
          </a:p>
        </p:txBody>
      </p:sp>
      <p:sp>
        <p:nvSpPr>
          <p:cNvPr id="2" name="Rectangle 1">
            <a:extLst>
              <a:ext uri="{FF2B5EF4-FFF2-40B4-BE49-F238E27FC236}">
                <a16:creationId xmlns:a16="http://schemas.microsoft.com/office/drawing/2014/main" id="{411E6EC7-1495-3423-38A0-EEC502EFFA1B}"/>
              </a:ext>
            </a:extLst>
          </p:cNvPr>
          <p:cNvSpPr>
            <a:spLocks noChangeArrowheads="1"/>
          </p:cNvSpPr>
          <p:nvPr/>
        </p:nvSpPr>
        <p:spPr bwMode="auto">
          <a:xfrm>
            <a:off x="1600200" y="2620045"/>
            <a:ext cx="8632371" cy="2280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cs typeface="Arial" panose="020B0604020202020204" pitchFamily="34" charset="0"/>
              </a:rPr>
              <a:t>1. Lambda Expression with Zero parameter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cs typeface="Arial" panose="020B0604020202020204" pitchFamily="34" charset="0"/>
              </a:rPr>
              <a:t>() -&gt; </a:t>
            </a:r>
            <a:r>
              <a:rPr kumimoji="0" lang="en-US" altLang="en-US" b="0" i="0" u="none" strike="noStrike" cap="none" normalizeH="0" baseline="0" dirty="0" err="1">
                <a:ln>
                  <a:noFill/>
                </a:ln>
                <a:effectLst/>
                <a:cs typeface="Arial" panose="020B0604020202020204" pitchFamily="34" charset="0"/>
              </a:rPr>
              <a:t>System.out.println</a:t>
            </a:r>
            <a:r>
              <a:rPr kumimoji="0" lang="en-US" altLang="en-US" b="0" i="0" u="none" strike="noStrike" cap="none" normalizeH="0" baseline="0" dirty="0">
                <a:ln>
                  <a:noFill/>
                </a:ln>
                <a:effectLst/>
                <a:cs typeface="Arial" panose="020B0604020202020204" pitchFamily="34" charset="0"/>
              </a:rPr>
              <a:t>("Zero parameter lambda");</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rPr>
              <a:t>2. Lambda Expression with Single parameter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rPr>
              <a:t>p -&gt; </a:t>
            </a:r>
            <a:r>
              <a:rPr kumimoji="0" lang="en-US" altLang="en-US" b="0" i="0" u="none" strike="noStrike" cap="none" normalizeH="0" baseline="0" dirty="0" err="1">
                <a:ln>
                  <a:noFill/>
                </a:ln>
                <a:effectLst/>
              </a:rPr>
              <a:t>System.out.println</a:t>
            </a:r>
            <a:r>
              <a:rPr kumimoji="0" lang="en-US" altLang="en-US" b="0" i="0" u="none" strike="noStrike" cap="none" normalizeH="0" baseline="0" dirty="0">
                <a:ln>
                  <a:noFill/>
                </a:ln>
                <a:effectLst/>
              </a:rPr>
              <a:t>("One parameter: " + p);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rPr>
              <a:t>3. Lambda Expression with Multiple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rPr>
              <a:t>(p1, p2) -&gt; </a:t>
            </a:r>
            <a:r>
              <a:rPr kumimoji="0" lang="en-US" altLang="en-US" b="0" i="0" u="none" strike="noStrike" cap="none" normalizeH="0" baseline="0" dirty="0" err="1">
                <a:ln>
                  <a:noFill/>
                </a:ln>
                <a:effectLst/>
              </a:rPr>
              <a:t>System.out.println</a:t>
            </a:r>
            <a:r>
              <a:rPr kumimoji="0" lang="en-US" altLang="en-US" b="0" i="0" u="none" strike="noStrike" cap="none" normalizeH="0" baseline="0" dirty="0">
                <a:ln>
                  <a:noFill/>
                </a:ln>
                <a:effectLst/>
              </a:rPr>
              <a:t>("Multiple parameters: " + p1 + ", " + p2);</a:t>
            </a:r>
            <a:endParaRPr kumimoji="0" lang="en-US" altLang="en-US" b="0" i="0" u="none" strike="noStrike" cap="none" normalizeH="0" baseline="0" dirty="0">
              <a:ln>
                <a:noFill/>
              </a:ln>
              <a:effectLst/>
              <a:cs typeface="Arial" panose="020B0604020202020204" pitchFamily="34" charset="0"/>
            </a:endParaRPr>
          </a:p>
        </p:txBody>
      </p:sp>
    </p:spTree>
    <p:extLst>
      <p:ext uri="{BB962C8B-B14F-4D97-AF65-F5344CB8AC3E}">
        <p14:creationId xmlns:p14="http://schemas.microsoft.com/office/powerpoint/2010/main" val="391783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49B9-B02D-4943-FC88-3C7B830F94E3}"/>
              </a:ext>
            </a:extLst>
          </p:cNvPr>
          <p:cNvSpPr>
            <a:spLocks noGrp="1"/>
          </p:cNvSpPr>
          <p:nvPr>
            <p:ph type="title"/>
          </p:nvPr>
        </p:nvSpPr>
        <p:spPr/>
        <p:txBody>
          <a:bodyPr/>
          <a:lstStyle/>
          <a:p>
            <a:r>
              <a:rPr lang="en-IN" dirty="0"/>
              <a:t>Monad and Optional</a:t>
            </a:r>
          </a:p>
        </p:txBody>
      </p:sp>
      <p:sp>
        <p:nvSpPr>
          <p:cNvPr id="4" name="TextBox 3">
            <a:extLst>
              <a:ext uri="{FF2B5EF4-FFF2-40B4-BE49-F238E27FC236}">
                <a16:creationId xmlns:a16="http://schemas.microsoft.com/office/drawing/2014/main" id="{84E837BF-3CA4-CBF0-6562-D1D2EB6E70CD}"/>
              </a:ext>
            </a:extLst>
          </p:cNvPr>
          <p:cNvSpPr txBox="1"/>
          <p:nvPr/>
        </p:nvSpPr>
        <p:spPr>
          <a:xfrm>
            <a:off x="838199" y="1572123"/>
            <a:ext cx="10515599" cy="923330"/>
          </a:xfrm>
          <a:prstGeom prst="rect">
            <a:avLst/>
          </a:prstGeom>
          <a:noFill/>
        </p:spPr>
        <p:txBody>
          <a:bodyPr wrap="square">
            <a:spAutoFit/>
          </a:bodyPr>
          <a:lstStyle/>
          <a:p>
            <a:r>
              <a:rPr lang="en-US" b="0" i="0" dirty="0">
                <a:solidFill>
                  <a:srgbClr val="000000"/>
                </a:solidFill>
                <a:effectLst/>
                <a:latin typeface="Verdana" panose="020B0604030504040204" pitchFamily="34" charset="0"/>
              </a:rPr>
              <a:t>Monad is a key concept of Functional Programming. A Monad is a design pattern which helps to represent a missing value. It allows to wrap a potential null value, allows to put transformation around it and pull actual value if present</a:t>
            </a:r>
            <a:endParaRPr lang="en-IN" dirty="0"/>
          </a:p>
        </p:txBody>
      </p:sp>
      <p:sp>
        <p:nvSpPr>
          <p:cNvPr id="6" name="TextBox 5">
            <a:extLst>
              <a:ext uri="{FF2B5EF4-FFF2-40B4-BE49-F238E27FC236}">
                <a16:creationId xmlns:a16="http://schemas.microsoft.com/office/drawing/2014/main" id="{CF30A30B-5533-960C-2000-60D061C4548C}"/>
              </a:ext>
            </a:extLst>
          </p:cNvPr>
          <p:cNvSpPr txBox="1"/>
          <p:nvPr/>
        </p:nvSpPr>
        <p:spPr>
          <a:xfrm>
            <a:off x="838199" y="2688495"/>
            <a:ext cx="6096000" cy="2308324"/>
          </a:xfrm>
          <a:prstGeom prst="rect">
            <a:avLst/>
          </a:prstGeom>
          <a:noFill/>
        </p:spPr>
        <p:txBody>
          <a:bodyPr wrap="square">
            <a:spAutoFit/>
          </a:bodyPr>
          <a:lstStyle/>
          <a:p>
            <a:pPr algn="l"/>
            <a:r>
              <a:rPr lang="en-US" b="1" i="0" dirty="0">
                <a:solidFill>
                  <a:srgbClr val="000000"/>
                </a:solidFill>
                <a:effectLst/>
                <a:latin typeface="var(--ff-lato)"/>
              </a:rPr>
              <a:t>Key Operations</a:t>
            </a:r>
          </a:p>
          <a:p>
            <a:pPr algn="l">
              <a:buFont typeface="Arial" panose="020B0604020202020204" pitchFamily="34" charset="0"/>
              <a:buChar char="•"/>
            </a:pPr>
            <a:r>
              <a:rPr lang="en-US" b="1" i="0" dirty="0">
                <a:solidFill>
                  <a:srgbClr val="000000"/>
                </a:solidFill>
                <a:effectLst/>
                <a:latin typeface="inherit"/>
              </a:rPr>
              <a:t>Left Identity</a:t>
            </a:r>
            <a:r>
              <a:rPr lang="en-US" b="0" i="0" dirty="0">
                <a:solidFill>
                  <a:srgbClr val="000000"/>
                </a:solidFill>
                <a:effectLst/>
                <a:latin typeface="Verdana" panose="020B0604030504040204" pitchFamily="34" charset="0"/>
              </a:rPr>
              <a:t> − If a function is bind on a monad of a particular value then its result will be same as if function is applied to the value.</a:t>
            </a:r>
          </a:p>
          <a:p>
            <a:pPr algn="l">
              <a:buFont typeface="Arial" panose="020B0604020202020204" pitchFamily="34" charset="0"/>
              <a:buChar char="•"/>
            </a:pPr>
            <a:r>
              <a:rPr lang="en-US" b="1" i="0" dirty="0">
                <a:solidFill>
                  <a:srgbClr val="000000"/>
                </a:solidFill>
                <a:effectLst/>
                <a:latin typeface="inherit"/>
              </a:rPr>
              <a:t>Right Identity</a:t>
            </a:r>
            <a:r>
              <a:rPr lang="en-US" b="0" i="0" dirty="0">
                <a:solidFill>
                  <a:srgbClr val="000000"/>
                </a:solidFill>
                <a:effectLst/>
                <a:latin typeface="Verdana" panose="020B0604030504040204" pitchFamily="34" charset="0"/>
              </a:rPr>
              <a:t> − If a monad return method is same as monad on original value.</a:t>
            </a:r>
          </a:p>
          <a:p>
            <a:pPr algn="l">
              <a:buFont typeface="Arial" panose="020B0604020202020204" pitchFamily="34" charset="0"/>
              <a:buChar char="•"/>
            </a:pPr>
            <a:r>
              <a:rPr lang="en-US" b="1" i="0" dirty="0">
                <a:solidFill>
                  <a:srgbClr val="000000"/>
                </a:solidFill>
                <a:effectLst/>
                <a:latin typeface="inherit"/>
              </a:rPr>
              <a:t>Associativity</a:t>
            </a:r>
            <a:r>
              <a:rPr lang="en-US" b="0" i="0" dirty="0">
                <a:solidFill>
                  <a:srgbClr val="000000"/>
                </a:solidFill>
                <a:effectLst/>
                <a:latin typeface="Verdana" panose="020B0604030504040204" pitchFamily="34" charset="0"/>
              </a:rPr>
              <a:t> − Functions can be applied in any order on a monad.</a:t>
            </a:r>
          </a:p>
        </p:txBody>
      </p:sp>
      <p:sp>
        <p:nvSpPr>
          <p:cNvPr id="8" name="TextBox 7">
            <a:extLst>
              <a:ext uri="{FF2B5EF4-FFF2-40B4-BE49-F238E27FC236}">
                <a16:creationId xmlns:a16="http://schemas.microsoft.com/office/drawing/2014/main" id="{874D8A44-63EE-CE71-5079-EF131092AB04}"/>
              </a:ext>
            </a:extLst>
          </p:cNvPr>
          <p:cNvSpPr txBox="1"/>
          <p:nvPr/>
        </p:nvSpPr>
        <p:spPr>
          <a:xfrm>
            <a:off x="6934199" y="2614381"/>
            <a:ext cx="3984172" cy="1477328"/>
          </a:xfrm>
          <a:prstGeom prst="rect">
            <a:avLst/>
          </a:prstGeom>
          <a:noFill/>
        </p:spPr>
        <p:txBody>
          <a:bodyPr wrap="square">
            <a:spAutoFit/>
          </a:bodyPr>
          <a:lstStyle/>
          <a:p>
            <a:pPr algn="l"/>
            <a:r>
              <a:rPr lang="en-US" b="1" i="0" dirty="0">
                <a:solidFill>
                  <a:srgbClr val="000000"/>
                </a:solidFill>
                <a:effectLst/>
                <a:latin typeface="var(--ff-lato)"/>
              </a:rPr>
              <a:t>Optional Class</a:t>
            </a:r>
          </a:p>
          <a:p>
            <a:pPr algn="l"/>
            <a:r>
              <a:rPr lang="en-US" b="0" i="0" dirty="0">
                <a:solidFill>
                  <a:srgbClr val="000000"/>
                </a:solidFill>
                <a:effectLst/>
                <a:latin typeface="Verdana" panose="020B0604030504040204" pitchFamily="34" charset="0"/>
              </a:rPr>
              <a:t>Java 8 introduced Optional class which is a monad. It provides operational equivalent to a monad.</a:t>
            </a:r>
          </a:p>
        </p:txBody>
      </p:sp>
    </p:spTree>
    <p:extLst>
      <p:ext uri="{BB962C8B-B14F-4D97-AF65-F5344CB8AC3E}">
        <p14:creationId xmlns:p14="http://schemas.microsoft.com/office/powerpoint/2010/main" val="1526722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279A5A-D7E5-0D71-6135-E45F51447AB0}"/>
              </a:ext>
            </a:extLst>
          </p:cNvPr>
          <p:cNvSpPr txBox="1"/>
          <p:nvPr/>
        </p:nvSpPr>
        <p:spPr>
          <a:xfrm>
            <a:off x="609600" y="294305"/>
            <a:ext cx="6096000" cy="461665"/>
          </a:xfrm>
          <a:prstGeom prst="rect">
            <a:avLst/>
          </a:prstGeom>
          <a:noFill/>
        </p:spPr>
        <p:txBody>
          <a:bodyPr wrap="square">
            <a:spAutoFit/>
          </a:bodyPr>
          <a:lstStyle/>
          <a:p>
            <a:pPr algn="l" fontAlgn="base"/>
            <a:r>
              <a:rPr lang="en-IN" sz="2400" b="1" i="0" dirty="0">
                <a:effectLst/>
                <a:latin typeface="-apple-system"/>
              </a:rPr>
              <a:t>Function Composition and Chaining</a:t>
            </a:r>
          </a:p>
        </p:txBody>
      </p:sp>
      <p:sp>
        <p:nvSpPr>
          <p:cNvPr id="5" name="TextBox 4">
            <a:extLst>
              <a:ext uri="{FF2B5EF4-FFF2-40B4-BE49-F238E27FC236}">
                <a16:creationId xmlns:a16="http://schemas.microsoft.com/office/drawing/2014/main" id="{658CDED4-07ED-7C48-9C87-D210514396AB}"/>
              </a:ext>
            </a:extLst>
          </p:cNvPr>
          <p:cNvSpPr txBox="1"/>
          <p:nvPr/>
        </p:nvSpPr>
        <p:spPr>
          <a:xfrm>
            <a:off x="794657" y="931707"/>
            <a:ext cx="10809514" cy="646331"/>
          </a:xfrm>
          <a:prstGeom prst="rect">
            <a:avLst/>
          </a:prstGeom>
          <a:noFill/>
        </p:spPr>
        <p:txBody>
          <a:bodyPr wrap="square">
            <a:spAutoFit/>
          </a:bodyPr>
          <a:lstStyle/>
          <a:p>
            <a:r>
              <a:rPr lang="en-US" b="0" i="0" dirty="0">
                <a:solidFill>
                  <a:srgbClr val="0A0A23"/>
                </a:solidFill>
                <a:effectLst/>
                <a:latin typeface="Lato" panose="020F0502020204030203" pitchFamily="34" charset="0"/>
              </a:rPr>
              <a:t>Function </a:t>
            </a:r>
            <a:r>
              <a:rPr lang="en-US" b="1" i="0" dirty="0">
                <a:solidFill>
                  <a:srgbClr val="0A0A23"/>
                </a:solidFill>
                <a:effectLst/>
                <a:latin typeface="Lato" panose="020F0502020204030203" pitchFamily="34" charset="0"/>
              </a:rPr>
              <a:t>chaining</a:t>
            </a:r>
            <a:r>
              <a:rPr lang="en-US" b="0" i="0" dirty="0">
                <a:solidFill>
                  <a:srgbClr val="0A0A23"/>
                </a:solidFill>
                <a:effectLst/>
                <a:latin typeface="Lato" panose="020F0502020204030203" pitchFamily="34" charset="0"/>
              </a:rPr>
              <a:t> is a technique in functional programming that involves </a:t>
            </a:r>
            <a:r>
              <a:rPr lang="en-US" b="1" i="0" dirty="0">
                <a:solidFill>
                  <a:srgbClr val="0A0A23"/>
                </a:solidFill>
                <a:effectLst/>
                <a:latin typeface="Lato" panose="020F0502020204030203" pitchFamily="34" charset="0"/>
              </a:rPr>
              <a:t>composing</a:t>
            </a:r>
            <a:r>
              <a:rPr lang="en-US" b="0" i="0" dirty="0">
                <a:solidFill>
                  <a:srgbClr val="0A0A23"/>
                </a:solidFill>
                <a:effectLst/>
                <a:latin typeface="Lato" panose="020F0502020204030203" pitchFamily="34" charset="0"/>
              </a:rPr>
              <a:t> multiple functions into a </a:t>
            </a:r>
            <a:r>
              <a:rPr lang="en-US" b="1" i="0" dirty="0">
                <a:solidFill>
                  <a:srgbClr val="0A0A23"/>
                </a:solidFill>
                <a:effectLst/>
                <a:latin typeface="Lato" panose="020F0502020204030203" pitchFamily="34" charset="0"/>
              </a:rPr>
              <a:t>single pipeline </a:t>
            </a:r>
            <a:r>
              <a:rPr lang="en-US" b="0" i="0" dirty="0">
                <a:solidFill>
                  <a:srgbClr val="0A0A23"/>
                </a:solidFill>
                <a:effectLst/>
                <a:latin typeface="Lato" panose="020F0502020204030203" pitchFamily="34" charset="0"/>
              </a:rPr>
              <a:t>or chain.</a:t>
            </a:r>
            <a:endParaRPr lang="en-IN" dirty="0"/>
          </a:p>
        </p:txBody>
      </p:sp>
      <p:pic>
        <p:nvPicPr>
          <p:cNvPr id="7" name="Picture 6">
            <a:extLst>
              <a:ext uri="{FF2B5EF4-FFF2-40B4-BE49-F238E27FC236}">
                <a16:creationId xmlns:a16="http://schemas.microsoft.com/office/drawing/2014/main" id="{D16E2DD7-B7A5-043E-8C74-C762ACC43F98}"/>
              </a:ext>
            </a:extLst>
          </p:cNvPr>
          <p:cNvPicPr>
            <a:picLocks noChangeAspect="1"/>
          </p:cNvPicPr>
          <p:nvPr/>
        </p:nvPicPr>
        <p:blipFill>
          <a:blip r:embed="rId2"/>
          <a:stretch>
            <a:fillRect/>
          </a:stretch>
        </p:blipFill>
        <p:spPr>
          <a:xfrm>
            <a:off x="794657" y="2820725"/>
            <a:ext cx="4927853" cy="1390721"/>
          </a:xfrm>
          <a:prstGeom prst="rect">
            <a:avLst/>
          </a:prstGeom>
        </p:spPr>
      </p:pic>
      <p:sp>
        <p:nvSpPr>
          <p:cNvPr id="8" name="Rectangle 1">
            <a:extLst>
              <a:ext uri="{FF2B5EF4-FFF2-40B4-BE49-F238E27FC236}">
                <a16:creationId xmlns:a16="http://schemas.microsoft.com/office/drawing/2014/main" id="{E56B8FA3-2228-8C1E-CA68-4F98FF132698}"/>
              </a:ext>
            </a:extLst>
          </p:cNvPr>
          <p:cNvSpPr>
            <a:spLocks noChangeArrowheads="1"/>
          </p:cNvSpPr>
          <p:nvPr/>
        </p:nvSpPr>
        <p:spPr bwMode="auto">
          <a:xfrm>
            <a:off x="1836963" y="1865369"/>
            <a:ext cx="87249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7AA"/>
                </a:solidFill>
                <a:effectLst/>
                <a:latin typeface="inherit"/>
              </a:rPr>
              <a:t>private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static</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DD4A68"/>
                </a:solidFill>
                <a:effectLst/>
                <a:latin typeface="inherit"/>
              </a:rPr>
              <a:t>Function</a:t>
            </a:r>
            <a:r>
              <a:rPr kumimoji="0" lang="en-US" altLang="en-US" sz="1400" b="0" i="0" u="none" strike="noStrike" cap="none" normalizeH="0" baseline="0" dirty="0">
                <a:ln>
                  <a:noFill/>
                </a:ln>
                <a:solidFill>
                  <a:srgbClr val="999999"/>
                </a:solidFill>
                <a:effectLst/>
                <a:latin typeface="inherit"/>
              </a:rPr>
              <a:t>&lt;</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inherit"/>
              </a:rPr>
              <a:t> </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multiply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inherit"/>
              </a:rPr>
              <a:t>2</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7AA"/>
                </a:solidFill>
                <a:effectLst/>
                <a:latin typeface="inherit"/>
              </a:rPr>
              <a:t>private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static</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DD4A68"/>
                </a:solidFill>
                <a:effectLst/>
                <a:latin typeface="inherit"/>
              </a:rPr>
              <a:t>Function</a:t>
            </a:r>
            <a:r>
              <a:rPr kumimoji="0" lang="en-US" altLang="en-US" sz="1400" b="0" i="0" u="none" strike="noStrike" cap="none" normalizeH="0" baseline="0" dirty="0">
                <a:ln>
                  <a:noFill/>
                </a:ln>
                <a:solidFill>
                  <a:srgbClr val="999999"/>
                </a:solidFill>
                <a:effectLst/>
                <a:latin typeface="inherit"/>
              </a:rPr>
              <a:t>&lt;</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inherit"/>
              </a:rPr>
              <a:t> </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add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inherit"/>
              </a:rPr>
              <a:t>2</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7AA"/>
                </a:solidFill>
                <a:effectLst/>
                <a:latin typeface="inherit"/>
              </a:rPr>
              <a:t>private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static</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DD4A68"/>
                </a:solidFill>
                <a:effectLst/>
                <a:latin typeface="inherit"/>
              </a:rPr>
              <a:t>Function</a:t>
            </a:r>
            <a:r>
              <a:rPr kumimoji="0" lang="en-US" altLang="en-US" sz="1400" b="0" i="0" u="none" strike="noStrike" cap="none" normalizeH="0" baseline="0" dirty="0">
                <a:ln>
                  <a:noFill/>
                </a:ln>
                <a:solidFill>
                  <a:srgbClr val="999999"/>
                </a:solidFill>
                <a:effectLst/>
                <a:latin typeface="inherit"/>
              </a:rPr>
              <a:t>&lt;</a:t>
            </a:r>
            <a:r>
              <a:rPr kumimoji="0" lang="en-US" altLang="en-US" sz="1400" b="0" i="0" u="none" strike="noStrike" cap="none" normalizeH="0" baseline="0" dirty="0">
                <a:ln>
                  <a:noFill/>
                </a:ln>
                <a:solidFill>
                  <a:srgbClr val="DD4A68"/>
                </a:solidFill>
                <a:effectLst/>
                <a:latin typeface="inherit"/>
              </a:rPr>
              <a:t>Integer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inherit"/>
              </a:rPr>
              <a:t> </a:t>
            </a:r>
            <a:r>
              <a:rPr kumimoji="0" lang="en-US" altLang="en-US" sz="1400" b="0" i="0" u="none" strike="noStrike" cap="none" normalizeH="0" baseline="0" dirty="0">
                <a:ln>
                  <a:noFill/>
                </a:ln>
                <a:solidFill>
                  <a:srgbClr val="DD4A68"/>
                </a:solidFill>
                <a:effectLst/>
                <a:latin typeface="inherit"/>
              </a:rPr>
              <a:t>Unit</a:t>
            </a:r>
            <a:r>
              <a:rPr kumimoji="0" lang="en-US" altLang="en-US" sz="1400" b="0" i="0" u="none" strike="noStrike" cap="none" normalizeH="0" baseline="0" dirty="0">
                <a:ln>
                  <a:noFill/>
                </a:ln>
                <a:solidFill>
                  <a:srgbClr val="999999"/>
                </a:solidFill>
                <a:effectLst/>
                <a:latin typeface="inherit"/>
              </a:rPr>
              <a:t>&gt;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logOutput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 </a:t>
            </a:r>
            <a:r>
              <a:rPr kumimoji="0" lang="en-US" altLang="en-US" sz="1400" b="0" i="0" u="none" strike="noStrike" cap="none" normalizeH="0" baseline="0" dirty="0">
                <a:ln>
                  <a:noFill/>
                </a:ln>
                <a:solidFill>
                  <a:srgbClr val="9A6E3A"/>
                </a:solidFill>
                <a:effectLst/>
                <a:latin typeface="inherit"/>
              </a:rPr>
              <a:t>-&gt;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logger</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DD4A68"/>
                </a:solidFill>
                <a:effectLst/>
                <a:latin typeface="inherit"/>
              </a:rPr>
              <a:t>info</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669900"/>
                </a:solidFill>
                <a:effectLst/>
                <a:latin typeface="inherit"/>
              </a:rPr>
              <a:t>"Data:"</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A6E3A"/>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x</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77AA"/>
                </a:solidFill>
                <a:effectLst/>
                <a:latin typeface="inherit"/>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DD4A68"/>
                </a:solidFill>
                <a:effectLst/>
                <a:latin typeface="inherit"/>
              </a:rPr>
              <a:t>Unit</a:t>
            </a:r>
            <a:r>
              <a:rPr kumimoji="0" lang="en-US" altLang="en-US" sz="1400" b="0" i="0" u="none" strike="noStrike" cap="none" normalizeH="0" baseline="0" dirty="0" err="1">
                <a:ln>
                  <a:noFill/>
                </a:ln>
                <a:solidFill>
                  <a:srgbClr val="999999"/>
                </a:solidFill>
                <a:effectLst/>
                <a:latin typeface="inherit"/>
              </a:rPr>
              <a:t>.</a:t>
            </a:r>
            <a:r>
              <a:rPr kumimoji="0" lang="en-US" altLang="en-US" sz="1400" b="0" i="0" u="none" strike="noStrike" cap="none" normalizeH="0" baseline="0" dirty="0" err="1">
                <a:ln>
                  <a:noFill/>
                </a:ln>
                <a:solidFill>
                  <a:srgbClr val="DD4A68"/>
                </a:solidFill>
                <a:effectLst/>
                <a:latin typeface="inherit"/>
              </a:rPr>
              <a:t>unit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34F2DBBE-0002-B521-A701-49288AE7EC72}"/>
              </a:ext>
            </a:extLst>
          </p:cNvPr>
          <p:cNvSpPr>
            <a:spLocks noChangeArrowheads="1"/>
          </p:cNvSpPr>
          <p:nvPr/>
        </p:nvSpPr>
        <p:spPr bwMode="auto">
          <a:xfrm>
            <a:off x="1113876" y="4633631"/>
            <a:ext cx="4608634"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inherit"/>
              </a:rPr>
              <a:t>public</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static</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Unit</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execute(Integer</a:t>
            </a:r>
            <a:r>
              <a:rPr kumimoji="0" lang="en-US" altLang="en-US" sz="1400" b="0" i="0" u="none" strike="noStrike" cap="none" normalizeH="0" baseline="0" dirty="0">
                <a:ln>
                  <a:noFill/>
                </a:ln>
                <a:effectLst/>
                <a:latin typeface="Consolas" panose="020B0609020204030204" pitchFamily="49" charset="0"/>
              </a:rPr>
              <a:t> input</a:t>
            </a:r>
            <a:r>
              <a:rPr kumimoji="0" lang="en-US" altLang="en-US" sz="1400" b="0" i="0" u="none" strike="noStrike" cap="none" normalizeH="0" baseline="0" dirty="0">
                <a:ln>
                  <a:noFill/>
                </a:ln>
                <a:effectLst/>
                <a:latin typeface="inherit"/>
              </a:rPr>
              <a:t>)</a:t>
            </a:r>
            <a:r>
              <a:rPr kumimoji="0" lang="en-US" altLang="en-US" sz="1400" b="0" i="0" u="none" strike="noStrike" cap="none" normalizeH="0" baseline="0" dirty="0">
                <a:ln>
                  <a:noFill/>
                </a:ln>
                <a:effectLst/>
                <a:latin typeface="Consolas" panose="020B0609020204030204" pitchFamily="49" charset="0"/>
              </a:rPr>
              <a:t> </a:t>
            </a:r>
            <a:r>
              <a:rPr kumimoji="0" lang="en-US" altLang="en-US" sz="1400" b="0" i="0" u="none" strike="noStrike" cap="none" normalizeH="0" baseline="0" dirty="0">
                <a:ln>
                  <a:noFill/>
                </a:ln>
                <a:effectLst/>
                <a:latin typeface="inherit"/>
              </a:rPr>
              <a:t>{</a:t>
            </a:r>
            <a:r>
              <a:rPr kumimoji="0" lang="en-US" altLang="en-US" sz="1400" b="0" i="0" u="none" strike="noStrike" cap="none" normalizeH="0" baseline="0" dirty="0">
                <a:ln>
                  <a:noFill/>
                </a:ln>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inherit"/>
              </a:rPr>
              <a:t>Function&lt;Integer, Unit&gt;</a:t>
            </a:r>
            <a:r>
              <a:rPr kumimoji="0" lang="en-US" altLang="en-US" sz="1400" b="0" i="0" u="none" strike="noStrike" cap="none" normalizeH="0" baseline="0" dirty="0">
                <a:ln>
                  <a:noFill/>
                </a:ln>
                <a:effectLst/>
                <a:latin typeface="Consolas" panose="020B0609020204030204" pitchFamily="49" charset="0"/>
              </a:rPr>
              <a:t> pipeline </a:t>
            </a:r>
            <a:r>
              <a:rPr kumimoji="0" lang="en-US" altLang="en-US" sz="1400" b="0" i="0" u="none" strike="noStrike" cap="none" normalizeH="0" baseline="0" dirty="0">
                <a:ln>
                  <a:noFill/>
                </a:ln>
                <a:effectLst/>
                <a:latin typeface="inherit"/>
              </a:rPr>
              <a:t>=</a:t>
            </a:r>
            <a:r>
              <a:rPr kumimoji="0" lang="en-US" altLang="en-US" sz="1400" b="0" i="0" u="none" strike="noStrike" cap="none" normalizeH="0" baseline="0" dirty="0">
                <a:ln>
                  <a:noFill/>
                </a:ln>
                <a:effectLst/>
                <a:latin typeface="Consolas" panose="020B0609020204030204" pitchFamily="49" charset="0"/>
              </a:rPr>
              <a:t> multiply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inherit"/>
              </a:rPr>
              <a:t>.</a:t>
            </a:r>
            <a:r>
              <a:rPr kumimoji="0" lang="en-US" altLang="en-US" sz="1400" b="1" i="0" u="none" strike="noStrike" cap="none" normalizeH="0" baseline="0" dirty="0" err="1">
                <a:ln>
                  <a:noFill/>
                </a:ln>
                <a:solidFill>
                  <a:srgbClr val="DD4A68"/>
                </a:solidFill>
                <a:effectLst/>
                <a:latin typeface="inherit"/>
              </a:rPr>
              <a:t>andThen</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add</a:t>
            </a:r>
            <a:r>
              <a:rPr kumimoji="0" lang="en-US" altLang="en-US" sz="1400" b="0" i="0" u="none" strike="noStrike" cap="none" normalizeH="0" baseline="0" dirty="0">
                <a:ln>
                  <a:noFill/>
                </a:ln>
                <a:solidFill>
                  <a:srgbClr val="999999"/>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999999"/>
                </a:solidFill>
                <a:latin typeface="inherit"/>
              </a:rPr>
              <a:t>			</a:t>
            </a:r>
            <a:r>
              <a:rPr kumimoji="0" lang="en-US" altLang="en-US" sz="1400" b="0" i="0" u="none" strike="noStrike" cap="none" normalizeH="0" baseline="0" dirty="0">
                <a:ln>
                  <a:noFill/>
                </a:ln>
                <a:solidFill>
                  <a:srgbClr val="999999"/>
                </a:solidFill>
                <a:effectLst/>
                <a:latin typeface="inherit"/>
              </a:rPr>
              <a:t>.</a:t>
            </a:r>
            <a:r>
              <a:rPr kumimoji="0" lang="en-US" altLang="en-US" sz="1400" b="1" i="0" u="none" strike="noStrike" cap="none" normalizeH="0" baseline="0" dirty="0" err="1">
                <a:ln>
                  <a:noFill/>
                </a:ln>
                <a:solidFill>
                  <a:srgbClr val="DD4A68"/>
                </a:solidFill>
                <a:effectLst/>
                <a:latin typeface="inherit"/>
              </a:rPr>
              <a:t>andThen</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err="1">
                <a:ln>
                  <a:noFill/>
                </a:ln>
                <a:solidFill>
                  <a:srgbClr val="000000"/>
                </a:solidFill>
                <a:effectLst/>
                <a:latin typeface="Consolas" panose="020B0609020204030204" pitchFamily="49" charset="0"/>
              </a:rPr>
              <a:t>logOutput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inherit"/>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pipeline</a:t>
            </a:r>
            <a:r>
              <a:rPr kumimoji="0" lang="en-US" altLang="en-US" sz="1400" b="0" i="0" u="none" strike="noStrike" cap="none" normalizeH="0" baseline="0" dirty="0" err="1">
                <a:ln>
                  <a:noFill/>
                </a:ln>
                <a:solidFill>
                  <a:srgbClr val="999999"/>
                </a:solidFill>
                <a:effectLst/>
                <a:latin typeface="inherit"/>
              </a:rPr>
              <a:t>.</a:t>
            </a:r>
            <a:r>
              <a:rPr kumimoji="0" lang="en-US" altLang="en-US" sz="1400" b="0" i="0" u="none" strike="noStrike" cap="none" normalizeH="0" baseline="0" dirty="0" err="1">
                <a:ln>
                  <a:noFill/>
                </a:ln>
                <a:effectLst/>
                <a:latin typeface="inherit"/>
              </a:rPr>
              <a:t>apply</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input</a:t>
            </a: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999999"/>
                </a:solidFill>
                <a:effectLst/>
                <a:latin typeface="inherit"/>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028" name="Picture 4" descr="image-118">
            <a:extLst>
              <a:ext uri="{FF2B5EF4-FFF2-40B4-BE49-F238E27FC236}">
                <a16:creationId xmlns:a16="http://schemas.microsoft.com/office/drawing/2014/main" id="{BB4F7BC8-D4C5-660B-7B00-4656E3FE2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681968"/>
            <a:ext cx="4591050" cy="9715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57ECF13F-F1D7-BADB-3286-4006E4E9B306}"/>
              </a:ext>
            </a:extLst>
          </p:cNvPr>
          <p:cNvCxnSpPr/>
          <p:nvPr/>
        </p:nvCxnSpPr>
        <p:spPr>
          <a:xfrm>
            <a:off x="6199414" y="2820725"/>
            <a:ext cx="0" cy="3514761"/>
          </a:xfrm>
          <a:prstGeom prst="line">
            <a:avLst/>
          </a:prstGeom>
        </p:spPr>
        <p:style>
          <a:lnRef idx="3">
            <a:schemeClr val="accent2"/>
          </a:lnRef>
          <a:fillRef idx="0">
            <a:schemeClr val="accent2"/>
          </a:fillRef>
          <a:effectRef idx="2">
            <a:schemeClr val="accent2"/>
          </a:effectRef>
          <a:fontRef idx="minor">
            <a:schemeClr val="tx1"/>
          </a:fontRef>
        </p:style>
      </p:cxnSp>
      <p:sp>
        <p:nvSpPr>
          <p:cNvPr id="12" name="Rectangle 5">
            <a:extLst>
              <a:ext uri="{FF2B5EF4-FFF2-40B4-BE49-F238E27FC236}">
                <a16:creationId xmlns:a16="http://schemas.microsoft.com/office/drawing/2014/main" id="{A61E42BC-E8B8-A2F3-11D7-FCA461A8CD34}"/>
              </a:ext>
            </a:extLst>
          </p:cNvPr>
          <p:cNvSpPr>
            <a:spLocks noChangeArrowheads="1"/>
          </p:cNvSpPr>
          <p:nvPr/>
        </p:nvSpPr>
        <p:spPr bwMode="auto">
          <a:xfrm>
            <a:off x="6542118" y="4499056"/>
            <a:ext cx="491801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20F0502020204030204" pitchFamily="49" charset="0"/>
              </a:rPr>
              <a:t>public static Unit compose(Integer input)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20F0502020204030204" pitchFamily="49" charset="0"/>
              </a:rPr>
              <a:t>Function&lt;Integer, Unit&gt; pipeline = </a:t>
            </a:r>
            <a:r>
              <a:rPr kumimoji="0" lang="en-US" altLang="en-US" sz="1400" b="0" i="0" u="none" strike="noStrike" cap="none" normalizeH="0" baseline="0" dirty="0" err="1">
                <a:ln>
                  <a:noFill/>
                </a:ln>
                <a:solidFill>
                  <a:schemeClr val="tx1"/>
                </a:solidFill>
                <a:effectLst/>
                <a:latin typeface="Roboto Mono" panose="020F0502020204030204" pitchFamily="49" charset="0"/>
              </a:rPr>
              <a:t>logOutput</a:t>
            </a:r>
            <a:r>
              <a:rPr kumimoji="0" lang="en-US" altLang="en-US" sz="1400" b="0" i="0" u="none" strike="noStrike" cap="none" normalizeH="0" baseline="0" dirty="0">
                <a:ln>
                  <a:noFill/>
                </a:ln>
                <a:solidFill>
                  <a:schemeClr val="tx1"/>
                </a:solidFill>
                <a:effectLst/>
                <a:latin typeface="Roboto Mono" panose="020F0502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20F0502020204030204" pitchFamily="49" charset="0"/>
              </a:rPr>
              <a:t>			</a:t>
            </a:r>
            <a:r>
              <a:rPr kumimoji="0" lang="en-US" altLang="en-US" sz="1400" b="0" i="0" u="none" strike="noStrike" cap="none" normalizeH="0" baseline="0" dirty="0">
                <a:ln>
                  <a:noFill/>
                </a:ln>
                <a:solidFill>
                  <a:schemeClr val="tx1"/>
                </a:solidFill>
                <a:effectLst/>
                <a:latin typeface="Roboto Mono" panose="020F0502020204030204" pitchFamily="49" charset="0"/>
              </a:rPr>
              <a:t>.</a:t>
            </a:r>
            <a:r>
              <a:rPr kumimoji="0" lang="en-US" altLang="en-US" sz="1400" b="0" i="0" u="none" strike="noStrike" cap="none" normalizeH="0" baseline="0" dirty="0">
                <a:ln>
                  <a:noFill/>
                </a:ln>
                <a:solidFill>
                  <a:srgbClr val="FF0000"/>
                </a:solidFill>
                <a:effectLst/>
                <a:latin typeface="Roboto Mono" panose="020F0502020204030204" pitchFamily="49" charset="0"/>
              </a:rPr>
              <a:t>compose</a:t>
            </a:r>
            <a:r>
              <a:rPr kumimoji="0" lang="en-US" altLang="en-US" sz="1400" b="0" i="0" u="none" strike="noStrike" cap="none" normalizeH="0" baseline="0" dirty="0">
                <a:ln>
                  <a:noFill/>
                </a:ln>
                <a:solidFill>
                  <a:schemeClr val="tx1"/>
                </a:solidFill>
                <a:effectLst/>
                <a:latin typeface="Roboto Mono" panose="020F0502020204030204" pitchFamily="49" charset="0"/>
              </a:rPr>
              <a:t>(add)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20F0502020204030204" pitchFamily="49" charset="0"/>
              </a:rPr>
              <a:t>			</a:t>
            </a:r>
            <a:r>
              <a:rPr kumimoji="0" lang="en-US" altLang="en-US" sz="1400" b="0" i="0" u="none" strike="noStrike" cap="none" normalizeH="0" baseline="0" dirty="0">
                <a:ln>
                  <a:noFill/>
                </a:ln>
                <a:solidFill>
                  <a:schemeClr val="tx1"/>
                </a:solidFill>
                <a:effectLst/>
                <a:latin typeface="Roboto Mono" panose="020F0502020204030204" pitchFamily="49" charset="0"/>
              </a:rPr>
              <a:t>.</a:t>
            </a:r>
            <a:r>
              <a:rPr kumimoji="0" lang="en-US" altLang="en-US" sz="1400" b="0" i="0" u="none" strike="noStrike" cap="none" normalizeH="0" baseline="0" dirty="0">
                <a:ln>
                  <a:noFill/>
                </a:ln>
                <a:solidFill>
                  <a:srgbClr val="FF0000"/>
                </a:solidFill>
                <a:effectLst/>
                <a:latin typeface="Roboto Mono" panose="020F0502020204030204" pitchFamily="49" charset="0"/>
              </a:rPr>
              <a:t>compose</a:t>
            </a:r>
            <a:r>
              <a:rPr kumimoji="0" lang="en-US" altLang="en-US" sz="1400" b="0" i="0" u="none" strike="noStrike" cap="none" normalizeH="0" baseline="0" dirty="0">
                <a:ln>
                  <a:noFill/>
                </a:ln>
                <a:solidFill>
                  <a:schemeClr val="tx1"/>
                </a:solidFill>
                <a:effectLst/>
                <a:latin typeface="Roboto Mono" panose="020F0502020204030204" pitchFamily="49" charset="0"/>
              </a:rPr>
              <a:t>(multiply);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20F0502020204030204" pitchFamily="49" charset="0"/>
              </a:rPr>
              <a:t>return </a:t>
            </a:r>
            <a:r>
              <a:rPr kumimoji="0" lang="en-US" altLang="en-US" sz="1400" b="0" i="0" u="none" strike="noStrike" cap="none" normalizeH="0" baseline="0" dirty="0" err="1">
                <a:ln>
                  <a:noFill/>
                </a:ln>
                <a:solidFill>
                  <a:schemeClr val="tx1"/>
                </a:solidFill>
                <a:effectLst/>
                <a:latin typeface="Roboto Mono" panose="020F0502020204030204" pitchFamily="49" charset="0"/>
              </a:rPr>
              <a:t>pipeline.apply</a:t>
            </a:r>
            <a:r>
              <a:rPr kumimoji="0" lang="en-US" altLang="en-US" sz="1400" b="0" i="0" u="none" strike="noStrike" cap="none" normalizeH="0" baseline="0" dirty="0">
                <a:ln>
                  <a:noFill/>
                </a:ln>
                <a:solidFill>
                  <a:schemeClr val="tx1"/>
                </a:solidFill>
                <a:effectLst/>
                <a:latin typeface="Roboto Mono" panose="020F0502020204030204" pitchFamily="49" charset="0"/>
              </a:rPr>
              <a:t>(input); }</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cxnSp>
        <p:nvCxnSpPr>
          <p:cNvPr id="14" name="Straight Arrow Connector 13">
            <a:extLst>
              <a:ext uri="{FF2B5EF4-FFF2-40B4-BE49-F238E27FC236}">
                <a16:creationId xmlns:a16="http://schemas.microsoft.com/office/drawing/2014/main" id="{C9E07A22-39BC-1B54-1CD9-0B0A0F0E128D}"/>
              </a:ext>
            </a:extLst>
          </p:cNvPr>
          <p:cNvCxnSpPr/>
          <p:nvPr/>
        </p:nvCxnSpPr>
        <p:spPr>
          <a:xfrm>
            <a:off x="5878286" y="4633631"/>
            <a:ext cx="0" cy="86365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215EE350-C4F0-5FF4-C5DC-5AD6FA3A6ED3}"/>
              </a:ext>
            </a:extLst>
          </p:cNvPr>
          <p:cNvCxnSpPr>
            <a:cxnSpLocks/>
          </p:cNvCxnSpPr>
          <p:nvPr/>
        </p:nvCxnSpPr>
        <p:spPr>
          <a:xfrm flipV="1">
            <a:off x="11734800" y="4499056"/>
            <a:ext cx="0" cy="86365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4895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58D772-D7C9-425F-11C2-D9736361C6A7}"/>
              </a:ext>
            </a:extLst>
          </p:cNvPr>
          <p:cNvSpPr txBox="1"/>
          <p:nvPr/>
        </p:nvSpPr>
        <p:spPr>
          <a:xfrm>
            <a:off x="609600" y="294305"/>
            <a:ext cx="6096000" cy="461665"/>
          </a:xfrm>
          <a:prstGeom prst="rect">
            <a:avLst/>
          </a:prstGeom>
          <a:noFill/>
        </p:spPr>
        <p:txBody>
          <a:bodyPr wrap="square">
            <a:spAutoFit/>
          </a:bodyPr>
          <a:lstStyle/>
          <a:p>
            <a:pPr algn="l" fontAlgn="base"/>
            <a:r>
              <a:rPr lang="en-IN" sz="2400" b="1" i="0" dirty="0">
                <a:effectLst/>
                <a:latin typeface="-apple-system"/>
              </a:rPr>
              <a:t>Customized Functional Interface</a:t>
            </a:r>
          </a:p>
        </p:txBody>
      </p:sp>
      <p:sp>
        <p:nvSpPr>
          <p:cNvPr id="3" name="Rectangle 1">
            <a:extLst>
              <a:ext uri="{FF2B5EF4-FFF2-40B4-BE49-F238E27FC236}">
                <a16:creationId xmlns:a16="http://schemas.microsoft.com/office/drawing/2014/main" id="{69030C90-37FF-467B-1BC6-AB05F94AF0BD}"/>
              </a:ext>
            </a:extLst>
          </p:cNvPr>
          <p:cNvSpPr>
            <a:spLocks noChangeArrowheads="1"/>
          </p:cNvSpPr>
          <p:nvPr/>
        </p:nvSpPr>
        <p:spPr bwMode="auto">
          <a:xfrm>
            <a:off x="707571" y="1125378"/>
            <a:ext cx="745236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rgbClr val="FF0000"/>
                </a:solidFill>
                <a:effectLst/>
                <a:latin typeface="Roboto Mono" panose="00000009000000000000" pitchFamily="49" charset="0"/>
              </a:rPr>
              <a:t>Function</a:t>
            </a:r>
            <a:r>
              <a:rPr kumimoji="0" lang="en-US" altLang="en-US" sz="1600" b="0" i="0" u="none" strike="noStrike" cap="none" normalizeH="0" baseline="0" dirty="0">
                <a:ln>
                  <a:noFill/>
                </a:ln>
                <a:solidFill>
                  <a:schemeClr val="tx1"/>
                </a:solidFill>
                <a:effectLst/>
                <a:latin typeface="Roboto Mono" panose="00000009000000000000" pitchFamily="49" charset="0"/>
              </a:rPr>
              <a:t>&lt;String, String&gt; </a:t>
            </a:r>
            <a:r>
              <a:rPr kumimoji="0" lang="en-US" altLang="en-US" sz="1600" b="0" i="0" u="none" strike="noStrike" cap="none" normalizeH="0" baseline="0" dirty="0" err="1">
                <a:ln>
                  <a:noFill/>
                </a:ln>
                <a:solidFill>
                  <a:schemeClr val="tx1"/>
                </a:solidFill>
                <a:effectLst/>
                <a:latin typeface="Roboto Mono" panose="00000009000000000000" pitchFamily="49" charset="0"/>
              </a:rPr>
              <a:t>toUpper</a:t>
            </a:r>
            <a:r>
              <a:rPr kumimoji="0" lang="en-US" altLang="en-US" sz="1600" b="0" i="0" u="none" strike="noStrike" cap="none" normalizeH="0" baseline="0" dirty="0">
                <a:ln>
                  <a:noFill/>
                </a:ln>
                <a:solidFill>
                  <a:schemeClr val="tx1"/>
                </a:solidFill>
                <a:effectLst/>
                <a:latin typeface="Roboto Mono" panose="00000009000000000000" pitchFamily="49" charset="0"/>
              </a:rPr>
              <a:t> = str -&gt; </a:t>
            </a:r>
            <a:r>
              <a:rPr kumimoji="0" lang="en-US" altLang="en-US" sz="1600" b="0" i="0" u="none" strike="noStrike" cap="none" normalizeH="0" baseline="0" dirty="0" err="1">
                <a:ln>
                  <a:noFill/>
                </a:ln>
                <a:solidFill>
                  <a:schemeClr val="tx1"/>
                </a:solidFill>
                <a:effectLst/>
                <a:latin typeface="Roboto Mono" panose="00000009000000000000" pitchFamily="49" charset="0"/>
              </a:rPr>
              <a:t>str.toUpperCase</a:t>
            </a:r>
            <a:r>
              <a:rPr kumimoji="0" lang="en-US" altLang="en-US" sz="1600" b="0" i="0" u="none" strike="noStrike" cap="none" normalizeH="0" baseline="0" dirty="0">
                <a:ln>
                  <a:noFill/>
                </a:ln>
                <a:solidFill>
                  <a:schemeClr val="tx1"/>
                </a:solidFill>
                <a:effectLst/>
                <a:latin typeface="Roboto Mono" panose="00000009000000000000"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err="1">
                <a:ln>
                  <a:noFill/>
                </a:ln>
                <a:solidFill>
                  <a:srgbClr val="FF0000"/>
                </a:solidFill>
                <a:effectLst/>
                <a:latin typeface="Roboto Mono" panose="00000009000000000000" pitchFamily="49" charset="0"/>
              </a:rPr>
              <a:t>BiFunction</a:t>
            </a:r>
            <a:r>
              <a:rPr kumimoji="0" lang="en-US" altLang="en-US" sz="1600" b="0" i="0" u="none" strike="noStrike" cap="none" normalizeH="0" baseline="0" dirty="0">
                <a:ln>
                  <a:noFill/>
                </a:ln>
                <a:solidFill>
                  <a:schemeClr val="tx1"/>
                </a:solidFill>
                <a:effectLst/>
                <a:latin typeface="Roboto Mono" panose="00000009000000000000" pitchFamily="49" charset="0"/>
              </a:rPr>
              <a:t>&lt;Integer, Integer, Integer&gt; sum = (a, b) -&gt; a + b;</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52B6B2BE-3C9E-A78E-91CD-D247F478FD80}"/>
              </a:ext>
            </a:extLst>
          </p:cNvPr>
          <p:cNvSpPr>
            <a:spLocks noChangeArrowheads="1"/>
          </p:cNvSpPr>
          <p:nvPr/>
        </p:nvSpPr>
        <p:spPr bwMode="auto">
          <a:xfrm>
            <a:off x="707571" y="1741009"/>
            <a:ext cx="1109254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A0A23"/>
                </a:solidFill>
                <a:effectLst/>
                <a:latin typeface="Lato" panose="020F0502020204030203" pitchFamily="34" charset="0"/>
              </a:rPr>
              <a:t>The </a:t>
            </a:r>
            <a:r>
              <a:rPr kumimoji="0" lang="en-US" altLang="en-US" sz="1600" b="0" i="0" u="none" strike="noStrike" cap="none" normalizeH="0" baseline="0" dirty="0">
                <a:ln>
                  <a:noFill/>
                </a:ln>
                <a:solidFill>
                  <a:srgbClr val="0A0A23"/>
                </a:solidFill>
                <a:effectLst/>
                <a:latin typeface="Roboto Mono" panose="00000009000000000000" pitchFamily="49" charset="0"/>
              </a:rPr>
              <a:t>Function</a:t>
            </a:r>
            <a:r>
              <a:rPr kumimoji="0" lang="en-US" altLang="en-US" sz="1600" b="0" i="0" u="none" strike="noStrike" cap="none" normalizeH="0" baseline="0" dirty="0">
                <a:ln>
                  <a:noFill/>
                </a:ln>
                <a:solidFill>
                  <a:srgbClr val="0A0A23"/>
                </a:solidFill>
                <a:effectLst/>
                <a:latin typeface="Lato" panose="020F0502020204030203" pitchFamily="34" charset="0"/>
              </a:rPr>
              <a:t> interface takes a single input and produces an output, whereas the </a:t>
            </a:r>
            <a:r>
              <a:rPr kumimoji="0" lang="en-US" altLang="en-US" sz="1600" b="0" i="0" u="none" strike="noStrike" cap="none" normalizeH="0" baseline="0" dirty="0" err="1">
                <a:ln>
                  <a:noFill/>
                </a:ln>
                <a:solidFill>
                  <a:srgbClr val="0A0A23"/>
                </a:solidFill>
                <a:effectLst/>
                <a:latin typeface="Roboto Mono" panose="00000009000000000000" pitchFamily="49" charset="0"/>
              </a:rPr>
              <a:t>BiFunction</a:t>
            </a:r>
            <a:r>
              <a:rPr kumimoji="0" lang="en-US" altLang="en-US" sz="1600" b="0" i="0" u="none" strike="noStrike" cap="none" normalizeH="0" baseline="0" dirty="0">
                <a:ln>
                  <a:noFill/>
                </a:ln>
                <a:solidFill>
                  <a:srgbClr val="0A0A23"/>
                </a:solidFill>
                <a:effectLst/>
                <a:latin typeface="Lato" panose="020F0502020204030203" pitchFamily="34" charset="0"/>
              </a:rPr>
              <a:t> interface takes two inputs and produces an output.</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0" i="0" dirty="0">
                <a:solidFill>
                  <a:srgbClr val="0A0A23"/>
                </a:solidFill>
                <a:effectLst/>
                <a:latin typeface="Lato" panose="020F0502020204030203" pitchFamily="34" charset="0"/>
              </a:rPr>
              <a:t>if we need a function that takes three inputs, we must construct our own customized function.</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27732FCE-6DD1-0F73-43A1-788CF1EF86A0}"/>
              </a:ext>
            </a:extLst>
          </p:cNvPr>
          <p:cNvSpPr>
            <a:spLocks noChangeArrowheads="1"/>
          </p:cNvSpPr>
          <p:nvPr/>
        </p:nvSpPr>
        <p:spPr bwMode="auto">
          <a:xfrm>
            <a:off x="707571" y="3378055"/>
            <a:ext cx="9198429"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@FunctionalInterface public interface </a:t>
            </a:r>
            <a:r>
              <a:rPr kumimoji="0" lang="en-US" altLang="en-US" sz="1400" b="0" i="0" u="none" strike="noStrike" cap="none" normalizeH="0" baseline="0" dirty="0" err="1">
                <a:ln>
                  <a:noFill/>
                </a:ln>
                <a:solidFill>
                  <a:srgbClr val="FF0000"/>
                </a:solidFill>
                <a:effectLst/>
                <a:latin typeface="Roboto Mono" panose="00000009000000000000" pitchFamily="49" charset="0"/>
              </a:rPr>
              <a:t>TriFunction</a:t>
            </a:r>
            <a:r>
              <a:rPr kumimoji="0" lang="en-US" altLang="en-US" sz="1400" b="0" i="0" u="none" strike="noStrike" cap="none" normalizeH="0" baseline="0" dirty="0">
                <a:ln>
                  <a:noFill/>
                </a:ln>
                <a:solidFill>
                  <a:schemeClr val="tx1"/>
                </a:solidFill>
                <a:effectLst/>
                <a:latin typeface="Roboto Mono" panose="00000009000000000000" pitchFamily="49" charset="0"/>
              </a:rPr>
              <a:t>&lt;A, B, C, O&gt;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	O apply(A </a:t>
            </a:r>
            <a:r>
              <a:rPr kumimoji="0" lang="en-US" altLang="en-US" sz="1400" b="0" i="0" u="none" strike="noStrike" cap="none" normalizeH="0" baseline="0" dirty="0" err="1">
                <a:ln>
                  <a:noFill/>
                </a:ln>
                <a:solidFill>
                  <a:schemeClr val="tx1"/>
                </a:solidFill>
                <a:effectLst/>
                <a:latin typeface="Roboto Mono" panose="00000009000000000000" pitchFamily="49" charset="0"/>
              </a:rPr>
              <a:t>a</a:t>
            </a:r>
            <a:r>
              <a:rPr kumimoji="0" lang="en-US" altLang="en-US" sz="1400" b="0" i="0" u="none" strike="noStrike" cap="none" normalizeH="0" baseline="0" dirty="0">
                <a:ln>
                  <a:noFill/>
                </a:ln>
                <a:solidFill>
                  <a:schemeClr val="tx1"/>
                </a:solidFill>
                <a:effectLst/>
                <a:latin typeface="Roboto Mono" panose="00000009000000000000" pitchFamily="49" charset="0"/>
              </a:rPr>
              <a:t>, B </a:t>
            </a:r>
            <a:r>
              <a:rPr kumimoji="0" lang="en-US" altLang="en-US" sz="1400" b="0" i="0" u="none" strike="noStrike" cap="none" normalizeH="0" baseline="0" dirty="0" err="1">
                <a:ln>
                  <a:noFill/>
                </a:ln>
                <a:solidFill>
                  <a:schemeClr val="tx1"/>
                </a:solidFill>
                <a:effectLst/>
                <a:latin typeface="Roboto Mono" panose="00000009000000000000" pitchFamily="49" charset="0"/>
              </a:rPr>
              <a:t>b</a:t>
            </a:r>
            <a:r>
              <a:rPr kumimoji="0" lang="en-US" altLang="en-US" sz="1400" b="0" i="0" u="none" strike="noStrike" cap="none" normalizeH="0" baseline="0" dirty="0">
                <a:ln>
                  <a:noFill/>
                </a:ln>
                <a:solidFill>
                  <a:schemeClr val="tx1"/>
                </a:solidFill>
                <a:effectLst/>
                <a:latin typeface="Roboto Mono" panose="00000009000000000000" pitchFamily="49" charset="0"/>
              </a:rPr>
              <a:t>, C 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	default &lt;R&gt; </a:t>
            </a:r>
            <a:r>
              <a:rPr kumimoji="0" lang="en-US" altLang="en-US" sz="1400" b="0" i="0" u="none" strike="noStrike" cap="none" normalizeH="0" baseline="0" dirty="0" err="1">
                <a:ln>
                  <a:noFill/>
                </a:ln>
                <a:solidFill>
                  <a:schemeClr val="tx1"/>
                </a:solidFill>
                <a:effectLst/>
                <a:latin typeface="Roboto Mono" panose="00000009000000000000" pitchFamily="49" charset="0"/>
              </a:rPr>
              <a:t>TriFunction</a:t>
            </a:r>
            <a:r>
              <a:rPr kumimoji="0" lang="en-US" altLang="en-US" sz="1400" b="0" i="0" u="none" strike="noStrike" cap="none" normalizeH="0" baseline="0" dirty="0">
                <a:ln>
                  <a:noFill/>
                </a:ln>
                <a:solidFill>
                  <a:schemeClr val="tx1"/>
                </a:solidFill>
                <a:effectLst/>
                <a:latin typeface="Roboto Mono" panose="00000009000000000000" pitchFamily="49" charset="0"/>
              </a:rPr>
              <a:t>&lt;A, B, C, O&gt; </a:t>
            </a:r>
            <a:r>
              <a:rPr kumimoji="0" lang="en-US" altLang="en-US" sz="1400" b="0" i="0" u="none" strike="noStrike" cap="none" normalizeH="0" baseline="0" dirty="0" err="1">
                <a:ln>
                  <a:noFill/>
                </a:ln>
                <a:solidFill>
                  <a:schemeClr val="tx1"/>
                </a:solidFill>
                <a:effectLst/>
                <a:latin typeface="Roboto Mono" panose="00000009000000000000" pitchFamily="49" charset="0"/>
              </a:rPr>
              <a:t>andThen</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Roboto Mono" panose="00000009000000000000" pitchFamily="49" charset="0"/>
              </a:rPr>
              <a:t>TriFunction</a:t>
            </a:r>
            <a:r>
              <a:rPr kumimoji="0" lang="en-US" altLang="en-US" sz="1400" b="0" i="0" u="none" strike="noStrike" cap="none" normalizeH="0" baseline="0" dirty="0">
                <a:ln>
                  <a:noFill/>
                </a:ln>
                <a:solidFill>
                  <a:schemeClr val="tx1"/>
                </a:solidFill>
                <a:effectLst/>
                <a:latin typeface="Roboto Mono" panose="00000009000000000000" pitchFamily="49" charset="0"/>
              </a:rPr>
              <a:t>&lt;A, B, C, O&gt; after)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Roboto Mono" panose="00000009000000000000" pitchFamily="49" charset="0"/>
              </a:rPr>
              <a:t>return (A </a:t>
            </a:r>
            <a:r>
              <a:rPr kumimoji="0" lang="en-US" altLang="en-US" sz="1400" b="0" i="0" u="none" strike="noStrike" cap="none" normalizeH="0" baseline="0" dirty="0" err="1">
                <a:ln>
                  <a:noFill/>
                </a:ln>
                <a:solidFill>
                  <a:schemeClr val="tx1"/>
                </a:solidFill>
                <a:effectLst/>
                <a:latin typeface="Roboto Mono" panose="00000009000000000000" pitchFamily="49" charset="0"/>
              </a:rPr>
              <a:t>a</a:t>
            </a:r>
            <a:r>
              <a:rPr kumimoji="0" lang="en-US" altLang="en-US" sz="1400" b="0" i="0" u="none" strike="noStrike" cap="none" normalizeH="0" baseline="0" dirty="0">
                <a:ln>
                  <a:noFill/>
                </a:ln>
                <a:solidFill>
                  <a:schemeClr val="tx1"/>
                </a:solidFill>
                <a:effectLst/>
                <a:latin typeface="Roboto Mono" panose="00000009000000000000" pitchFamily="49" charset="0"/>
              </a:rPr>
              <a:t>, B </a:t>
            </a:r>
            <a:r>
              <a:rPr kumimoji="0" lang="en-US" altLang="en-US" sz="1400" b="0" i="0" u="none" strike="noStrike" cap="none" normalizeH="0" baseline="0" dirty="0" err="1">
                <a:ln>
                  <a:noFill/>
                </a:ln>
                <a:solidFill>
                  <a:schemeClr val="tx1"/>
                </a:solidFill>
                <a:effectLst/>
                <a:latin typeface="Roboto Mono" panose="00000009000000000000" pitchFamily="49" charset="0"/>
              </a:rPr>
              <a:t>b</a:t>
            </a:r>
            <a:r>
              <a:rPr kumimoji="0" lang="en-US" altLang="en-US" sz="1400" b="0" i="0" u="none" strike="noStrike" cap="none" normalizeH="0" baseline="0" dirty="0">
                <a:ln>
                  <a:noFill/>
                </a:ln>
                <a:solidFill>
                  <a:schemeClr val="tx1"/>
                </a:solidFill>
                <a:effectLst/>
                <a:latin typeface="Roboto Mono" panose="00000009000000000000" pitchFamily="49" charset="0"/>
              </a:rPr>
              <a:t>, C c) -&gt; </a:t>
            </a:r>
            <a:r>
              <a:rPr kumimoji="0" lang="en-US" altLang="en-US" sz="1400" b="0" i="0" u="none" strike="noStrike" cap="none" normalizeH="0" baseline="0" dirty="0" err="1">
                <a:ln>
                  <a:noFill/>
                </a:ln>
                <a:solidFill>
                  <a:schemeClr val="tx1"/>
                </a:solidFill>
                <a:effectLst/>
                <a:latin typeface="Roboto Mono" panose="00000009000000000000" pitchFamily="49" charset="0"/>
              </a:rPr>
              <a:t>after.apply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Roboto Mono" panose="00000009000000000000" pitchFamily="49" charset="0"/>
              </a:rPr>
              <a:t>a,b,c</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1421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CD58C-7F4E-7705-5769-B6D08FC69311}"/>
              </a:ext>
            </a:extLst>
          </p:cNvPr>
          <p:cNvSpPr>
            <a:spLocks noGrp="1"/>
          </p:cNvSpPr>
          <p:nvPr>
            <p:ph type="title"/>
          </p:nvPr>
        </p:nvSpPr>
        <p:spPr>
          <a:xfrm>
            <a:off x="838200" y="365125"/>
            <a:ext cx="10515600" cy="244475"/>
          </a:xfrm>
        </p:spPr>
        <p:txBody>
          <a:bodyPr>
            <a:normAutofit fontScale="90000"/>
          </a:bodyPr>
          <a:lstStyle/>
          <a:p>
            <a:r>
              <a:rPr lang="en-IN" dirty="0"/>
              <a:t>Function Currying</a:t>
            </a:r>
          </a:p>
        </p:txBody>
      </p:sp>
      <p:sp>
        <p:nvSpPr>
          <p:cNvPr id="4" name="TextBox 3">
            <a:extLst>
              <a:ext uri="{FF2B5EF4-FFF2-40B4-BE49-F238E27FC236}">
                <a16:creationId xmlns:a16="http://schemas.microsoft.com/office/drawing/2014/main" id="{6AF6C7CE-813E-998B-D27C-7D21DFE9B451}"/>
              </a:ext>
            </a:extLst>
          </p:cNvPr>
          <p:cNvSpPr txBox="1"/>
          <p:nvPr/>
        </p:nvSpPr>
        <p:spPr>
          <a:xfrm>
            <a:off x="838200" y="934135"/>
            <a:ext cx="10591800" cy="369332"/>
          </a:xfrm>
          <a:prstGeom prst="rect">
            <a:avLst/>
          </a:prstGeom>
          <a:noFill/>
        </p:spPr>
        <p:txBody>
          <a:bodyPr wrap="square">
            <a:spAutoFit/>
          </a:bodyPr>
          <a:lstStyle/>
          <a:p>
            <a:r>
              <a:rPr lang="en-US" b="0" i="1" dirty="0">
                <a:solidFill>
                  <a:srgbClr val="61738E"/>
                </a:solidFill>
                <a:effectLst/>
                <a:latin typeface="__Source_Sans_Pro_fea366"/>
              </a:rPr>
              <a:t>Currying is converting a function with multiple arguments into multiple functions with a single argument.</a:t>
            </a:r>
            <a:endParaRPr lang="en-IN" dirty="0"/>
          </a:p>
        </p:txBody>
      </p:sp>
      <p:sp>
        <p:nvSpPr>
          <p:cNvPr id="6" name="TextBox 5">
            <a:extLst>
              <a:ext uri="{FF2B5EF4-FFF2-40B4-BE49-F238E27FC236}">
                <a16:creationId xmlns:a16="http://schemas.microsoft.com/office/drawing/2014/main" id="{329616EE-BC93-08F3-2238-09DC4C96CB42}"/>
              </a:ext>
            </a:extLst>
          </p:cNvPr>
          <p:cNvSpPr txBox="1"/>
          <p:nvPr/>
        </p:nvSpPr>
        <p:spPr>
          <a:xfrm>
            <a:off x="1219200" y="1845717"/>
            <a:ext cx="10863943" cy="2677656"/>
          </a:xfrm>
          <a:prstGeom prst="rect">
            <a:avLst/>
          </a:prstGeom>
          <a:noFill/>
        </p:spPr>
        <p:txBody>
          <a:bodyPr wrap="square">
            <a:spAutoFit/>
          </a:bodyPr>
          <a:lstStyle/>
          <a:p>
            <a:pPr marL="0" marR="0">
              <a:spcBef>
                <a:spcPts val="0"/>
              </a:spcBef>
              <a:spcAft>
                <a:spcPts val="0"/>
              </a:spcAft>
            </a:pPr>
            <a:r>
              <a:rPr lang="en-IN" sz="1400" b="1" dirty="0">
                <a:solidFill>
                  <a:srgbClr val="7F0055"/>
                </a:solidFill>
                <a:effectLst/>
                <a:latin typeface="Courier New" panose="02070309020205020404" pitchFamily="49" charset="0"/>
              </a:rPr>
              <a:t>public</a:t>
            </a:r>
            <a:r>
              <a:rPr lang="en-IN" sz="1400" dirty="0">
                <a:solidFill>
                  <a:srgbClr val="000000"/>
                </a:solidFill>
                <a:effectLst/>
                <a:latin typeface="Courier New" panose="02070309020205020404" pitchFamily="49" charset="0"/>
              </a:rPr>
              <a:t> </a:t>
            </a:r>
            <a:r>
              <a:rPr lang="en-IN" sz="1400" b="1" dirty="0">
                <a:solidFill>
                  <a:srgbClr val="7F0055"/>
                </a:solidFill>
                <a:effectLst/>
                <a:latin typeface="Courier New" panose="02070309020205020404" pitchFamily="49" charset="0"/>
              </a:rPr>
              <a:t>static</a:t>
            </a:r>
            <a:r>
              <a:rPr lang="en-IN" sz="1400" dirty="0">
                <a:solidFill>
                  <a:srgbClr val="000000"/>
                </a:solidFill>
                <a:effectLst/>
                <a:latin typeface="Courier New" panose="02070309020205020404" pitchFamily="49" charset="0"/>
              </a:rPr>
              <a:t> </a:t>
            </a:r>
            <a:r>
              <a:rPr lang="en-IN" sz="1400" b="1" dirty="0">
                <a:solidFill>
                  <a:srgbClr val="7F0055"/>
                </a:solidFill>
                <a:effectLst/>
                <a:latin typeface="Courier New" panose="02070309020205020404" pitchFamily="49" charset="0"/>
              </a:rPr>
              <a:t>void</a:t>
            </a:r>
            <a:r>
              <a:rPr lang="en-IN" sz="1400" dirty="0">
                <a:solidFill>
                  <a:srgbClr val="000000"/>
                </a:solidFill>
                <a:effectLst/>
                <a:latin typeface="Courier New" panose="02070309020205020404" pitchFamily="49" charset="0"/>
              </a:rPr>
              <a:t> main(String[] </a:t>
            </a:r>
            <a:r>
              <a:rPr lang="en-IN" sz="1400" dirty="0" err="1">
                <a:solidFill>
                  <a:srgbClr val="6A3E3E"/>
                </a:solidFill>
                <a:effectLst/>
                <a:latin typeface="Courier New" panose="02070309020205020404" pitchFamily="49" charset="0"/>
              </a:rPr>
              <a:t>args</a:t>
            </a:r>
            <a:r>
              <a:rPr lang="en-IN" sz="1400" dirty="0">
                <a:solidFill>
                  <a:srgbClr val="000000"/>
                </a:solidFill>
                <a:effectLst/>
                <a:latin typeface="Courier New" panose="02070309020205020404" pitchFamily="49" charset="0"/>
              </a:rPr>
              <a:t>) {</a:t>
            </a:r>
          </a:p>
          <a:p>
            <a:pPr lvl="1"/>
            <a:r>
              <a:rPr lang="en-IN" sz="1400" dirty="0">
                <a:solidFill>
                  <a:srgbClr val="3F7F5F"/>
                </a:solidFill>
                <a:effectLst/>
                <a:latin typeface="Courier New" panose="02070309020205020404" pitchFamily="49" charset="0"/>
              </a:rPr>
              <a:t>//using </a:t>
            </a:r>
            <a:r>
              <a:rPr lang="en-IN" sz="1400" dirty="0" err="1">
                <a:solidFill>
                  <a:srgbClr val="3F7F5F"/>
                </a:solidFill>
                <a:effectLst/>
                <a:latin typeface="Courier New" panose="02070309020205020404" pitchFamily="49" charset="0"/>
              </a:rPr>
              <a:t>java.util.function.BiFunction</a:t>
            </a:r>
            <a:endParaRPr lang="en-IN" sz="1400" dirty="0">
              <a:solidFill>
                <a:srgbClr val="000000"/>
              </a:solidFill>
              <a:effectLst/>
              <a:latin typeface="Courier New" panose="02070309020205020404" pitchFamily="49" charset="0"/>
            </a:endParaRPr>
          </a:p>
          <a:p>
            <a:pPr lvl="1"/>
            <a:r>
              <a:rPr lang="en-IN" sz="1400" dirty="0" err="1">
                <a:solidFill>
                  <a:srgbClr val="000000"/>
                </a:solidFill>
                <a:effectLst/>
                <a:latin typeface="Courier New" panose="02070309020205020404" pitchFamily="49" charset="0"/>
              </a:rPr>
              <a:t>BiFunction</a:t>
            </a:r>
            <a:r>
              <a:rPr lang="en-IN" sz="1400" dirty="0">
                <a:solidFill>
                  <a:srgbClr val="000000"/>
                </a:solidFill>
                <a:effectLst/>
                <a:latin typeface="Courier New" panose="02070309020205020404" pitchFamily="49" charset="0"/>
              </a:rPr>
              <a:t>&lt;String, String, String&gt; </a:t>
            </a:r>
            <a:r>
              <a:rPr lang="en-IN" sz="1400" dirty="0" err="1">
                <a:solidFill>
                  <a:srgbClr val="6A3E3E"/>
                </a:solidFill>
                <a:effectLst/>
                <a:latin typeface="Courier New" panose="02070309020205020404" pitchFamily="49" charset="0"/>
              </a:rPr>
              <a:t>concatWithBiFunction</a:t>
            </a:r>
            <a:r>
              <a:rPr lang="en-IN" sz="1400" dirty="0">
                <a:solidFill>
                  <a:srgbClr val="000000"/>
                </a:solidFill>
                <a:effectLst/>
                <a:latin typeface="Courier New" panose="02070309020205020404" pitchFamily="49" charset="0"/>
              </a:rPr>
              <a:t> = (</a:t>
            </a:r>
            <a:r>
              <a:rPr lang="en-IN" sz="1400" dirty="0" err="1">
                <a:solidFill>
                  <a:srgbClr val="6A3E3E"/>
                </a:solidFill>
                <a:effectLst/>
                <a:latin typeface="Courier New" panose="02070309020205020404" pitchFamily="49" charset="0"/>
              </a:rPr>
              <a:t>a</a:t>
            </a:r>
            <a:r>
              <a:rPr lang="en-IN" sz="1400" dirty="0" err="1">
                <a:solidFill>
                  <a:srgbClr val="000000"/>
                </a:solidFill>
                <a:effectLst/>
                <a:latin typeface="Courier New" panose="02070309020205020404" pitchFamily="49" charset="0"/>
              </a:rPr>
              <a:t>,</a:t>
            </a:r>
            <a:r>
              <a:rPr lang="en-IN" sz="1400" dirty="0" err="1">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 -&gt; </a:t>
            </a:r>
            <a:r>
              <a:rPr lang="en-IN" sz="1400" dirty="0" err="1">
                <a:solidFill>
                  <a:srgbClr val="6A3E3E"/>
                </a:solidFill>
                <a:effectLst/>
                <a:latin typeface="Courier New" panose="02070309020205020404" pitchFamily="49" charset="0"/>
              </a:rPr>
              <a:t>a</a:t>
            </a:r>
            <a:r>
              <a:rPr lang="en-IN" sz="1400" dirty="0" err="1">
                <a:solidFill>
                  <a:srgbClr val="000000"/>
                </a:solidFill>
                <a:effectLst/>
                <a:latin typeface="Courier New" panose="02070309020205020404" pitchFamily="49" charset="0"/>
              </a:rPr>
              <a:t>+</a:t>
            </a:r>
            <a:r>
              <a:rPr lang="en-IN" sz="1400" dirty="0" err="1">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r>
              <a:rPr lang="en-IN" sz="1400" dirty="0">
                <a:solidFill>
                  <a:srgbClr val="3F7F5F"/>
                </a:solidFill>
                <a:effectLst/>
                <a:latin typeface="Courier New" panose="02070309020205020404" pitchFamily="49" charset="0"/>
              </a:rPr>
              <a:t>//Currying is converting a function with multiple arguments into multiple functions with a single argument.</a:t>
            </a:r>
            <a:endParaRPr lang="en-IN" sz="1400" dirty="0">
              <a:solidFill>
                <a:srgbClr val="000000"/>
              </a:solidFill>
              <a:effectLst/>
              <a:latin typeface="Courier New" panose="02070309020205020404" pitchFamily="49" charset="0"/>
            </a:endParaRPr>
          </a:p>
          <a:p>
            <a:pPr lvl="1"/>
            <a:r>
              <a:rPr lang="en-IN" sz="1400" dirty="0">
                <a:solidFill>
                  <a:srgbClr val="000000"/>
                </a:solidFill>
                <a:effectLst/>
                <a:latin typeface="Courier New" panose="02070309020205020404" pitchFamily="49" charset="0"/>
              </a:rPr>
              <a:t>Function&lt;String, Function&lt;String, String&gt;&gt; </a:t>
            </a:r>
            <a:r>
              <a:rPr lang="en-IN" sz="1400" dirty="0" err="1">
                <a:solidFill>
                  <a:srgbClr val="6A3E3E"/>
                </a:solidFill>
                <a:effectLst/>
                <a:latin typeface="Courier New" panose="02070309020205020404" pitchFamily="49" charset="0"/>
              </a:rPr>
              <a:t>concatCurried</a:t>
            </a:r>
            <a:r>
              <a:rPr lang="en-IN" sz="1400" dirty="0">
                <a:solidFill>
                  <a:srgbClr val="000000"/>
                </a:solidFill>
                <a:effectLst/>
                <a:latin typeface="Courier New" panose="02070309020205020404" pitchFamily="49" charset="0"/>
              </a:rPr>
              <a:t> = </a:t>
            </a:r>
            <a:r>
              <a:rPr lang="en-IN" sz="1400" dirty="0">
                <a:solidFill>
                  <a:srgbClr val="6A3E3E"/>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 -&gt; </a:t>
            </a:r>
            <a:r>
              <a:rPr lang="en-IN" sz="1400" dirty="0">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 -&gt; </a:t>
            </a:r>
            <a:r>
              <a:rPr lang="en-IN" sz="1400" dirty="0">
                <a:solidFill>
                  <a:srgbClr val="6A3E3E"/>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 + </a:t>
            </a:r>
            <a:r>
              <a:rPr lang="en-IN" sz="1400" dirty="0">
                <a:solidFill>
                  <a:srgbClr val="6A3E3E"/>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br>
              <a:rPr lang="en-IN" sz="1400" dirty="0">
                <a:solidFill>
                  <a:srgbClr val="000000"/>
                </a:solidFill>
                <a:effectLst/>
                <a:latin typeface="Courier New" panose="02070309020205020404" pitchFamily="49" charset="0"/>
              </a:rPr>
            </a:br>
            <a:endParaRPr lang="en-IN" sz="1400" dirty="0">
              <a:solidFill>
                <a:srgbClr val="000000"/>
              </a:solidFill>
              <a:effectLst/>
              <a:latin typeface="Courier New" panose="02070309020205020404" pitchFamily="49" charset="0"/>
            </a:endParaRPr>
          </a:p>
          <a:p>
            <a:pPr lvl="1"/>
            <a:r>
              <a:rPr lang="en-IN" sz="1400" dirty="0" err="1">
                <a:solidFill>
                  <a:srgbClr val="000000"/>
                </a:solidFill>
                <a:effectLst/>
                <a:latin typeface="Courier New" panose="02070309020205020404" pitchFamily="49" charset="0"/>
              </a:rPr>
              <a:t>System.</a:t>
            </a:r>
            <a:r>
              <a:rPr lang="en-IN" sz="1400" b="1" i="1" dirty="0" err="1">
                <a:solidFill>
                  <a:srgbClr val="0000C0"/>
                </a:solidFill>
                <a:effectLst/>
                <a:latin typeface="Courier New" panose="02070309020205020404" pitchFamily="49" charset="0"/>
              </a:rPr>
              <a:t>out</a:t>
            </a:r>
            <a:r>
              <a:rPr lang="en-IN" sz="1400" dirty="0" err="1">
                <a:solidFill>
                  <a:srgbClr val="000000"/>
                </a:solidFill>
                <a:effectLst/>
                <a:latin typeface="Courier New" panose="02070309020205020404" pitchFamily="49" charset="0"/>
              </a:rPr>
              <a:t>.println</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t>
            </a:r>
            <a:r>
              <a:rPr lang="en-IN" sz="1400" dirty="0" err="1">
                <a:solidFill>
                  <a:srgbClr val="2A00FF"/>
                </a:solidFill>
                <a:effectLst/>
                <a:latin typeface="Courier New" panose="02070309020205020404" pitchFamily="49" charset="0"/>
              </a:rPr>
              <a:t>concatWithBiFunction</a:t>
            </a:r>
            <a:r>
              <a:rPr lang="en-IN" sz="1400" dirty="0">
                <a:solidFill>
                  <a:srgbClr val="2A00FF"/>
                </a:solidFill>
                <a:effectLst/>
                <a:latin typeface="Courier New" panose="02070309020205020404" pitchFamily="49" charset="0"/>
              </a:rPr>
              <a:t>: "</a:t>
            </a:r>
            <a:r>
              <a:rPr lang="en-IN" sz="1400" dirty="0">
                <a:solidFill>
                  <a:srgbClr val="000000"/>
                </a:solidFill>
                <a:effectLst/>
                <a:latin typeface="Courier New" panose="02070309020205020404" pitchFamily="49" charset="0"/>
              </a:rPr>
              <a:t> + </a:t>
            </a:r>
            <a:r>
              <a:rPr lang="en-IN" sz="1400" dirty="0" err="1">
                <a:solidFill>
                  <a:srgbClr val="6A3E3E"/>
                </a:solidFill>
                <a:effectLst/>
                <a:latin typeface="Courier New" panose="02070309020205020404" pitchFamily="49" charset="0"/>
              </a:rPr>
              <a:t>concatWithBiFunction</a:t>
            </a:r>
            <a:r>
              <a:rPr lang="en-IN" sz="1400" dirty="0" err="1">
                <a:solidFill>
                  <a:srgbClr val="000000"/>
                </a:solidFill>
                <a:effectLst/>
                <a:latin typeface="Courier New" panose="02070309020205020404" pitchFamily="49" charset="0"/>
              </a:rPr>
              <a:t>.apply</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 </a:t>
            </a:r>
            <a:r>
              <a:rPr lang="en-IN" sz="1400" dirty="0">
                <a:solidFill>
                  <a:srgbClr val="2A00FF"/>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r>
              <a:rPr lang="en-IN" sz="1400" dirty="0" err="1">
                <a:solidFill>
                  <a:srgbClr val="000000"/>
                </a:solidFill>
                <a:effectLst/>
                <a:latin typeface="Courier New" panose="02070309020205020404" pitchFamily="49" charset="0"/>
              </a:rPr>
              <a:t>System.</a:t>
            </a:r>
            <a:r>
              <a:rPr lang="en-IN" sz="1400" b="1" i="1" dirty="0" err="1">
                <a:solidFill>
                  <a:srgbClr val="0000C0"/>
                </a:solidFill>
                <a:effectLst/>
                <a:latin typeface="Courier New" panose="02070309020205020404" pitchFamily="49" charset="0"/>
              </a:rPr>
              <a:t>out</a:t>
            </a:r>
            <a:r>
              <a:rPr lang="en-IN" sz="1400" dirty="0" err="1">
                <a:solidFill>
                  <a:srgbClr val="000000"/>
                </a:solidFill>
                <a:effectLst/>
                <a:latin typeface="Courier New" panose="02070309020205020404" pitchFamily="49" charset="0"/>
              </a:rPr>
              <a:t>.println</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t>
            </a:r>
            <a:r>
              <a:rPr lang="en-IN" sz="1400" dirty="0" err="1">
                <a:solidFill>
                  <a:srgbClr val="2A00FF"/>
                </a:solidFill>
                <a:effectLst/>
                <a:latin typeface="Courier New" panose="02070309020205020404" pitchFamily="49" charset="0"/>
              </a:rPr>
              <a:t>concatCurried</a:t>
            </a:r>
            <a:r>
              <a:rPr lang="en-IN" sz="1400" dirty="0">
                <a:solidFill>
                  <a:srgbClr val="2A00FF"/>
                </a:solidFill>
                <a:effectLst/>
                <a:latin typeface="Courier New" panose="02070309020205020404" pitchFamily="49" charset="0"/>
              </a:rPr>
              <a:t>: "</a:t>
            </a:r>
            <a:r>
              <a:rPr lang="en-IN" sz="1400" dirty="0">
                <a:solidFill>
                  <a:srgbClr val="000000"/>
                </a:solidFill>
                <a:effectLst/>
                <a:latin typeface="Courier New" panose="02070309020205020404" pitchFamily="49" charset="0"/>
              </a:rPr>
              <a:t> + </a:t>
            </a:r>
            <a:r>
              <a:rPr lang="en-IN" sz="1400" dirty="0" err="1">
                <a:solidFill>
                  <a:srgbClr val="6A3E3E"/>
                </a:solidFill>
                <a:effectLst/>
                <a:latin typeface="Courier New" panose="02070309020205020404" pitchFamily="49" charset="0"/>
              </a:rPr>
              <a:t>concatCurried</a:t>
            </a:r>
            <a:r>
              <a:rPr lang="en-IN" sz="1400" dirty="0" err="1">
                <a:solidFill>
                  <a:srgbClr val="000000"/>
                </a:solidFill>
                <a:effectLst/>
                <a:latin typeface="Courier New" panose="02070309020205020404" pitchFamily="49" charset="0"/>
              </a:rPr>
              <a:t>.apply</a:t>
            </a:r>
            <a:r>
              <a:rPr lang="en-IN" sz="1400" dirty="0">
                <a:solidFill>
                  <a:srgbClr val="000000"/>
                </a:solidFill>
                <a:effectLst/>
                <a:latin typeface="Courier New" panose="02070309020205020404" pitchFamily="49" charset="0"/>
              </a:rPr>
              <a:t>(</a:t>
            </a:r>
            <a:r>
              <a:rPr lang="en-IN" sz="1400" dirty="0">
                <a:solidFill>
                  <a:srgbClr val="2A00FF"/>
                </a:solidFill>
                <a:effectLst/>
                <a:latin typeface="Courier New" panose="02070309020205020404" pitchFamily="49" charset="0"/>
              </a:rPr>
              <a:t>"A"</a:t>
            </a:r>
            <a:r>
              <a:rPr lang="en-IN" sz="1400" dirty="0">
                <a:solidFill>
                  <a:srgbClr val="000000"/>
                </a:solidFill>
                <a:effectLst/>
                <a:latin typeface="Courier New" panose="02070309020205020404" pitchFamily="49" charset="0"/>
              </a:rPr>
              <a:t>).apply(</a:t>
            </a:r>
            <a:r>
              <a:rPr lang="en-IN" sz="1400" dirty="0">
                <a:solidFill>
                  <a:srgbClr val="2A00FF"/>
                </a:solidFill>
                <a:effectLst/>
                <a:latin typeface="Courier New" panose="02070309020205020404" pitchFamily="49" charset="0"/>
              </a:rPr>
              <a:t>"B"</a:t>
            </a:r>
            <a:r>
              <a:rPr lang="en-IN" sz="1400" dirty="0">
                <a:solidFill>
                  <a:srgbClr val="000000"/>
                </a:solidFill>
                <a:effectLst/>
                <a:latin typeface="Courier New" panose="02070309020205020404" pitchFamily="49" charset="0"/>
              </a:rPr>
              <a:t>));</a:t>
            </a:r>
          </a:p>
          <a:p>
            <a:pPr lvl="1"/>
            <a:r>
              <a:rPr lang="en-IN" sz="1400" dirty="0">
                <a:solidFill>
                  <a:srgbClr val="000000"/>
                </a:solidFill>
                <a:effectLst/>
                <a:latin typeface="Courier New" panose="02070309020205020404" pitchFamily="49" charset="0"/>
              </a:rPr>
              <a:t>}</a:t>
            </a:r>
          </a:p>
          <a:p>
            <a:pPr marL="0" marR="0">
              <a:spcBef>
                <a:spcPts val="0"/>
              </a:spcBef>
              <a:spcAft>
                <a:spcPts val="0"/>
              </a:spcAft>
            </a:pPr>
            <a:endParaRPr lang="en-IN" sz="140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791731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1D2-CE29-0DB7-979E-83FB2AF68515}"/>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AB74D227-2918-9160-F593-154346083C9B}"/>
              </a:ext>
            </a:extLst>
          </p:cNvPr>
          <p:cNvSpPr txBox="1"/>
          <p:nvPr/>
        </p:nvSpPr>
        <p:spPr>
          <a:xfrm>
            <a:off x="968828" y="1587864"/>
            <a:ext cx="8893629" cy="3693319"/>
          </a:xfrm>
          <a:prstGeom prst="rect">
            <a:avLst/>
          </a:prstGeom>
          <a:noFill/>
        </p:spPr>
        <p:txBody>
          <a:bodyPr wrap="square">
            <a:spAutoFit/>
          </a:bodyPr>
          <a:lstStyle/>
          <a:p>
            <a:r>
              <a:rPr lang="en-IN" dirty="0">
                <a:hlinkClick r:id="rId2"/>
              </a:rPr>
              <a:t>https://www.tutorialspoint.com/functional_programming_with_java/index.htm</a:t>
            </a:r>
          </a:p>
          <a:p>
            <a:endParaRPr lang="en-IN" dirty="0">
              <a:hlinkClick r:id="rId2"/>
            </a:endParaRPr>
          </a:p>
          <a:p>
            <a:r>
              <a:rPr lang="en-IN" dirty="0">
                <a:hlinkClick r:id="rId2"/>
              </a:rPr>
              <a:t>https://www.freecodecamp.org/news/functional-programming-in-java/#:~:text=In%20functional%20programming%2C%20functions%20are,manipulate%20functions%20in%20Java%20code</a:t>
            </a:r>
            <a:r>
              <a:rPr lang="en-IN" dirty="0"/>
              <a:t>. </a:t>
            </a:r>
          </a:p>
          <a:p>
            <a:endParaRPr lang="en-IN" dirty="0"/>
          </a:p>
          <a:p>
            <a:r>
              <a:rPr lang="en-IN" dirty="0">
                <a:hlinkClick r:id="rId3"/>
              </a:rPr>
              <a:t>https://www.baeldung.com/java-functional-programming</a:t>
            </a:r>
            <a:endParaRPr lang="en-IN" dirty="0"/>
          </a:p>
          <a:p>
            <a:endParaRPr lang="en-IN" dirty="0">
              <a:hlinkClick r:id="rId4"/>
            </a:endParaRPr>
          </a:p>
          <a:p>
            <a:r>
              <a:rPr lang="en-IN" dirty="0">
                <a:hlinkClick r:id="rId4"/>
              </a:rPr>
              <a:t>https://www.geeksforgeeks.org/functional-programming-in-java-with-examples/</a:t>
            </a:r>
            <a:endParaRPr lang="en-IN" dirty="0"/>
          </a:p>
          <a:p>
            <a:endParaRPr lang="en-IN" dirty="0">
              <a:hlinkClick r:id="rId5"/>
            </a:endParaRPr>
          </a:p>
          <a:p>
            <a:r>
              <a:rPr lang="en-IN" dirty="0">
                <a:hlinkClick r:id="rId5"/>
              </a:rPr>
              <a:t>https://www.scaler.com/topics/java/functional-programming-in-java/</a:t>
            </a:r>
            <a:r>
              <a:rPr lang="en-IN" dirty="0"/>
              <a:t> </a:t>
            </a:r>
          </a:p>
          <a:p>
            <a:endParaRPr lang="en-IN" dirty="0"/>
          </a:p>
          <a:p>
            <a:endParaRPr lang="en-IN" dirty="0"/>
          </a:p>
        </p:txBody>
      </p:sp>
    </p:spTree>
    <p:extLst>
      <p:ext uri="{BB962C8B-B14F-4D97-AF65-F5344CB8AC3E}">
        <p14:creationId xmlns:p14="http://schemas.microsoft.com/office/powerpoint/2010/main" val="4262507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1467</Words>
  <Application>Microsoft Office PowerPoint</Application>
  <PresentationFormat>Widescreen</PresentationFormat>
  <Paragraphs>120</Paragraphs>
  <Slides>12</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12</vt:i4>
      </vt:variant>
    </vt:vector>
  </HeadingPairs>
  <TitlesOfParts>
    <vt:vector size="27" baseType="lpstr">
      <vt:lpstr>__Source_Sans_Pro_fea366</vt:lpstr>
      <vt:lpstr>-apple-system</vt:lpstr>
      <vt:lpstr>Arial</vt:lpstr>
      <vt:lpstr>Calibri</vt:lpstr>
      <vt:lpstr>Calibri Light</vt:lpstr>
      <vt:lpstr>Consolas</vt:lpstr>
      <vt:lpstr>Courier New</vt:lpstr>
      <vt:lpstr>inherit</vt:lpstr>
      <vt:lpstr>Lato</vt:lpstr>
      <vt:lpstr>Nunito</vt:lpstr>
      <vt:lpstr>Raleway</vt:lpstr>
      <vt:lpstr>Roboto Mono</vt:lpstr>
      <vt:lpstr>var(--ff-lato)</vt:lpstr>
      <vt:lpstr>Verdana</vt:lpstr>
      <vt:lpstr>Office Theme</vt:lpstr>
      <vt:lpstr>Functional Programming in Java</vt:lpstr>
      <vt:lpstr>PowerPoint Presentation</vt:lpstr>
      <vt:lpstr>PowerPoint Presentation</vt:lpstr>
      <vt:lpstr>PowerPoint Presentation</vt:lpstr>
      <vt:lpstr>PowerPoint Presentation</vt:lpstr>
      <vt:lpstr>PowerPoint Presentation</vt:lpstr>
      <vt:lpstr>PowerPoint Presentation</vt:lpstr>
      <vt:lpstr>Monad and Optional</vt:lpstr>
      <vt:lpstr>PowerPoint Presentation</vt:lpstr>
      <vt:lpstr>PowerPoint Presentation</vt:lpstr>
      <vt:lpstr>Function Currying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Programming in Java</dc:title>
  <dc:creator>Urmisha Sengupta</dc:creator>
  <cp:lastModifiedBy>Urmisha Sengupta</cp:lastModifiedBy>
  <cp:revision>95</cp:revision>
  <dcterms:created xsi:type="dcterms:W3CDTF">2023-10-17T06:43:39Z</dcterms:created>
  <dcterms:modified xsi:type="dcterms:W3CDTF">2023-10-17T17:15:37Z</dcterms:modified>
</cp:coreProperties>
</file>