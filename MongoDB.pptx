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362" r:id="rId4"/>
    <p:sldId id="365" r:id="rId5"/>
    <p:sldId id="366" r:id="rId6"/>
    <p:sldId id="372" r:id="rId7"/>
    <p:sldId id="376" r:id="rId8"/>
    <p:sldId id="367" r:id="rId9"/>
    <p:sldId id="368" r:id="rId10"/>
    <p:sldId id="369" r:id="rId11"/>
    <p:sldId id="370" r:id="rId12"/>
    <p:sldId id="371" r:id="rId13"/>
    <p:sldId id="377" r:id="rId14"/>
    <p:sldId id="378" r:id="rId15"/>
    <p:sldId id="375" r:id="rId16"/>
    <p:sldId id="374" r:id="rId17"/>
    <p:sldId id="373" r:id="rId18"/>
    <p:sldId id="27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ACABE-5793-C730-C02B-1EA6E1A648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3800B2E-29E3-7D14-3A0C-C5C4F26A23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693E8D-9B96-FF56-4DAD-01A02C4E5282}"/>
              </a:ext>
            </a:extLst>
          </p:cNvPr>
          <p:cNvSpPr>
            <a:spLocks noGrp="1"/>
          </p:cNvSpPr>
          <p:nvPr>
            <p:ph type="dt" sz="half" idx="10"/>
          </p:nvPr>
        </p:nvSpPr>
        <p:spPr/>
        <p:txBody>
          <a:bodyPr/>
          <a:lstStyle/>
          <a:p>
            <a:fld id="{B66E714E-885D-4D12-977C-C047A2AC8E1D}" type="datetimeFigureOut">
              <a:rPr lang="en-IN" smtClean="0"/>
              <a:t>05-05-2025</a:t>
            </a:fld>
            <a:endParaRPr lang="en-IN"/>
          </a:p>
        </p:txBody>
      </p:sp>
      <p:sp>
        <p:nvSpPr>
          <p:cNvPr id="5" name="Footer Placeholder 4">
            <a:extLst>
              <a:ext uri="{FF2B5EF4-FFF2-40B4-BE49-F238E27FC236}">
                <a16:creationId xmlns:a16="http://schemas.microsoft.com/office/drawing/2014/main" id="{C53A08D5-9142-9F97-3E6D-E81AA98B45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EC4FEF-A9C2-D7FC-54B7-324CE4F4E1DA}"/>
              </a:ext>
            </a:extLst>
          </p:cNvPr>
          <p:cNvSpPr>
            <a:spLocks noGrp="1"/>
          </p:cNvSpPr>
          <p:nvPr>
            <p:ph type="sldNum" sz="quarter" idx="12"/>
          </p:nvPr>
        </p:nvSpPr>
        <p:spPr/>
        <p:txBody>
          <a:bodyPr/>
          <a:lstStyle/>
          <a:p>
            <a:fld id="{DE66D7DB-1E84-48AA-B84E-9BF98C01AE47}" type="slidenum">
              <a:rPr lang="en-IN" smtClean="0"/>
              <a:t>‹#›</a:t>
            </a:fld>
            <a:endParaRPr lang="en-IN"/>
          </a:p>
        </p:txBody>
      </p:sp>
    </p:spTree>
    <p:extLst>
      <p:ext uri="{BB962C8B-B14F-4D97-AF65-F5344CB8AC3E}">
        <p14:creationId xmlns:p14="http://schemas.microsoft.com/office/powerpoint/2010/main" val="178263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E48AC-D2FE-10A1-D686-E290BEF942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6A92BC0-9244-CB87-3D40-077A8323D8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26D051-24F0-C778-5D64-20E5B88C6DD4}"/>
              </a:ext>
            </a:extLst>
          </p:cNvPr>
          <p:cNvSpPr>
            <a:spLocks noGrp="1"/>
          </p:cNvSpPr>
          <p:nvPr>
            <p:ph type="dt" sz="half" idx="10"/>
          </p:nvPr>
        </p:nvSpPr>
        <p:spPr/>
        <p:txBody>
          <a:bodyPr/>
          <a:lstStyle/>
          <a:p>
            <a:fld id="{B66E714E-885D-4D12-977C-C047A2AC8E1D}" type="datetimeFigureOut">
              <a:rPr lang="en-IN" smtClean="0"/>
              <a:t>05-05-2025</a:t>
            </a:fld>
            <a:endParaRPr lang="en-IN"/>
          </a:p>
        </p:txBody>
      </p:sp>
      <p:sp>
        <p:nvSpPr>
          <p:cNvPr id="5" name="Footer Placeholder 4">
            <a:extLst>
              <a:ext uri="{FF2B5EF4-FFF2-40B4-BE49-F238E27FC236}">
                <a16:creationId xmlns:a16="http://schemas.microsoft.com/office/drawing/2014/main" id="{DAA0A583-E0B8-8949-CF9B-0F250CB11C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95224E-CB1A-CFCB-54D8-6828367F20CF}"/>
              </a:ext>
            </a:extLst>
          </p:cNvPr>
          <p:cNvSpPr>
            <a:spLocks noGrp="1"/>
          </p:cNvSpPr>
          <p:nvPr>
            <p:ph type="sldNum" sz="quarter" idx="12"/>
          </p:nvPr>
        </p:nvSpPr>
        <p:spPr/>
        <p:txBody>
          <a:bodyPr/>
          <a:lstStyle/>
          <a:p>
            <a:fld id="{DE66D7DB-1E84-48AA-B84E-9BF98C01AE47}" type="slidenum">
              <a:rPr lang="en-IN" smtClean="0"/>
              <a:t>‹#›</a:t>
            </a:fld>
            <a:endParaRPr lang="en-IN"/>
          </a:p>
        </p:txBody>
      </p:sp>
    </p:spTree>
    <p:extLst>
      <p:ext uri="{BB962C8B-B14F-4D97-AF65-F5344CB8AC3E}">
        <p14:creationId xmlns:p14="http://schemas.microsoft.com/office/powerpoint/2010/main" val="83985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AD047-84F7-4FCE-D253-4944A8C54F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84BD355-1A90-DD24-3171-B819643A0C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CD7777-A9E7-4851-031C-B2CCF9F78FB5}"/>
              </a:ext>
            </a:extLst>
          </p:cNvPr>
          <p:cNvSpPr>
            <a:spLocks noGrp="1"/>
          </p:cNvSpPr>
          <p:nvPr>
            <p:ph type="dt" sz="half" idx="10"/>
          </p:nvPr>
        </p:nvSpPr>
        <p:spPr/>
        <p:txBody>
          <a:bodyPr/>
          <a:lstStyle/>
          <a:p>
            <a:fld id="{B66E714E-885D-4D12-977C-C047A2AC8E1D}" type="datetimeFigureOut">
              <a:rPr lang="en-IN" smtClean="0"/>
              <a:t>05-05-2025</a:t>
            </a:fld>
            <a:endParaRPr lang="en-IN"/>
          </a:p>
        </p:txBody>
      </p:sp>
      <p:sp>
        <p:nvSpPr>
          <p:cNvPr id="5" name="Footer Placeholder 4">
            <a:extLst>
              <a:ext uri="{FF2B5EF4-FFF2-40B4-BE49-F238E27FC236}">
                <a16:creationId xmlns:a16="http://schemas.microsoft.com/office/drawing/2014/main" id="{A1224D2F-FE1C-2EB4-357B-4B5C11E63D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434FD5-EE9C-5C8F-CD4F-7269654C4296}"/>
              </a:ext>
            </a:extLst>
          </p:cNvPr>
          <p:cNvSpPr>
            <a:spLocks noGrp="1"/>
          </p:cNvSpPr>
          <p:nvPr>
            <p:ph type="sldNum" sz="quarter" idx="12"/>
          </p:nvPr>
        </p:nvSpPr>
        <p:spPr/>
        <p:txBody>
          <a:bodyPr/>
          <a:lstStyle/>
          <a:p>
            <a:fld id="{DE66D7DB-1E84-48AA-B84E-9BF98C01AE47}" type="slidenum">
              <a:rPr lang="en-IN" smtClean="0"/>
              <a:t>‹#›</a:t>
            </a:fld>
            <a:endParaRPr lang="en-IN"/>
          </a:p>
        </p:txBody>
      </p:sp>
    </p:spTree>
    <p:extLst>
      <p:ext uri="{BB962C8B-B14F-4D97-AF65-F5344CB8AC3E}">
        <p14:creationId xmlns:p14="http://schemas.microsoft.com/office/powerpoint/2010/main" val="343142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3C22A-BC43-A32A-F6F3-AC7E99BAE97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B2C4720-954A-1517-48A8-4A55FBF69B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61D33C3-15B4-A290-79EA-0D8094F589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BA60FFE-F531-EE5F-467E-8979A612CC8A}"/>
              </a:ext>
            </a:extLst>
          </p:cNvPr>
          <p:cNvSpPr>
            <a:spLocks noGrp="1"/>
          </p:cNvSpPr>
          <p:nvPr>
            <p:ph type="dt" sz="half" idx="10"/>
          </p:nvPr>
        </p:nvSpPr>
        <p:spPr/>
        <p:txBody>
          <a:bodyPr/>
          <a:lstStyle/>
          <a:p>
            <a:fld id="{B66E714E-885D-4D12-977C-C047A2AC8E1D}" type="datetimeFigureOut">
              <a:rPr lang="en-IN" smtClean="0"/>
              <a:t>05-05-2025</a:t>
            </a:fld>
            <a:endParaRPr lang="en-IN"/>
          </a:p>
        </p:txBody>
      </p:sp>
      <p:sp>
        <p:nvSpPr>
          <p:cNvPr id="6" name="Footer Placeholder 5">
            <a:extLst>
              <a:ext uri="{FF2B5EF4-FFF2-40B4-BE49-F238E27FC236}">
                <a16:creationId xmlns:a16="http://schemas.microsoft.com/office/drawing/2014/main" id="{A1F4D837-E2F6-8F96-6D66-41C7DFF9D7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BBEDFB8-1CD3-FF98-06A6-E6DCCB251347}"/>
              </a:ext>
            </a:extLst>
          </p:cNvPr>
          <p:cNvSpPr>
            <a:spLocks noGrp="1"/>
          </p:cNvSpPr>
          <p:nvPr>
            <p:ph type="sldNum" sz="quarter" idx="12"/>
          </p:nvPr>
        </p:nvSpPr>
        <p:spPr/>
        <p:txBody>
          <a:bodyPr/>
          <a:lstStyle/>
          <a:p>
            <a:fld id="{DE66D7DB-1E84-48AA-B84E-9BF98C01AE47}" type="slidenum">
              <a:rPr lang="en-IN" smtClean="0"/>
              <a:t>‹#›</a:t>
            </a:fld>
            <a:endParaRPr lang="en-IN"/>
          </a:p>
        </p:txBody>
      </p:sp>
    </p:spTree>
    <p:extLst>
      <p:ext uri="{BB962C8B-B14F-4D97-AF65-F5344CB8AC3E}">
        <p14:creationId xmlns:p14="http://schemas.microsoft.com/office/powerpoint/2010/main" val="1107417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DAA05-8F50-52A7-372E-DC6ACE8F557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C0E60F1-2D6A-3844-A57B-D1757A4064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E79C37-5F8D-C7F8-CD98-A5FC935E99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392F4EF-42CE-D95A-B6C3-2F79C994A9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DA5167-D468-28F6-39C8-BEA69861F8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47E7038-75FD-A9E6-FD08-5329A3D0C83B}"/>
              </a:ext>
            </a:extLst>
          </p:cNvPr>
          <p:cNvSpPr>
            <a:spLocks noGrp="1"/>
          </p:cNvSpPr>
          <p:nvPr>
            <p:ph type="dt" sz="half" idx="10"/>
          </p:nvPr>
        </p:nvSpPr>
        <p:spPr/>
        <p:txBody>
          <a:bodyPr/>
          <a:lstStyle/>
          <a:p>
            <a:fld id="{B66E714E-885D-4D12-977C-C047A2AC8E1D}" type="datetimeFigureOut">
              <a:rPr lang="en-IN" smtClean="0"/>
              <a:t>05-05-2025</a:t>
            </a:fld>
            <a:endParaRPr lang="en-IN"/>
          </a:p>
        </p:txBody>
      </p:sp>
      <p:sp>
        <p:nvSpPr>
          <p:cNvPr id="8" name="Footer Placeholder 7">
            <a:extLst>
              <a:ext uri="{FF2B5EF4-FFF2-40B4-BE49-F238E27FC236}">
                <a16:creationId xmlns:a16="http://schemas.microsoft.com/office/drawing/2014/main" id="{69F0EE21-EDC7-8A1B-EF10-FA09454C683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ACF175A-742C-2402-CFBC-531AB7304501}"/>
              </a:ext>
            </a:extLst>
          </p:cNvPr>
          <p:cNvSpPr>
            <a:spLocks noGrp="1"/>
          </p:cNvSpPr>
          <p:nvPr>
            <p:ph type="sldNum" sz="quarter" idx="12"/>
          </p:nvPr>
        </p:nvSpPr>
        <p:spPr/>
        <p:txBody>
          <a:bodyPr/>
          <a:lstStyle/>
          <a:p>
            <a:fld id="{DE66D7DB-1E84-48AA-B84E-9BF98C01AE47}" type="slidenum">
              <a:rPr lang="en-IN" smtClean="0"/>
              <a:t>‹#›</a:t>
            </a:fld>
            <a:endParaRPr lang="en-IN"/>
          </a:p>
        </p:txBody>
      </p:sp>
    </p:spTree>
    <p:extLst>
      <p:ext uri="{BB962C8B-B14F-4D97-AF65-F5344CB8AC3E}">
        <p14:creationId xmlns:p14="http://schemas.microsoft.com/office/powerpoint/2010/main" val="2022324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D9932-D95C-37BD-B390-E2D908AC683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A2A720-E249-C042-E232-614692D7C200}"/>
              </a:ext>
            </a:extLst>
          </p:cNvPr>
          <p:cNvSpPr>
            <a:spLocks noGrp="1"/>
          </p:cNvSpPr>
          <p:nvPr>
            <p:ph type="dt" sz="half" idx="10"/>
          </p:nvPr>
        </p:nvSpPr>
        <p:spPr/>
        <p:txBody>
          <a:bodyPr/>
          <a:lstStyle/>
          <a:p>
            <a:fld id="{B66E714E-885D-4D12-977C-C047A2AC8E1D}" type="datetimeFigureOut">
              <a:rPr lang="en-IN" smtClean="0"/>
              <a:t>05-05-2025</a:t>
            </a:fld>
            <a:endParaRPr lang="en-IN"/>
          </a:p>
        </p:txBody>
      </p:sp>
      <p:sp>
        <p:nvSpPr>
          <p:cNvPr id="4" name="Footer Placeholder 3">
            <a:extLst>
              <a:ext uri="{FF2B5EF4-FFF2-40B4-BE49-F238E27FC236}">
                <a16:creationId xmlns:a16="http://schemas.microsoft.com/office/drawing/2014/main" id="{59BFA805-7B8A-D26E-2ACC-98946997F0D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12AF25E-A9F1-13D9-D1B8-85D6CE0B4D32}"/>
              </a:ext>
            </a:extLst>
          </p:cNvPr>
          <p:cNvSpPr>
            <a:spLocks noGrp="1"/>
          </p:cNvSpPr>
          <p:nvPr>
            <p:ph type="sldNum" sz="quarter" idx="12"/>
          </p:nvPr>
        </p:nvSpPr>
        <p:spPr/>
        <p:txBody>
          <a:bodyPr/>
          <a:lstStyle/>
          <a:p>
            <a:fld id="{DE66D7DB-1E84-48AA-B84E-9BF98C01AE47}" type="slidenum">
              <a:rPr lang="en-IN" smtClean="0"/>
              <a:t>‹#›</a:t>
            </a:fld>
            <a:endParaRPr lang="en-IN"/>
          </a:p>
        </p:txBody>
      </p:sp>
    </p:spTree>
    <p:extLst>
      <p:ext uri="{BB962C8B-B14F-4D97-AF65-F5344CB8AC3E}">
        <p14:creationId xmlns:p14="http://schemas.microsoft.com/office/powerpoint/2010/main" val="917511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58A29F-861B-EEE5-20B5-6E09889CBE59}"/>
              </a:ext>
            </a:extLst>
          </p:cNvPr>
          <p:cNvSpPr>
            <a:spLocks noGrp="1"/>
          </p:cNvSpPr>
          <p:nvPr>
            <p:ph type="dt" sz="half" idx="10"/>
          </p:nvPr>
        </p:nvSpPr>
        <p:spPr/>
        <p:txBody>
          <a:bodyPr/>
          <a:lstStyle/>
          <a:p>
            <a:fld id="{B66E714E-885D-4D12-977C-C047A2AC8E1D}" type="datetimeFigureOut">
              <a:rPr lang="en-IN" smtClean="0"/>
              <a:t>05-05-2025</a:t>
            </a:fld>
            <a:endParaRPr lang="en-IN"/>
          </a:p>
        </p:txBody>
      </p:sp>
      <p:sp>
        <p:nvSpPr>
          <p:cNvPr id="3" name="Footer Placeholder 2">
            <a:extLst>
              <a:ext uri="{FF2B5EF4-FFF2-40B4-BE49-F238E27FC236}">
                <a16:creationId xmlns:a16="http://schemas.microsoft.com/office/drawing/2014/main" id="{98D31773-7FC3-E88F-895A-2E6C22DF5BC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76FBA96-DA36-2981-4202-E58B7607EA49}"/>
              </a:ext>
            </a:extLst>
          </p:cNvPr>
          <p:cNvSpPr>
            <a:spLocks noGrp="1"/>
          </p:cNvSpPr>
          <p:nvPr>
            <p:ph type="sldNum" sz="quarter" idx="12"/>
          </p:nvPr>
        </p:nvSpPr>
        <p:spPr/>
        <p:txBody>
          <a:bodyPr/>
          <a:lstStyle/>
          <a:p>
            <a:fld id="{DE66D7DB-1E84-48AA-B84E-9BF98C01AE47}" type="slidenum">
              <a:rPr lang="en-IN" smtClean="0"/>
              <a:t>‹#›</a:t>
            </a:fld>
            <a:endParaRPr lang="en-IN"/>
          </a:p>
        </p:txBody>
      </p:sp>
    </p:spTree>
    <p:extLst>
      <p:ext uri="{BB962C8B-B14F-4D97-AF65-F5344CB8AC3E}">
        <p14:creationId xmlns:p14="http://schemas.microsoft.com/office/powerpoint/2010/main" val="1342230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DB87E-D58B-8007-B828-9B4DB99B47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1C8C12B-D937-32EE-4C34-8DC00F9C18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B7F03B3-2CFF-6A5D-19DA-2854F95498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F6BE49-529F-2593-4548-BD6C59F861BD}"/>
              </a:ext>
            </a:extLst>
          </p:cNvPr>
          <p:cNvSpPr>
            <a:spLocks noGrp="1"/>
          </p:cNvSpPr>
          <p:nvPr>
            <p:ph type="dt" sz="half" idx="10"/>
          </p:nvPr>
        </p:nvSpPr>
        <p:spPr/>
        <p:txBody>
          <a:bodyPr/>
          <a:lstStyle/>
          <a:p>
            <a:fld id="{B66E714E-885D-4D12-977C-C047A2AC8E1D}" type="datetimeFigureOut">
              <a:rPr lang="en-IN" smtClean="0"/>
              <a:t>05-05-2025</a:t>
            </a:fld>
            <a:endParaRPr lang="en-IN"/>
          </a:p>
        </p:txBody>
      </p:sp>
      <p:sp>
        <p:nvSpPr>
          <p:cNvPr id="6" name="Footer Placeholder 5">
            <a:extLst>
              <a:ext uri="{FF2B5EF4-FFF2-40B4-BE49-F238E27FC236}">
                <a16:creationId xmlns:a16="http://schemas.microsoft.com/office/drawing/2014/main" id="{28CA7C42-2823-ED5A-07F9-36FE509435C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99BB19-189B-005E-F21C-4D9DE6475CE5}"/>
              </a:ext>
            </a:extLst>
          </p:cNvPr>
          <p:cNvSpPr>
            <a:spLocks noGrp="1"/>
          </p:cNvSpPr>
          <p:nvPr>
            <p:ph type="sldNum" sz="quarter" idx="12"/>
          </p:nvPr>
        </p:nvSpPr>
        <p:spPr/>
        <p:txBody>
          <a:bodyPr/>
          <a:lstStyle/>
          <a:p>
            <a:fld id="{DE66D7DB-1E84-48AA-B84E-9BF98C01AE47}" type="slidenum">
              <a:rPr lang="en-IN" smtClean="0"/>
              <a:t>‹#›</a:t>
            </a:fld>
            <a:endParaRPr lang="en-IN"/>
          </a:p>
        </p:txBody>
      </p:sp>
    </p:spTree>
    <p:extLst>
      <p:ext uri="{BB962C8B-B14F-4D97-AF65-F5344CB8AC3E}">
        <p14:creationId xmlns:p14="http://schemas.microsoft.com/office/powerpoint/2010/main" val="3659218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34C1F-A6BA-EEEC-373E-1A3E2B8772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5D05471-3D5A-11C0-8F5F-0B1DE5B6FB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3C0D396-130A-5353-FEE6-22065027BF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08E483-9FAC-86B5-4400-69B9B2F4B685}"/>
              </a:ext>
            </a:extLst>
          </p:cNvPr>
          <p:cNvSpPr>
            <a:spLocks noGrp="1"/>
          </p:cNvSpPr>
          <p:nvPr>
            <p:ph type="dt" sz="half" idx="10"/>
          </p:nvPr>
        </p:nvSpPr>
        <p:spPr/>
        <p:txBody>
          <a:bodyPr/>
          <a:lstStyle/>
          <a:p>
            <a:fld id="{B66E714E-885D-4D12-977C-C047A2AC8E1D}" type="datetimeFigureOut">
              <a:rPr lang="en-IN" smtClean="0"/>
              <a:t>05-05-2025</a:t>
            </a:fld>
            <a:endParaRPr lang="en-IN"/>
          </a:p>
        </p:txBody>
      </p:sp>
      <p:sp>
        <p:nvSpPr>
          <p:cNvPr id="6" name="Footer Placeholder 5">
            <a:extLst>
              <a:ext uri="{FF2B5EF4-FFF2-40B4-BE49-F238E27FC236}">
                <a16:creationId xmlns:a16="http://schemas.microsoft.com/office/drawing/2014/main" id="{E4D8716B-D88B-E3A9-BF23-1E6C5BA3DF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5CDBAD9-2FB9-C8D7-9DEB-004767DF7B55}"/>
              </a:ext>
            </a:extLst>
          </p:cNvPr>
          <p:cNvSpPr>
            <a:spLocks noGrp="1"/>
          </p:cNvSpPr>
          <p:nvPr>
            <p:ph type="sldNum" sz="quarter" idx="12"/>
          </p:nvPr>
        </p:nvSpPr>
        <p:spPr/>
        <p:txBody>
          <a:bodyPr/>
          <a:lstStyle/>
          <a:p>
            <a:fld id="{DE66D7DB-1E84-48AA-B84E-9BF98C01AE47}" type="slidenum">
              <a:rPr lang="en-IN" smtClean="0"/>
              <a:t>‹#›</a:t>
            </a:fld>
            <a:endParaRPr lang="en-IN"/>
          </a:p>
        </p:txBody>
      </p:sp>
    </p:spTree>
    <p:extLst>
      <p:ext uri="{BB962C8B-B14F-4D97-AF65-F5344CB8AC3E}">
        <p14:creationId xmlns:p14="http://schemas.microsoft.com/office/powerpoint/2010/main" val="2344945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34BD4-95B6-AC81-2B39-2FACA98D824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ED1124-E253-0D04-A20A-1A1CCCD83B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14D5A8-6AC7-0499-5153-1D7CA02363E0}"/>
              </a:ext>
            </a:extLst>
          </p:cNvPr>
          <p:cNvSpPr>
            <a:spLocks noGrp="1"/>
          </p:cNvSpPr>
          <p:nvPr>
            <p:ph type="dt" sz="half" idx="10"/>
          </p:nvPr>
        </p:nvSpPr>
        <p:spPr/>
        <p:txBody>
          <a:bodyPr/>
          <a:lstStyle/>
          <a:p>
            <a:fld id="{B66E714E-885D-4D12-977C-C047A2AC8E1D}" type="datetimeFigureOut">
              <a:rPr lang="en-IN" smtClean="0"/>
              <a:t>05-05-2025</a:t>
            </a:fld>
            <a:endParaRPr lang="en-IN"/>
          </a:p>
        </p:txBody>
      </p:sp>
      <p:sp>
        <p:nvSpPr>
          <p:cNvPr id="5" name="Footer Placeholder 4">
            <a:extLst>
              <a:ext uri="{FF2B5EF4-FFF2-40B4-BE49-F238E27FC236}">
                <a16:creationId xmlns:a16="http://schemas.microsoft.com/office/drawing/2014/main" id="{51A3A4E8-8341-6CA9-91C9-DA18821B1B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A55431-75BE-3D84-5A44-C33B174D7560}"/>
              </a:ext>
            </a:extLst>
          </p:cNvPr>
          <p:cNvSpPr>
            <a:spLocks noGrp="1"/>
          </p:cNvSpPr>
          <p:nvPr>
            <p:ph type="sldNum" sz="quarter" idx="12"/>
          </p:nvPr>
        </p:nvSpPr>
        <p:spPr/>
        <p:txBody>
          <a:bodyPr/>
          <a:lstStyle/>
          <a:p>
            <a:fld id="{DE66D7DB-1E84-48AA-B84E-9BF98C01AE47}" type="slidenum">
              <a:rPr lang="en-IN" smtClean="0"/>
              <a:t>‹#›</a:t>
            </a:fld>
            <a:endParaRPr lang="en-IN"/>
          </a:p>
        </p:txBody>
      </p:sp>
    </p:spTree>
    <p:extLst>
      <p:ext uri="{BB962C8B-B14F-4D97-AF65-F5344CB8AC3E}">
        <p14:creationId xmlns:p14="http://schemas.microsoft.com/office/powerpoint/2010/main" val="3031604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97EFDD-52F9-F1D0-9C24-2DBADC9F1BD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CB09F6-FEDF-E71F-0C60-62AB9C45C8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0DD57B-047D-F7D7-8B61-5D407FD73B21}"/>
              </a:ext>
            </a:extLst>
          </p:cNvPr>
          <p:cNvSpPr>
            <a:spLocks noGrp="1"/>
          </p:cNvSpPr>
          <p:nvPr>
            <p:ph type="dt" sz="half" idx="10"/>
          </p:nvPr>
        </p:nvSpPr>
        <p:spPr/>
        <p:txBody>
          <a:bodyPr/>
          <a:lstStyle/>
          <a:p>
            <a:fld id="{B66E714E-885D-4D12-977C-C047A2AC8E1D}" type="datetimeFigureOut">
              <a:rPr lang="en-IN" smtClean="0"/>
              <a:t>05-05-2025</a:t>
            </a:fld>
            <a:endParaRPr lang="en-IN"/>
          </a:p>
        </p:txBody>
      </p:sp>
      <p:sp>
        <p:nvSpPr>
          <p:cNvPr id="5" name="Footer Placeholder 4">
            <a:extLst>
              <a:ext uri="{FF2B5EF4-FFF2-40B4-BE49-F238E27FC236}">
                <a16:creationId xmlns:a16="http://schemas.microsoft.com/office/drawing/2014/main" id="{B70042F3-873E-D3F4-2AAF-32B65919A8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15CBA4-5089-7085-CE07-0BF4589D76AF}"/>
              </a:ext>
            </a:extLst>
          </p:cNvPr>
          <p:cNvSpPr>
            <a:spLocks noGrp="1"/>
          </p:cNvSpPr>
          <p:nvPr>
            <p:ph type="sldNum" sz="quarter" idx="12"/>
          </p:nvPr>
        </p:nvSpPr>
        <p:spPr/>
        <p:txBody>
          <a:bodyPr/>
          <a:lstStyle/>
          <a:p>
            <a:fld id="{DE66D7DB-1E84-48AA-B84E-9BF98C01AE47}" type="slidenum">
              <a:rPr lang="en-IN" smtClean="0"/>
              <a:t>‹#›</a:t>
            </a:fld>
            <a:endParaRPr lang="en-IN"/>
          </a:p>
        </p:txBody>
      </p:sp>
    </p:spTree>
    <p:extLst>
      <p:ext uri="{BB962C8B-B14F-4D97-AF65-F5344CB8AC3E}">
        <p14:creationId xmlns:p14="http://schemas.microsoft.com/office/powerpoint/2010/main" val="13374766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527324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07F8F4-0B3D-65F2-31F6-24CE7154E4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5BD904B-180B-C4E7-74B6-7CAECEA9FB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54194D-7B20-AE04-569D-1F1A02110E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6E714E-885D-4D12-977C-C047A2AC8E1D}" type="datetimeFigureOut">
              <a:rPr lang="en-IN" smtClean="0"/>
              <a:t>05-05-2025</a:t>
            </a:fld>
            <a:endParaRPr lang="en-IN"/>
          </a:p>
        </p:txBody>
      </p:sp>
      <p:sp>
        <p:nvSpPr>
          <p:cNvPr id="5" name="Footer Placeholder 4">
            <a:extLst>
              <a:ext uri="{FF2B5EF4-FFF2-40B4-BE49-F238E27FC236}">
                <a16:creationId xmlns:a16="http://schemas.microsoft.com/office/drawing/2014/main" id="{B6D39C2A-E416-2158-6F17-3F14351D50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F629325-588F-743F-E3F0-D46DF28EEF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66D7DB-1E84-48AA-B84E-9BF98C01AE47}" type="slidenum">
              <a:rPr lang="en-IN" smtClean="0"/>
              <a:t>‹#›</a:t>
            </a:fld>
            <a:endParaRPr lang="en-IN"/>
          </a:p>
        </p:txBody>
      </p:sp>
    </p:spTree>
    <p:extLst>
      <p:ext uri="{BB962C8B-B14F-4D97-AF65-F5344CB8AC3E}">
        <p14:creationId xmlns:p14="http://schemas.microsoft.com/office/powerpoint/2010/main" val="13187306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Cross-platform" TargetMode="External"/><Relationship Id="rId7" Type="http://schemas.openxmlformats.org/officeDocument/2006/relationships/hyperlink" Target="https://en.wikipedia.org/wiki/Database_schema" TargetMode="External"/><Relationship Id="rId2" Type="http://schemas.openxmlformats.org/officeDocument/2006/relationships/hyperlink" Target="https://en.wikipedia.org/wiki/Source-available" TargetMode="External"/><Relationship Id="rId1" Type="http://schemas.openxmlformats.org/officeDocument/2006/relationships/slideLayout" Target="../slideLayouts/slideLayout2.xml"/><Relationship Id="rId6" Type="http://schemas.openxmlformats.org/officeDocument/2006/relationships/hyperlink" Target="https://en.wikipedia.org/wiki/JSON" TargetMode="External"/><Relationship Id="rId5" Type="http://schemas.openxmlformats.org/officeDocument/2006/relationships/hyperlink" Target="https://en.wikipedia.org/wiki/NoSQL" TargetMode="External"/><Relationship Id="rId4" Type="http://schemas.openxmlformats.org/officeDocument/2006/relationships/hyperlink" Target="https://en.wikipedia.org/wiki/Document-oriented_database"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hyperlink" Target="https://www.geeksforgeeks.org/what-is-database/" TargetMode="Externa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hyperlink" Target="https://www.mongodb.com/docs/manual/crud/" TargetMode="Externa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github.com/as6485/springmongodb"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www.mongodb.com/" TargetMode="External"/><Relationship Id="rId2" Type="http://schemas.openxmlformats.org/officeDocument/2006/relationships/hyperlink" Target="https://en.wikipedia.org/wiki/MongoDB" TargetMode="External"/><Relationship Id="rId1" Type="http://schemas.openxmlformats.org/officeDocument/2006/relationships/slideLayout" Target="../slideLayouts/slideLayout2.xml"/><Relationship Id="rId5" Type="http://schemas.openxmlformats.org/officeDocument/2006/relationships/hyperlink" Target="https://stackoverflow.com/questions/17008947/whats-the-difference-between-spring-datas-mongotemplate-and-mongorepository" TargetMode="External"/><Relationship Id="rId4" Type="http://schemas.openxmlformats.org/officeDocument/2006/relationships/hyperlink" Target="https://slideplayer.com/slide/985910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MongoDB logo">
            <a:extLst>
              <a:ext uri="{FF2B5EF4-FFF2-40B4-BE49-F238E27FC236}">
                <a16:creationId xmlns:a16="http://schemas.microsoft.com/office/drawing/2014/main" id="{4EDE54A6-7C3C-58B4-19C2-89FC338CD01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8" name="Picture 4" descr="MongoDB logo and symbol, meaning, history, PNG">
            <a:extLst>
              <a:ext uri="{FF2B5EF4-FFF2-40B4-BE49-F238E27FC236}">
                <a16:creationId xmlns:a16="http://schemas.microsoft.com/office/drawing/2014/main" id="{C5BD575B-FD13-DDBD-34A0-187CB91E39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5700" y="428625"/>
            <a:ext cx="4800600" cy="3000375"/>
          </a:xfrm>
          <a:prstGeom prst="rect">
            <a:avLst/>
          </a:prstGeom>
          <a:noFill/>
          <a:extLst>
            <a:ext uri="{909E8E84-426E-40DD-AFC4-6F175D3DCCD1}">
              <a14:hiddenFill xmlns:a14="http://schemas.microsoft.com/office/drawing/2010/main">
                <a:solidFill>
                  <a:srgbClr val="FFFFFF"/>
                </a:solidFill>
              </a14:hiddenFill>
            </a:ext>
          </a:extLst>
        </p:spPr>
      </p:pic>
      <p:sp>
        <p:nvSpPr>
          <p:cNvPr id="7" name="Subtitle 2">
            <a:extLst>
              <a:ext uri="{FF2B5EF4-FFF2-40B4-BE49-F238E27FC236}">
                <a16:creationId xmlns:a16="http://schemas.microsoft.com/office/drawing/2014/main" id="{3F7934F1-B10C-23F3-585B-F7800FE0E22B}"/>
              </a:ext>
            </a:extLst>
          </p:cNvPr>
          <p:cNvSpPr>
            <a:spLocks noGrp="1"/>
          </p:cNvSpPr>
          <p:nvPr>
            <p:ph type="subTitle" idx="1"/>
          </p:nvPr>
        </p:nvSpPr>
        <p:spPr>
          <a:xfrm>
            <a:off x="1524000" y="3602038"/>
            <a:ext cx="9144000" cy="1655762"/>
          </a:xfrm>
        </p:spPr>
        <p:txBody>
          <a:bodyPr>
            <a:normAutofit/>
          </a:bodyPr>
          <a:lstStyle/>
          <a:p>
            <a:r>
              <a:rPr lang="en-US" dirty="0"/>
              <a:t>Ayan Sengupta</a:t>
            </a:r>
          </a:p>
        </p:txBody>
      </p:sp>
    </p:spTree>
    <p:extLst>
      <p:ext uri="{BB962C8B-B14F-4D97-AF65-F5344CB8AC3E}">
        <p14:creationId xmlns:p14="http://schemas.microsoft.com/office/powerpoint/2010/main" val="1807304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Overview</a:t>
            </a:r>
          </a:p>
        </p:txBody>
      </p:sp>
      <p:sp>
        <p:nvSpPr>
          <p:cNvPr id="5" name="Content Placeholder 4"/>
          <p:cNvSpPr>
            <a:spLocks noGrp="1"/>
          </p:cNvSpPr>
          <p:nvPr>
            <p:ph idx="1"/>
          </p:nvPr>
        </p:nvSpPr>
        <p:spPr>
          <a:xfrm>
            <a:off x="838200" y="1825625"/>
            <a:ext cx="10515600" cy="3247118"/>
          </a:xfrm>
        </p:spPr>
        <p:txBody>
          <a:bodyPr>
            <a:normAutofit/>
          </a:bodyPr>
          <a:lstStyle/>
          <a:p>
            <a:pPr marL="0" indent="0">
              <a:buNone/>
            </a:pPr>
            <a:r>
              <a:rPr lang="en-IN" b="1" i="1" dirty="0">
                <a:solidFill>
                  <a:srgbClr val="202122"/>
                </a:solidFill>
                <a:effectLst/>
                <a:latin typeface="Arial" panose="020B0604020202020204" pitchFamily="34" charset="0"/>
              </a:rPr>
              <a:t>“MongoDB</a:t>
            </a:r>
            <a:r>
              <a:rPr lang="en-IN" b="0" i="1" dirty="0">
                <a:solidFill>
                  <a:srgbClr val="202122"/>
                </a:solidFill>
                <a:effectLst/>
                <a:latin typeface="Arial" panose="020B0604020202020204" pitchFamily="34" charset="0"/>
              </a:rPr>
              <a:t> is a </a:t>
            </a:r>
            <a:r>
              <a:rPr lang="en-IN" b="0" i="1" u="none" strike="noStrike" dirty="0">
                <a:solidFill>
                  <a:srgbClr val="3366CC"/>
                </a:solidFill>
                <a:effectLst/>
                <a:latin typeface="Arial" panose="020B0604020202020204" pitchFamily="34" charset="0"/>
                <a:hlinkClick r:id="rId2" tooltip="Source-available"/>
              </a:rPr>
              <a:t>source-available</a:t>
            </a:r>
            <a:r>
              <a:rPr lang="en-IN" b="0" i="1" dirty="0">
                <a:solidFill>
                  <a:srgbClr val="202122"/>
                </a:solidFill>
                <a:effectLst/>
                <a:latin typeface="Arial" panose="020B0604020202020204" pitchFamily="34" charset="0"/>
              </a:rPr>
              <a:t> </a:t>
            </a:r>
            <a:r>
              <a:rPr lang="en-IN" b="0" i="1" u="none" strike="noStrike" dirty="0">
                <a:solidFill>
                  <a:srgbClr val="3366CC"/>
                </a:solidFill>
                <a:effectLst/>
                <a:latin typeface="Arial" panose="020B0604020202020204" pitchFamily="34" charset="0"/>
                <a:hlinkClick r:id="rId3" tooltip="Cross-platform"/>
              </a:rPr>
              <a:t>cross-platform</a:t>
            </a:r>
            <a:r>
              <a:rPr lang="en-IN" b="0" i="1" dirty="0">
                <a:solidFill>
                  <a:srgbClr val="202122"/>
                </a:solidFill>
                <a:effectLst/>
                <a:latin typeface="Arial" panose="020B0604020202020204" pitchFamily="34" charset="0"/>
              </a:rPr>
              <a:t> </a:t>
            </a:r>
            <a:r>
              <a:rPr lang="en-IN" b="0" i="1" u="none" strike="noStrike" dirty="0">
                <a:solidFill>
                  <a:srgbClr val="3366CC"/>
                </a:solidFill>
                <a:effectLst/>
                <a:latin typeface="Arial" panose="020B0604020202020204" pitchFamily="34" charset="0"/>
                <a:hlinkClick r:id="rId4" tooltip="Document-oriented database"/>
              </a:rPr>
              <a:t>document-oriented database</a:t>
            </a:r>
            <a:r>
              <a:rPr lang="en-IN" b="0" i="1" dirty="0">
                <a:solidFill>
                  <a:srgbClr val="202122"/>
                </a:solidFill>
                <a:effectLst/>
                <a:latin typeface="Arial" panose="020B0604020202020204" pitchFamily="34" charset="0"/>
              </a:rPr>
              <a:t> program. Classified as a </a:t>
            </a:r>
            <a:r>
              <a:rPr lang="en-IN" b="0" i="1" u="none" strike="noStrike" dirty="0">
                <a:solidFill>
                  <a:srgbClr val="3366CC"/>
                </a:solidFill>
                <a:effectLst/>
                <a:latin typeface="Arial" panose="020B0604020202020204" pitchFamily="34" charset="0"/>
                <a:hlinkClick r:id="rId5" tooltip="NoSQL"/>
              </a:rPr>
              <a:t>NoSQL</a:t>
            </a:r>
            <a:r>
              <a:rPr lang="en-IN" b="0" i="1" dirty="0">
                <a:solidFill>
                  <a:srgbClr val="202122"/>
                </a:solidFill>
                <a:effectLst/>
                <a:latin typeface="Arial" panose="020B0604020202020204" pitchFamily="34" charset="0"/>
              </a:rPr>
              <a:t> database program, MongoDB uses </a:t>
            </a:r>
            <a:r>
              <a:rPr lang="en-IN" b="0" i="1" u="none" strike="noStrike" dirty="0">
                <a:solidFill>
                  <a:srgbClr val="3366CC"/>
                </a:solidFill>
                <a:effectLst/>
                <a:latin typeface="Arial" panose="020B0604020202020204" pitchFamily="34" charset="0"/>
                <a:hlinkClick r:id="rId6" tooltip="JSON"/>
              </a:rPr>
              <a:t>JSON</a:t>
            </a:r>
            <a:r>
              <a:rPr lang="en-IN" b="0" i="1" dirty="0">
                <a:solidFill>
                  <a:srgbClr val="202122"/>
                </a:solidFill>
                <a:effectLst/>
                <a:latin typeface="Arial" panose="020B0604020202020204" pitchFamily="34" charset="0"/>
              </a:rPr>
              <a:t>-like documents with optional </a:t>
            </a:r>
            <a:r>
              <a:rPr lang="en-IN" b="0" i="1" u="none" strike="noStrike" dirty="0">
                <a:solidFill>
                  <a:srgbClr val="3366CC"/>
                </a:solidFill>
                <a:effectLst/>
                <a:latin typeface="Arial" panose="020B0604020202020204" pitchFamily="34" charset="0"/>
                <a:hlinkClick r:id="rId7" tooltip="Database schema"/>
              </a:rPr>
              <a:t>schemas</a:t>
            </a:r>
            <a:r>
              <a:rPr lang="en-IN" b="0" i="1" dirty="0">
                <a:solidFill>
                  <a:srgbClr val="202122"/>
                </a:solidFill>
                <a:effectLst/>
                <a:latin typeface="Arial" panose="020B0604020202020204" pitchFamily="34" charset="0"/>
              </a:rPr>
              <a:t>.”</a:t>
            </a:r>
          </a:p>
          <a:p>
            <a:pPr marL="0" indent="0">
              <a:buNone/>
            </a:pPr>
            <a:endParaRPr lang="en-IN" i="1" dirty="0">
              <a:solidFill>
                <a:srgbClr val="202122"/>
              </a:solidFill>
              <a:latin typeface="Arial" panose="020B0604020202020204" pitchFamily="34" charset="0"/>
            </a:endParaRPr>
          </a:p>
          <a:p>
            <a:pPr marL="0" indent="0">
              <a:buNone/>
            </a:pPr>
            <a:endParaRPr lang="en-US" b="1" i="1" dirty="0"/>
          </a:p>
        </p:txBody>
      </p:sp>
    </p:spTree>
    <p:extLst>
      <p:ext uri="{BB962C8B-B14F-4D97-AF65-F5344CB8AC3E}">
        <p14:creationId xmlns:p14="http://schemas.microsoft.com/office/powerpoint/2010/main" val="579019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16">
            <a:extLst>
              <a:ext uri="{FF2B5EF4-FFF2-40B4-BE49-F238E27FC236}">
                <a16:creationId xmlns:a16="http://schemas.microsoft.com/office/drawing/2014/main" id="{8D4310E1-3B0E-4BB6-BB7C-F54A7503EA98}"/>
              </a:ext>
            </a:extLst>
          </p:cNvPr>
          <p:cNvSpPr/>
          <p:nvPr/>
        </p:nvSpPr>
        <p:spPr>
          <a:xfrm rot="2700000">
            <a:off x="3895195" y="3640429"/>
            <a:ext cx="298064" cy="534373"/>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88" name="Teardrop 1">
            <a:extLst>
              <a:ext uri="{FF2B5EF4-FFF2-40B4-BE49-F238E27FC236}">
                <a16:creationId xmlns:a16="http://schemas.microsoft.com/office/drawing/2014/main" id="{55AB887A-9899-412F-A87A-6C68DA1273F3}"/>
              </a:ext>
            </a:extLst>
          </p:cNvPr>
          <p:cNvSpPr/>
          <p:nvPr/>
        </p:nvSpPr>
        <p:spPr>
          <a:xfrm rot="18805991">
            <a:off x="5906366" y="3695853"/>
            <a:ext cx="422416" cy="418009"/>
          </a:xfrm>
          <a:custGeom>
            <a:avLst/>
            <a:gdLst/>
            <a:ahLst/>
            <a:cxnLst/>
            <a:rect l="l" t="t" r="r" b="b"/>
            <a:pathLst>
              <a:path w="1807241" h="1788383">
                <a:moveTo>
                  <a:pt x="712876" y="1117592"/>
                </a:moveTo>
                <a:cubicBezTo>
                  <a:pt x="771173" y="1181828"/>
                  <a:pt x="811089" y="1255910"/>
                  <a:pt x="847925" y="1348018"/>
                </a:cubicBezTo>
                <a:cubicBezTo>
                  <a:pt x="814544" y="1418896"/>
                  <a:pt x="753893" y="1474052"/>
                  <a:pt x="679064" y="1498332"/>
                </a:cubicBezTo>
                <a:lnTo>
                  <a:pt x="308226" y="1106637"/>
                </a:lnTo>
                <a:cubicBezTo>
                  <a:pt x="336560" y="1033247"/>
                  <a:pt x="394949" y="975701"/>
                  <a:pt x="467546" y="946245"/>
                </a:cubicBezTo>
                <a:cubicBezTo>
                  <a:pt x="577903" y="998968"/>
                  <a:pt x="654580" y="1053357"/>
                  <a:pt x="712876" y="1117592"/>
                </a:cubicBezTo>
                <a:close/>
                <a:moveTo>
                  <a:pt x="1038527" y="398886"/>
                </a:moveTo>
                <a:lnTo>
                  <a:pt x="1405560" y="786562"/>
                </a:lnTo>
                <a:cubicBezTo>
                  <a:pt x="1374476" y="799049"/>
                  <a:pt x="1340402" y="804299"/>
                  <a:pt x="1305054" y="803332"/>
                </a:cubicBezTo>
                <a:lnTo>
                  <a:pt x="1008167" y="795212"/>
                </a:lnTo>
                <a:lnTo>
                  <a:pt x="1016288" y="498325"/>
                </a:lnTo>
                <a:cubicBezTo>
                  <a:pt x="1017255" y="462976"/>
                  <a:pt x="1024360" y="429240"/>
                  <a:pt x="1038527" y="398886"/>
                </a:cubicBezTo>
                <a:close/>
                <a:moveTo>
                  <a:pt x="1097925" y="218888"/>
                </a:moveTo>
                <a:cubicBezTo>
                  <a:pt x="992582" y="279303"/>
                  <a:pt x="921871" y="392886"/>
                  <a:pt x="921053" y="523256"/>
                </a:cubicBezTo>
                <a:lnTo>
                  <a:pt x="919136" y="828763"/>
                </a:lnTo>
                <a:lnTo>
                  <a:pt x="830924" y="915875"/>
                </a:lnTo>
                <a:lnTo>
                  <a:pt x="525417" y="913958"/>
                </a:lnTo>
                <a:cubicBezTo>
                  <a:pt x="403891" y="913196"/>
                  <a:pt x="296188" y="973343"/>
                  <a:pt x="234366" y="1067831"/>
                </a:cubicBezTo>
                <a:lnTo>
                  <a:pt x="710285" y="1570519"/>
                </a:lnTo>
                <a:cubicBezTo>
                  <a:pt x="811872" y="1510375"/>
                  <a:pt x="878808" y="1399439"/>
                  <a:pt x="879603" y="1272618"/>
                </a:cubicBezTo>
                <a:lnTo>
                  <a:pt x="881520" y="967111"/>
                </a:lnTo>
                <a:lnTo>
                  <a:pt x="969732" y="879999"/>
                </a:lnTo>
                <a:lnTo>
                  <a:pt x="1275239" y="881916"/>
                </a:lnTo>
                <a:cubicBezTo>
                  <a:pt x="1400271" y="882701"/>
                  <a:pt x="1510670" y="819011"/>
                  <a:pt x="1573529" y="721242"/>
                </a:cubicBezTo>
                <a:close/>
                <a:moveTo>
                  <a:pt x="1162945" y="27894"/>
                </a:moveTo>
                <a:lnTo>
                  <a:pt x="1782798" y="682611"/>
                </a:lnTo>
                <a:cubicBezTo>
                  <a:pt x="1816692" y="718411"/>
                  <a:pt x="1815147" y="774907"/>
                  <a:pt x="1779347" y="808801"/>
                </a:cubicBezTo>
                <a:cubicBezTo>
                  <a:pt x="1743547" y="842694"/>
                  <a:pt x="1687050" y="841149"/>
                  <a:pt x="1653157" y="805349"/>
                </a:cubicBezTo>
                <a:lnTo>
                  <a:pt x="1644015" y="795693"/>
                </a:lnTo>
                <a:cubicBezTo>
                  <a:pt x="1561789" y="910282"/>
                  <a:pt x="1426630" y="983636"/>
                  <a:pt x="1274606" y="982683"/>
                </a:cubicBezTo>
                <a:lnTo>
                  <a:pt x="980378" y="980836"/>
                </a:lnTo>
                <a:lnTo>
                  <a:pt x="980378" y="1270380"/>
                </a:lnTo>
                <a:cubicBezTo>
                  <a:pt x="980378" y="1427425"/>
                  <a:pt x="901198" y="1565976"/>
                  <a:pt x="779756" y="1647056"/>
                </a:cubicBezTo>
                <a:cubicBezTo>
                  <a:pt x="807405" y="1681913"/>
                  <a:pt x="803595" y="1732594"/>
                  <a:pt x="770486" y="1763941"/>
                </a:cubicBezTo>
                <a:cubicBezTo>
                  <a:pt x="734686" y="1797834"/>
                  <a:pt x="678189" y="1796289"/>
                  <a:pt x="644296" y="1760489"/>
                </a:cubicBezTo>
                <a:lnTo>
                  <a:pt x="24442" y="1105772"/>
                </a:lnTo>
                <a:cubicBezTo>
                  <a:pt x="-9451" y="1069973"/>
                  <a:pt x="-7906" y="1013476"/>
                  <a:pt x="27894" y="979583"/>
                </a:cubicBezTo>
                <a:cubicBezTo>
                  <a:pt x="63694" y="945689"/>
                  <a:pt x="120190" y="947235"/>
                  <a:pt x="154084" y="983034"/>
                </a:cubicBezTo>
                <a:lnTo>
                  <a:pt x="163237" y="992702"/>
                </a:lnTo>
                <a:cubicBezTo>
                  <a:pt x="244774" y="882877"/>
                  <a:pt x="375836" y="813180"/>
                  <a:pt x="523178" y="813180"/>
                </a:cubicBezTo>
                <a:lnTo>
                  <a:pt x="818460" y="813180"/>
                </a:lnTo>
                <a:lnTo>
                  <a:pt x="820284" y="522622"/>
                </a:lnTo>
                <a:cubicBezTo>
                  <a:pt x="821285" y="363119"/>
                  <a:pt x="903845" y="223207"/>
                  <a:pt x="1028952" y="143673"/>
                </a:cubicBezTo>
                <a:cubicBezTo>
                  <a:pt x="999689" y="108599"/>
                  <a:pt x="1002953" y="56445"/>
                  <a:pt x="1036755" y="24443"/>
                </a:cubicBezTo>
                <a:cubicBezTo>
                  <a:pt x="1072555" y="-9451"/>
                  <a:pt x="1129052" y="-7906"/>
                  <a:pt x="1162945" y="278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sp>
        <p:nvSpPr>
          <p:cNvPr id="89" name="Rectangle 130">
            <a:extLst>
              <a:ext uri="{FF2B5EF4-FFF2-40B4-BE49-F238E27FC236}">
                <a16:creationId xmlns:a16="http://schemas.microsoft.com/office/drawing/2014/main" id="{E9F6910D-08B2-448E-9CBD-AF3616A1DD34}"/>
              </a:ext>
            </a:extLst>
          </p:cNvPr>
          <p:cNvSpPr/>
          <p:nvPr/>
        </p:nvSpPr>
        <p:spPr>
          <a:xfrm>
            <a:off x="7986107" y="3713707"/>
            <a:ext cx="379301" cy="381023"/>
          </a:xfrm>
          <a:custGeom>
            <a:avLst/>
            <a:gdLst/>
            <a:ahLst/>
            <a:cxnLst/>
            <a:rect l="l" t="t" r="r" b="b"/>
            <a:pathLst>
              <a:path w="371900" h="373588">
                <a:moveTo>
                  <a:pt x="297080" y="129105"/>
                </a:moveTo>
                <a:lnTo>
                  <a:pt x="284273" y="219737"/>
                </a:lnTo>
                <a:lnTo>
                  <a:pt x="305496" y="219737"/>
                </a:lnTo>
                <a:lnTo>
                  <a:pt x="333001" y="129105"/>
                </a:lnTo>
                <a:close/>
                <a:moveTo>
                  <a:pt x="228265" y="129105"/>
                </a:moveTo>
                <a:lnTo>
                  <a:pt x="228265" y="219737"/>
                </a:lnTo>
                <a:lnTo>
                  <a:pt x="250807" y="219737"/>
                </a:lnTo>
                <a:lnTo>
                  <a:pt x="263614" y="129105"/>
                </a:lnTo>
                <a:close/>
                <a:moveTo>
                  <a:pt x="157021" y="129105"/>
                </a:moveTo>
                <a:lnTo>
                  <a:pt x="175826" y="219737"/>
                </a:lnTo>
                <a:lnTo>
                  <a:pt x="195129" y="219737"/>
                </a:lnTo>
                <a:lnTo>
                  <a:pt x="195129" y="129105"/>
                </a:lnTo>
                <a:close/>
                <a:moveTo>
                  <a:pt x="93087" y="129105"/>
                </a:moveTo>
                <a:lnTo>
                  <a:pt x="117372" y="219737"/>
                </a:lnTo>
                <a:lnTo>
                  <a:pt x="141984" y="219737"/>
                </a:lnTo>
                <a:lnTo>
                  <a:pt x="123179" y="129105"/>
                </a:lnTo>
                <a:close/>
                <a:moveTo>
                  <a:pt x="58494" y="0"/>
                </a:moveTo>
                <a:lnTo>
                  <a:pt x="84208" y="95969"/>
                </a:lnTo>
                <a:lnTo>
                  <a:pt x="354346" y="95969"/>
                </a:lnTo>
                <a:lnTo>
                  <a:pt x="354346" y="97437"/>
                </a:lnTo>
                <a:cubicBezTo>
                  <a:pt x="356087" y="96136"/>
                  <a:pt x="357928" y="96353"/>
                  <a:pt x="359747" y="96905"/>
                </a:cubicBezTo>
                <a:lnTo>
                  <a:pt x="360371" y="97095"/>
                </a:lnTo>
                <a:cubicBezTo>
                  <a:pt x="368954" y="99700"/>
                  <a:pt x="373801" y="108770"/>
                  <a:pt x="371196" y="117354"/>
                </a:cubicBezTo>
                <a:lnTo>
                  <a:pt x="333339" y="242097"/>
                </a:lnTo>
                <a:cubicBezTo>
                  <a:pt x="331591" y="247858"/>
                  <a:pt x="326929" y="251935"/>
                  <a:pt x="321206" y="252122"/>
                </a:cubicBezTo>
                <a:lnTo>
                  <a:pt x="321206" y="252873"/>
                </a:lnTo>
                <a:lnTo>
                  <a:pt x="313576" y="252873"/>
                </a:lnTo>
                <a:cubicBezTo>
                  <a:pt x="313378" y="253010"/>
                  <a:pt x="313229" y="252967"/>
                  <a:pt x="313080" y="252922"/>
                </a:cubicBezTo>
                <a:lnTo>
                  <a:pt x="312919" y="252873"/>
                </a:lnTo>
                <a:lnTo>
                  <a:pt x="126251" y="252873"/>
                </a:lnTo>
                <a:lnTo>
                  <a:pt x="133971" y="281687"/>
                </a:lnTo>
                <a:lnTo>
                  <a:pt x="321075" y="281687"/>
                </a:lnTo>
                <a:lnTo>
                  <a:pt x="321075" y="314823"/>
                </a:lnTo>
                <a:lnTo>
                  <a:pt x="318480" y="314823"/>
                </a:lnTo>
                <a:cubicBezTo>
                  <a:pt x="329614" y="318311"/>
                  <a:pt x="336414" y="328969"/>
                  <a:pt x="336414" y="341215"/>
                </a:cubicBezTo>
                <a:cubicBezTo>
                  <a:pt x="336414" y="359094"/>
                  <a:pt x="321920" y="373588"/>
                  <a:pt x="304041" y="373588"/>
                </a:cubicBezTo>
                <a:cubicBezTo>
                  <a:pt x="286162" y="373588"/>
                  <a:pt x="271668" y="359094"/>
                  <a:pt x="271668" y="341215"/>
                </a:cubicBezTo>
                <a:cubicBezTo>
                  <a:pt x="271668" y="328969"/>
                  <a:pt x="278468" y="318311"/>
                  <a:pt x="289602" y="314823"/>
                </a:cubicBezTo>
                <a:lnTo>
                  <a:pt x="142850" y="314823"/>
                </a:lnTo>
                <a:lnTo>
                  <a:pt x="143397" y="316865"/>
                </a:lnTo>
                <a:cubicBezTo>
                  <a:pt x="151629" y="321811"/>
                  <a:pt x="156401" y="330956"/>
                  <a:pt x="156401" y="341215"/>
                </a:cubicBezTo>
                <a:cubicBezTo>
                  <a:pt x="156401" y="359094"/>
                  <a:pt x="141907" y="373588"/>
                  <a:pt x="124028" y="373588"/>
                </a:cubicBezTo>
                <a:cubicBezTo>
                  <a:pt x="106149" y="373588"/>
                  <a:pt x="91655" y="359094"/>
                  <a:pt x="91655" y="341215"/>
                </a:cubicBezTo>
                <a:cubicBezTo>
                  <a:pt x="91655" y="329356"/>
                  <a:pt x="98032" y="318986"/>
                  <a:pt x="108649" y="315212"/>
                </a:cubicBezTo>
                <a:lnTo>
                  <a:pt x="33542" y="34909"/>
                </a:lnTo>
                <a:lnTo>
                  <a:pt x="0" y="34909"/>
                </a:lnTo>
                <a:lnTo>
                  <a:pt x="0" y="1773"/>
                </a:lnTo>
                <a:lnTo>
                  <a:pt x="51879" y="177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sp>
        <p:nvSpPr>
          <p:cNvPr id="8" name="Text Placeholder 1">
            <a:extLst>
              <a:ext uri="{FF2B5EF4-FFF2-40B4-BE49-F238E27FC236}">
                <a16:creationId xmlns:a16="http://schemas.microsoft.com/office/drawing/2014/main" id="{DE215665-D737-49D2-BE72-4AB6528C4855}"/>
              </a:ext>
            </a:extLst>
          </p:cNvPr>
          <p:cNvSpPr>
            <a:spLocks noGrp="1"/>
          </p:cNvSpPr>
          <p:nvPr>
            <p:ph type="body" sz="quarter" idx="10"/>
          </p:nvPr>
        </p:nvSpPr>
        <p:spPr>
          <a:xfrm>
            <a:off x="330975" y="210417"/>
            <a:ext cx="11573197" cy="638669"/>
          </a:xfrm>
        </p:spPr>
        <p:txBody>
          <a:bodyPr>
            <a:normAutofit fontScale="85000" lnSpcReduction="20000"/>
          </a:bodyPr>
          <a:lstStyle/>
          <a:p>
            <a:pPr algn="l" eaLnBrk="1" hangingPunct="1"/>
            <a:r>
              <a:rPr lang="en-US" altLang="zh-CN" sz="5400" dirty="0">
                <a:solidFill>
                  <a:schemeClr val="accent3"/>
                </a:solidFill>
                <a:latin typeface="Calibri" panose="020F0502020204030204" pitchFamily="34" charset="0"/>
              </a:rPr>
              <a:t>What is</a:t>
            </a:r>
            <a:endParaRPr lang="zh-CN" altLang="zh-CN" sz="5400" dirty="0">
              <a:solidFill>
                <a:schemeClr val="accent3"/>
              </a:solidFill>
              <a:latin typeface="Calibri" panose="020F0502020204030204" pitchFamily="34" charset="0"/>
            </a:endParaRPr>
          </a:p>
        </p:txBody>
      </p:sp>
      <p:sp>
        <p:nvSpPr>
          <p:cNvPr id="9" name="TextBox 8">
            <a:extLst>
              <a:ext uri="{FF2B5EF4-FFF2-40B4-BE49-F238E27FC236}">
                <a16:creationId xmlns:a16="http://schemas.microsoft.com/office/drawing/2014/main" id="{FB3A774B-F5C6-4696-A0C3-5761C26215AC}"/>
              </a:ext>
            </a:extLst>
          </p:cNvPr>
          <p:cNvSpPr txBox="1"/>
          <p:nvPr/>
        </p:nvSpPr>
        <p:spPr>
          <a:xfrm>
            <a:off x="1126655" y="1413077"/>
            <a:ext cx="3547885" cy="3962623"/>
          </a:xfrm>
          <a:prstGeom prst="rect">
            <a:avLst/>
          </a:prstGeom>
          <a:noFill/>
        </p:spPr>
        <p:txBody>
          <a:bodyPr wrap="square">
            <a:spAutoFit/>
          </a:bodyPr>
          <a:lstStyle/>
          <a:p>
            <a:pPr marL="285750" indent="-285750" eaLnBrk="1" hangingPunct="1">
              <a:spcBef>
                <a:spcPts val="650"/>
              </a:spcBef>
              <a:buClr>
                <a:srgbClr val="0BD0D9"/>
              </a:buClr>
              <a:buSzPct val="95000"/>
              <a:buFont typeface="Wingdings" panose="05000000000000000000" pitchFamily="2" charset="2"/>
              <a:buChar char="ü"/>
              <a:defRPr/>
            </a:pPr>
            <a:r>
              <a:rPr lang="en-US" altLang="zh-CN" sz="1800" b="1" dirty="0">
                <a:solidFill>
                  <a:srgbClr val="000000"/>
                </a:solidFill>
                <a:latin typeface="Constantia" panose="02030602050306030303" pitchFamily="18" charset="0"/>
              </a:rPr>
              <a:t> </a:t>
            </a:r>
            <a:r>
              <a:rPr lang="en-US" altLang="zh-CN" sz="1800" dirty="0">
                <a:solidFill>
                  <a:srgbClr val="000000"/>
                </a:solidFill>
                <a:latin typeface="Constantia" panose="02030602050306030303" pitchFamily="18" charset="0"/>
              </a:rPr>
              <a:t>MongoDB is an </a:t>
            </a:r>
            <a:r>
              <a:rPr lang="en-US" altLang="zh-CN" sz="1800" dirty="0">
                <a:solidFill>
                  <a:schemeClr val="accent1"/>
                </a:solidFill>
                <a:latin typeface="Constantia" panose="02030602050306030303" pitchFamily="18" charset="0"/>
              </a:rPr>
              <a:t>open source</a:t>
            </a:r>
            <a:r>
              <a:rPr lang="en-US" altLang="zh-CN" sz="1800" dirty="0">
                <a:solidFill>
                  <a:srgbClr val="000000"/>
                </a:solidFill>
                <a:latin typeface="Constantia" panose="02030602050306030303" pitchFamily="18" charset="0"/>
              </a:rPr>
              <a:t>, </a:t>
            </a:r>
            <a:r>
              <a:rPr lang="en-US" altLang="zh-CN" sz="1800" dirty="0">
                <a:solidFill>
                  <a:schemeClr val="accent1"/>
                </a:solidFill>
                <a:latin typeface="Constantia" panose="02030602050306030303" pitchFamily="18" charset="0"/>
              </a:rPr>
              <a:t>document-oriented</a:t>
            </a:r>
            <a:r>
              <a:rPr lang="en-US" altLang="zh-CN" sz="1800" dirty="0">
                <a:solidFill>
                  <a:srgbClr val="000000"/>
                </a:solidFill>
                <a:latin typeface="Constantia" panose="02030602050306030303" pitchFamily="18" charset="0"/>
              </a:rPr>
              <a:t> database designed with both scalability and developer agility in mind. </a:t>
            </a:r>
          </a:p>
          <a:p>
            <a:pPr marL="285750" indent="-285750" eaLnBrk="1" hangingPunct="1">
              <a:spcBef>
                <a:spcPts val="650"/>
              </a:spcBef>
              <a:buClr>
                <a:srgbClr val="0BD0D9"/>
              </a:buClr>
              <a:buSzPct val="95000"/>
              <a:buFont typeface="Wingdings" panose="05000000000000000000" pitchFamily="2" charset="2"/>
              <a:buChar char="ü"/>
              <a:defRPr/>
            </a:pPr>
            <a:r>
              <a:rPr lang="en-US" altLang="zh-CN" sz="1800" dirty="0">
                <a:solidFill>
                  <a:srgbClr val="000000"/>
                </a:solidFill>
                <a:latin typeface="Constantia" panose="02030602050306030303" pitchFamily="18" charset="0"/>
              </a:rPr>
              <a:t>Instead of storing your data</a:t>
            </a:r>
            <a:r>
              <a:rPr lang="en-US" altLang="zh-CN" sz="1800" dirty="0">
                <a:solidFill>
                  <a:schemeClr val="tx1"/>
                </a:solidFill>
                <a:latin typeface="Constantia" panose="02030602050306030303" pitchFamily="18" charset="0"/>
              </a:rPr>
              <a:t> in </a:t>
            </a:r>
            <a:r>
              <a:rPr lang="en-US" altLang="zh-CN" sz="1800" dirty="0">
                <a:solidFill>
                  <a:srgbClr val="FF0000"/>
                </a:solidFill>
                <a:latin typeface="Constantia" panose="02030602050306030303" pitchFamily="18" charset="0"/>
              </a:rPr>
              <a:t>tables and rows</a:t>
            </a:r>
            <a:r>
              <a:rPr lang="en-US" altLang="zh-CN" sz="1800" dirty="0">
                <a:solidFill>
                  <a:srgbClr val="000000"/>
                </a:solidFill>
                <a:latin typeface="Constantia" panose="02030602050306030303" pitchFamily="18" charset="0"/>
              </a:rPr>
              <a:t> as you would with a relational database, in MongoDB you store </a:t>
            </a:r>
            <a:r>
              <a:rPr lang="en-US" altLang="zh-CN" sz="1800" dirty="0">
                <a:solidFill>
                  <a:schemeClr val="accent1"/>
                </a:solidFill>
                <a:latin typeface="Constantia" panose="02030602050306030303" pitchFamily="18" charset="0"/>
              </a:rPr>
              <a:t>JSON-like documents </a:t>
            </a:r>
            <a:r>
              <a:rPr lang="en-US" altLang="zh-CN" sz="1800" dirty="0">
                <a:solidFill>
                  <a:srgbClr val="000000"/>
                </a:solidFill>
                <a:latin typeface="Constantia" panose="02030602050306030303" pitchFamily="18" charset="0"/>
              </a:rPr>
              <a:t>with </a:t>
            </a:r>
            <a:r>
              <a:rPr lang="en-US" altLang="zh-CN" sz="1800" dirty="0">
                <a:solidFill>
                  <a:schemeClr val="accent1"/>
                </a:solidFill>
                <a:latin typeface="Constantia" panose="02030602050306030303" pitchFamily="18" charset="0"/>
              </a:rPr>
              <a:t>dynamic schemas(schema-free, schema less)</a:t>
            </a:r>
            <a:r>
              <a:rPr lang="en-US" altLang="zh-CN" sz="1800" dirty="0">
                <a:solidFill>
                  <a:srgbClr val="000000"/>
                </a:solidFill>
                <a:latin typeface="Constantia" panose="02030602050306030303" pitchFamily="18" charset="0"/>
              </a:rPr>
              <a:t>.</a:t>
            </a:r>
          </a:p>
          <a:p>
            <a:pPr eaLnBrk="1" hangingPunct="1">
              <a:spcBef>
                <a:spcPts val="650"/>
              </a:spcBef>
              <a:buClr>
                <a:srgbClr val="0BD0D9"/>
              </a:buClr>
              <a:buSzPct val="95000"/>
              <a:buFont typeface="Wingdings 2" panose="05020102010507070707" pitchFamily="18" charset="2"/>
              <a:buChar char=""/>
              <a:defRPr/>
            </a:pPr>
            <a:endParaRPr lang="en-US" altLang="zh-CN" sz="1800" dirty="0">
              <a:solidFill>
                <a:srgbClr val="000000"/>
              </a:solidFill>
              <a:latin typeface="Constantia" panose="02030602050306030303" pitchFamily="18" charset="0"/>
            </a:endParaRPr>
          </a:p>
          <a:p>
            <a:pPr eaLnBrk="1" hangingPunct="1">
              <a:spcBef>
                <a:spcPts val="650"/>
              </a:spcBef>
              <a:buClr>
                <a:srgbClr val="0BD0D9"/>
              </a:buClr>
              <a:buSzPct val="95000"/>
              <a:buFont typeface="Wingdings 2" panose="05020102010507070707" pitchFamily="18" charset="2"/>
              <a:buChar char=""/>
              <a:defRPr/>
            </a:pPr>
            <a:endParaRPr lang="zh-CN" altLang="zh-CN" sz="1800" dirty="0">
              <a:solidFill>
                <a:srgbClr val="000000"/>
              </a:solidFill>
              <a:latin typeface="Constantia" panose="02030602050306030303" pitchFamily="18" charset="0"/>
            </a:endParaRPr>
          </a:p>
        </p:txBody>
      </p:sp>
      <p:sp>
        <p:nvSpPr>
          <p:cNvPr id="13" name="Lekerekített téglalap 12">
            <a:extLst>
              <a:ext uri="{FF2B5EF4-FFF2-40B4-BE49-F238E27FC236}">
                <a16:creationId xmlns:a16="http://schemas.microsoft.com/office/drawing/2014/main" id="{C968A72D-97FA-4817-93BC-5758E08A95B8}"/>
              </a:ext>
            </a:extLst>
          </p:cNvPr>
          <p:cNvSpPr/>
          <p:nvPr/>
        </p:nvSpPr>
        <p:spPr>
          <a:xfrm>
            <a:off x="5081480" y="1378791"/>
            <a:ext cx="5983865" cy="3656171"/>
          </a:xfrm>
          <a:prstGeom prst="roundRect">
            <a:avLst/>
          </a:prstGeom>
        </p:spPr>
        <p:style>
          <a:lnRef idx="2">
            <a:schemeClr val="accent1"/>
          </a:lnRef>
          <a:fillRef idx="1">
            <a:schemeClr val="lt1"/>
          </a:fillRef>
          <a:effectRef idx="0">
            <a:schemeClr val="accent1"/>
          </a:effectRef>
          <a:fontRef idx="minor">
            <a:schemeClr val="dk1"/>
          </a:fontRef>
        </p:style>
        <p:txBody>
          <a:bodyPr anchor="ctr"/>
          <a:lstStyle/>
          <a:p>
            <a:pPr eaLnBrk="1" hangingPunct="1">
              <a:defRPr/>
            </a:pPr>
            <a:r>
              <a:rPr lang="en-US" sz="2000" dirty="0"/>
              <a:t>   </a:t>
            </a:r>
            <a:r>
              <a:rPr lang="hu-HU" sz="2000" dirty="0"/>
              <a:t>{</a:t>
            </a:r>
          </a:p>
          <a:p>
            <a:pPr eaLnBrk="1" hangingPunct="1">
              <a:defRPr/>
            </a:pPr>
            <a:r>
              <a:rPr lang="hu-HU" sz="2000" dirty="0"/>
              <a:t>        "_</a:t>
            </a:r>
            <a:r>
              <a:rPr lang="hu-HU" sz="2000" dirty="0" err="1"/>
              <a:t>id</a:t>
            </a:r>
            <a:r>
              <a:rPr lang="hu-HU" sz="2000" dirty="0"/>
              <a:t>" : </a:t>
            </a:r>
            <a:r>
              <a:rPr lang="hu-HU" sz="2000" dirty="0" err="1"/>
              <a:t>ObjectId</a:t>
            </a:r>
            <a:r>
              <a:rPr lang="hu-HU" sz="2000" dirty="0"/>
              <a:t>("5114e0bd42…"),</a:t>
            </a:r>
          </a:p>
          <a:p>
            <a:pPr eaLnBrk="1" hangingPunct="1">
              <a:defRPr/>
            </a:pPr>
            <a:r>
              <a:rPr lang="hu-HU" sz="2000" dirty="0"/>
              <a:t>        “</a:t>
            </a:r>
            <a:r>
              <a:rPr lang="en-US" sz="2000" dirty="0"/>
              <a:t>FirstName</a:t>
            </a:r>
            <a:r>
              <a:rPr lang="hu-HU" sz="2000" dirty="0"/>
              <a:t>" : "John",</a:t>
            </a:r>
          </a:p>
          <a:p>
            <a:pPr eaLnBrk="1" hangingPunct="1">
              <a:defRPr/>
            </a:pPr>
            <a:r>
              <a:rPr lang="hu-HU" sz="2000" dirty="0"/>
              <a:t>        “</a:t>
            </a:r>
            <a:r>
              <a:rPr lang="en-US" sz="2000" dirty="0"/>
              <a:t>L</a:t>
            </a:r>
            <a:r>
              <a:rPr lang="hu-HU" sz="2000" dirty="0"/>
              <a:t>ast</a:t>
            </a:r>
            <a:r>
              <a:rPr lang="en-US" sz="2000" dirty="0"/>
              <a:t>Name</a:t>
            </a:r>
            <a:r>
              <a:rPr lang="hu-HU" sz="2000" dirty="0"/>
              <a:t>" : "Doe",</a:t>
            </a:r>
          </a:p>
          <a:p>
            <a:pPr eaLnBrk="1" hangingPunct="1">
              <a:defRPr/>
            </a:pPr>
            <a:r>
              <a:rPr lang="hu-HU" sz="2000" dirty="0"/>
              <a:t>        “</a:t>
            </a:r>
            <a:r>
              <a:rPr lang="en-US" sz="2000" dirty="0"/>
              <a:t>A</a:t>
            </a:r>
            <a:r>
              <a:rPr lang="hu-HU" sz="2000" dirty="0"/>
              <a:t>ge" : 39, </a:t>
            </a:r>
          </a:p>
          <a:p>
            <a:pPr eaLnBrk="1" hangingPunct="1">
              <a:defRPr/>
            </a:pPr>
            <a:r>
              <a:rPr lang="hu-HU" sz="2000" dirty="0"/>
              <a:t>       “</a:t>
            </a:r>
            <a:r>
              <a:rPr lang="en-US" sz="2000" dirty="0"/>
              <a:t>I</a:t>
            </a:r>
            <a:r>
              <a:rPr lang="hu-HU" sz="2000" dirty="0"/>
              <a:t>nterests" : [ "Reading",</a:t>
            </a:r>
            <a:r>
              <a:rPr lang="en-US" sz="2000" dirty="0"/>
              <a:t> </a:t>
            </a:r>
            <a:r>
              <a:rPr lang="hu-HU" sz="2000" dirty="0"/>
              <a:t> "Mountain Biking ]</a:t>
            </a:r>
          </a:p>
          <a:p>
            <a:pPr eaLnBrk="1" hangingPunct="1">
              <a:defRPr/>
            </a:pPr>
            <a:r>
              <a:rPr lang="hu-HU" sz="2000" dirty="0"/>
              <a:t>       </a:t>
            </a:r>
            <a:r>
              <a:rPr lang="en-US" sz="2000" dirty="0"/>
              <a:t>“Favorites": { </a:t>
            </a:r>
            <a:endParaRPr lang="hu-HU" sz="2000" dirty="0"/>
          </a:p>
          <a:p>
            <a:pPr eaLnBrk="1" hangingPunct="1">
              <a:defRPr/>
            </a:pPr>
            <a:r>
              <a:rPr lang="hu-HU" sz="2000" dirty="0"/>
              <a:t>               </a:t>
            </a:r>
            <a:r>
              <a:rPr lang="en-US" sz="2000" dirty="0"/>
              <a:t> 	    "color": "Blue", </a:t>
            </a:r>
            <a:endParaRPr lang="hu-HU" sz="2000" dirty="0"/>
          </a:p>
          <a:p>
            <a:pPr eaLnBrk="1" hangingPunct="1">
              <a:defRPr/>
            </a:pPr>
            <a:r>
              <a:rPr lang="hu-HU" sz="2000" dirty="0"/>
              <a:t>               </a:t>
            </a:r>
            <a:r>
              <a:rPr lang="en-US" sz="2000" dirty="0"/>
              <a:t>                "sport": "Soccer“</a:t>
            </a:r>
          </a:p>
          <a:p>
            <a:pPr eaLnBrk="1" hangingPunct="1">
              <a:defRPr/>
            </a:pPr>
            <a:r>
              <a:rPr lang="en-US" sz="2000" dirty="0"/>
              <a:t>		} </a:t>
            </a:r>
            <a:endParaRPr lang="hu-HU" sz="2000" b="1" dirty="0"/>
          </a:p>
          <a:p>
            <a:pPr eaLnBrk="1" hangingPunct="1">
              <a:defRPr/>
            </a:pPr>
            <a:r>
              <a:rPr lang="en-US" sz="2000" dirty="0"/>
              <a:t>     </a:t>
            </a:r>
            <a:r>
              <a:rPr lang="hu-HU" sz="2000" dirty="0"/>
              <a:t>}</a:t>
            </a:r>
          </a:p>
        </p:txBody>
      </p:sp>
      <p:pic>
        <p:nvPicPr>
          <p:cNvPr id="2" name="Picture 1" descr="Logo&#10;&#10;Description automatically generated">
            <a:extLst>
              <a:ext uri="{FF2B5EF4-FFF2-40B4-BE49-F238E27FC236}">
                <a16:creationId xmlns:a16="http://schemas.microsoft.com/office/drawing/2014/main" id="{7A1CA8E3-62E1-E78E-7894-71B9393426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9772" y="0"/>
            <a:ext cx="3141138" cy="846635"/>
          </a:xfrm>
          <a:prstGeom prst="rect">
            <a:avLst/>
          </a:prstGeom>
        </p:spPr>
      </p:pic>
    </p:spTree>
    <p:extLst>
      <p:ext uri="{BB962C8B-B14F-4D97-AF65-F5344CB8AC3E}">
        <p14:creationId xmlns:p14="http://schemas.microsoft.com/office/powerpoint/2010/main" val="3713165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16">
            <a:extLst>
              <a:ext uri="{FF2B5EF4-FFF2-40B4-BE49-F238E27FC236}">
                <a16:creationId xmlns:a16="http://schemas.microsoft.com/office/drawing/2014/main" id="{8D4310E1-3B0E-4BB6-BB7C-F54A7503EA98}"/>
              </a:ext>
            </a:extLst>
          </p:cNvPr>
          <p:cNvSpPr/>
          <p:nvPr/>
        </p:nvSpPr>
        <p:spPr>
          <a:xfrm rot="2700000">
            <a:off x="9131970" y="4624228"/>
            <a:ext cx="298064" cy="534373"/>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88" name="Teardrop 1">
            <a:extLst>
              <a:ext uri="{FF2B5EF4-FFF2-40B4-BE49-F238E27FC236}">
                <a16:creationId xmlns:a16="http://schemas.microsoft.com/office/drawing/2014/main" id="{55AB887A-9899-412F-A87A-6C68DA1273F3}"/>
              </a:ext>
            </a:extLst>
          </p:cNvPr>
          <p:cNvSpPr/>
          <p:nvPr/>
        </p:nvSpPr>
        <p:spPr>
          <a:xfrm rot="18805991">
            <a:off x="11143141" y="4679652"/>
            <a:ext cx="422416" cy="418009"/>
          </a:xfrm>
          <a:custGeom>
            <a:avLst/>
            <a:gdLst/>
            <a:ahLst/>
            <a:cxnLst/>
            <a:rect l="l" t="t" r="r" b="b"/>
            <a:pathLst>
              <a:path w="1807241" h="1788383">
                <a:moveTo>
                  <a:pt x="712876" y="1117592"/>
                </a:moveTo>
                <a:cubicBezTo>
                  <a:pt x="771173" y="1181828"/>
                  <a:pt x="811089" y="1255910"/>
                  <a:pt x="847925" y="1348018"/>
                </a:cubicBezTo>
                <a:cubicBezTo>
                  <a:pt x="814544" y="1418896"/>
                  <a:pt x="753893" y="1474052"/>
                  <a:pt x="679064" y="1498332"/>
                </a:cubicBezTo>
                <a:lnTo>
                  <a:pt x="308226" y="1106637"/>
                </a:lnTo>
                <a:cubicBezTo>
                  <a:pt x="336560" y="1033247"/>
                  <a:pt x="394949" y="975701"/>
                  <a:pt x="467546" y="946245"/>
                </a:cubicBezTo>
                <a:cubicBezTo>
                  <a:pt x="577903" y="998968"/>
                  <a:pt x="654580" y="1053357"/>
                  <a:pt x="712876" y="1117592"/>
                </a:cubicBezTo>
                <a:close/>
                <a:moveTo>
                  <a:pt x="1038527" y="398886"/>
                </a:moveTo>
                <a:lnTo>
                  <a:pt x="1405560" y="786562"/>
                </a:lnTo>
                <a:cubicBezTo>
                  <a:pt x="1374476" y="799049"/>
                  <a:pt x="1340402" y="804299"/>
                  <a:pt x="1305054" y="803332"/>
                </a:cubicBezTo>
                <a:lnTo>
                  <a:pt x="1008167" y="795212"/>
                </a:lnTo>
                <a:lnTo>
                  <a:pt x="1016288" y="498325"/>
                </a:lnTo>
                <a:cubicBezTo>
                  <a:pt x="1017255" y="462976"/>
                  <a:pt x="1024360" y="429240"/>
                  <a:pt x="1038527" y="398886"/>
                </a:cubicBezTo>
                <a:close/>
                <a:moveTo>
                  <a:pt x="1097925" y="218888"/>
                </a:moveTo>
                <a:cubicBezTo>
                  <a:pt x="992582" y="279303"/>
                  <a:pt x="921871" y="392886"/>
                  <a:pt x="921053" y="523256"/>
                </a:cubicBezTo>
                <a:lnTo>
                  <a:pt x="919136" y="828763"/>
                </a:lnTo>
                <a:lnTo>
                  <a:pt x="830924" y="915875"/>
                </a:lnTo>
                <a:lnTo>
                  <a:pt x="525417" y="913958"/>
                </a:lnTo>
                <a:cubicBezTo>
                  <a:pt x="403891" y="913196"/>
                  <a:pt x="296188" y="973343"/>
                  <a:pt x="234366" y="1067831"/>
                </a:cubicBezTo>
                <a:lnTo>
                  <a:pt x="710285" y="1570519"/>
                </a:lnTo>
                <a:cubicBezTo>
                  <a:pt x="811872" y="1510375"/>
                  <a:pt x="878808" y="1399439"/>
                  <a:pt x="879603" y="1272618"/>
                </a:cubicBezTo>
                <a:lnTo>
                  <a:pt x="881520" y="967111"/>
                </a:lnTo>
                <a:lnTo>
                  <a:pt x="969732" y="879999"/>
                </a:lnTo>
                <a:lnTo>
                  <a:pt x="1275239" y="881916"/>
                </a:lnTo>
                <a:cubicBezTo>
                  <a:pt x="1400271" y="882701"/>
                  <a:pt x="1510670" y="819011"/>
                  <a:pt x="1573529" y="721242"/>
                </a:cubicBezTo>
                <a:close/>
                <a:moveTo>
                  <a:pt x="1162945" y="27894"/>
                </a:moveTo>
                <a:lnTo>
                  <a:pt x="1782798" y="682611"/>
                </a:lnTo>
                <a:cubicBezTo>
                  <a:pt x="1816692" y="718411"/>
                  <a:pt x="1815147" y="774907"/>
                  <a:pt x="1779347" y="808801"/>
                </a:cubicBezTo>
                <a:cubicBezTo>
                  <a:pt x="1743547" y="842694"/>
                  <a:pt x="1687050" y="841149"/>
                  <a:pt x="1653157" y="805349"/>
                </a:cubicBezTo>
                <a:lnTo>
                  <a:pt x="1644015" y="795693"/>
                </a:lnTo>
                <a:cubicBezTo>
                  <a:pt x="1561789" y="910282"/>
                  <a:pt x="1426630" y="983636"/>
                  <a:pt x="1274606" y="982683"/>
                </a:cubicBezTo>
                <a:lnTo>
                  <a:pt x="980378" y="980836"/>
                </a:lnTo>
                <a:lnTo>
                  <a:pt x="980378" y="1270380"/>
                </a:lnTo>
                <a:cubicBezTo>
                  <a:pt x="980378" y="1427425"/>
                  <a:pt x="901198" y="1565976"/>
                  <a:pt x="779756" y="1647056"/>
                </a:cubicBezTo>
                <a:cubicBezTo>
                  <a:pt x="807405" y="1681913"/>
                  <a:pt x="803595" y="1732594"/>
                  <a:pt x="770486" y="1763941"/>
                </a:cubicBezTo>
                <a:cubicBezTo>
                  <a:pt x="734686" y="1797834"/>
                  <a:pt x="678189" y="1796289"/>
                  <a:pt x="644296" y="1760489"/>
                </a:cubicBezTo>
                <a:lnTo>
                  <a:pt x="24442" y="1105772"/>
                </a:lnTo>
                <a:cubicBezTo>
                  <a:pt x="-9451" y="1069973"/>
                  <a:pt x="-7906" y="1013476"/>
                  <a:pt x="27894" y="979583"/>
                </a:cubicBezTo>
                <a:cubicBezTo>
                  <a:pt x="63694" y="945689"/>
                  <a:pt x="120190" y="947235"/>
                  <a:pt x="154084" y="983034"/>
                </a:cubicBezTo>
                <a:lnTo>
                  <a:pt x="163237" y="992702"/>
                </a:lnTo>
                <a:cubicBezTo>
                  <a:pt x="244774" y="882877"/>
                  <a:pt x="375836" y="813180"/>
                  <a:pt x="523178" y="813180"/>
                </a:cubicBezTo>
                <a:lnTo>
                  <a:pt x="818460" y="813180"/>
                </a:lnTo>
                <a:lnTo>
                  <a:pt x="820284" y="522622"/>
                </a:lnTo>
                <a:cubicBezTo>
                  <a:pt x="821285" y="363119"/>
                  <a:pt x="903845" y="223207"/>
                  <a:pt x="1028952" y="143673"/>
                </a:cubicBezTo>
                <a:cubicBezTo>
                  <a:pt x="999689" y="108599"/>
                  <a:pt x="1002953" y="56445"/>
                  <a:pt x="1036755" y="24443"/>
                </a:cubicBezTo>
                <a:cubicBezTo>
                  <a:pt x="1072555" y="-9451"/>
                  <a:pt x="1129052" y="-7906"/>
                  <a:pt x="1162945" y="278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graphicFrame>
        <p:nvGraphicFramePr>
          <p:cNvPr id="10" name="Táblázat 1">
            <a:extLst>
              <a:ext uri="{FF2B5EF4-FFF2-40B4-BE49-F238E27FC236}">
                <a16:creationId xmlns:a16="http://schemas.microsoft.com/office/drawing/2014/main" id="{845BD246-DB95-4090-B617-9D15AC2214EB}"/>
              </a:ext>
            </a:extLst>
          </p:cNvPr>
          <p:cNvGraphicFramePr>
            <a:graphicFrameLocks noGrp="1"/>
          </p:cNvGraphicFramePr>
          <p:nvPr/>
        </p:nvGraphicFramePr>
        <p:xfrm>
          <a:off x="7118759" y="2680624"/>
          <a:ext cx="4867895" cy="2966152"/>
        </p:xfrm>
        <a:graphic>
          <a:graphicData uri="http://schemas.openxmlformats.org/drawingml/2006/table">
            <a:tbl>
              <a:tblPr firstRow="1" bandRow="1">
                <a:tableStyleId>{5C22544A-7EE6-4342-B048-85BDC9FD1C3A}</a:tableStyleId>
              </a:tblPr>
              <a:tblGrid>
                <a:gridCol w="1502757">
                  <a:extLst>
                    <a:ext uri="{9D8B030D-6E8A-4147-A177-3AD203B41FA5}">
                      <a16:colId xmlns:a16="http://schemas.microsoft.com/office/drawing/2014/main" val="20000"/>
                    </a:ext>
                  </a:extLst>
                </a:gridCol>
                <a:gridCol w="490119">
                  <a:extLst>
                    <a:ext uri="{9D8B030D-6E8A-4147-A177-3AD203B41FA5}">
                      <a16:colId xmlns:a16="http://schemas.microsoft.com/office/drawing/2014/main" val="20001"/>
                    </a:ext>
                  </a:extLst>
                </a:gridCol>
                <a:gridCol w="2875019">
                  <a:extLst>
                    <a:ext uri="{9D8B030D-6E8A-4147-A177-3AD203B41FA5}">
                      <a16:colId xmlns:a16="http://schemas.microsoft.com/office/drawing/2014/main" val="20002"/>
                    </a:ext>
                  </a:extLst>
                </a:gridCol>
              </a:tblGrid>
              <a:tr h="370769">
                <a:tc>
                  <a:txBody>
                    <a:bodyPr/>
                    <a:lstStyle/>
                    <a:p>
                      <a:r>
                        <a:rPr lang="hu-HU" sz="1800" dirty="0"/>
                        <a:t>RDBMS</a:t>
                      </a:r>
                    </a:p>
                  </a:txBody>
                  <a:tcPr marL="91427" marR="91427" marT="45711" marB="45711"/>
                </a:tc>
                <a:tc>
                  <a:txBody>
                    <a:bodyPr/>
                    <a:lstStyle/>
                    <a:p>
                      <a:endParaRPr lang="hu-HU" sz="1800" dirty="0"/>
                    </a:p>
                  </a:txBody>
                  <a:tcPr marL="91427" marR="91427" marT="45711" marB="45711"/>
                </a:tc>
                <a:tc>
                  <a:txBody>
                    <a:bodyPr/>
                    <a:lstStyle/>
                    <a:p>
                      <a:r>
                        <a:rPr lang="hu-HU" sz="1800" dirty="0" err="1"/>
                        <a:t>MongoDB</a:t>
                      </a:r>
                      <a:endParaRPr lang="hu-HU" sz="1800" dirty="0"/>
                    </a:p>
                  </a:txBody>
                  <a:tcPr marL="91427" marR="91427" marT="45711" marB="45711"/>
                </a:tc>
                <a:extLst>
                  <a:ext uri="{0D108BD9-81ED-4DB2-BD59-A6C34878D82A}">
                    <a16:rowId xmlns:a16="http://schemas.microsoft.com/office/drawing/2014/main" val="10000"/>
                  </a:ext>
                </a:extLst>
              </a:tr>
              <a:tr h="370769">
                <a:tc>
                  <a:txBody>
                    <a:bodyPr/>
                    <a:lstStyle/>
                    <a:p>
                      <a:r>
                        <a:rPr lang="hu-HU" sz="1800" dirty="0" err="1"/>
                        <a:t>Database</a:t>
                      </a:r>
                      <a:endParaRPr lang="hu-HU" sz="1800" dirty="0"/>
                    </a:p>
                  </a:txBody>
                  <a:tcPr marL="91427" marR="91427" marT="45711" marB="45711"/>
                </a:tc>
                <a:tc>
                  <a:txBody>
                    <a:bodyPr/>
                    <a:lstStyle/>
                    <a:p>
                      <a:endParaRPr lang="hu-HU" sz="1800" dirty="0"/>
                    </a:p>
                  </a:txBody>
                  <a:tcPr marL="91427" marR="91427" marT="45711" marB="45711"/>
                </a:tc>
                <a:tc>
                  <a:txBody>
                    <a:bodyPr/>
                    <a:lstStyle/>
                    <a:p>
                      <a:r>
                        <a:rPr lang="hu-HU" sz="1800" dirty="0" err="1"/>
                        <a:t>Database</a:t>
                      </a:r>
                      <a:endParaRPr lang="hu-HU" sz="1800" dirty="0"/>
                    </a:p>
                  </a:txBody>
                  <a:tcPr marL="91427" marR="91427" marT="45711" marB="45711"/>
                </a:tc>
                <a:extLst>
                  <a:ext uri="{0D108BD9-81ED-4DB2-BD59-A6C34878D82A}">
                    <a16:rowId xmlns:a16="http://schemas.microsoft.com/office/drawing/2014/main" val="10001"/>
                  </a:ext>
                </a:extLst>
              </a:tr>
              <a:tr h="370769">
                <a:tc>
                  <a:txBody>
                    <a:bodyPr/>
                    <a:lstStyle/>
                    <a:p>
                      <a:r>
                        <a:rPr lang="hu-HU" sz="1800" dirty="0"/>
                        <a:t>Table</a:t>
                      </a:r>
                    </a:p>
                  </a:txBody>
                  <a:tcPr marL="91427" marR="91427" marT="45711" marB="45711"/>
                </a:tc>
                <a:tc>
                  <a:txBody>
                    <a:bodyPr/>
                    <a:lstStyle/>
                    <a:p>
                      <a:endParaRPr lang="hu-HU" sz="1800" dirty="0"/>
                    </a:p>
                  </a:txBody>
                  <a:tcPr marL="91427" marR="91427" marT="45711" marB="45711"/>
                </a:tc>
                <a:tc>
                  <a:txBody>
                    <a:bodyPr/>
                    <a:lstStyle/>
                    <a:p>
                      <a:r>
                        <a:rPr lang="hu-HU" sz="1800" dirty="0" err="1"/>
                        <a:t>Collection</a:t>
                      </a:r>
                      <a:endParaRPr lang="hu-HU" sz="1800" dirty="0"/>
                    </a:p>
                  </a:txBody>
                  <a:tcPr marL="91427" marR="91427" marT="45711" marB="45711"/>
                </a:tc>
                <a:extLst>
                  <a:ext uri="{0D108BD9-81ED-4DB2-BD59-A6C34878D82A}">
                    <a16:rowId xmlns:a16="http://schemas.microsoft.com/office/drawing/2014/main" val="10002"/>
                  </a:ext>
                </a:extLst>
              </a:tr>
              <a:tr h="370769">
                <a:tc>
                  <a:txBody>
                    <a:bodyPr/>
                    <a:lstStyle/>
                    <a:p>
                      <a:r>
                        <a:rPr lang="hu-HU" sz="1800" dirty="0" err="1"/>
                        <a:t>Row</a:t>
                      </a:r>
                      <a:endParaRPr lang="hu-HU" sz="1800" dirty="0"/>
                    </a:p>
                  </a:txBody>
                  <a:tcPr marL="91427" marR="91427" marT="45711" marB="45711"/>
                </a:tc>
                <a:tc>
                  <a:txBody>
                    <a:bodyPr/>
                    <a:lstStyle/>
                    <a:p>
                      <a:endParaRPr lang="hu-HU" sz="1800" dirty="0"/>
                    </a:p>
                  </a:txBody>
                  <a:tcPr marL="91427" marR="91427" marT="45711" marB="45711"/>
                </a:tc>
                <a:tc>
                  <a:txBody>
                    <a:bodyPr/>
                    <a:lstStyle/>
                    <a:p>
                      <a:r>
                        <a:rPr lang="hu-HU" sz="1800" dirty="0" err="1"/>
                        <a:t>Document</a:t>
                      </a:r>
                      <a:r>
                        <a:rPr lang="hu-HU" sz="1800" dirty="0"/>
                        <a:t> (JSON, BSON)</a:t>
                      </a:r>
                    </a:p>
                  </a:txBody>
                  <a:tcPr marL="91427" marR="91427" marT="45711" marB="45711"/>
                </a:tc>
                <a:extLst>
                  <a:ext uri="{0D108BD9-81ED-4DB2-BD59-A6C34878D82A}">
                    <a16:rowId xmlns:a16="http://schemas.microsoft.com/office/drawing/2014/main" val="10003"/>
                  </a:ext>
                </a:extLst>
              </a:tr>
              <a:tr h="370769">
                <a:tc>
                  <a:txBody>
                    <a:bodyPr/>
                    <a:lstStyle/>
                    <a:p>
                      <a:r>
                        <a:rPr lang="hu-HU" sz="1800" dirty="0" err="1"/>
                        <a:t>Column</a:t>
                      </a:r>
                      <a:endParaRPr lang="hu-HU" sz="1800" dirty="0"/>
                    </a:p>
                  </a:txBody>
                  <a:tcPr marL="91427" marR="91427" marT="45711" marB="45711"/>
                </a:tc>
                <a:tc>
                  <a:txBody>
                    <a:bodyPr/>
                    <a:lstStyle/>
                    <a:p>
                      <a:endParaRPr lang="hu-HU" sz="1800" dirty="0"/>
                    </a:p>
                  </a:txBody>
                  <a:tcPr marL="91427" marR="91427" marT="45711" marB="45711"/>
                </a:tc>
                <a:tc>
                  <a:txBody>
                    <a:bodyPr/>
                    <a:lstStyle/>
                    <a:p>
                      <a:r>
                        <a:rPr lang="hu-HU" sz="1800" dirty="0" err="1"/>
                        <a:t>Field</a:t>
                      </a:r>
                      <a:endParaRPr lang="hu-HU" sz="1800" dirty="0"/>
                    </a:p>
                  </a:txBody>
                  <a:tcPr marL="91427" marR="91427" marT="45711" marB="45711"/>
                </a:tc>
                <a:extLst>
                  <a:ext uri="{0D108BD9-81ED-4DB2-BD59-A6C34878D82A}">
                    <a16:rowId xmlns:a16="http://schemas.microsoft.com/office/drawing/2014/main" val="10004"/>
                  </a:ext>
                </a:extLst>
              </a:tr>
              <a:tr h="370769">
                <a:tc>
                  <a:txBody>
                    <a:bodyPr/>
                    <a:lstStyle/>
                    <a:p>
                      <a:r>
                        <a:rPr lang="hu-HU" sz="1800" dirty="0"/>
                        <a:t>Index</a:t>
                      </a:r>
                    </a:p>
                  </a:txBody>
                  <a:tcPr marL="91427" marR="91427" marT="45711" marB="45711"/>
                </a:tc>
                <a:tc>
                  <a:txBody>
                    <a:bodyPr/>
                    <a:lstStyle/>
                    <a:p>
                      <a:endParaRPr lang="hu-HU" sz="1800" dirty="0"/>
                    </a:p>
                  </a:txBody>
                  <a:tcPr marL="91427" marR="91427" marT="45711" marB="45711"/>
                </a:tc>
                <a:tc>
                  <a:txBody>
                    <a:bodyPr/>
                    <a:lstStyle/>
                    <a:p>
                      <a:r>
                        <a:rPr lang="hu-HU" sz="1800" dirty="0"/>
                        <a:t>Index</a:t>
                      </a:r>
                    </a:p>
                  </a:txBody>
                  <a:tcPr marL="91427" marR="91427" marT="45711" marB="45711"/>
                </a:tc>
                <a:extLst>
                  <a:ext uri="{0D108BD9-81ED-4DB2-BD59-A6C34878D82A}">
                    <a16:rowId xmlns:a16="http://schemas.microsoft.com/office/drawing/2014/main" val="10005"/>
                  </a:ext>
                </a:extLst>
              </a:tr>
              <a:tr h="370769">
                <a:tc>
                  <a:txBody>
                    <a:bodyPr/>
                    <a:lstStyle/>
                    <a:p>
                      <a:r>
                        <a:rPr lang="hu-HU" sz="1800" b="0" dirty="0" err="1"/>
                        <a:t>Join</a:t>
                      </a:r>
                      <a:endParaRPr lang="hu-HU" sz="1800" b="0" dirty="0"/>
                    </a:p>
                  </a:txBody>
                  <a:tcPr marL="91427" marR="91427" marT="45711" marB="45711"/>
                </a:tc>
                <a:tc>
                  <a:txBody>
                    <a:bodyPr/>
                    <a:lstStyle/>
                    <a:p>
                      <a:endParaRPr lang="hu-HU" sz="1800" b="0" dirty="0"/>
                    </a:p>
                  </a:txBody>
                  <a:tcPr marL="91427" marR="91427" marT="45711" marB="45711"/>
                </a:tc>
                <a:tc>
                  <a:txBody>
                    <a:bodyPr/>
                    <a:lstStyle/>
                    <a:p>
                      <a:r>
                        <a:rPr lang="hu-HU" sz="1800" b="0" dirty="0" err="1"/>
                        <a:t>Embedded</a:t>
                      </a:r>
                      <a:r>
                        <a:rPr lang="hu-HU" sz="1800" b="0" dirty="0"/>
                        <a:t> </a:t>
                      </a:r>
                      <a:r>
                        <a:rPr lang="hu-HU" sz="1800" b="0" dirty="0" err="1"/>
                        <a:t>Document</a:t>
                      </a:r>
                      <a:endParaRPr lang="hu-HU" sz="1800" b="0" dirty="0"/>
                    </a:p>
                  </a:txBody>
                  <a:tcPr marL="91427" marR="91427" marT="45711" marB="45711"/>
                </a:tc>
                <a:extLst>
                  <a:ext uri="{0D108BD9-81ED-4DB2-BD59-A6C34878D82A}">
                    <a16:rowId xmlns:a16="http://schemas.microsoft.com/office/drawing/2014/main" val="10006"/>
                  </a:ext>
                </a:extLst>
              </a:tr>
              <a:tr h="370769">
                <a:tc>
                  <a:txBody>
                    <a:bodyPr/>
                    <a:lstStyle/>
                    <a:p>
                      <a:r>
                        <a:rPr lang="hu-HU" sz="1800" dirty="0" err="1"/>
                        <a:t>Partition</a:t>
                      </a:r>
                      <a:endParaRPr lang="hu-HU" sz="1800" dirty="0"/>
                    </a:p>
                  </a:txBody>
                  <a:tcPr marL="91427" marR="91427" marT="45711" marB="45711"/>
                </a:tc>
                <a:tc>
                  <a:txBody>
                    <a:bodyPr/>
                    <a:lstStyle/>
                    <a:p>
                      <a:endParaRPr lang="hu-HU" sz="1800" dirty="0"/>
                    </a:p>
                  </a:txBody>
                  <a:tcPr marL="91427" marR="91427" marT="45711" marB="45711"/>
                </a:tc>
                <a:tc>
                  <a:txBody>
                    <a:bodyPr/>
                    <a:lstStyle/>
                    <a:p>
                      <a:r>
                        <a:rPr lang="hu-HU" sz="1800" dirty="0" err="1"/>
                        <a:t>Shard</a:t>
                      </a:r>
                      <a:endParaRPr lang="hu-HU" sz="1800" dirty="0"/>
                    </a:p>
                  </a:txBody>
                  <a:tcPr marL="91427" marR="91427" marT="45711" marB="45711"/>
                </a:tc>
                <a:extLst>
                  <a:ext uri="{0D108BD9-81ED-4DB2-BD59-A6C34878D82A}">
                    <a16:rowId xmlns:a16="http://schemas.microsoft.com/office/drawing/2014/main" val="10007"/>
                  </a:ext>
                </a:extLst>
              </a:tr>
            </a:tbl>
          </a:graphicData>
        </a:graphic>
      </p:graphicFrame>
      <p:sp>
        <p:nvSpPr>
          <p:cNvPr id="11" name="Jobbra nyíl 2">
            <a:extLst>
              <a:ext uri="{FF2B5EF4-FFF2-40B4-BE49-F238E27FC236}">
                <a16:creationId xmlns:a16="http://schemas.microsoft.com/office/drawing/2014/main" id="{F3DCD827-82E5-45AC-B1ED-9903C1F5E775}"/>
              </a:ext>
            </a:extLst>
          </p:cNvPr>
          <p:cNvSpPr/>
          <p:nvPr/>
        </p:nvSpPr>
        <p:spPr>
          <a:xfrm>
            <a:off x="8738480" y="3184482"/>
            <a:ext cx="287337" cy="1444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hu-HU"/>
          </a:p>
        </p:txBody>
      </p:sp>
      <p:sp>
        <p:nvSpPr>
          <p:cNvPr id="12" name="Jobbra nyíl 7">
            <a:extLst>
              <a:ext uri="{FF2B5EF4-FFF2-40B4-BE49-F238E27FC236}">
                <a16:creationId xmlns:a16="http://schemas.microsoft.com/office/drawing/2014/main" id="{B41C53EF-E96D-47FE-BFB3-A171A34CD840}"/>
              </a:ext>
            </a:extLst>
          </p:cNvPr>
          <p:cNvSpPr/>
          <p:nvPr/>
        </p:nvSpPr>
        <p:spPr>
          <a:xfrm>
            <a:off x="8738480" y="3504534"/>
            <a:ext cx="287337" cy="1444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hu-HU"/>
          </a:p>
        </p:txBody>
      </p:sp>
      <p:sp>
        <p:nvSpPr>
          <p:cNvPr id="13" name="Jobbra nyíl 8">
            <a:extLst>
              <a:ext uri="{FF2B5EF4-FFF2-40B4-BE49-F238E27FC236}">
                <a16:creationId xmlns:a16="http://schemas.microsoft.com/office/drawing/2014/main" id="{8EB0E217-3AED-46BB-A357-7118C525FB10}"/>
              </a:ext>
            </a:extLst>
          </p:cNvPr>
          <p:cNvSpPr/>
          <p:nvPr/>
        </p:nvSpPr>
        <p:spPr>
          <a:xfrm>
            <a:off x="8740496" y="3885273"/>
            <a:ext cx="287337" cy="1428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hu-HU"/>
          </a:p>
        </p:txBody>
      </p:sp>
      <p:sp>
        <p:nvSpPr>
          <p:cNvPr id="14" name="Jobbra nyíl 9">
            <a:extLst>
              <a:ext uri="{FF2B5EF4-FFF2-40B4-BE49-F238E27FC236}">
                <a16:creationId xmlns:a16="http://schemas.microsoft.com/office/drawing/2014/main" id="{5DF8E062-5D52-4393-8C91-7C41E652BBA9}"/>
              </a:ext>
            </a:extLst>
          </p:cNvPr>
          <p:cNvSpPr/>
          <p:nvPr/>
        </p:nvSpPr>
        <p:spPr>
          <a:xfrm>
            <a:off x="8738480" y="4257630"/>
            <a:ext cx="287337" cy="1444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hu-HU"/>
          </a:p>
        </p:txBody>
      </p:sp>
      <p:sp>
        <p:nvSpPr>
          <p:cNvPr id="15" name="Jobbra nyíl 10">
            <a:extLst>
              <a:ext uri="{FF2B5EF4-FFF2-40B4-BE49-F238E27FC236}">
                <a16:creationId xmlns:a16="http://schemas.microsoft.com/office/drawing/2014/main" id="{F0A03A88-F154-41AD-975B-86556530113B}"/>
              </a:ext>
            </a:extLst>
          </p:cNvPr>
          <p:cNvSpPr/>
          <p:nvPr/>
        </p:nvSpPr>
        <p:spPr>
          <a:xfrm>
            <a:off x="8738480" y="4670485"/>
            <a:ext cx="287337" cy="1444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hu-HU"/>
          </a:p>
        </p:txBody>
      </p:sp>
      <p:sp>
        <p:nvSpPr>
          <p:cNvPr id="16" name="Jobbra nyíl 11">
            <a:extLst>
              <a:ext uri="{FF2B5EF4-FFF2-40B4-BE49-F238E27FC236}">
                <a16:creationId xmlns:a16="http://schemas.microsoft.com/office/drawing/2014/main" id="{A324D6F5-0998-452A-BB45-A81C203578E7}"/>
              </a:ext>
            </a:extLst>
          </p:cNvPr>
          <p:cNvSpPr/>
          <p:nvPr/>
        </p:nvSpPr>
        <p:spPr>
          <a:xfrm>
            <a:off x="8738480" y="5021120"/>
            <a:ext cx="288925" cy="1444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hu-HU"/>
          </a:p>
        </p:txBody>
      </p:sp>
      <p:sp>
        <p:nvSpPr>
          <p:cNvPr id="17" name="Jobbra nyíl 13">
            <a:extLst>
              <a:ext uri="{FF2B5EF4-FFF2-40B4-BE49-F238E27FC236}">
                <a16:creationId xmlns:a16="http://schemas.microsoft.com/office/drawing/2014/main" id="{046578A0-9AEE-4D19-8189-5BAD9E2B9BF1}"/>
              </a:ext>
            </a:extLst>
          </p:cNvPr>
          <p:cNvSpPr/>
          <p:nvPr/>
        </p:nvSpPr>
        <p:spPr>
          <a:xfrm>
            <a:off x="8738480" y="5354092"/>
            <a:ext cx="287338" cy="1444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hu-HU"/>
          </a:p>
        </p:txBody>
      </p:sp>
      <p:pic>
        <p:nvPicPr>
          <p:cNvPr id="45" name="Picture 44" descr="Logo&#10;&#10;Description automatically generated">
            <a:extLst>
              <a:ext uri="{FF2B5EF4-FFF2-40B4-BE49-F238E27FC236}">
                <a16:creationId xmlns:a16="http://schemas.microsoft.com/office/drawing/2014/main" id="{A80068B3-8278-4813-A0A5-86452FAF98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486" y="697014"/>
            <a:ext cx="3141138" cy="846635"/>
          </a:xfrm>
          <a:prstGeom prst="rect">
            <a:avLst/>
          </a:prstGeom>
        </p:spPr>
      </p:pic>
      <p:sp>
        <p:nvSpPr>
          <p:cNvPr id="46" name="Text Placeholder 1">
            <a:extLst>
              <a:ext uri="{FF2B5EF4-FFF2-40B4-BE49-F238E27FC236}">
                <a16:creationId xmlns:a16="http://schemas.microsoft.com/office/drawing/2014/main" id="{86528BF2-D2E9-4640-B13B-01B4DDCB4C60}"/>
              </a:ext>
            </a:extLst>
          </p:cNvPr>
          <p:cNvSpPr>
            <a:spLocks noGrp="1"/>
          </p:cNvSpPr>
          <p:nvPr>
            <p:ph type="body" sz="quarter" idx="10"/>
          </p:nvPr>
        </p:nvSpPr>
        <p:spPr>
          <a:xfrm>
            <a:off x="6595679" y="1501199"/>
            <a:ext cx="5959267" cy="724247"/>
          </a:xfrm>
        </p:spPr>
        <p:txBody>
          <a:bodyPr/>
          <a:lstStyle/>
          <a:p>
            <a:pPr eaLnBrk="1" hangingPunct="1"/>
            <a:r>
              <a:rPr lang="en-US" altLang="zh-CN" sz="2800" dirty="0">
                <a:solidFill>
                  <a:schemeClr val="accent3"/>
                </a:solidFill>
                <a:latin typeface="Calibri" panose="020F0502020204030204" pitchFamily="34" charset="0"/>
              </a:rPr>
              <a:t>RDBMS vs MongoDB</a:t>
            </a:r>
            <a:endParaRPr lang="zh-CN" altLang="zh-CN" sz="2800" dirty="0">
              <a:solidFill>
                <a:schemeClr val="accent3"/>
              </a:solidFill>
              <a:latin typeface="Calibri" panose="020F0502020204030204" pitchFamily="34" charset="0"/>
            </a:endParaRPr>
          </a:p>
        </p:txBody>
      </p:sp>
      <p:sp>
        <p:nvSpPr>
          <p:cNvPr id="49" name="TextBox 5">
            <a:extLst>
              <a:ext uri="{FF2B5EF4-FFF2-40B4-BE49-F238E27FC236}">
                <a16:creationId xmlns:a16="http://schemas.microsoft.com/office/drawing/2014/main" id="{885BD8E2-340A-42FE-8E4F-C0C7D41885CA}"/>
              </a:ext>
            </a:extLst>
          </p:cNvPr>
          <p:cNvSpPr txBox="1">
            <a:spLocks noChangeArrowheads="1"/>
          </p:cNvSpPr>
          <p:nvPr/>
        </p:nvSpPr>
        <p:spPr bwMode="auto">
          <a:xfrm>
            <a:off x="10636301" y="1649413"/>
            <a:ext cx="185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solidFill>
                <a:srgbClr val="2F2B20"/>
              </a:solidFill>
            </a:endParaRPr>
          </a:p>
        </p:txBody>
      </p:sp>
      <p:sp>
        <p:nvSpPr>
          <p:cNvPr id="68" name="TextBox 19">
            <a:extLst>
              <a:ext uri="{FF2B5EF4-FFF2-40B4-BE49-F238E27FC236}">
                <a16:creationId xmlns:a16="http://schemas.microsoft.com/office/drawing/2014/main" id="{CB28E907-9807-4166-8C43-AE3D5DF5A87F}"/>
              </a:ext>
            </a:extLst>
          </p:cNvPr>
          <p:cNvSpPr txBox="1">
            <a:spLocks noChangeArrowheads="1"/>
          </p:cNvSpPr>
          <p:nvPr/>
        </p:nvSpPr>
        <p:spPr bwMode="auto">
          <a:xfrm>
            <a:off x="10674401" y="4700588"/>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solidFill>
                <a:srgbClr val="2F2B20"/>
              </a:solidFill>
            </a:endParaRPr>
          </a:p>
        </p:txBody>
      </p:sp>
      <p:sp>
        <p:nvSpPr>
          <p:cNvPr id="37" name="Content Placeholder 2">
            <a:extLst>
              <a:ext uri="{FF2B5EF4-FFF2-40B4-BE49-F238E27FC236}">
                <a16:creationId xmlns:a16="http://schemas.microsoft.com/office/drawing/2014/main" id="{3BF9BC83-86CB-47C5-A8F8-B54F3D55F2D6}"/>
              </a:ext>
            </a:extLst>
          </p:cNvPr>
          <p:cNvSpPr txBox="1">
            <a:spLocks/>
          </p:cNvSpPr>
          <p:nvPr/>
        </p:nvSpPr>
        <p:spPr>
          <a:xfrm>
            <a:off x="209594" y="1675396"/>
            <a:ext cx="6908059" cy="1225221"/>
          </a:xfrm>
          <a:prstGeom prst="rect">
            <a:avLst/>
          </a:prstGeom>
        </p:spPr>
        <p:txBody>
          <a:bodyPr lIns="64291" tIns="32146" rIns="64291" bIns="32146"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84188" indent="-457200" algn="l"/>
            <a:r>
              <a:rPr lang="en-US" altLang="en-US" sz="1800" dirty="0">
                <a:latin typeface="Calibri" panose="020F0502020204030204" pitchFamily="34" charset="0"/>
                <a:cs typeface="Calibri" panose="020F0502020204030204" pitchFamily="34" charset="0"/>
              </a:rPr>
              <a:t>MongoDB does not need any pre-defined data schema</a:t>
            </a:r>
          </a:p>
          <a:p>
            <a:pPr marL="484188" indent="-457200" algn="l"/>
            <a:r>
              <a:rPr lang="en-US" altLang="en-US" sz="1800" dirty="0">
                <a:latin typeface="Calibri" panose="020F0502020204030204" pitchFamily="34" charset="0"/>
                <a:cs typeface="Calibri" panose="020F0502020204030204" pitchFamily="34" charset="0"/>
              </a:rPr>
              <a:t>Every document could have different data!</a:t>
            </a:r>
          </a:p>
        </p:txBody>
      </p:sp>
      <p:grpSp>
        <p:nvGrpSpPr>
          <p:cNvPr id="38" name="Group 3">
            <a:extLst>
              <a:ext uri="{FF2B5EF4-FFF2-40B4-BE49-F238E27FC236}">
                <a16:creationId xmlns:a16="http://schemas.microsoft.com/office/drawing/2014/main" id="{C8A847D3-339C-42C4-B0C2-6B58F92CF697}"/>
              </a:ext>
            </a:extLst>
          </p:cNvPr>
          <p:cNvGrpSpPr>
            <a:grpSpLocks/>
          </p:cNvGrpSpPr>
          <p:nvPr/>
        </p:nvGrpSpPr>
        <p:grpSpPr bwMode="auto">
          <a:xfrm>
            <a:off x="37370" y="2611959"/>
            <a:ext cx="6718399" cy="3425261"/>
            <a:chOff x="667822" y="1756985"/>
            <a:chExt cx="7683356" cy="3425261"/>
          </a:xfrm>
        </p:grpSpPr>
        <p:sp>
          <p:nvSpPr>
            <p:cNvPr id="39" name="Rounded Rectangle 45">
              <a:extLst>
                <a:ext uri="{FF2B5EF4-FFF2-40B4-BE49-F238E27FC236}">
                  <a16:creationId xmlns:a16="http://schemas.microsoft.com/office/drawing/2014/main" id="{234876B4-6FA4-4AC1-A2B2-FD47E59F2023}"/>
                </a:ext>
              </a:extLst>
            </p:cNvPr>
            <p:cNvSpPr/>
            <p:nvPr/>
          </p:nvSpPr>
          <p:spPr bwMode="auto">
            <a:xfrm>
              <a:off x="667822" y="1756985"/>
              <a:ext cx="7620001" cy="3169716"/>
            </a:xfrm>
            <a:prstGeom prst="roundRect">
              <a:avLst/>
            </a:prstGeom>
            <a:solidFill>
              <a:schemeClr val="accent1"/>
            </a:solid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lIns="64291" tIns="32146" rIns="64291" bIns="32146"/>
            <a:lstStyle/>
            <a:p>
              <a:pPr algn="ctr" defTabSz="642915" eaLnBrk="1" hangingPunct="1">
                <a:defRPr/>
              </a:pPr>
              <a:endParaRPr lang="en-US" sz="3000">
                <a:solidFill>
                  <a:srgbClr val="FFFFFF"/>
                </a:solidFill>
                <a:latin typeface="Gill Sans" pitchFamily="-65" charset="0"/>
                <a:ea typeface="ヒラギノ角ゴ ProN W3" pitchFamily="-65" charset="-128"/>
                <a:cs typeface="ヒラギノ角ゴ ProN W3" pitchFamily="-65" charset="-128"/>
                <a:sym typeface="Gill Sans" pitchFamily="-65" charset="0"/>
              </a:endParaRPr>
            </a:p>
          </p:txBody>
        </p:sp>
        <p:grpSp>
          <p:nvGrpSpPr>
            <p:cNvPr id="40" name="Group 47">
              <a:extLst>
                <a:ext uri="{FF2B5EF4-FFF2-40B4-BE49-F238E27FC236}">
                  <a16:creationId xmlns:a16="http://schemas.microsoft.com/office/drawing/2014/main" id="{07EE46D6-04F0-48AC-B47E-9523547FBAD2}"/>
                </a:ext>
              </a:extLst>
            </p:cNvPr>
            <p:cNvGrpSpPr>
              <a:grpSpLocks/>
            </p:cNvGrpSpPr>
            <p:nvPr/>
          </p:nvGrpSpPr>
          <p:grpSpPr bwMode="auto">
            <a:xfrm>
              <a:off x="830522" y="2047726"/>
              <a:ext cx="5589897" cy="3134520"/>
              <a:chOff x="-2110970" y="1237746"/>
              <a:chExt cx="5212947" cy="1830886"/>
            </a:xfrm>
          </p:grpSpPr>
          <p:sp>
            <p:nvSpPr>
              <p:cNvPr id="78" name="Document 60">
                <a:extLst>
                  <a:ext uri="{FF2B5EF4-FFF2-40B4-BE49-F238E27FC236}">
                    <a16:creationId xmlns:a16="http://schemas.microsoft.com/office/drawing/2014/main" id="{006DAF42-0017-4063-B545-6AC520AFB842}"/>
                  </a:ext>
                </a:extLst>
              </p:cNvPr>
              <p:cNvSpPr/>
              <p:nvPr/>
            </p:nvSpPr>
            <p:spPr bwMode="auto">
              <a:xfrm>
                <a:off x="-2110970" y="1237746"/>
                <a:ext cx="2054378" cy="1279568"/>
              </a:xfrm>
              <a:prstGeom prst="flowChartDocument">
                <a:avLst/>
              </a:prstGeom>
              <a:ln>
                <a:solidFill>
                  <a:schemeClr val="tx2"/>
                </a:solid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64291" tIns="32146" rIns="64291" bIns="32146"/>
              <a:lstStyle/>
              <a:p>
                <a:pPr algn="ctr" defTabSz="642915" eaLnBrk="1" hangingPunct="1">
                  <a:defRPr/>
                </a:pPr>
                <a:endParaRPr lang="en-US" sz="3000">
                  <a:solidFill>
                    <a:srgbClr val="FFFFFF"/>
                  </a:solidFill>
                  <a:latin typeface="Gill Sans" pitchFamily="-65" charset="0"/>
                  <a:ea typeface="ヒラギノ角ゴ ProN W3" pitchFamily="-65" charset="-128"/>
                  <a:cs typeface="ヒラギノ角ゴ ProN W3" pitchFamily="-65" charset="-128"/>
                  <a:sym typeface="Gill Sans" pitchFamily="-65" charset="0"/>
                </a:endParaRPr>
              </a:p>
            </p:txBody>
          </p:sp>
          <p:sp>
            <p:nvSpPr>
              <p:cNvPr id="79" name="Rectangle 78">
                <a:extLst>
                  <a:ext uri="{FF2B5EF4-FFF2-40B4-BE49-F238E27FC236}">
                    <a16:creationId xmlns:a16="http://schemas.microsoft.com/office/drawing/2014/main" id="{06B7A5AD-179C-4801-A83B-B438987FDDE2}"/>
                  </a:ext>
                </a:extLst>
              </p:cNvPr>
              <p:cNvSpPr/>
              <p:nvPr/>
            </p:nvSpPr>
            <p:spPr>
              <a:xfrm>
                <a:off x="1158683" y="2743074"/>
                <a:ext cx="1943294" cy="325558"/>
              </a:xfrm>
              <a:prstGeom prst="rect">
                <a:avLst/>
              </a:prstGeom>
              <a:ln>
                <a:noFill/>
              </a:ln>
            </p:spPr>
            <p:txBody>
              <a:bodyPr lIns="64291" tIns="32146" rIns="64291" bIns="32146">
                <a:spAutoFit/>
              </a:bodyPr>
              <a:lstStyle/>
              <a:p>
                <a:pPr marL="27905" eaLnBrk="1" fontAlgn="auto" hangingPunct="1">
                  <a:spcBef>
                    <a:spcPts val="0"/>
                  </a:spcBef>
                  <a:spcAft>
                    <a:spcPts val="0"/>
                  </a:spcAft>
                  <a:defRPr/>
                </a:pPr>
                <a:endParaRPr lang="hu-HU" dirty="0">
                  <a:ln>
                    <a:solidFill>
                      <a:srgbClr val="675E47">
                        <a:lumMod val="10000"/>
                      </a:srgbClr>
                    </a:solidFill>
                  </a:ln>
                  <a:solidFill>
                    <a:srgbClr val="000000"/>
                  </a:solidFill>
                  <a:latin typeface="Calibri"/>
                </a:endParaRPr>
              </a:p>
              <a:p>
                <a:pPr marL="27905" eaLnBrk="1" fontAlgn="auto" hangingPunct="1">
                  <a:spcBef>
                    <a:spcPts val="0"/>
                  </a:spcBef>
                  <a:spcAft>
                    <a:spcPts val="0"/>
                  </a:spcAft>
                  <a:defRPr/>
                </a:pPr>
                <a:endParaRPr lang="hu-HU" sz="1400" dirty="0">
                  <a:solidFill>
                    <a:srgbClr val="2F2B20"/>
                  </a:solidFill>
                  <a:latin typeface="Calibri"/>
                </a:endParaRPr>
              </a:p>
            </p:txBody>
          </p:sp>
        </p:grpSp>
        <p:grpSp>
          <p:nvGrpSpPr>
            <p:cNvPr id="41" name="Group 48">
              <a:extLst>
                <a:ext uri="{FF2B5EF4-FFF2-40B4-BE49-F238E27FC236}">
                  <a16:creationId xmlns:a16="http://schemas.microsoft.com/office/drawing/2014/main" id="{6BCFD7DF-615B-4DAE-A542-FFCA151E8778}"/>
                </a:ext>
              </a:extLst>
            </p:cNvPr>
            <p:cNvGrpSpPr>
              <a:grpSpLocks/>
            </p:cNvGrpSpPr>
            <p:nvPr/>
          </p:nvGrpSpPr>
          <p:grpSpPr bwMode="auto">
            <a:xfrm>
              <a:off x="3316451" y="2087364"/>
              <a:ext cx="2469764" cy="1516062"/>
              <a:chOff x="3321608" y="2354652"/>
              <a:chExt cx="1917632" cy="1434262"/>
            </a:xfrm>
          </p:grpSpPr>
          <p:sp>
            <p:nvSpPr>
              <p:cNvPr id="76" name="Document 58">
                <a:extLst>
                  <a:ext uri="{FF2B5EF4-FFF2-40B4-BE49-F238E27FC236}">
                    <a16:creationId xmlns:a16="http://schemas.microsoft.com/office/drawing/2014/main" id="{AD58274D-7279-4C59-B7B9-CB9F84E929EA}"/>
                  </a:ext>
                </a:extLst>
              </p:cNvPr>
              <p:cNvSpPr/>
              <p:nvPr/>
            </p:nvSpPr>
            <p:spPr bwMode="auto">
              <a:xfrm>
                <a:off x="3321608" y="2354652"/>
                <a:ext cx="1711545" cy="1434262"/>
              </a:xfrm>
              <a:prstGeom prst="flowChartDocument">
                <a:avLst/>
              </a:prstGeom>
              <a:ln>
                <a:solidFill>
                  <a:schemeClr val="tx2"/>
                </a:solid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64291" tIns="32146" rIns="64291" bIns="32146"/>
              <a:lstStyle/>
              <a:p>
                <a:pPr algn="ctr" defTabSz="642915" eaLnBrk="1" hangingPunct="1">
                  <a:defRPr/>
                </a:pPr>
                <a:endParaRPr lang="en-US" sz="3000">
                  <a:solidFill>
                    <a:srgbClr val="FFFFFF"/>
                  </a:solidFill>
                  <a:latin typeface="Gill Sans" pitchFamily="-65" charset="0"/>
                  <a:ea typeface="ヒラギノ角ゴ ProN W3" pitchFamily="-65" charset="-128"/>
                  <a:cs typeface="ヒラギノ角ゴ ProN W3" pitchFamily="-65" charset="-128"/>
                  <a:sym typeface="Gill Sans" pitchFamily="-65" charset="0"/>
                </a:endParaRPr>
              </a:p>
            </p:txBody>
          </p:sp>
          <p:sp>
            <p:nvSpPr>
              <p:cNvPr id="77" name="Rectangle 76">
                <a:extLst>
                  <a:ext uri="{FF2B5EF4-FFF2-40B4-BE49-F238E27FC236}">
                    <a16:creationId xmlns:a16="http://schemas.microsoft.com/office/drawing/2014/main" id="{AA741B5C-D3A5-4E5B-9203-384D9E7EC814}"/>
                  </a:ext>
                </a:extLst>
              </p:cNvPr>
              <p:cNvSpPr>
                <a:spLocks noChangeAspect="1"/>
              </p:cNvSpPr>
              <p:nvPr/>
            </p:nvSpPr>
            <p:spPr>
              <a:xfrm>
                <a:off x="3436629" y="2531526"/>
                <a:ext cx="1802611" cy="1080513"/>
              </a:xfrm>
              <a:prstGeom prst="rect">
                <a:avLst/>
              </a:prstGeom>
              <a:ln>
                <a:noFill/>
              </a:ln>
            </p:spPr>
            <p:txBody>
              <a:bodyPr wrap="square" lIns="64291" tIns="32146" rIns="64291" bIns="32146">
                <a:spAutoFit/>
              </a:bodyPr>
              <a:lstStyle/>
              <a:p>
                <a:pPr marL="27905" eaLnBrk="1" fontAlgn="auto" hangingPunct="1">
                  <a:spcBef>
                    <a:spcPts val="0"/>
                  </a:spcBef>
                  <a:spcAft>
                    <a:spcPts val="0"/>
                  </a:spcAft>
                  <a:defRPr/>
                </a:pPr>
                <a:r>
                  <a:rPr lang="en-US" sz="1400" dirty="0">
                    <a:ln>
                      <a:solidFill>
                        <a:srgbClr val="675E47">
                          <a:lumMod val="10000"/>
                        </a:srgbClr>
                      </a:solidFill>
                    </a:ln>
                    <a:solidFill>
                      <a:schemeClr val="bg1"/>
                    </a:solidFill>
                    <a:latin typeface="Calibri"/>
                  </a:rPr>
                  <a:t> {</a:t>
                </a:r>
                <a:r>
                  <a:rPr lang="en-US" sz="1400" dirty="0">
                    <a:solidFill>
                      <a:schemeClr val="bg1"/>
                    </a:solidFill>
                    <a:latin typeface="Calibri"/>
                  </a:rPr>
                  <a:t>name: “jeff”,</a:t>
                </a:r>
              </a:p>
              <a:p>
                <a:pPr marL="27905" eaLnBrk="1" fontAlgn="auto" hangingPunct="1">
                  <a:spcBef>
                    <a:spcPts val="0"/>
                  </a:spcBef>
                  <a:spcAft>
                    <a:spcPts val="0"/>
                  </a:spcAft>
                  <a:defRPr/>
                </a:pPr>
                <a:r>
                  <a:rPr lang="en-US" sz="1400" dirty="0">
                    <a:solidFill>
                      <a:schemeClr val="bg1"/>
                    </a:solidFill>
                    <a:latin typeface="Calibri"/>
                  </a:rPr>
                  <a:t>  eyes: “blue”,</a:t>
                </a:r>
              </a:p>
              <a:p>
                <a:pPr marL="27905" eaLnBrk="1" fontAlgn="auto" hangingPunct="1">
                  <a:spcBef>
                    <a:spcPts val="0"/>
                  </a:spcBef>
                  <a:spcAft>
                    <a:spcPts val="0"/>
                  </a:spcAft>
                  <a:defRPr/>
                </a:pPr>
                <a:r>
                  <a:rPr lang="hu-HU" sz="1400" dirty="0">
                    <a:solidFill>
                      <a:schemeClr val="bg1"/>
                    </a:solidFill>
                    <a:latin typeface="Calibri"/>
                  </a:rPr>
                  <a:t>  loc: [40.7, 73.4],</a:t>
                </a:r>
                <a:endParaRPr lang="en-US" sz="1400" dirty="0">
                  <a:solidFill>
                    <a:schemeClr val="bg1"/>
                  </a:solidFill>
                  <a:latin typeface="Calibri"/>
                </a:endParaRPr>
              </a:p>
              <a:p>
                <a:pPr marL="27905" eaLnBrk="1" fontAlgn="auto" hangingPunct="1">
                  <a:spcBef>
                    <a:spcPts val="0"/>
                  </a:spcBef>
                  <a:spcAft>
                    <a:spcPts val="0"/>
                  </a:spcAft>
                  <a:defRPr/>
                </a:pPr>
                <a:r>
                  <a:rPr lang="hu-HU" sz="1400" dirty="0">
                    <a:solidFill>
                      <a:schemeClr val="bg1"/>
                    </a:solidFill>
                    <a:latin typeface="Calibri"/>
                  </a:rPr>
                  <a:t>  </a:t>
                </a:r>
                <a:r>
                  <a:rPr lang="en-US" sz="1400" dirty="0">
                    <a:solidFill>
                      <a:schemeClr val="bg1"/>
                    </a:solidFill>
                    <a:latin typeface="Calibri"/>
                  </a:rPr>
                  <a:t>boss: “ben”</a:t>
                </a:r>
                <a:r>
                  <a:rPr lang="hu-HU" sz="1400" dirty="0">
                    <a:solidFill>
                      <a:schemeClr val="bg1"/>
                    </a:solidFill>
                    <a:latin typeface="Calibri"/>
                  </a:rPr>
                  <a:t>}</a:t>
                </a:r>
              </a:p>
              <a:p>
                <a:pPr marL="27905" eaLnBrk="1" fontAlgn="auto" hangingPunct="1">
                  <a:spcBef>
                    <a:spcPts val="0"/>
                  </a:spcBef>
                  <a:spcAft>
                    <a:spcPts val="0"/>
                  </a:spcAft>
                  <a:defRPr/>
                </a:pPr>
                <a:endParaRPr lang="hu-HU" sz="1400" dirty="0">
                  <a:solidFill>
                    <a:schemeClr val="bg1"/>
                  </a:solidFill>
                  <a:latin typeface="Calibri"/>
                </a:endParaRPr>
              </a:p>
            </p:txBody>
          </p:sp>
        </p:grpSp>
        <p:grpSp>
          <p:nvGrpSpPr>
            <p:cNvPr id="42" name="Group 49">
              <a:extLst>
                <a:ext uri="{FF2B5EF4-FFF2-40B4-BE49-F238E27FC236}">
                  <a16:creationId xmlns:a16="http://schemas.microsoft.com/office/drawing/2014/main" id="{C0E72036-2355-4C59-A7B2-6C33A0046A74}"/>
                </a:ext>
              </a:extLst>
            </p:cNvPr>
            <p:cNvGrpSpPr>
              <a:grpSpLocks/>
            </p:cNvGrpSpPr>
            <p:nvPr/>
          </p:nvGrpSpPr>
          <p:grpSpPr bwMode="auto">
            <a:xfrm>
              <a:off x="5836630" y="2106422"/>
              <a:ext cx="2514548" cy="1017588"/>
              <a:chOff x="5407257" y="2467593"/>
              <a:chExt cx="2057247" cy="787950"/>
            </a:xfrm>
          </p:grpSpPr>
          <p:sp>
            <p:nvSpPr>
              <p:cNvPr id="74" name="Document 56">
                <a:extLst>
                  <a:ext uri="{FF2B5EF4-FFF2-40B4-BE49-F238E27FC236}">
                    <a16:creationId xmlns:a16="http://schemas.microsoft.com/office/drawing/2014/main" id="{300831AF-6985-4BDA-A7DF-23A8DAEEDBD2}"/>
                  </a:ext>
                </a:extLst>
              </p:cNvPr>
              <p:cNvSpPr/>
              <p:nvPr/>
            </p:nvSpPr>
            <p:spPr bwMode="auto">
              <a:xfrm>
                <a:off x="5407257" y="2467593"/>
                <a:ext cx="1674455" cy="787950"/>
              </a:xfrm>
              <a:prstGeom prst="flowChartDocument">
                <a:avLst/>
              </a:prstGeom>
              <a:ln>
                <a:solidFill>
                  <a:schemeClr val="tx2"/>
                </a:solid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64291" tIns="32146" rIns="64291" bIns="32146"/>
              <a:lstStyle/>
              <a:p>
                <a:pPr algn="ctr" defTabSz="642915" eaLnBrk="1" hangingPunct="1">
                  <a:defRPr/>
                </a:pPr>
                <a:endParaRPr lang="en-US" sz="3000">
                  <a:solidFill>
                    <a:srgbClr val="FFFFFF"/>
                  </a:solidFill>
                  <a:latin typeface="Gill Sans" pitchFamily="-65" charset="0"/>
                  <a:ea typeface="ヒラギノ角ゴ ProN W3" pitchFamily="-65" charset="-128"/>
                  <a:cs typeface="ヒラギノ角ゴ ProN W3" pitchFamily="-65" charset="-128"/>
                  <a:sym typeface="Gill Sans" pitchFamily="-65" charset="0"/>
                </a:endParaRPr>
              </a:p>
            </p:txBody>
          </p:sp>
          <p:sp>
            <p:nvSpPr>
              <p:cNvPr id="75" name="Rectangle 57">
                <a:extLst>
                  <a:ext uri="{FF2B5EF4-FFF2-40B4-BE49-F238E27FC236}">
                    <a16:creationId xmlns:a16="http://schemas.microsoft.com/office/drawing/2014/main" id="{C85B3EAB-5DB6-477D-A702-3C57865EDA57}"/>
                  </a:ext>
                </a:extLst>
              </p:cNvPr>
              <p:cNvSpPr>
                <a:spLocks noChangeArrowheads="1"/>
              </p:cNvSpPr>
              <p:nvPr/>
            </p:nvSpPr>
            <p:spPr bwMode="auto">
              <a:xfrm>
                <a:off x="5521509" y="2607729"/>
                <a:ext cx="1942995" cy="550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291" tIns="32146" rIns="64291" bIns="32146">
                <a:spAutoFit/>
              </a:bodyPr>
              <a:lstStyle>
                <a:lvl1pPr marL="26988">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dirty="0">
                    <a:solidFill>
                      <a:schemeClr val="bg1"/>
                    </a:solidFill>
                    <a:latin typeface="Calibri" panose="020F0502020204030204" pitchFamily="34" charset="0"/>
                  </a:rPr>
                  <a:t>{name: “</a:t>
                </a:r>
                <a:r>
                  <a:rPr lang="en-US" altLang="en-US" sz="1400" dirty="0" err="1">
                    <a:solidFill>
                      <a:schemeClr val="bg1"/>
                    </a:solidFill>
                    <a:latin typeface="Calibri" panose="020F0502020204030204" pitchFamily="34" charset="0"/>
                  </a:rPr>
                  <a:t>brendan</a:t>
                </a:r>
                <a:r>
                  <a:rPr lang="en-US" altLang="en-US" sz="1400" dirty="0">
                    <a:solidFill>
                      <a:schemeClr val="bg1"/>
                    </a:solidFill>
                    <a:latin typeface="Calibri" panose="020F0502020204030204" pitchFamily="34" charset="0"/>
                  </a:rPr>
                  <a:t>”,</a:t>
                </a:r>
              </a:p>
              <a:p>
                <a:pPr eaLnBrk="1" hangingPunct="1"/>
                <a:r>
                  <a:rPr lang="hu-HU" altLang="en-US" sz="1400" dirty="0">
                    <a:solidFill>
                      <a:schemeClr val="bg1"/>
                    </a:solidFill>
                    <a:latin typeface="Calibri" panose="020F0502020204030204" pitchFamily="34" charset="0"/>
                  </a:rPr>
                  <a:t>  </a:t>
                </a:r>
                <a:r>
                  <a:rPr lang="hu-HU" sz="1400" dirty="0">
                    <a:solidFill>
                      <a:schemeClr val="bg1"/>
                    </a:solidFill>
                    <a:latin typeface="Calibri"/>
                  </a:rPr>
                  <a:t> </a:t>
                </a:r>
                <a:r>
                  <a:rPr lang="en-US" sz="1400" dirty="0">
                    <a:solidFill>
                      <a:schemeClr val="bg1"/>
                    </a:solidFill>
                    <a:latin typeface="Calibri"/>
                  </a:rPr>
                  <a:t>boss: “will”</a:t>
                </a:r>
                <a:r>
                  <a:rPr lang="hu-HU" altLang="en-US" sz="1400" dirty="0">
                    <a:solidFill>
                      <a:schemeClr val="bg1"/>
                    </a:solidFill>
                    <a:latin typeface="Calibri" panose="020F0502020204030204" pitchFamily="34" charset="0"/>
                  </a:rPr>
                  <a:t>}</a:t>
                </a:r>
              </a:p>
              <a:p>
                <a:pPr eaLnBrk="1" hangingPunct="1"/>
                <a:endParaRPr lang="hu-HU" altLang="en-US" sz="1400" dirty="0">
                  <a:solidFill>
                    <a:schemeClr val="bg1"/>
                  </a:solidFill>
                  <a:latin typeface="Calibri" panose="020F0502020204030204" pitchFamily="34" charset="0"/>
                </a:endParaRPr>
              </a:p>
            </p:txBody>
          </p:sp>
        </p:grpSp>
        <p:grpSp>
          <p:nvGrpSpPr>
            <p:cNvPr id="43" name="Group 50">
              <a:extLst>
                <a:ext uri="{FF2B5EF4-FFF2-40B4-BE49-F238E27FC236}">
                  <a16:creationId xmlns:a16="http://schemas.microsoft.com/office/drawing/2014/main" id="{9CE4FC42-CD34-43AA-B4A1-63E66A643026}"/>
                </a:ext>
              </a:extLst>
            </p:cNvPr>
            <p:cNvGrpSpPr>
              <a:grpSpLocks/>
            </p:cNvGrpSpPr>
            <p:nvPr/>
          </p:nvGrpSpPr>
          <p:grpSpPr bwMode="auto">
            <a:xfrm>
              <a:off x="3313437" y="3883338"/>
              <a:ext cx="2269607" cy="1029682"/>
              <a:chOff x="5442162" y="2520533"/>
              <a:chExt cx="1758295" cy="797315"/>
            </a:xfrm>
          </p:grpSpPr>
          <p:sp>
            <p:nvSpPr>
              <p:cNvPr id="72" name="Document 54">
                <a:extLst>
                  <a:ext uri="{FF2B5EF4-FFF2-40B4-BE49-F238E27FC236}">
                    <a16:creationId xmlns:a16="http://schemas.microsoft.com/office/drawing/2014/main" id="{8359B0B8-825D-40E2-A604-DE12408C02DA}"/>
                  </a:ext>
                </a:extLst>
              </p:cNvPr>
              <p:cNvSpPr/>
              <p:nvPr/>
            </p:nvSpPr>
            <p:spPr bwMode="auto">
              <a:xfrm>
                <a:off x="5442162" y="2520533"/>
                <a:ext cx="1706640" cy="786721"/>
              </a:xfrm>
              <a:prstGeom prst="flowChartDocument">
                <a:avLst/>
              </a:prstGeom>
              <a:ln>
                <a:solidFill>
                  <a:schemeClr val="tx2"/>
                </a:solid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64291" tIns="32146" rIns="64291" bIns="32146"/>
              <a:lstStyle/>
              <a:p>
                <a:pPr algn="ctr" defTabSz="642915" eaLnBrk="1" hangingPunct="1">
                  <a:defRPr/>
                </a:pPr>
                <a:endParaRPr lang="en-US" sz="3000">
                  <a:solidFill>
                    <a:srgbClr val="FFFFFF"/>
                  </a:solidFill>
                  <a:latin typeface="Gill Sans" pitchFamily="-65" charset="0"/>
                  <a:ea typeface="ヒラギノ角ゴ ProN W3" pitchFamily="-65" charset="-128"/>
                  <a:cs typeface="ヒラギノ角ゴ ProN W3" pitchFamily="-65" charset="-128"/>
                  <a:sym typeface="Gill Sans" pitchFamily="-65" charset="0"/>
                </a:endParaRPr>
              </a:p>
            </p:txBody>
          </p:sp>
          <p:sp>
            <p:nvSpPr>
              <p:cNvPr id="73" name="Rectangle 72">
                <a:extLst>
                  <a:ext uri="{FF2B5EF4-FFF2-40B4-BE49-F238E27FC236}">
                    <a16:creationId xmlns:a16="http://schemas.microsoft.com/office/drawing/2014/main" id="{73B43B34-504B-4A54-B1B2-9900FA83F981}"/>
                  </a:ext>
                </a:extLst>
              </p:cNvPr>
              <p:cNvSpPr/>
              <p:nvPr/>
            </p:nvSpPr>
            <p:spPr>
              <a:xfrm>
                <a:off x="5633394" y="2624111"/>
                <a:ext cx="1567063" cy="693737"/>
              </a:xfrm>
              <a:prstGeom prst="rect">
                <a:avLst/>
              </a:prstGeom>
              <a:ln>
                <a:noFill/>
              </a:ln>
            </p:spPr>
            <p:txBody>
              <a:bodyPr wrap="square" lIns="64291" tIns="32146" rIns="64291" bIns="32146">
                <a:spAutoFit/>
              </a:bodyPr>
              <a:lstStyle/>
              <a:p>
                <a:pPr marL="27905" eaLnBrk="1" fontAlgn="auto" hangingPunct="1">
                  <a:spcBef>
                    <a:spcPts val="0"/>
                  </a:spcBef>
                  <a:spcAft>
                    <a:spcPts val="0"/>
                  </a:spcAft>
                  <a:defRPr/>
                </a:pPr>
                <a:r>
                  <a:rPr lang="en-US" dirty="0">
                    <a:ln>
                      <a:solidFill>
                        <a:srgbClr val="675E47">
                          <a:lumMod val="10000"/>
                        </a:srgbClr>
                      </a:solidFill>
                    </a:ln>
                    <a:solidFill>
                      <a:schemeClr val="bg1"/>
                    </a:solidFill>
                    <a:latin typeface="Calibri"/>
                  </a:rPr>
                  <a:t>{</a:t>
                </a:r>
                <a:r>
                  <a:rPr lang="en-US" dirty="0">
                    <a:solidFill>
                      <a:schemeClr val="bg1"/>
                    </a:solidFill>
                    <a:latin typeface="Calibri"/>
                  </a:rPr>
                  <a:t>name: “ben”,</a:t>
                </a:r>
              </a:p>
              <a:p>
                <a:pPr marL="27905" eaLnBrk="1" fontAlgn="auto" hangingPunct="1">
                  <a:spcBef>
                    <a:spcPts val="0"/>
                  </a:spcBef>
                  <a:spcAft>
                    <a:spcPts val="0"/>
                  </a:spcAft>
                  <a:defRPr/>
                </a:pPr>
                <a:r>
                  <a:rPr lang="hu-HU" dirty="0">
                    <a:solidFill>
                      <a:schemeClr val="bg1"/>
                    </a:solidFill>
                    <a:latin typeface="Calibri"/>
                  </a:rPr>
                  <a:t>  </a:t>
                </a:r>
                <a:r>
                  <a:rPr lang="en-US" dirty="0">
                    <a:solidFill>
                      <a:schemeClr val="bg1"/>
                    </a:solidFill>
                    <a:latin typeface="Calibri"/>
                  </a:rPr>
                  <a:t>age:25</a:t>
                </a:r>
                <a:r>
                  <a:rPr lang="hu-HU" dirty="0">
                    <a:solidFill>
                      <a:schemeClr val="bg1"/>
                    </a:solidFill>
                    <a:latin typeface="Calibri"/>
                  </a:rPr>
                  <a:t>}</a:t>
                </a:r>
              </a:p>
              <a:p>
                <a:pPr marL="27905" eaLnBrk="1" fontAlgn="auto" hangingPunct="1">
                  <a:spcBef>
                    <a:spcPts val="0"/>
                  </a:spcBef>
                  <a:spcAft>
                    <a:spcPts val="0"/>
                  </a:spcAft>
                  <a:defRPr/>
                </a:pPr>
                <a:endParaRPr lang="hu-HU" dirty="0">
                  <a:solidFill>
                    <a:schemeClr val="bg1"/>
                  </a:solidFill>
                  <a:latin typeface="Calibri"/>
                </a:endParaRPr>
              </a:p>
            </p:txBody>
          </p:sp>
        </p:grpSp>
        <p:grpSp>
          <p:nvGrpSpPr>
            <p:cNvPr id="44" name="Group 51">
              <a:extLst>
                <a:ext uri="{FF2B5EF4-FFF2-40B4-BE49-F238E27FC236}">
                  <a16:creationId xmlns:a16="http://schemas.microsoft.com/office/drawing/2014/main" id="{23868B85-4EF9-4327-A0DA-00201335C7FD}"/>
                </a:ext>
              </a:extLst>
            </p:cNvPr>
            <p:cNvGrpSpPr>
              <a:grpSpLocks/>
            </p:cNvGrpSpPr>
            <p:nvPr/>
          </p:nvGrpSpPr>
          <p:grpSpPr bwMode="auto">
            <a:xfrm>
              <a:off x="5818251" y="3259865"/>
              <a:ext cx="2408192" cy="1514475"/>
              <a:chOff x="3257328" y="2395434"/>
              <a:chExt cx="1926486" cy="1432759"/>
            </a:xfrm>
          </p:grpSpPr>
          <p:sp>
            <p:nvSpPr>
              <p:cNvPr id="70" name="Document 52">
                <a:extLst>
                  <a:ext uri="{FF2B5EF4-FFF2-40B4-BE49-F238E27FC236}">
                    <a16:creationId xmlns:a16="http://schemas.microsoft.com/office/drawing/2014/main" id="{FDC49234-7C13-46BD-A5D1-4A95C2A4E775}"/>
                  </a:ext>
                </a:extLst>
              </p:cNvPr>
              <p:cNvSpPr/>
              <p:nvPr/>
            </p:nvSpPr>
            <p:spPr bwMode="auto">
              <a:xfrm>
                <a:off x="3257328" y="2395434"/>
                <a:ext cx="1830292" cy="1432759"/>
              </a:xfrm>
              <a:prstGeom prst="flowChartDocument">
                <a:avLst/>
              </a:prstGeom>
              <a:ln>
                <a:solidFill>
                  <a:schemeClr val="tx2"/>
                </a:solid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64291" tIns="32146" rIns="64291" bIns="32146"/>
              <a:lstStyle/>
              <a:p>
                <a:pPr algn="ctr" defTabSz="642915" eaLnBrk="1" hangingPunct="1">
                  <a:defRPr/>
                </a:pPr>
                <a:endParaRPr lang="en-US" sz="3000">
                  <a:solidFill>
                    <a:srgbClr val="FFFFFF"/>
                  </a:solidFill>
                  <a:latin typeface="Gill Sans" pitchFamily="-65" charset="0"/>
                  <a:ea typeface="ヒラギノ角ゴ ProN W3" pitchFamily="-65" charset="-128"/>
                  <a:cs typeface="ヒラギノ角ゴ ProN W3" pitchFamily="-65" charset="-128"/>
                  <a:sym typeface="Gill Sans" pitchFamily="-65" charset="0"/>
                </a:endParaRPr>
              </a:p>
            </p:txBody>
          </p:sp>
          <p:sp>
            <p:nvSpPr>
              <p:cNvPr id="71" name="Rectangle 53">
                <a:extLst>
                  <a:ext uri="{FF2B5EF4-FFF2-40B4-BE49-F238E27FC236}">
                    <a16:creationId xmlns:a16="http://schemas.microsoft.com/office/drawing/2014/main" id="{D6964B85-1E35-4728-B3AC-554906C2910D}"/>
                  </a:ext>
                </a:extLst>
              </p:cNvPr>
              <p:cNvSpPr>
                <a:spLocks noChangeAspect="1"/>
              </p:cNvSpPr>
              <p:nvPr/>
            </p:nvSpPr>
            <p:spPr bwMode="auto">
              <a:xfrm>
                <a:off x="3378020" y="2441659"/>
                <a:ext cx="1805794" cy="1371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91" tIns="32146" rIns="64291" bIns="32146">
                <a:spAutoFit/>
              </a:bodyPr>
              <a:lstStyle>
                <a:lvl1pPr marL="26988">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chemeClr val="bg1"/>
                    </a:solidFill>
                    <a:latin typeface="Calibri" panose="020F0502020204030204" pitchFamily="34" charset="0"/>
                  </a:rPr>
                  <a:t>{name: “matt”,</a:t>
                </a:r>
              </a:p>
              <a:p>
                <a:pPr eaLnBrk="1" hangingPunct="1"/>
                <a:r>
                  <a:rPr lang="en-US" altLang="en-US" dirty="0">
                    <a:solidFill>
                      <a:schemeClr val="bg1"/>
                    </a:solidFill>
                    <a:latin typeface="Calibri" panose="020F0502020204030204" pitchFamily="34" charset="0"/>
                  </a:rPr>
                  <a:t>  weight:60,</a:t>
                </a:r>
              </a:p>
              <a:p>
                <a:pPr eaLnBrk="1" hangingPunct="1"/>
                <a:r>
                  <a:rPr lang="en-US" altLang="en-US" dirty="0">
                    <a:solidFill>
                      <a:schemeClr val="bg1"/>
                    </a:solidFill>
                    <a:latin typeface="Calibri" panose="020F0502020204030204" pitchFamily="34" charset="0"/>
                  </a:rPr>
                  <a:t>  height: 72,</a:t>
                </a:r>
              </a:p>
              <a:p>
                <a:pPr eaLnBrk="1" hangingPunct="1"/>
                <a:r>
                  <a:rPr lang="hu-HU" altLang="en-US" dirty="0">
                    <a:solidFill>
                      <a:schemeClr val="bg1"/>
                    </a:solidFill>
                    <a:latin typeface="Calibri" panose="020F0502020204030204" pitchFamily="34" charset="0"/>
                  </a:rPr>
                  <a:t>  loc: [44.6, 71.3]}</a:t>
                </a:r>
              </a:p>
              <a:p>
                <a:pPr eaLnBrk="1" hangingPunct="1"/>
                <a:endParaRPr lang="hu-HU" altLang="en-US" dirty="0">
                  <a:solidFill>
                    <a:schemeClr val="bg1"/>
                  </a:solidFill>
                  <a:latin typeface="Calibri" panose="020F0502020204030204" pitchFamily="34" charset="0"/>
                </a:endParaRPr>
              </a:p>
            </p:txBody>
          </p:sp>
        </p:grpSp>
        <p:sp>
          <p:nvSpPr>
            <p:cNvPr id="48" name="Rectangle 15">
              <a:extLst>
                <a:ext uri="{FF2B5EF4-FFF2-40B4-BE49-F238E27FC236}">
                  <a16:creationId xmlns:a16="http://schemas.microsoft.com/office/drawing/2014/main" id="{05C63FC3-10EF-4B6A-B950-6AFED1A015D1}"/>
                </a:ext>
              </a:extLst>
            </p:cNvPr>
            <p:cNvSpPr>
              <a:spLocks noChangeArrowheads="1"/>
            </p:cNvSpPr>
            <p:nvPr/>
          </p:nvSpPr>
          <p:spPr bwMode="auto">
            <a:xfrm>
              <a:off x="848603" y="2182267"/>
              <a:ext cx="3071246"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988">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dirty="0">
                  <a:solidFill>
                    <a:schemeClr val="bg1"/>
                  </a:solidFill>
                </a:rPr>
                <a:t>{name: “will”,</a:t>
              </a:r>
            </a:p>
            <a:p>
              <a:pPr eaLnBrk="1" hangingPunct="1"/>
              <a:r>
                <a:rPr lang="en-US" altLang="en-US" sz="1400" dirty="0">
                  <a:solidFill>
                    <a:schemeClr val="bg1"/>
                  </a:solidFill>
                </a:rPr>
                <a:t>  eyes: “blue”,</a:t>
              </a:r>
            </a:p>
            <a:p>
              <a:pPr eaLnBrk="1" hangingPunct="1"/>
              <a:r>
                <a:rPr lang="en-US" altLang="en-US" sz="1400" dirty="0">
                  <a:solidFill>
                    <a:schemeClr val="bg1"/>
                  </a:solidFill>
                </a:rPr>
                <a:t>  birthplace: “NY”,</a:t>
              </a:r>
            </a:p>
            <a:p>
              <a:pPr eaLnBrk="1" hangingPunct="1"/>
              <a:r>
                <a:rPr lang="hu-HU" altLang="en-US" sz="1400" dirty="0">
                  <a:solidFill>
                    <a:schemeClr val="bg1"/>
                  </a:solidFill>
                </a:rPr>
                <a:t>  aliases: [“bill”, “</a:t>
              </a:r>
              <a:r>
                <a:rPr lang="en-US" altLang="en-US" sz="1400" dirty="0">
                  <a:solidFill>
                    <a:schemeClr val="bg1"/>
                  </a:solidFill>
                </a:rPr>
                <a:t>ben</a:t>
              </a:r>
              <a:r>
                <a:rPr lang="hu-HU" altLang="en-US" sz="1400" dirty="0">
                  <a:solidFill>
                    <a:schemeClr val="bg1"/>
                  </a:solidFill>
                </a:rPr>
                <a:t>”],</a:t>
              </a:r>
            </a:p>
            <a:p>
              <a:pPr eaLnBrk="1" hangingPunct="1"/>
              <a:r>
                <a:rPr lang="hu-HU" altLang="en-US" sz="1400" dirty="0">
                  <a:solidFill>
                    <a:schemeClr val="bg1"/>
                  </a:solidFill>
                </a:rPr>
                <a:t>  loc: [32.7, 63.4],</a:t>
              </a:r>
            </a:p>
            <a:p>
              <a:pPr eaLnBrk="1" hangingPunct="1"/>
              <a:r>
                <a:rPr lang="hu-HU" altLang="en-US" sz="1400" dirty="0">
                  <a:solidFill>
                    <a:schemeClr val="bg1"/>
                  </a:solidFill>
                </a:rPr>
                <a:t>  boss: ”ben”}</a:t>
              </a:r>
            </a:p>
          </p:txBody>
        </p:sp>
      </p:grpSp>
      <p:sp>
        <p:nvSpPr>
          <p:cNvPr id="80" name="Text Placeholder 1">
            <a:extLst>
              <a:ext uri="{FF2B5EF4-FFF2-40B4-BE49-F238E27FC236}">
                <a16:creationId xmlns:a16="http://schemas.microsoft.com/office/drawing/2014/main" id="{26841B80-C52A-4DFF-858C-69AC6E94FAB1}"/>
              </a:ext>
            </a:extLst>
          </p:cNvPr>
          <p:cNvSpPr txBox="1">
            <a:spLocks/>
          </p:cNvSpPr>
          <p:nvPr/>
        </p:nvSpPr>
        <p:spPr>
          <a:xfrm>
            <a:off x="195447" y="1434824"/>
            <a:ext cx="3271803" cy="724247"/>
          </a:xfrm>
          <a:prstGeom prst="rect">
            <a:avLst/>
          </a:prstGeom>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800" dirty="0">
                <a:solidFill>
                  <a:schemeClr val="accent3"/>
                </a:solidFill>
                <a:latin typeface="Calibri" panose="020F0502020204030204" pitchFamily="34" charset="0"/>
              </a:rPr>
              <a:t>Scheme Free</a:t>
            </a:r>
            <a:endParaRPr lang="zh-CN" altLang="zh-CN" sz="2800" dirty="0">
              <a:solidFill>
                <a:schemeClr val="accent3"/>
              </a:solidFill>
              <a:latin typeface="Calibri" panose="020F0502020204030204" pitchFamily="34" charset="0"/>
            </a:endParaRPr>
          </a:p>
        </p:txBody>
      </p:sp>
    </p:spTree>
    <p:extLst>
      <p:ext uri="{BB962C8B-B14F-4D97-AF65-F5344CB8AC3E}">
        <p14:creationId xmlns:p14="http://schemas.microsoft.com/office/powerpoint/2010/main" val="2448742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16">
            <a:extLst>
              <a:ext uri="{FF2B5EF4-FFF2-40B4-BE49-F238E27FC236}">
                <a16:creationId xmlns:a16="http://schemas.microsoft.com/office/drawing/2014/main" id="{8D4310E1-3B0E-4BB6-BB7C-F54A7503EA98}"/>
              </a:ext>
            </a:extLst>
          </p:cNvPr>
          <p:cNvSpPr/>
          <p:nvPr/>
        </p:nvSpPr>
        <p:spPr>
          <a:xfrm rot="2700000">
            <a:off x="3895195" y="3640429"/>
            <a:ext cx="298064" cy="534373"/>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88" name="Teardrop 1">
            <a:extLst>
              <a:ext uri="{FF2B5EF4-FFF2-40B4-BE49-F238E27FC236}">
                <a16:creationId xmlns:a16="http://schemas.microsoft.com/office/drawing/2014/main" id="{55AB887A-9899-412F-A87A-6C68DA1273F3}"/>
              </a:ext>
            </a:extLst>
          </p:cNvPr>
          <p:cNvSpPr/>
          <p:nvPr/>
        </p:nvSpPr>
        <p:spPr>
          <a:xfrm rot="18805991">
            <a:off x="5906366" y="3695853"/>
            <a:ext cx="422416" cy="418009"/>
          </a:xfrm>
          <a:custGeom>
            <a:avLst/>
            <a:gdLst/>
            <a:ahLst/>
            <a:cxnLst/>
            <a:rect l="l" t="t" r="r" b="b"/>
            <a:pathLst>
              <a:path w="1807241" h="1788383">
                <a:moveTo>
                  <a:pt x="712876" y="1117592"/>
                </a:moveTo>
                <a:cubicBezTo>
                  <a:pt x="771173" y="1181828"/>
                  <a:pt x="811089" y="1255910"/>
                  <a:pt x="847925" y="1348018"/>
                </a:cubicBezTo>
                <a:cubicBezTo>
                  <a:pt x="814544" y="1418896"/>
                  <a:pt x="753893" y="1474052"/>
                  <a:pt x="679064" y="1498332"/>
                </a:cubicBezTo>
                <a:lnTo>
                  <a:pt x="308226" y="1106637"/>
                </a:lnTo>
                <a:cubicBezTo>
                  <a:pt x="336560" y="1033247"/>
                  <a:pt x="394949" y="975701"/>
                  <a:pt x="467546" y="946245"/>
                </a:cubicBezTo>
                <a:cubicBezTo>
                  <a:pt x="577903" y="998968"/>
                  <a:pt x="654580" y="1053357"/>
                  <a:pt x="712876" y="1117592"/>
                </a:cubicBezTo>
                <a:close/>
                <a:moveTo>
                  <a:pt x="1038527" y="398886"/>
                </a:moveTo>
                <a:lnTo>
                  <a:pt x="1405560" y="786562"/>
                </a:lnTo>
                <a:cubicBezTo>
                  <a:pt x="1374476" y="799049"/>
                  <a:pt x="1340402" y="804299"/>
                  <a:pt x="1305054" y="803332"/>
                </a:cubicBezTo>
                <a:lnTo>
                  <a:pt x="1008167" y="795212"/>
                </a:lnTo>
                <a:lnTo>
                  <a:pt x="1016288" y="498325"/>
                </a:lnTo>
                <a:cubicBezTo>
                  <a:pt x="1017255" y="462976"/>
                  <a:pt x="1024360" y="429240"/>
                  <a:pt x="1038527" y="398886"/>
                </a:cubicBezTo>
                <a:close/>
                <a:moveTo>
                  <a:pt x="1097925" y="218888"/>
                </a:moveTo>
                <a:cubicBezTo>
                  <a:pt x="992582" y="279303"/>
                  <a:pt x="921871" y="392886"/>
                  <a:pt x="921053" y="523256"/>
                </a:cubicBezTo>
                <a:lnTo>
                  <a:pt x="919136" y="828763"/>
                </a:lnTo>
                <a:lnTo>
                  <a:pt x="830924" y="915875"/>
                </a:lnTo>
                <a:lnTo>
                  <a:pt x="525417" y="913958"/>
                </a:lnTo>
                <a:cubicBezTo>
                  <a:pt x="403891" y="913196"/>
                  <a:pt x="296188" y="973343"/>
                  <a:pt x="234366" y="1067831"/>
                </a:cubicBezTo>
                <a:lnTo>
                  <a:pt x="710285" y="1570519"/>
                </a:lnTo>
                <a:cubicBezTo>
                  <a:pt x="811872" y="1510375"/>
                  <a:pt x="878808" y="1399439"/>
                  <a:pt x="879603" y="1272618"/>
                </a:cubicBezTo>
                <a:lnTo>
                  <a:pt x="881520" y="967111"/>
                </a:lnTo>
                <a:lnTo>
                  <a:pt x="969732" y="879999"/>
                </a:lnTo>
                <a:lnTo>
                  <a:pt x="1275239" y="881916"/>
                </a:lnTo>
                <a:cubicBezTo>
                  <a:pt x="1400271" y="882701"/>
                  <a:pt x="1510670" y="819011"/>
                  <a:pt x="1573529" y="721242"/>
                </a:cubicBezTo>
                <a:close/>
                <a:moveTo>
                  <a:pt x="1162945" y="27894"/>
                </a:moveTo>
                <a:lnTo>
                  <a:pt x="1782798" y="682611"/>
                </a:lnTo>
                <a:cubicBezTo>
                  <a:pt x="1816692" y="718411"/>
                  <a:pt x="1815147" y="774907"/>
                  <a:pt x="1779347" y="808801"/>
                </a:cubicBezTo>
                <a:cubicBezTo>
                  <a:pt x="1743547" y="842694"/>
                  <a:pt x="1687050" y="841149"/>
                  <a:pt x="1653157" y="805349"/>
                </a:cubicBezTo>
                <a:lnTo>
                  <a:pt x="1644015" y="795693"/>
                </a:lnTo>
                <a:cubicBezTo>
                  <a:pt x="1561789" y="910282"/>
                  <a:pt x="1426630" y="983636"/>
                  <a:pt x="1274606" y="982683"/>
                </a:cubicBezTo>
                <a:lnTo>
                  <a:pt x="980378" y="980836"/>
                </a:lnTo>
                <a:lnTo>
                  <a:pt x="980378" y="1270380"/>
                </a:lnTo>
                <a:cubicBezTo>
                  <a:pt x="980378" y="1427425"/>
                  <a:pt x="901198" y="1565976"/>
                  <a:pt x="779756" y="1647056"/>
                </a:cubicBezTo>
                <a:cubicBezTo>
                  <a:pt x="807405" y="1681913"/>
                  <a:pt x="803595" y="1732594"/>
                  <a:pt x="770486" y="1763941"/>
                </a:cubicBezTo>
                <a:cubicBezTo>
                  <a:pt x="734686" y="1797834"/>
                  <a:pt x="678189" y="1796289"/>
                  <a:pt x="644296" y="1760489"/>
                </a:cubicBezTo>
                <a:lnTo>
                  <a:pt x="24442" y="1105772"/>
                </a:lnTo>
                <a:cubicBezTo>
                  <a:pt x="-9451" y="1069973"/>
                  <a:pt x="-7906" y="1013476"/>
                  <a:pt x="27894" y="979583"/>
                </a:cubicBezTo>
                <a:cubicBezTo>
                  <a:pt x="63694" y="945689"/>
                  <a:pt x="120190" y="947235"/>
                  <a:pt x="154084" y="983034"/>
                </a:cubicBezTo>
                <a:lnTo>
                  <a:pt x="163237" y="992702"/>
                </a:lnTo>
                <a:cubicBezTo>
                  <a:pt x="244774" y="882877"/>
                  <a:pt x="375836" y="813180"/>
                  <a:pt x="523178" y="813180"/>
                </a:cubicBezTo>
                <a:lnTo>
                  <a:pt x="818460" y="813180"/>
                </a:lnTo>
                <a:lnTo>
                  <a:pt x="820284" y="522622"/>
                </a:lnTo>
                <a:cubicBezTo>
                  <a:pt x="821285" y="363119"/>
                  <a:pt x="903845" y="223207"/>
                  <a:pt x="1028952" y="143673"/>
                </a:cubicBezTo>
                <a:cubicBezTo>
                  <a:pt x="999689" y="108599"/>
                  <a:pt x="1002953" y="56445"/>
                  <a:pt x="1036755" y="24443"/>
                </a:cubicBezTo>
                <a:cubicBezTo>
                  <a:pt x="1072555" y="-9451"/>
                  <a:pt x="1129052" y="-7906"/>
                  <a:pt x="1162945" y="278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sp>
        <p:nvSpPr>
          <p:cNvPr id="89" name="Rectangle 130">
            <a:extLst>
              <a:ext uri="{FF2B5EF4-FFF2-40B4-BE49-F238E27FC236}">
                <a16:creationId xmlns:a16="http://schemas.microsoft.com/office/drawing/2014/main" id="{E9F6910D-08B2-448E-9CBD-AF3616A1DD34}"/>
              </a:ext>
            </a:extLst>
          </p:cNvPr>
          <p:cNvSpPr/>
          <p:nvPr/>
        </p:nvSpPr>
        <p:spPr>
          <a:xfrm>
            <a:off x="7986107" y="3713707"/>
            <a:ext cx="379301" cy="381023"/>
          </a:xfrm>
          <a:custGeom>
            <a:avLst/>
            <a:gdLst/>
            <a:ahLst/>
            <a:cxnLst/>
            <a:rect l="l" t="t" r="r" b="b"/>
            <a:pathLst>
              <a:path w="371900" h="373588">
                <a:moveTo>
                  <a:pt x="297080" y="129105"/>
                </a:moveTo>
                <a:lnTo>
                  <a:pt x="284273" y="219737"/>
                </a:lnTo>
                <a:lnTo>
                  <a:pt x="305496" y="219737"/>
                </a:lnTo>
                <a:lnTo>
                  <a:pt x="333001" y="129105"/>
                </a:lnTo>
                <a:close/>
                <a:moveTo>
                  <a:pt x="228265" y="129105"/>
                </a:moveTo>
                <a:lnTo>
                  <a:pt x="228265" y="219737"/>
                </a:lnTo>
                <a:lnTo>
                  <a:pt x="250807" y="219737"/>
                </a:lnTo>
                <a:lnTo>
                  <a:pt x="263614" y="129105"/>
                </a:lnTo>
                <a:close/>
                <a:moveTo>
                  <a:pt x="157021" y="129105"/>
                </a:moveTo>
                <a:lnTo>
                  <a:pt x="175826" y="219737"/>
                </a:lnTo>
                <a:lnTo>
                  <a:pt x="195129" y="219737"/>
                </a:lnTo>
                <a:lnTo>
                  <a:pt x="195129" y="129105"/>
                </a:lnTo>
                <a:close/>
                <a:moveTo>
                  <a:pt x="93087" y="129105"/>
                </a:moveTo>
                <a:lnTo>
                  <a:pt x="117372" y="219737"/>
                </a:lnTo>
                <a:lnTo>
                  <a:pt x="141984" y="219737"/>
                </a:lnTo>
                <a:lnTo>
                  <a:pt x="123179" y="129105"/>
                </a:lnTo>
                <a:close/>
                <a:moveTo>
                  <a:pt x="58494" y="0"/>
                </a:moveTo>
                <a:lnTo>
                  <a:pt x="84208" y="95969"/>
                </a:lnTo>
                <a:lnTo>
                  <a:pt x="354346" y="95969"/>
                </a:lnTo>
                <a:lnTo>
                  <a:pt x="354346" y="97437"/>
                </a:lnTo>
                <a:cubicBezTo>
                  <a:pt x="356087" y="96136"/>
                  <a:pt x="357928" y="96353"/>
                  <a:pt x="359747" y="96905"/>
                </a:cubicBezTo>
                <a:lnTo>
                  <a:pt x="360371" y="97095"/>
                </a:lnTo>
                <a:cubicBezTo>
                  <a:pt x="368954" y="99700"/>
                  <a:pt x="373801" y="108770"/>
                  <a:pt x="371196" y="117354"/>
                </a:cubicBezTo>
                <a:lnTo>
                  <a:pt x="333339" y="242097"/>
                </a:lnTo>
                <a:cubicBezTo>
                  <a:pt x="331591" y="247858"/>
                  <a:pt x="326929" y="251935"/>
                  <a:pt x="321206" y="252122"/>
                </a:cubicBezTo>
                <a:lnTo>
                  <a:pt x="321206" y="252873"/>
                </a:lnTo>
                <a:lnTo>
                  <a:pt x="313576" y="252873"/>
                </a:lnTo>
                <a:cubicBezTo>
                  <a:pt x="313378" y="253010"/>
                  <a:pt x="313229" y="252967"/>
                  <a:pt x="313080" y="252922"/>
                </a:cubicBezTo>
                <a:lnTo>
                  <a:pt x="312919" y="252873"/>
                </a:lnTo>
                <a:lnTo>
                  <a:pt x="126251" y="252873"/>
                </a:lnTo>
                <a:lnTo>
                  <a:pt x="133971" y="281687"/>
                </a:lnTo>
                <a:lnTo>
                  <a:pt x="321075" y="281687"/>
                </a:lnTo>
                <a:lnTo>
                  <a:pt x="321075" y="314823"/>
                </a:lnTo>
                <a:lnTo>
                  <a:pt x="318480" y="314823"/>
                </a:lnTo>
                <a:cubicBezTo>
                  <a:pt x="329614" y="318311"/>
                  <a:pt x="336414" y="328969"/>
                  <a:pt x="336414" y="341215"/>
                </a:cubicBezTo>
                <a:cubicBezTo>
                  <a:pt x="336414" y="359094"/>
                  <a:pt x="321920" y="373588"/>
                  <a:pt x="304041" y="373588"/>
                </a:cubicBezTo>
                <a:cubicBezTo>
                  <a:pt x="286162" y="373588"/>
                  <a:pt x="271668" y="359094"/>
                  <a:pt x="271668" y="341215"/>
                </a:cubicBezTo>
                <a:cubicBezTo>
                  <a:pt x="271668" y="328969"/>
                  <a:pt x="278468" y="318311"/>
                  <a:pt x="289602" y="314823"/>
                </a:cubicBezTo>
                <a:lnTo>
                  <a:pt x="142850" y="314823"/>
                </a:lnTo>
                <a:lnTo>
                  <a:pt x="143397" y="316865"/>
                </a:lnTo>
                <a:cubicBezTo>
                  <a:pt x="151629" y="321811"/>
                  <a:pt x="156401" y="330956"/>
                  <a:pt x="156401" y="341215"/>
                </a:cubicBezTo>
                <a:cubicBezTo>
                  <a:pt x="156401" y="359094"/>
                  <a:pt x="141907" y="373588"/>
                  <a:pt x="124028" y="373588"/>
                </a:cubicBezTo>
                <a:cubicBezTo>
                  <a:pt x="106149" y="373588"/>
                  <a:pt x="91655" y="359094"/>
                  <a:pt x="91655" y="341215"/>
                </a:cubicBezTo>
                <a:cubicBezTo>
                  <a:pt x="91655" y="329356"/>
                  <a:pt x="98032" y="318986"/>
                  <a:pt x="108649" y="315212"/>
                </a:cubicBezTo>
                <a:lnTo>
                  <a:pt x="33542" y="34909"/>
                </a:lnTo>
                <a:lnTo>
                  <a:pt x="0" y="34909"/>
                </a:lnTo>
                <a:lnTo>
                  <a:pt x="0" y="1773"/>
                </a:lnTo>
                <a:lnTo>
                  <a:pt x="51879" y="177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pic>
        <p:nvPicPr>
          <p:cNvPr id="4" name="Picture 3" descr="Logo&#10;&#10;Description automatically generated">
            <a:extLst>
              <a:ext uri="{FF2B5EF4-FFF2-40B4-BE49-F238E27FC236}">
                <a16:creationId xmlns:a16="http://schemas.microsoft.com/office/drawing/2014/main" id="{460A0ECD-CEA0-47A1-A9A8-A9CB4D89B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5889" y="534849"/>
            <a:ext cx="2687061" cy="724247"/>
          </a:xfrm>
          <a:prstGeom prst="rect">
            <a:avLst/>
          </a:prstGeom>
        </p:spPr>
      </p:pic>
      <p:sp>
        <p:nvSpPr>
          <p:cNvPr id="8" name="Text Placeholder 1">
            <a:extLst>
              <a:ext uri="{FF2B5EF4-FFF2-40B4-BE49-F238E27FC236}">
                <a16:creationId xmlns:a16="http://schemas.microsoft.com/office/drawing/2014/main" id="{DE215665-D737-49D2-BE72-4AB6528C4855}"/>
              </a:ext>
            </a:extLst>
          </p:cNvPr>
          <p:cNvSpPr>
            <a:spLocks noGrp="1"/>
          </p:cNvSpPr>
          <p:nvPr>
            <p:ph type="body" sz="quarter" idx="10"/>
          </p:nvPr>
        </p:nvSpPr>
        <p:spPr>
          <a:xfrm>
            <a:off x="309401" y="591101"/>
            <a:ext cx="3440515" cy="724247"/>
          </a:xfrm>
        </p:spPr>
        <p:txBody>
          <a:bodyPr>
            <a:normAutofit fontScale="92500" lnSpcReduction="10000"/>
          </a:bodyPr>
          <a:lstStyle/>
          <a:p>
            <a:pPr algn="l" eaLnBrk="1" hangingPunct="1"/>
            <a:r>
              <a:rPr lang="en-US" altLang="zh-CN" sz="5400" dirty="0">
                <a:solidFill>
                  <a:schemeClr val="accent3"/>
                </a:solidFill>
                <a:latin typeface="Calibri" panose="020F0502020204030204" pitchFamily="34" charset="0"/>
              </a:rPr>
              <a:t>Features Of</a:t>
            </a:r>
            <a:endParaRPr lang="zh-CN" altLang="zh-CN" sz="5400" dirty="0">
              <a:solidFill>
                <a:schemeClr val="accent3"/>
              </a:solidFill>
              <a:latin typeface="Calibri" panose="020F0502020204030204" pitchFamily="34" charset="0"/>
            </a:endParaRPr>
          </a:p>
        </p:txBody>
      </p:sp>
      <p:sp>
        <p:nvSpPr>
          <p:cNvPr id="9" name="Tartalom helye 2">
            <a:extLst>
              <a:ext uri="{FF2B5EF4-FFF2-40B4-BE49-F238E27FC236}">
                <a16:creationId xmlns:a16="http://schemas.microsoft.com/office/drawing/2014/main" id="{2F1C6C22-045E-40E1-90CB-130576644F0F}"/>
              </a:ext>
            </a:extLst>
          </p:cNvPr>
          <p:cNvSpPr txBox="1">
            <a:spLocks/>
          </p:cNvSpPr>
          <p:nvPr/>
        </p:nvSpPr>
        <p:spPr>
          <a:xfrm>
            <a:off x="1120331" y="1451806"/>
            <a:ext cx="9983098" cy="45679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hu-HU" dirty="0"/>
              <a:t>Document-Oriented stor</a:t>
            </a:r>
            <a:r>
              <a:rPr lang="en-IN"/>
              <a:t>a</a:t>
            </a:r>
            <a:r>
              <a:rPr lang="hu-HU"/>
              <a:t>ge</a:t>
            </a:r>
            <a:endParaRPr lang="hu-HU" dirty="0"/>
          </a:p>
          <a:p>
            <a:pPr>
              <a:defRPr/>
            </a:pPr>
            <a:r>
              <a:rPr lang="hu-HU" dirty="0"/>
              <a:t>Full Index Support</a:t>
            </a:r>
          </a:p>
          <a:p>
            <a:pPr>
              <a:defRPr/>
            </a:pPr>
            <a:r>
              <a:rPr lang="hu-HU" dirty="0"/>
              <a:t>Replication &amp; High Availability</a:t>
            </a:r>
          </a:p>
          <a:p>
            <a:pPr>
              <a:defRPr/>
            </a:pPr>
            <a:r>
              <a:rPr lang="hu-HU" dirty="0"/>
              <a:t>Auto-Sharding</a:t>
            </a:r>
          </a:p>
          <a:p>
            <a:pPr>
              <a:defRPr/>
            </a:pPr>
            <a:r>
              <a:rPr lang="en-US" dirty="0"/>
              <a:t>Aggregation</a:t>
            </a:r>
          </a:p>
          <a:p>
            <a:pPr>
              <a:defRPr/>
            </a:pPr>
            <a:r>
              <a:rPr lang="en-US" dirty="0"/>
              <a:t>MongoDB Atlas</a:t>
            </a:r>
          </a:p>
          <a:p>
            <a:pPr eaLnBrk="1" hangingPunct="1"/>
            <a:r>
              <a:rPr lang="hu-HU" altLang="en-US" dirty="0"/>
              <a:t>Various APIs</a:t>
            </a:r>
          </a:p>
          <a:p>
            <a:pPr lvl="1" eaLnBrk="1" hangingPunct="1"/>
            <a:r>
              <a:rPr lang="hu-HU" altLang="en-US" dirty="0"/>
              <a:t>JavaScript, Python, Ruby, Perl, Java, Java, Scala, C#, C++, Haskell, Erlang</a:t>
            </a:r>
          </a:p>
          <a:p>
            <a:pPr eaLnBrk="1" hangingPunct="1"/>
            <a:r>
              <a:rPr lang="hu-HU" altLang="en-US" dirty="0"/>
              <a:t>Community</a:t>
            </a:r>
          </a:p>
          <a:p>
            <a:pPr>
              <a:defRPr/>
            </a:pPr>
            <a:endParaRPr lang="hu-HU" dirty="0"/>
          </a:p>
          <a:p>
            <a:pPr marL="114300" indent="0">
              <a:buFont typeface="Arial" panose="020B0604020202020204" pitchFamily="34" charset="0"/>
              <a:buNone/>
              <a:defRPr/>
            </a:pPr>
            <a:endParaRPr lang="hu-HU" dirty="0"/>
          </a:p>
        </p:txBody>
      </p:sp>
    </p:spTree>
    <p:extLst>
      <p:ext uri="{BB962C8B-B14F-4D97-AF65-F5344CB8AC3E}">
        <p14:creationId xmlns:p14="http://schemas.microsoft.com/office/powerpoint/2010/main" val="2055161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7CE3DD-7EF3-87BC-4F89-FD167EB138ED}"/>
              </a:ext>
            </a:extLst>
          </p:cNvPr>
          <p:cNvSpPr txBox="1">
            <a:spLocks/>
          </p:cNvSpPr>
          <p:nvPr/>
        </p:nvSpPr>
        <p:spPr>
          <a:xfrm>
            <a:off x="647487" y="133901"/>
            <a:ext cx="3440515" cy="724247"/>
          </a:xfrm>
          <a:prstGeom prst="rect">
            <a:avLst/>
          </a:prstGeom>
        </p:spPr>
        <p:txBody>
          <a:bodyPr vert="horz" lIns="91440" tIns="45720" rIns="91440" bIns="45720" rtlCol="0" anchor="ctr">
            <a:normAutofit fontScale="85000" lnSpcReduction="10000"/>
          </a:bodyP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zh-CN" sz="5400" dirty="0">
                <a:solidFill>
                  <a:schemeClr val="accent3"/>
                </a:solidFill>
                <a:latin typeface="Calibri" panose="020F0502020204030204" pitchFamily="34" charset="0"/>
              </a:rPr>
              <a:t>ACID vs BASE</a:t>
            </a:r>
            <a:endParaRPr lang="zh-CN" altLang="zh-CN" sz="5400" dirty="0">
              <a:solidFill>
                <a:schemeClr val="accent3"/>
              </a:solidFill>
              <a:latin typeface="Calibri" panose="020F0502020204030204" pitchFamily="34" charset="0"/>
            </a:endParaRPr>
          </a:p>
        </p:txBody>
      </p:sp>
      <p:sp>
        <p:nvSpPr>
          <p:cNvPr id="4" name="TextBox 3">
            <a:extLst>
              <a:ext uri="{FF2B5EF4-FFF2-40B4-BE49-F238E27FC236}">
                <a16:creationId xmlns:a16="http://schemas.microsoft.com/office/drawing/2014/main" id="{70DCAC51-B0C7-EC15-F274-F497EC126F2E}"/>
              </a:ext>
            </a:extLst>
          </p:cNvPr>
          <p:cNvSpPr txBox="1"/>
          <p:nvPr/>
        </p:nvSpPr>
        <p:spPr>
          <a:xfrm>
            <a:off x="647487" y="1315348"/>
            <a:ext cx="4425255" cy="4659417"/>
          </a:xfrm>
          <a:prstGeom prst="rect">
            <a:avLst/>
          </a:prstGeom>
          <a:noFill/>
        </p:spPr>
        <p:txBody>
          <a:bodyPr wrap="square">
            <a:spAutoFit/>
          </a:bodyPr>
          <a:lstStyle/>
          <a:p>
            <a:pPr algn="l"/>
            <a:r>
              <a:rPr lang="en-US" sz="2400" b="0" i="0" dirty="0">
                <a:solidFill>
                  <a:srgbClr val="090B0B"/>
                </a:solidFill>
                <a:effectLst/>
                <a:latin typeface="Inter"/>
              </a:rPr>
              <a:t>ACID stands for:</a:t>
            </a:r>
          </a:p>
          <a:p>
            <a:pPr algn="l">
              <a:lnSpc>
                <a:spcPts val="2400"/>
              </a:lnSpc>
              <a:spcAft>
                <a:spcPts val="1290"/>
              </a:spcAft>
              <a:buFont typeface="Arial" panose="020B0604020202020204" pitchFamily="34" charset="0"/>
              <a:buChar char="•"/>
            </a:pPr>
            <a:r>
              <a:rPr lang="en-US" sz="2400" b="1" i="0" dirty="0">
                <a:effectLst/>
                <a:latin typeface="__Source_Sans_3_a605e5"/>
              </a:rPr>
              <a:t>Atomicity</a:t>
            </a:r>
            <a:r>
              <a:rPr lang="en-US" sz="2400" b="0" i="0" dirty="0">
                <a:effectLst/>
                <a:latin typeface="__Source_Sans_3_a605e5"/>
              </a:rPr>
              <a:t>: Ensures that a transaction is either fully completed or not executed at all.</a:t>
            </a:r>
          </a:p>
          <a:p>
            <a:pPr algn="l">
              <a:lnSpc>
                <a:spcPts val="2400"/>
              </a:lnSpc>
              <a:spcAft>
                <a:spcPts val="1290"/>
              </a:spcAft>
              <a:buFont typeface="Arial" panose="020B0604020202020204" pitchFamily="34" charset="0"/>
              <a:buChar char="•"/>
            </a:pPr>
            <a:r>
              <a:rPr lang="en-US" sz="2400" b="1" i="0" dirty="0">
                <a:effectLst/>
                <a:latin typeface="__Source_Sans_3_a605e5"/>
              </a:rPr>
              <a:t>Consistency</a:t>
            </a:r>
            <a:r>
              <a:rPr lang="en-US" sz="2400" b="0" i="0" dirty="0">
                <a:effectLst/>
                <a:latin typeface="__Source_Sans_3_a605e5"/>
              </a:rPr>
              <a:t>: Guarantees that a transaction brings the database from one valid state to another.</a:t>
            </a:r>
          </a:p>
          <a:p>
            <a:pPr algn="l">
              <a:lnSpc>
                <a:spcPts val="2400"/>
              </a:lnSpc>
              <a:spcAft>
                <a:spcPts val="1290"/>
              </a:spcAft>
              <a:buFont typeface="Arial" panose="020B0604020202020204" pitchFamily="34" charset="0"/>
              <a:buChar char="•"/>
            </a:pPr>
            <a:r>
              <a:rPr lang="en-US" sz="2400" b="1" i="0" dirty="0">
                <a:effectLst/>
                <a:latin typeface="__Source_Sans_3_a605e5"/>
              </a:rPr>
              <a:t>Isolation</a:t>
            </a:r>
            <a:r>
              <a:rPr lang="en-US" sz="2400" b="0" i="0" dirty="0">
                <a:effectLst/>
                <a:latin typeface="__Source_Sans_3_a605e5"/>
              </a:rPr>
              <a:t>: Ensures that concurrent transactions do not interfere with each other.</a:t>
            </a:r>
          </a:p>
          <a:p>
            <a:pPr algn="l">
              <a:lnSpc>
                <a:spcPts val="2400"/>
              </a:lnSpc>
              <a:spcAft>
                <a:spcPts val="1290"/>
              </a:spcAft>
              <a:buFont typeface="Arial" panose="020B0604020202020204" pitchFamily="34" charset="0"/>
              <a:buChar char="•"/>
            </a:pPr>
            <a:r>
              <a:rPr lang="en-US" sz="2400" b="1" i="0" dirty="0">
                <a:effectLst/>
                <a:latin typeface="__Source_Sans_3_a605e5"/>
              </a:rPr>
              <a:t>Durability</a:t>
            </a:r>
            <a:r>
              <a:rPr lang="en-US" sz="2400" b="0" i="0" dirty="0">
                <a:effectLst/>
                <a:latin typeface="__Source_Sans_3_a605e5"/>
              </a:rPr>
              <a:t>: Once a transaction is committed, it remains so, even in the event of a system failure.</a:t>
            </a:r>
          </a:p>
        </p:txBody>
      </p:sp>
      <p:sp>
        <p:nvSpPr>
          <p:cNvPr id="6" name="TextBox 5">
            <a:extLst>
              <a:ext uri="{FF2B5EF4-FFF2-40B4-BE49-F238E27FC236}">
                <a16:creationId xmlns:a16="http://schemas.microsoft.com/office/drawing/2014/main" id="{12853F93-E290-3257-87DD-67E434A523EB}"/>
              </a:ext>
            </a:extLst>
          </p:cNvPr>
          <p:cNvSpPr txBox="1"/>
          <p:nvPr/>
        </p:nvSpPr>
        <p:spPr>
          <a:xfrm>
            <a:off x="5682343" y="1315348"/>
            <a:ext cx="6096000" cy="3785652"/>
          </a:xfrm>
          <a:prstGeom prst="rect">
            <a:avLst/>
          </a:prstGeom>
          <a:noFill/>
        </p:spPr>
        <p:txBody>
          <a:bodyPr wrap="square">
            <a:spAutoFit/>
          </a:bodyPr>
          <a:lstStyle/>
          <a:p>
            <a:pPr algn="l"/>
            <a:r>
              <a:rPr lang="en-US" sz="2400" b="0" i="0" dirty="0">
                <a:solidFill>
                  <a:srgbClr val="090B0B"/>
                </a:solidFill>
                <a:effectLst/>
                <a:latin typeface="Inter"/>
              </a:rPr>
              <a:t>BASE stands for:</a:t>
            </a:r>
          </a:p>
          <a:p>
            <a:pPr algn="l">
              <a:buFont typeface="Arial" panose="020B0604020202020204" pitchFamily="34" charset="0"/>
              <a:buChar char="•"/>
            </a:pPr>
            <a:r>
              <a:rPr lang="en-US" sz="2400" b="1" i="0" dirty="0">
                <a:solidFill>
                  <a:srgbClr val="090B0B"/>
                </a:solidFill>
                <a:effectLst/>
                <a:latin typeface="Inter"/>
              </a:rPr>
              <a:t>Basically available</a:t>
            </a:r>
            <a:r>
              <a:rPr lang="en-US" sz="2400" b="0" i="0" dirty="0">
                <a:solidFill>
                  <a:srgbClr val="090B0B"/>
                </a:solidFill>
                <a:effectLst/>
                <a:latin typeface="Inter"/>
              </a:rPr>
              <a:t> - Ensuring the availability of data by distributing it across different nodes in a distributed database.</a:t>
            </a:r>
          </a:p>
          <a:p>
            <a:pPr algn="l">
              <a:buFont typeface="Arial" panose="020B0604020202020204" pitchFamily="34" charset="0"/>
              <a:buChar char="•"/>
            </a:pPr>
            <a:r>
              <a:rPr lang="en-US" sz="2400" b="1" i="0" dirty="0">
                <a:solidFill>
                  <a:srgbClr val="090B0B"/>
                </a:solidFill>
                <a:effectLst/>
                <a:latin typeface="Inter"/>
              </a:rPr>
              <a:t>Soft state</a:t>
            </a:r>
            <a:r>
              <a:rPr lang="en-US" sz="2400" b="0" i="0" dirty="0">
                <a:solidFill>
                  <a:srgbClr val="090B0B"/>
                </a:solidFill>
                <a:effectLst/>
                <a:latin typeface="Inter"/>
              </a:rPr>
              <a:t> - The database itself doesn’t impose consistency, instead placing this responsibility on developers.</a:t>
            </a:r>
          </a:p>
          <a:p>
            <a:pPr algn="l">
              <a:buFont typeface="Arial" panose="020B0604020202020204" pitchFamily="34" charset="0"/>
              <a:buChar char="•"/>
            </a:pPr>
            <a:r>
              <a:rPr lang="en-US" sz="2400" b="1" i="0" dirty="0">
                <a:solidFill>
                  <a:srgbClr val="090B0B"/>
                </a:solidFill>
                <a:effectLst/>
                <a:latin typeface="Inter"/>
              </a:rPr>
              <a:t>Eventually consistent</a:t>
            </a:r>
            <a:r>
              <a:rPr lang="en-US" sz="2400" b="0" i="0" dirty="0">
                <a:solidFill>
                  <a:srgbClr val="090B0B"/>
                </a:solidFill>
                <a:effectLst/>
                <a:latin typeface="Inter"/>
              </a:rPr>
              <a:t> - Consistency should ultimately be achieved, but isn’t guaranteed for individual transactions.</a:t>
            </a:r>
          </a:p>
        </p:txBody>
      </p:sp>
      <p:sp>
        <p:nvSpPr>
          <p:cNvPr id="3" name="TextBox 2">
            <a:extLst>
              <a:ext uri="{FF2B5EF4-FFF2-40B4-BE49-F238E27FC236}">
                <a16:creationId xmlns:a16="http://schemas.microsoft.com/office/drawing/2014/main" id="{883F327D-8096-DB3E-6111-90A6D9D96125}"/>
              </a:ext>
            </a:extLst>
          </p:cNvPr>
          <p:cNvSpPr txBox="1"/>
          <p:nvPr/>
        </p:nvSpPr>
        <p:spPr>
          <a:xfrm>
            <a:off x="4920343" y="311358"/>
            <a:ext cx="7347857" cy="369332"/>
          </a:xfrm>
          <a:prstGeom prst="rect">
            <a:avLst/>
          </a:prstGeom>
          <a:noFill/>
        </p:spPr>
        <p:txBody>
          <a:bodyPr wrap="square" rtlCol="0">
            <a:spAutoFit/>
          </a:bodyPr>
          <a:lstStyle/>
          <a:p>
            <a:r>
              <a:rPr lang="en-IN" b="1" dirty="0">
                <a:highlight>
                  <a:srgbClr val="FFFF00"/>
                </a:highlight>
              </a:rPr>
              <a:t>MongoDB is ACID compliant post v4.0</a:t>
            </a:r>
          </a:p>
        </p:txBody>
      </p:sp>
    </p:spTree>
    <p:extLst>
      <p:ext uri="{BB962C8B-B14F-4D97-AF65-F5344CB8AC3E}">
        <p14:creationId xmlns:p14="http://schemas.microsoft.com/office/powerpoint/2010/main" val="3877485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1004D-EC70-00C0-7318-D20E8FBC07E8}"/>
              </a:ext>
            </a:extLst>
          </p:cNvPr>
          <p:cNvSpPr>
            <a:spLocks noGrp="1"/>
          </p:cNvSpPr>
          <p:nvPr>
            <p:ph type="title"/>
          </p:nvPr>
        </p:nvSpPr>
        <p:spPr>
          <a:xfrm>
            <a:off x="838200" y="365126"/>
            <a:ext cx="8686800" cy="658132"/>
          </a:xfrm>
        </p:spPr>
        <p:txBody>
          <a:bodyPr>
            <a:normAutofit fontScale="90000"/>
          </a:bodyPr>
          <a:lstStyle/>
          <a:p>
            <a:r>
              <a:rPr lang="en-IN" dirty="0"/>
              <a:t>Important Components</a:t>
            </a:r>
          </a:p>
        </p:txBody>
      </p:sp>
      <p:sp>
        <p:nvSpPr>
          <p:cNvPr id="3" name="TextBox 2">
            <a:extLst>
              <a:ext uri="{FF2B5EF4-FFF2-40B4-BE49-F238E27FC236}">
                <a16:creationId xmlns:a16="http://schemas.microsoft.com/office/drawing/2014/main" id="{29569AA9-E2CD-BEBB-84AE-EFA6DEAADDD6}"/>
              </a:ext>
            </a:extLst>
          </p:cNvPr>
          <p:cNvSpPr txBox="1"/>
          <p:nvPr/>
        </p:nvSpPr>
        <p:spPr>
          <a:xfrm>
            <a:off x="1034143" y="1654629"/>
            <a:ext cx="8991600" cy="2585323"/>
          </a:xfrm>
          <a:prstGeom prst="rect">
            <a:avLst/>
          </a:prstGeom>
          <a:noFill/>
        </p:spPr>
        <p:txBody>
          <a:bodyPr wrap="square" rtlCol="0">
            <a:spAutoFit/>
          </a:bodyPr>
          <a:lstStyle/>
          <a:p>
            <a:pPr marL="285750" indent="-285750">
              <a:buFont typeface="Arial" panose="020B0604020202020204" pitchFamily="34" charset="0"/>
              <a:buChar char="•"/>
            </a:pPr>
            <a:r>
              <a:rPr lang="en-IN" dirty="0"/>
              <a:t>mongosh – Shell</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Compass – GUI</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Atlas – Managed Service hosted on AWS/Azure/GCP</a:t>
            </a:r>
          </a:p>
          <a:p>
            <a:pPr marL="742950" lvl="1" indent="-285750">
              <a:buFont typeface="Arial" panose="020B0604020202020204" pitchFamily="34" charset="0"/>
              <a:buChar char="•"/>
            </a:pPr>
            <a:r>
              <a:rPr lang="en-IN" dirty="0"/>
              <a:t>Serverless</a:t>
            </a:r>
          </a:p>
          <a:p>
            <a:pPr marL="742950" lvl="1" indent="-285750">
              <a:buFont typeface="Arial" panose="020B0604020202020204" pitchFamily="34" charset="0"/>
              <a:buChar char="•"/>
            </a:pPr>
            <a:r>
              <a:rPr lang="en-IN" dirty="0"/>
              <a:t>Dedicated</a:t>
            </a:r>
          </a:p>
          <a:p>
            <a:pPr marL="742950" lvl="1" indent="-285750">
              <a:buFont typeface="Arial" panose="020B0604020202020204" pitchFamily="34" charset="0"/>
              <a:buChar char="•"/>
            </a:pPr>
            <a:r>
              <a:rPr lang="en-IN" dirty="0"/>
              <a:t>Shared (Free Tier)</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1221206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16">
            <a:extLst>
              <a:ext uri="{FF2B5EF4-FFF2-40B4-BE49-F238E27FC236}">
                <a16:creationId xmlns:a16="http://schemas.microsoft.com/office/drawing/2014/main" id="{8D4310E1-3B0E-4BB6-BB7C-F54A7503EA98}"/>
              </a:ext>
            </a:extLst>
          </p:cNvPr>
          <p:cNvSpPr/>
          <p:nvPr/>
        </p:nvSpPr>
        <p:spPr>
          <a:xfrm rot="2700000">
            <a:off x="3895195" y="3640429"/>
            <a:ext cx="298064" cy="534373"/>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88" name="Teardrop 1">
            <a:extLst>
              <a:ext uri="{FF2B5EF4-FFF2-40B4-BE49-F238E27FC236}">
                <a16:creationId xmlns:a16="http://schemas.microsoft.com/office/drawing/2014/main" id="{55AB887A-9899-412F-A87A-6C68DA1273F3}"/>
              </a:ext>
            </a:extLst>
          </p:cNvPr>
          <p:cNvSpPr/>
          <p:nvPr/>
        </p:nvSpPr>
        <p:spPr>
          <a:xfrm rot="18805991">
            <a:off x="5906366" y="3695853"/>
            <a:ext cx="422416" cy="418009"/>
          </a:xfrm>
          <a:custGeom>
            <a:avLst/>
            <a:gdLst/>
            <a:ahLst/>
            <a:cxnLst/>
            <a:rect l="l" t="t" r="r" b="b"/>
            <a:pathLst>
              <a:path w="1807241" h="1788383">
                <a:moveTo>
                  <a:pt x="712876" y="1117592"/>
                </a:moveTo>
                <a:cubicBezTo>
                  <a:pt x="771173" y="1181828"/>
                  <a:pt x="811089" y="1255910"/>
                  <a:pt x="847925" y="1348018"/>
                </a:cubicBezTo>
                <a:cubicBezTo>
                  <a:pt x="814544" y="1418896"/>
                  <a:pt x="753893" y="1474052"/>
                  <a:pt x="679064" y="1498332"/>
                </a:cubicBezTo>
                <a:lnTo>
                  <a:pt x="308226" y="1106637"/>
                </a:lnTo>
                <a:cubicBezTo>
                  <a:pt x="336560" y="1033247"/>
                  <a:pt x="394949" y="975701"/>
                  <a:pt x="467546" y="946245"/>
                </a:cubicBezTo>
                <a:cubicBezTo>
                  <a:pt x="577903" y="998968"/>
                  <a:pt x="654580" y="1053357"/>
                  <a:pt x="712876" y="1117592"/>
                </a:cubicBezTo>
                <a:close/>
                <a:moveTo>
                  <a:pt x="1038527" y="398886"/>
                </a:moveTo>
                <a:lnTo>
                  <a:pt x="1405560" y="786562"/>
                </a:lnTo>
                <a:cubicBezTo>
                  <a:pt x="1374476" y="799049"/>
                  <a:pt x="1340402" y="804299"/>
                  <a:pt x="1305054" y="803332"/>
                </a:cubicBezTo>
                <a:lnTo>
                  <a:pt x="1008167" y="795212"/>
                </a:lnTo>
                <a:lnTo>
                  <a:pt x="1016288" y="498325"/>
                </a:lnTo>
                <a:cubicBezTo>
                  <a:pt x="1017255" y="462976"/>
                  <a:pt x="1024360" y="429240"/>
                  <a:pt x="1038527" y="398886"/>
                </a:cubicBezTo>
                <a:close/>
                <a:moveTo>
                  <a:pt x="1097925" y="218888"/>
                </a:moveTo>
                <a:cubicBezTo>
                  <a:pt x="992582" y="279303"/>
                  <a:pt x="921871" y="392886"/>
                  <a:pt x="921053" y="523256"/>
                </a:cubicBezTo>
                <a:lnTo>
                  <a:pt x="919136" y="828763"/>
                </a:lnTo>
                <a:lnTo>
                  <a:pt x="830924" y="915875"/>
                </a:lnTo>
                <a:lnTo>
                  <a:pt x="525417" y="913958"/>
                </a:lnTo>
                <a:cubicBezTo>
                  <a:pt x="403891" y="913196"/>
                  <a:pt x="296188" y="973343"/>
                  <a:pt x="234366" y="1067831"/>
                </a:cubicBezTo>
                <a:lnTo>
                  <a:pt x="710285" y="1570519"/>
                </a:lnTo>
                <a:cubicBezTo>
                  <a:pt x="811872" y="1510375"/>
                  <a:pt x="878808" y="1399439"/>
                  <a:pt x="879603" y="1272618"/>
                </a:cubicBezTo>
                <a:lnTo>
                  <a:pt x="881520" y="967111"/>
                </a:lnTo>
                <a:lnTo>
                  <a:pt x="969732" y="879999"/>
                </a:lnTo>
                <a:lnTo>
                  <a:pt x="1275239" y="881916"/>
                </a:lnTo>
                <a:cubicBezTo>
                  <a:pt x="1400271" y="882701"/>
                  <a:pt x="1510670" y="819011"/>
                  <a:pt x="1573529" y="721242"/>
                </a:cubicBezTo>
                <a:close/>
                <a:moveTo>
                  <a:pt x="1162945" y="27894"/>
                </a:moveTo>
                <a:lnTo>
                  <a:pt x="1782798" y="682611"/>
                </a:lnTo>
                <a:cubicBezTo>
                  <a:pt x="1816692" y="718411"/>
                  <a:pt x="1815147" y="774907"/>
                  <a:pt x="1779347" y="808801"/>
                </a:cubicBezTo>
                <a:cubicBezTo>
                  <a:pt x="1743547" y="842694"/>
                  <a:pt x="1687050" y="841149"/>
                  <a:pt x="1653157" y="805349"/>
                </a:cubicBezTo>
                <a:lnTo>
                  <a:pt x="1644015" y="795693"/>
                </a:lnTo>
                <a:cubicBezTo>
                  <a:pt x="1561789" y="910282"/>
                  <a:pt x="1426630" y="983636"/>
                  <a:pt x="1274606" y="982683"/>
                </a:cubicBezTo>
                <a:lnTo>
                  <a:pt x="980378" y="980836"/>
                </a:lnTo>
                <a:lnTo>
                  <a:pt x="980378" y="1270380"/>
                </a:lnTo>
                <a:cubicBezTo>
                  <a:pt x="980378" y="1427425"/>
                  <a:pt x="901198" y="1565976"/>
                  <a:pt x="779756" y="1647056"/>
                </a:cubicBezTo>
                <a:cubicBezTo>
                  <a:pt x="807405" y="1681913"/>
                  <a:pt x="803595" y="1732594"/>
                  <a:pt x="770486" y="1763941"/>
                </a:cubicBezTo>
                <a:cubicBezTo>
                  <a:pt x="734686" y="1797834"/>
                  <a:pt x="678189" y="1796289"/>
                  <a:pt x="644296" y="1760489"/>
                </a:cubicBezTo>
                <a:lnTo>
                  <a:pt x="24442" y="1105772"/>
                </a:lnTo>
                <a:cubicBezTo>
                  <a:pt x="-9451" y="1069973"/>
                  <a:pt x="-7906" y="1013476"/>
                  <a:pt x="27894" y="979583"/>
                </a:cubicBezTo>
                <a:cubicBezTo>
                  <a:pt x="63694" y="945689"/>
                  <a:pt x="120190" y="947235"/>
                  <a:pt x="154084" y="983034"/>
                </a:cubicBezTo>
                <a:lnTo>
                  <a:pt x="163237" y="992702"/>
                </a:lnTo>
                <a:cubicBezTo>
                  <a:pt x="244774" y="882877"/>
                  <a:pt x="375836" y="813180"/>
                  <a:pt x="523178" y="813180"/>
                </a:cubicBezTo>
                <a:lnTo>
                  <a:pt x="818460" y="813180"/>
                </a:lnTo>
                <a:lnTo>
                  <a:pt x="820284" y="522622"/>
                </a:lnTo>
                <a:cubicBezTo>
                  <a:pt x="821285" y="363119"/>
                  <a:pt x="903845" y="223207"/>
                  <a:pt x="1028952" y="143673"/>
                </a:cubicBezTo>
                <a:cubicBezTo>
                  <a:pt x="999689" y="108599"/>
                  <a:pt x="1002953" y="56445"/>
                  <a:pt x="1036755" y="24443"/>
                </a:cubicBezTo>
                <a:cubicBezTo>
                  <a:pt x="1072555" y="-9451"/>
                  <a:pt x="1129052" y="-7906"/>
                  <a:pt x="1162945" y="278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sp>
        <p:nvSpPr>
          <p:cNvPr id="89" name="Rectangle 130">
            <a:extLst>
              <a:ext uri="{FF2B5EF4-FFF2-40B4-BE49-F238E27FC236}">
                <a16:creationId xmlns:a16="http://schemas.microsoft.com/office/drawing/2014/main" id="{E9F6910D-08B2-448E-9CBD-AF3616A1DD34}"/>
              </a:ext>
            </a:extLst>
          </p:cNvPr>
          <p:cNvSpPr/>
          <p:nvPr/>
        </p:nvSpPr>
        <p:spPr>
          <a:xfrm>
            <a:off x="7986107" y="3713707"/>
            <a:ext cx="379301" cy="381023"/>
          </a:xfrm>
          <a:custGeom>
            <a:avLst/>
            <a:gdLst/>
            <a:ahLst/>
            <a:cxnLst/>
            <a:rect l="l" t="t" r="r" b="b"/>
            <a:pathLst>
              <a:path w="371900" h="373588">
                <a:moveTo>
                  <a:pt x="297080" y="129105"/>
                </a:moveTo>
                <a:lnTo>
                  <a:pt x="284273" y="219737"/>
                </a:lnTo>
                <a:lnTo>
                  <a:pt x="305496" y="219737"/>
                </a:lnTo>
                <a:lnTo>
                  <a:pt x="333001" y="129105"/>
                </a:lnTo>
                <a:close/>
                <a:moveTo>
                  <a:pt x="228265" y="129105"/>
                </a:moveTo>
                <a:lnTo>
                  <a:pt x="228265" y="219737"/>
                </a:lnTo>
                <a:lnTo>
                  <a:pt x="250807" y="219737"/>
                </a:lnTo>
                <a:lnTo>
                  <a:pt x="263614" y="129105"/>
                </a:lnTo>
                <a:close/>
                <a:moveTo>
                  <a:pt x="157021" y="129105"/>
                </a:moveTo>
                <a:lnTo>
                  <a:pt x="175826" y="219737"/>
                </a:lnTo>
                <a:lnTo>
                  <a:pt x="195129" y="219737"/>
                </a:lnTo>
                <a:lnTo>
                  <a:pt x="195129" y="129105"/>
                </a:lnTo>
                <a:close/>
                <a:moveTo>
                  <a:pt x="93087" y="129105"/>
                </a:moveTo>
                <a:lnTo>
                  <a:pt x="117372" y="219737"/>
                </a:lnTo>
                <a:lnTo>
                  <a:pt x="141984" y="219737"/>
                </a:lnTo>
                <a:lnTo>
                  <a:pt x="123179" y="129105"/>
                </a:lnTo>
                <a:close/>
                <a:moveTo>
                  <a:pt x="58494" y="0"/>
                </a:moveTo>
                <a:lnTo>
                  <a:pt x="84208" y="95969"/>
                </a:lnTo>
                <a:lnTo>
                  <a:pt x="354346" y="95969"/>
                </a:lnTo>
                <a:lnTo>
                  <a:pt x="354346" y="97437"/>
                </a:lnTo>
                <a:cubicBezTo>
                  <a:pt x="356087" y="96136"/>
                  <a:pt x="357928" y="96353"/>
                  <a:pt x="359747" y="96905"/>
                </a:cubicBezTo>
                <a:lnTo>
                  <a:pt x="360371" y="97095"/>
                </a:lnTo>
                <a:cubicBezTo>
                  <a:pt x="368954" y="99700"/>
                  <a:pt x="373801" y="108770"/>
                  <a:pt x="371196" y="117354"/>
                </a:cubicBezTo>
                <a:lnTo>
                  <a:pt x="333339" y="242097"/>
                </a:lnTo>
                <a:cubicBezTo>
                  <a:pt x="331591" y="247858"/>
                  <a:pt x="326929" y="251935"/>
                  <a:pt x="321206" y="252122"/>
                </a:cubicBezTo>
                <a:lnTo>
                  <a:pt x="321206" y="252873"/>
                </a:lnTo>
                <a:lnTo>
                  <a:pt x="313576" y="252873"/>
                </a:lnTo>
                <a:cubicBezTo>
                  <a:pt x="313378" y="253010"/>
                  <a:pt x="313229" y="252967"/>
                  <a:pt x="313080" y="252922"/>
                </a:cubicBezTo>
                <a:lnTo>
                  <a:pt x="312919" y="252873"/>
                </a:lnTo>
                <a:lnTo>
                  <a:pt x="126251" y="252873"/>
                </a:lnTo>
                <a:lnTo>
                  <a:pt x="133971" y="281687"/>
                </a:lnTo>
                <a:lnTo>
                  <a:pt x="321075" y="281687"/>
                </a:lnTo>
                <a:lnTo>
                  <a:pt x="321075" y="314823"/>
                </a:lnTo>
                <a:lnTo>
                  <a:pt x="318480" y="314823"/>
                </a:lnTo>
                <a:cubicBezTo>
                  <a:pt x="329614" y="318311"/>
                  <a:pt x="336414" y="328969"/>
                  <a:pt x="336414" y="341215"/>
                </a:cubicBezTo>
                <a:cubicBezTo>
                  <a:pt x="336414" y="359094"/>
                  <a:pt x="321920" y="373588"/>
                  <a:pt x="304041" y="373588"/>
                </a:cubicBezTo>
                <a:cubicBezTo>
                  <a:pt x="286162" y="373588"/>
                  <a:pt x="271668" y="359094"/>
                  <a:pt x="271668" y="341215"/>
                </a:cubicBezTo>
                <a:cubicBezTo>
                  <a:pt x="271668" y="328969"/>
                  <a:pt x="278468" y="318311"/>
                  <a:pt x="289602" y="314823"/>
                </a:cubicBezTo>
                <a:lnTo>
                  <a:pt x="142850" y="314823"/>
                </a:lnTo>
                <a:lnTo>
                  <a:pt x="143397" y="316865"/>
                </a:lnTo>
                <a:cubicBezTo>
                  <a:pt x="151629" y="321811"/>
                  <a:pt x="156401" y="330956"/>
                  <a:pt x="156401" y="341215"/>
                </a:cubicBezTo>
                <a:cubicBezTo>
                  <a:pt x="156401" y="359094"/>
                  <a:pt x="141907" y="373588"/>
                  <a:pt x="124028" y="373588"/>
                </a:cubicBezTo>
                <a:cubicBezTo>
                  <a:pt x="106149" y="373588"/>
                  <a:pt x="91655" y="359094"/>
                  <a:pt x="91655" y="341215"/>
                </a:cubicBezTo>
                <a:cubicBezTo>
                  <a:pt x="91655" y="329356"/>
                  <a:pt x="98032" y="318986"/>
                  <a:pt x="108649" y="315212"/>
                </a:cubicBezTo>
                <a:lnTo>
                  <a:pt x="33542" y="34909"/>
                </a:lnTo>
                <a:lnTo>
                  <a:pt x="0" y="34909"/>
                </a:lnTo>
                <a:lnTo>
                  <a:pt x="0" y="1773"/>
                </a:lnTo>
                <a:lnTo>
                  <a:pt x="51879" y="177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sp>
        <p:nvSpPr>
          <p:cNvPr id="8" name="Text Placeholder 1">
            <a:extLst>
              <a:ext uri="{FF2B5EF4-FFF2-40B4-BE49-F238E27FC236}">
                <a16:creationId xmlns:a16="http://schemas.microsoft.com/office/drawing/2014/main" id="{DE215665-D737-49D2-BE72-4AB6528C4855}"/>
              </a:ext>
            </a:extLst>
          </p:cNvPr>
          <p:cNvSpPr>
            <a:spLocks noGrp="1"/>
          </p:cNvSpPr>
          <p:nvPr>
            <p:ph type="body" sz="quarter" idx="10"/>
          </p:nvPr>
        </p:nvSpPr>
        <p:spPr>
          <a:xfrm>
            <a:off x="140689" y="465441"/>
            <a:ext cx="11573197" cy="724247"/>
          </a:xfrm>
        </p:spPr>
        <p:txBody>
          <a:bodyPr>
            <a:normAutofit fontScale="92500" lnSpcReduction="10000"/>
          </a:bodyPr>
          <a:lstStyle/>
          <a:p>
            <a:pPr algn="l" eaLnBrk="1" hangingPunct="1"/>
            <a:r>
              <a:rPr lang="en-US" altLang="zh-CN" sz="5400" dirty="0">
                <a:solidFill>
                  <a:schemeClr val="accent3"/>
                </a:solidFill>
                <a:latin typeface="Calibri" panose="020F0502020204030204" pitchFamily="34" charset="0"/>
              </a:rPr>
              <a:t>Replication</a:t>
            </a:r>
            <a:endParaRPr lang="zh-CN" altLang="zh-CN" sz="5400" dirty="0">
              <a:solidFill>
                <a:schemeClr val="accent3"/>
              </a:solidFill>
              <a:latin typeface="Calibri" panose="020F0502020204030204" pitchFamily="34" charset="0"/>
            </a:endParaRPr>
          </a:p>
        </p:txBody>
      </p:sp>
      <p:sp>
        <p:nvSpPr>
          <p:cNvPr id="9" name="Tartalom helye 2">
            <a:extLst>
              <a:ext uri="{FF2B5EF4-FFF2-40B4-BE49-F238E27FC236}">
                <a16:creationId xmlns:a16="http://schemas.microsoft.com/office/drawing/2014/main" id="{2F1C6C22-045E-40E1-90CB-130576644F0F}"/>
              </a:ext>
            </a:extLst>
          </p:cNvPr>
          <p:cNvSpPr txBox="1">
            <a:spLocks/>
          </p:cNvSpPr>
          <p:nvPr/>
        </p:nvSpPr>
        <p:spPr>
          <a:xfrm>
            <a:off x="1044429" y="1615197"/>
            <a:ext cx="10322654" cy="431196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dirty="0"/>
              <a:t>Replication provides redundancy and increases data availability. </a:t>
            </a:r>
          </a:p>
          <a:p>
            <a:pPr>
              <a:defRPr/>
            </a:pPr>
            <a:r>
              <a:rPr lang="en-US" dirty="0"/>
              <a:t>With multiple copies of data on different database servers, replication provides a level of fault tolerance against the loss of a single database server.</a:t>
            </a:r>
            <a:endParaRPr lang="hu-HU" dirty="0"/>
          </a:p>
        </p:txBody>
      </p:sp>
      <p:pic>
        <p:nvPicPr>
          <p:cNvPr id="10" name="Picture 4">
            <a:extLst>
              <a:ext uri="{FF2B5EF4-FFF2-40B4-BE49-F238E27FC236}">
                <a16:creationId xmlns:a16="http://schemas.microsoft.com/office/drawing/2014/main" id="{2543EEA3-B73B-439B-887F-18234A2068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8648" y="3607790"/>
            <a:ext cx="3495492" cy="25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D8B1A4E6-9B08-46C5-9EF2-C18146FA5F66}"/>
              </a:ext>
            </a:extLst>
          </p:cNvPr>
          <p:cNvPicPr>
            <a:picLocks noChangeAspect="1"/>
          </p:cNvPicPr>
          <p:nvPr/>
        </p:nvPicPr>
        <p:blipFill>
          <a:blip r:embed="rId3"/>
          <a:stretch>
            <a:fillRect/>
          </a:stretch>
        </p:blipFill>
        <p:spPr>
          <a:xfrm>
            <a:off x="893283" y="4021299"/>
            <a:ext cx="4895850" cy="1809750"/>
          </a:xfrm>
          <a:prstGeom prst="rect">
            <a:avLst/>
          </a:prstGeom>
        </p:spPr>
      </p:pic>
      <p:sp>
        <p:nvSpPr>
          <p:cNvPr id="5" name="TextBox 4">
            <a:extLst>
              <a:ext uri="{FF2B5EF4-FFF2-40B4-BE49-F238E27FC236}">
                <a16:creationId xmlns:a16="http://schemas.microsoft.com/office/drawing/2014/main" id="{D1409CB2-CB3C-491D-9C7A-6237E335ABF3}"/>
              </a:ext>
            </a:extLst>
          </p:cNvPr>
          <p:cNvSpPr txBox="1"/>
          <p:nvPr/>
        </p:nvSpPr>
        <p:spPr>
          <a:xfrm flipH="1">
            <a:off x="1488625" y="6032433"/>
            <a:ext cx="1598524" cy="230832"/>
          </a:xfrm>
          <a:prstGeom prst="rect">
            <a:avLst/>
          </a:prstGeom>
          <a:noFill/>
        </p:spPr>
        <p:txBody>
          <a:bodyPr wrap="square" rtlCol="0">
            <a:spAutoFit/>
          </a:bodyPr>
          <a:lstStyle/>
          <a:p>
            <a:r>
              <a:rPr lang="en-US" sz="900" b="1" dirty="0"/>
              <a:t>Copy of database</a:t>
            </a:r>
          </a:p>
        </p:txBody>
      </p:sp>
      <p:sp>
        <p:nvSpPr>
          <p:cNvPr id="12" name="TextBox 11">
            <a:extLst>
              <a:ext uri="{FF2B5EF4-FFF2-40B4-BE49-F238E27FC236}">
                <a16:creationId xmlns:a16="http://schemas.microsoft.com/office/drawing/2014/main" id="{22681904-6B94-478B-8177-335075ABCCBE}"/>
              </a:ext>
            </a:extLst>
          </p:cNvPr>
          <p:cNvSpPr txBox="1"/>
          <p:nvPr/>
        </p:nvSpPr>
        <p:spPr>
          <a:xfrm flipH="1">
            <a:off x="4459205" y="6053935"/>
            <a:ext cx="1598524" cy="230832"/>
          </a:xfrm>
          <a:prstGeom prst="rect">
            <a:avLst/>
          </a:prstGeom>
          <a:noFill/>
        </p:spPr>
        <p:txBody>
          <a:bodyPr wrap="square" rtlCol="0">
            <a:spAutoFit/>
          </a:bodyPr>
          <a:lstStyle/>
          <a:p>
            <a:r>
              <a:rPr lang="en-US" sz="900" b="1" dirty="0"/>
              <a:t>Copy of database</a:t>
            </a:r>
          </a:p>
        </p:txBody>
      </p:sp>
    </p:spTree>
    <p:extLst>
      <p:ext uri="{BB962C8B-B14F-4D97-AF65-F5344CB8AC3E}">
        <p14:creationId xmlns:p14="http://schemas.microsoft.com/office/powerpoint/2010/main" val="1292868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16">
            <a:extLst>
              <a:ext uri="{FF2B5EF4-FFF2-40B4-BE49-F238E27FC236}">
                <a16:creationId xmlns:a16="http://schemas.microsoft.com/office/drawing/2014/main" id="{8D4310E1-3B0E-4BB6-BB7C-F54A7503EA98}"/>
              </a:ext>
            </a:extLst>
          </p:cNvPr>
          <p:cNvSpPr/>
          <p:nvPr/>
        </p:nvSpPr>
        <p:spPr>
          <a:xfrm rot="2700000">
            <a:off x="3895195" y="3640429"/>
            <a:ext cx="298064" cy="534373"/>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88" name="Teardrop 1">
            <a:extLst>
              <a:ext uri="{FF2B5EF4-FFF2-40B4-BE49-F238E27FC236}">
                <a16:creationId xmlns:a16="http://schemas.microsoft.com/office/drawing/2014/main" id="{55AB887A-9899-412F-A87A-6C68DA1273F3}"/>
              </a:ext>
            </a:extLst>
          </p:cNvPr>
          <p:cNvSpPr/>
          <p:nvPr/>
        </p:nvSpPr>
        <p:spPr>
          <a:xfrm rot="18805991">
            <a:off x="5906366" y="3695853"/>
            <a:ext cx="422416" cy="418009"/>
          </a:xfrm>
          <a:custGeom>
            <a:avLst/>
            <a:gdLst/>
            <a:ahLst/>
            <a:cxnLst/>
            <a:rect l="l" t="t" r="r" b="b"/>
            <a:pathLst>
              <a:path w="1807241" h="1788383">
                <a:moveTo>
                  <a:pt x="712876" y="1117592"/>
                </a:moveTo>
                <a:cubicBezTo>
                  <a:pt x="771173" y="1181828"/>
                  <a:pt x="811089" y="1255910"/>
                  <a:pt x="847925" y="1348018"/>
                </a:cubicBezTo>
                <a:cubicBezTo>
                  <a:pt x="814544" y="1418896"/>
                  <a:pt x="753893" y="1474052"/>
                  <a:pt x="679064" y="1498332"/>
                </a:cubicBezTo>
                <a:lnTo>
                  <a:pt x="308226" y="1106637"/>
                </a:lnTo>
                <a:cubicBezTo>
                  <a:pt x="336560" y="1033247"/>
                  <a:pt x="394949" y="975701"/>
                  <a:pt x="467546" y="946245"/>
                </a:cubicBezTo>
                <a:cubicBezTo>
                  <a:pt x="577903" y="998968"/>
                  <a:pt x="654580" y="1053357"/>
                  <a:pt x="712876" y="1117592"/>
                </a:cubicBezTo>
                <a:close/>
                <a:moveTo>
                  <a:pt x="1038527" y="398886"/>
                </a:moveTo>
                <a:lnTo>
                  <a:pt x="1405560" y="786562"/>
                </a:lnTo>
                <a:cubicBezTo>
                  <a:pt x="1374476" y="799049"/>
                  <a:pt x="1340402" y="804299"/>
                  <a:pt x="1305054" y="803332"/>
                </a:cubicBezTo>
                <a:lnTo>
                  <a:pt x="1008167" y="795212"/>
                </a:lnTo>
                <a:lnTo>
                  <a:pt x="1016288" y="498325"/>
                </a:lnTo>
                <a:cubicBezTo>
                  <a:pt x="1017255" y="462976"/>
                  <a:pt x="1024360" y="429240"/>
                  <a:pt x="1038527" y="398886"/>
                </a:cubicBezTo>
                <a:close/>
                <a:moveTo>
                  <a:pt x="1097925" y="218888"/>
                </a:moveTo>
                <a:cubicBezTo>
                  <a:pt x="992582" y="279303"/>
                  <a:pt x="921871" y="392886"/>
                  <a:pt x="921053" y="523256"/>
                </a:cubicBezTo>
                <a:lnTo>
                  <a:pt x="919136" y="828763"/>
                </a:lnTo>
                <a:lnTo>
                  <a:pt x="830924" y="915875"/>
                </a:lnTo>
                <a:lnTo>
                  <a:pt x="525417" y="913958"/>
                </a:lnTo>
                <a:cubicBezTo>
                  <a:pt x="403891" y="913196"/>
                  <a:pt x="296188" y="973343"/>
                  <a:pt x="234366" y="1067831"/>
                </a:cubicBezTo>
                <a:lnTo>
                  <a:pt x="710285" y="1570519"/>
                </a:lnTo>
                <a:cubicBezTo>
                  <a:pt x="811872" y="1510375"/>
                  <a:pt x="878808" y="1399439"/>
                  <a:pt x="879603" y="1272618"/>
                </a:cubicBezTo>
                <a:lnTo>
                  <a:pt x="881520" y="967111"/>
                </a:lnTo>
                <a:lnTo>
                  <a:pt x="969732" y="879999"/>
                </a:lnTo>
                <a:lnTo>
                  <a:pt x="1275239" y="881916"/>
                </a:lnTo>
                <a:cubicBezTo>
                  <a:pt x="1400271" y="882701"/>
                  <a:pt x="1510670" y="819011"/>
                  <a:pt x="1573529" y="721242"/>
                </a:cubicBezTo>
                <a:close/>
                <a:moveTo>
                  <a:pt x="1162945" y="27894"/>
                </a:moveTo>
                <a:lnTo>
                  <a:pt x="1782798" y="682611"/>
                </a:lnTo>
                <a:cubicBezTo>
                  <a:pt x="1816692" y="718411"/>
                  <a:pt x="1815147" y="774907"/>
                  <a:pt x="1779347" y="808801"/>
                </a:cubicBezTo>
                <a:cubicBezTo>
                  <a:pt x="1743547" y="842694"/>
                  <a:pt x="1687050" y="841149"/>
                  <a:pt x="1653157" y="805349"/>
                </a:cubicBezTo>
                <a:lnTo>
                  <a:pt x="1644015" y="795693"/>
                </a:lnTo>
                <a:cubicBezTo>
                  <a:pt x="1561789" y="910282"/>
                  <a:pt x="1426630" y="983636"/>
                  <a:pt x="1274606" y="982683"/>
                </a:cubicBezTo>
                <a:lnTo>
                  <a:pt x="980378" y="980836"/>
                </a:lnTo>
                <a:lnTo>
                  <a:pt x="980378" y="1270380"/>
                </a:lnTo>
                <a:cubicBezTo>
                  <a:pt x="980378" y="1427425"/>
                  <a:pt x="901198" y="1565976"/>
                  <a:pt x="779756" y="1647056"/>
                </a:cubicBezTo>
                <a:cubicBezTo>
                  <a:pt x="807405" y="1681913"/>
                  <a:pt x="803595" y="1732594"/>
                  <a:pt x="770486" y="1763941"/>
                </a:cubicBezTo>
                <a:cubicBezTo>
                  <a:pt x="734686" y="1797834"/>
                  <a:pt x="678189" y="1796289"/>
                  <a:pt x="644296" y="1760489"/>
                </a:cubicBezTo>
                <a:lnTo>
                  <a:pt x="24442" y="1105772"/>
                </a:lnTo>
                <a:cubicBezTo>
                  <a:pt x="-9451" y="1069973"/>
                  <a:pt x="-7906" y="1013476"/>
                  <a:pt x="27894" y="979583"/>
                </a:cubicBezTo>
                <a:cubicBezTo>
                  <a:pt x="63694" y="945689"/>
                  <a:pt x="120190" y="947235"/>
                  <a:pt x="154084" y="983034"/>
                </a:cubicBezTo>
                <a:lnTo>
                  <a:pt x="163237" y="992702"/>
                </a:lnTo>
                <a:cubicBezTo>
                  <a:pt x="244774" y="882877"/>
                  <a:pt x="375836" y="813180"/>
                  <a:pt x="523178" y="813180"/>
                </a:cubicBezTo>
                <a:lnTo>
                  <a:pt x="818460" y="813180"/>
                </a:lnTo>
                <a:lnTo>
                  <a:pt x="820284" y="522622"/>
                </a:lnTo>
                <a:cubicBezTo>
                  <a:pt x="821285" y="363119"/>
                  <a:pt x="903845" y="223207"/>
                  <a:pt x="1028952" y="143673"/>
                </a:cubicBezTo>
                <a:cubicBezTo>
                  <a:pt x="999689" y="108599"/>
                  <a:pt x="1002953" y="56445"/>
                  <a:pt x="1036755" y="24443"/>
                </a:cubicBezTo>
                <a:cubicBezTo>
                  <a:pt x="1072555" y="-9451"/>
                  <a:pt x="1129052" y="-7906"/>
                  <a:pt x="1162945" y="278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sp>
        <p:nvSpPr>
          <p:cNvPr id="89" name="Rectangle 130">
            <a:extLst>
              <a:ext uri="{FF2B5EF4-FFF2-40B4-BE49-F238E27FC236}">
                <a16:creationId xmlns:a16="http://schemas.microsoft.com/office/drawing/2014/main" id="{E9F6910D-08B2-448E-9CBD-AF3616A1DD34}"/>
              </a:ext>
            </a:extLst>
          </p:cNvPr>
          <p:cNvSpPr/>
          <p:nvPr/>
        </p:nvSpPr>
        <p:spPr>
          <a:xfrm>
            <a:off x="7986107" y="3713707"/>
            <a:ext cx="379301" cy="381023"/>
          </a:xfrm>
          <a:custGeom>
            <a:avLst/>
            <a:gdLst/>
            <a:ahLst/>
            <a:cxnLst/>
            <a:rect l="l" t="t" r="r" b="b"/>
            <a:pathLst>
              <a:path w="371900" h="373588">
                <a:moveTo>
                  <a:pt x="297080" y="129105"/>
                </a:moveTo>
                <a:lnTo>
                  <a:pt x="284273" y="219737"/>
                </a:lnTo>
                <a:lnTo>
                  <a:pt x="305496" y="219737"/>
                </a:lnTo>
                <a:lnTo>
                  <a:pt x="333001" y="129105"/>
                </a:lnTo>
                <a:close/>
                <a:moveTo>
                  <a:pt x="228265" y="129105"/>
                </a:moveTo>
                <a:lnTo>
                  <a:pt x="228265" y="219737"/>
                </a:lnTo>
                <a:lnTo>
                  <a:pt x="250807" y="219737"/>
                </a:lnTo>
                <a:lnTo>
                  <a:pt x="263614" y="129105"/>
                </a:lnTo>
                <a:close/>
                <a:moveTo>
                  <a:pt x="157021" y="129105"/>
                </a:moveTo>
                <a:lnTo>
                  <a:pt x="175826" y="219737"/>
                </a:lnTo>
                <a:lnTo>
                  <a:pt x="195129" y="219737"/>
                </a:lnTo>
                <a:lnTo>
                  <a:pt x="195129" y="129105"/>
                </a:lnTo>
                <a:close/>
                <a:moveTo>
                  <a:pt x="93087" y="129105"/>
                </a:moveTo>
                <a:lnTo>
                  <a:pt x="117372" y="219737"/>
                </a:lnTo>
                <a:lnTo>
                  <a:pt x="141984" y="219737"/>
                </a:lnTo>
                <a:lnTo>
                  <a:pt x="123179" y="129105"/>
                </a:lnTo>
                <a:close/>
                <a:moveTo>
                  <a:pt x="58494" y="0"/>
                </a:moveTo>
                <a:lnTo>
                  <a:pt x="84208" y="95969"/>
                </a:lnTo>
                <a:lnTo>
                  <a:pt x="354346" y="95969"/>
                </a:lnTo>
                <a:lnTo>
                  <a:pt x="354346" y="97437"/>
                </a:lnTo>
                <a:cubicBezTo>
                  <a:pt x="356087" y="96136"/>
                  <a:pt x="357928" y="96353"/>
                  <a:pt x="359747" y="96905"/>
                </a:cubicBezTo>
                <a:lnTo>
                  <a:pt x="360371" y="97095"/>
                </a:lnTo>
                <a:cubicBezTo>
                  <a:pt x="368954" y="99700"/>
                  <a:pt x="373801" y="108770"/>
                  <a:pt x="371196" y="117354"/>
                </a:cubicBezTo>
                <a:lnTo>
                  <a:pt x="333339" y="242097"/>
                </a:lnTo>
                <a:cubicBezTo>
                  <a:pt x="331591" y="247858"/>
                  <a:pt x="326929" y="251935"/>
                  <a:pt x="321206" y="252122"/>
                </a:cubicBezTo>
                <a:lnTo>
                  <a:pt x="321206" y="252873"/>
                </a:lnTo>
                <a:lnTo>
                  <a:pt x="313576" y="252873"/>
                </a:lnTo>
                <a:cubicBezTo>
                  <a:pt x="313378" y="253010"/>
                  <a:pt x="313229" y="252967"/>
                  <a:pt x="313080" y="252922"/>
                </a:cubicBezTo>
                <a:lnTo>
                  <a:pt x="312919" y="252873"/>
                </a:lnTo>
                <a:lnTo>
                  <a:pt x="126251" y="252873"/>
                </a:lnTo>
                <a:lnTo>
                  <a:pt x="133971" y="281687"/>
                </a:lnTo>
                <a:lnTo>
                  <a:pt x="321075" y="281687"/>
                </a:lnTo>
                <a:lnTo>
                  <a:pt x="321075" y="314823"/>
                </a:lnTo>
                <a:lnTo>
                  <a:pt x="318480" y="314823"/>
                </a:lnTo>
                <a:cubicBezTo>
                  <a:pt x="329614" y="318311"/>
                  <a:pt x="336414" y="328969"/>
                  <a:pt x="336414" y="341215"/>
                </a:cubicBezTo>
                <a:cubicBezTo>
                  <a:pt x="336414" y="359094"/>
                  <a:pt x="321920" y="373588"/>
                  <a:pt x="304041" y="373588"/>
                </a:cubicBezTo>
                <a:cubicBezTo>
                  <a:pt x="286162" y="373588"/>
                  <a:pt x="271668" y="359094"/>
                  <a:pt x="271668" y="341215"/>
                </a:cubicBezTo>
                <a:cubicBezTo>
                  <a:pt x="271668" y="328969"/>
                  <a:pt x="278468" y="318311"/>
                  <a:pt x="289602" y="314823"/>
                </a:cubicBezTo>
                <a:lnTo>
                  <a:pt x="142850" y="314823"/>
                </a:lnTo>
                <a:lnTo>
                  <a:pt x="143397" y="316865"/>
                </a:lnTo>
                <a:cubicBezTo>
                  <a:pt x="151629" y="321811"/>
                  <a:pt x="156401" y="330956"/>
                  <a:pt x="156401" y="341215"/>
                </a:cubicBezTo>
                <a:cubicBezTo>
                  <a:pt x="156401" y="359094"/>
                  <a:pt x="141907" y="373588"/>
                  <a:pt x="124028" y="373588"/>
                </a:cubicBezTo>
                <a:cubicBezTo>
                  <a:pt x="106149" y="373588"/>
                  <a:pt x="91655" y="359094"/>
                  <a:pt x="91655" y="341215"/>
                </a:cubicBezTo>
                <a:cubicBezTo>
                  <a:pt x="91655" y="329356"/>
                  <a:pt x="98032" y="318986"/>
                  <a:pt x="108649" y="315212"/>
                </a:cubicBezTo>
                <a:lnTo>
                  <a:pt x="33542" y="34909"/>
                </a:lnTo>
                <a:lnTo>
                  <a:pt x="0" y="34909"/>
                </a:lnTo>
                <a:lnTo>
                  <a:pt x="0" y="1773"/>
                </a:lnTo>
                <a:lnTo>
                  <a:pt x="51879" y="177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sp>
        <p:nvSpPr>
          <p:cNvPr id="8" name="Text Placeholder 1">
            <a:extLst>
              <a:ext uri="{FF2B5EF4-FFF2-40B4-BE49-F238E27FC236}">
                <a16:creationId xmlns:a16="http://schemas.microsoft.com/office/drawing/2014/main" id="{DE215665-D737-49D2-BE72-4AB6528C4855}"/>
              </a:ext>
            </a:extLst>
          </p:cNvPr>
          <p:cNvSpPr>
            <a:spLocks noGrp="1"/>
          </p:cNvSpPr>
          <p:nvPr>
            <p:ph type="body" sz="quarter" idx="10"/>
          </p:nvPr>
        </p:nvSpPr>
        <p:spPr>
          <a:xfrm>
            <a:off x="439834" y="436381"/>
            <a:ext cx="3310082" cy="724247"/>
          </a:xfrm>
        </p:spPr>
        <p:txBody>
          <a:bodyPr>
            <a:normAutofit fontScale="92500" lnSpcReduction="10000"/>
          </a:bodyPr>
          <a:lstStyle/>
          <a:p>
            <a:pPr algn="l" eaLnBrk="1" hangingPunct="1"/>
            <a:r>
              <a:rPr lang="en-US" altLang="zh-CN" sz="5400" dirty="0">
                <a:solidFill>
                  <a:schemeClr val="accent3"/>
                </a:solidFill>
                <a:latin typeface="Calibri" panose="020F0502020204030204" pitchFamily="34" charset="0"/>
              </a:rPr>
              <a:t>Replication</a:t>
            </a:r>
            <a:endParaRPr lang="zh-CN" altLang="zh-CN" sz="5400" dirty="0">
              <a:solidFill>
                <a:schemeClr val="accent3"/>
              </a:solidFill>
              <a:latin typeface="Calibri" panose="020F0502020204030204" pitchFamily="34" charset="0"/>
            </a:endParaRPr>
          </a:p>
        </p:txBody>
      </p:sp>
      <p:pic>
        <p:nvPicPr>
          <p:cNvPr id="11" name="Picture 2">
            <a:extLst>
              <a:ext uri="{FF2B5EF4-FFF2-40B4-BE49-F238E27FC236}">
                <a16:creationId xmlns:a16="http://schemas.microsoft.com/office/drawing/2014/main" id="{E7FC68C2-9099-486B-B30F-FC6A92FD20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772" y="2298102"/>
            <a:ext cx="6524625" cy="261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2">
            <a:extLst>
              <a:ext uri="{FF2B5EF4-FFF2-40B4-BE49-F238E27FC236}">
                <a16:creationId xmlns:a16="http://schemas.microsoft.com/office/drawing/2014/main" id="{8D8452D2-DB68-4290-8D0D-8E18D031B3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9351" y="1778989"/>
            <a:ext cx="5153025"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99720CD7-14F4-47C0-B577-32E38C2EA963}"/>
              </a:ext>
            </a:extLst>
          </p:cNvPr>
          <p:cNvPicPr>
            <a:picLocks noChangeAspect="1"/>
          </p:cNvPicPr>
          <p:nvPr/>
        </p:nvPicPr>
        <p:blipFill>
          <a:blip r:embed="rId4"/>
          <a:stretch>
            <a:fillRect/>
          </a:stretch>
        </p:blipFill>
        <p:spPr>
          <a:xfrm>
            <a:off x="2713084" y="4573049"/>
            <a:ext cx="1524000" cy="228600"/>
          </a:xfrm>
          <a:prstGeom prst="rect">
            <a:avLst/>
          </a:prstGeom>
        </p:spPr>
      </p:pic>
    </p:spTree>
    <p:extLst>
      <p:ext uri="{BB962C8B-B14F-4D97-AF65-F5344CB8AC3E}">
        <p14:creationId xmlns:p14="http://schemas.microsoft.com/office/powerpoint/2010/main" val="3011716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16">
            <a:extLst>
              <a:ext uri="{FF2B5EF4-FFF2-40B4-BE49-F238E27FC236}">
                <a16:creationId xmlns:a16="http://schemas.microsoft.com/office/drawing/2014/main" id="{8D4310E1-3B0E-4BB6-BB7C-F54A7503EA98}"/>
              </a:ext>
            </a:extLst>
          </p:cNvPr>
          <p:cNvSpPr/>
          <p:nvPr/>
        </p:nvSpPr>
        <p:spPr>
          <a:xfrm rot="2700000">
            <a:off x="3895195" y="3640429"/>
            <a:ext cx="298064" cy="534373"/>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88" name="Teardrop 1">
            <a:extLst>
              <a:ext uri="{FF2B5EF4-FFF2-40B4-BE49-F238E27FC236}">
                <a16:creationId xmlns:a16="http://schemas.microsoft.com/office/drawing/2014/main" id="{55AB887A-9899-412F-A87A-6C68DA1273F3}"/>
              </a:ext>
            </a:extLst>
          </p:cNvPr>
          <p:cNvSpPr/>
          <p:nvPr/>
        </p:nvSpPr>
        <p:spPr>
          <a:xfrm rot="18805991">
            <a:off x="5906366" y="3695853"/>
            <a:ext cx="422416" cy="418009"/>
          </a:xfrm>
          <a:custGeom>
            <a:avLst/>
            <a:gdLst/>
            <a:ahLst/>
            <a:cxnLst/>
            <a:rect l="l" t="t" r="r" b="b"/>
            <a:pathLst>
              <a:path w="1807241" h="1788383">
                <a:moveTo>
                  <a:pt x="712876" y="1117592"/>
                </a:moveTo>
                <a:cubicBezTo>
                  <a:pt x="771173" y="1181828"/>
                  <a:pt x="811089" y="1255910"/>
                  <a:pt x="847925" y="1348018"/>
                </a:cubicBezTo>
                <a:cubicBezTo>
                  <a:pt x="814544" y="1418896"/>
                  <a:pt x="753893" y="1474052"/>
                  <a:pt x="679064" y="1498332"/>
                </a:cubicBezTo>
                <a:lnTo>
                  <a:pt x="308226" y="1106637"/>
                </a:lnTo>
                <a:cubicBezTo>
                  <a:pt x="336560" y="1033247"/>
                  <a:pt x="394949" y="975701"/>
                  <a:pt x="467546" y="946245"/>
                </a:cubicBezTo>
                <a:cubicBezTo>
                  <a:pt x="577903" y="998968"/>
                  <a:pt x="654580" y="1053357"/>
                  <a:pt x="712876" y="1117592"/>
                </a:cubicBezTo>
                <a:close/>
                <a:moveTo>
                  <a:pt x="1038527" y="398886"/>
                </a:moveTo>
                <a:lnTo>
                  <a:pt x="1405560" y="786562"/>
                </a:lnTo>
                <a:cubicBezTo>
                  <a:pt x="1374476" y="799049"/>
                  <a:pt x="1340402" y="804299"/>
                  <a:pt x="1305054" y="803332"/>
                </a:cubicBezTo>
                <a:lnTo>
                  <a:pt x="1008167" y="795212"/>
                </a:lnTo>
                <a:lnTo>
                  <a:pt x="1016288" y="498325"/>
                </a:lnTo>
                <a:cubicBezTo>
                  <a:pt x="1017255" y="462976"/>
                  <a:pt x="1024360" y="429240"/>
                  <a:pt x="1038527" y="398886"/>
                </a:cubicBezTo>
                <a:close/>
                <a:moveTo>
                  <a:pt x="1097925" y="218888"/>
                </a:moveTo>
                <a:cubicBezTo>
                  <a:pt x="992582" y="279303"/>
                  <a:pt x="921871" y="392886"/>
                  <a:pt x="921053" y="523256"/>
                </a:cubicBezTo>
                <a:lnTo>
                  <a:pt x="919136" y="828763"/>
                </a:lnTo>
                <a:lnTo>
                  <a:pt x="830924" y="915875"/>
                </a:lnTo>
                <a:lnTo>
                  <a:pt x="525417" y="913958"/>
                </a:lnTo>
                <a:cubicBezTo>
                  <a:pt x="403891" y="913196"/>
                  <a:pt x="296188" y="973343"/>
                  <a:pt x="234366" y="1067831"/>
                </a:cubicBezTo>
                <a:lnTo>
                  <a:pt x="710285" y="1570519"/>
                </a:lnTo>
                <a:cubicBezTo>
                  <a:pt x="811872" y="1510375"/>
                  <a:pt x="878808" y="1399439"/>
                  <a:pt x="879603" y="1272618"/>
                </a:cubicBezTo>
                <a:lnTo>
                  <a:pt x="881520" y="967111"/>
                </a:lnTo>
                <a:lnTo>
                  <a:pt x="969732" y="879999"/>
                </a:lnTo>
                <a:lnTo>
                  <a:pt x="1275239" y="881916"/>
                </a:lnTo>
                <a:cubicBezTo>
                  <a:pt x="1400271" y="882701"/>
                  <a:pt x="1510670" y="819011"/>
                  <a:pt x="1573529" y="721242"/>
                </a:cubicBezTo>
                <a:close/>
                <a:moveTo>
                  <a:pt x="1162945" y="27894"/>
                </a:moveTo>
                <a:lnTo>
                  <a:pt x="1782798" y="682611"/>
                </a:lnTo>
                <a:cubicBezTo>
                  <a:pt x="1816692" y="718411"/>
                  <a:pt x="1815147" y="774907"/>
                  <a:pt x="1779347" y="808801"/>
                </a:cubicBezTo>
                <a:cubicBezTo>
                  <a:pt x="1743547" y="842694"/>
                  <a:pt x="1687050" y="841149"/>
                  <a:pt x="1653157" y="805349"/>
                </a:cubicBezTo>
                <a:lnTo>
                  <a:pt x="1644015" y="795693"/>
                </a:lnTo>
                <a:cubicBezTo>
                  <a:pt x="1561789" y="910282"/>
                  <a:pt x="1426630" y="983636"/>
                  <a:pt x="1274606" y="982683"/>
                </a:cubicBezTo>
                <a:lnTo>
                  <a:pt x="980378" y="980836"/>
                </a:lnTo>
                <a:lnTo>
                  <a:pt x="980378" y="1270380"/>
                </a:lnTo>
                <a:cubicBezTo>
                  <a:pt x="980378" y="1427425"/>
                  <a:pt x="901198" y="1565976"/>
                  <a:pt x="779756" y="1647056"/>
                </a:cubicBezTo>
                <a:cubicBezTo>
                  <a:pt x="807405" y="1681913"/>
                  <a:pt x="803595" y="1732594"/>
                  <a:pt x="770486" y="1763941"/>
                </a:cubicBezTo>
                <a:cubicBezTo>
                  <a:pt x="734686" y="1797834"/>
                  <a:pt x="678189" y="1796289"/>
                  <a:pt x="644296" y="1760489"/>
                </a:cubicBezTo>
                <a:lnTo>
                  <a:pt x="24442" y="1105772"/>
                </a:lnTo>
                <a:cubicBezTo>
                  <a:pt x="-9451" y="1069973"/>
                  <a:pt x="-7906" y="1013476"/>
                  <a:pt x="27894" y="979583"/>
                </a:cubicBezTo>
                <a:cubicBezTo>
                  <a:pt x="63694" y="945689"/>
                  <a:pt x="120190" y="947235"/>
                  <a:pt x="154084" y="983034"/>
                </a:cubicBezTo>
                <a:lnTo>
                  <a:pt x="163237" y="992702"/>
                </a:lnTo>
                <a:cubicBezTo>
                  <a:pt x="244774" y="882877"/>
                  <a:pt x="375836" y="813180"/>
                  <a:pt x="523178" y="813180"/>
                </a:cubicBezTo>
                <a:lnTo>
                  <a:pt x="818460" y="813180"/>
                </a:lnTo>
                <a:lnTo>
                  <a:pt x="820284" y="522622"/>
                </a:lnTo>
                <a:cubicBezTo>
                  <a:pt x="821285" y="363119"/>
                  <a:pt x="903845" y="223207"/>
                  <a:pt x="1028952" y="143673"/>
                </a:cubicBezTo>
                <a:cubicBezTo>
                  <a:pt x="999689" y="108599"/>
                  <a:pt x="1002953" y="56445"/>
                  <a:pt x="1036755" y="24443"/>
                </a:cubicBezTo>
                <a:cubicBezTo>
                  <a:pt x="1072555" y="-9451"/>
                  <a:pt x="1129052" y="-7906"/>
                  <a:pt x="1162945" y="278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sp>
        <p:nvSpPr>
          <p:cNvPr id="89" name="Rectangle 130">
            <a:extLst>
              <a:ext uri="{FF2B5EF4-FFF2-40B4-BE49-F238E27FC236}">
                <a16:creationId xmlns:a16="http://schemas.microsoft.com/office/drawing/2014/main" id="{E9F6910D-08B2-448E-9CBD-AF3616A1DD34}"/>
              </a:ext>
            </a:extLst>
          </p:cNvPr>
          <p:cNvSpPr/>
          <p:nvPr/>
        </p:nvSpPr>
        <p:spPr>
          <a:xfrm>
            <a:off x="7986107" y="3713707"/>
            <a:ext cx="379301" cy="381023"/>
          </a:xfrm>
          <a:custGeom>
            <a:avLst/>
            <a:gdLst/>
            <a:ahLst/>
            <a:cxnLst/>
            <a:rect l="l" t="t" r="r" b="b"/>
            <a:pathLst>
              <a:path w="371900" h="373588">
                <a:moveTo>
                  <a:pt x="297080" y="129105"/>
                </a:moveTo>
                <a:lnTo>
                  <a:pt x="284273" y="219737"/>
                </a:lnTo>
                <a:lnTo>
                  <a:pt x="305496" y="219737"/>
                </a:lnTo>
                <a:lnTo>
                  <a:pt x="333001" y="129105"/>
                </a:lnTo>
                <a:close/>
                <a:moveTo>
                  <a:pt x="228265" y="129105"/>
                </a:moveTo>
                <a:lnTo>
                  <a:pt x="228265" y="219737"/>
                </a:lnTo>
                <a:lnTo>
                  <a:pt x="250807" y="219737"/>
                </a:lnTo>
                <a:lnTo>
                  <a:pt x="263614" y="129105"/>
                </a:lnTo>
                <a:close/>
                <a:moveTo>
                  <a:pt x="157021" y="129105"/>
                </a:moveTo>
                <a:lnTo>
                  <a:pt x="175826" y="219737"/>
                </a:lnTo>
                <a:lnTo>
                  <a:pt x="195129" y="219737"/>
                </a:lnTo>
                <a:lnTo>
                  <a:pt x="195129" y="129105"/>
                </a:lnTo>
                <a:close/>
                <a:moveTo>
                  <a:pt x="93087" y="129105"/>
                </a:moveTo>
                <a:lnTo>
                  <a:pt x="117372" y="219737"/>
                </a:lnTo>
                <a:lnTo>
                  <a:pt x="141984" y="219737"/>
                </a:lnTo>
                <a:lnTo>
                  <a:pt x="123179" y="129105"/>
                </a:lnTo>
                <a:close/>
                <a:moveTo>
                  <a:pt x="58494" y="0"/>
                </a:moveTo>
                <a:lnTo>
                  <a:pt x="84208" y="95969"/>
                </a:lnTo>
                <a:lnTo>
                  <a:pt x="354346" y="95969"/>
                </a:lnTo>
                <a:lnTo>
                  <a:pt x="354346" y="97437"/>
                </a:lnTo>
                <a:cubicBezTo>
                  <a:pt x="356087" y="96136"/>
                  <a:pt x="357928" y="96353"/>
                  <a:pt x="359747" y="96905"/>
                </a:cubicBezTo>
                <a:lnTo>
                  <a:pt x="360371" y="97095"/>
                </a:lnTo>
                <a:cubicBezTo>
                  <a:pt x="368954" y="99700"/>
                  <a:pt x="373801" y="108770"/>
                  <a:pt x="371196" y="117354"/>
                </a:cubicBezTo>
                <a:lnTo>
                  <a:pt x="333339" y="242097"/>
                </a:lnTo>
                <a:cubicBezTo>
                  <a:pt x="331591" y="247858"/>
                  <a:pt x="326929" y="251935"/>
                  <a:pt x="321206" y="252122"/>
                </a:cubicBezTo>
                <a:lnTo>
                  <a:pt x="321206" y="252873"/>
                </a:lnTo>
                <a:lnTo>
                  <a:pt x="313576" y="252873"/>
                </a:lnTo>
                <a:cubicBezTo>
                  <a:pt x="313378" y="253010"/>
                  <a:pt x="313229" y="252967"/>
                  <a:pt x="313080" y="252922"/>
                </a:cubicBezTo>
                <a:lnTo>
                  <a:pt x="312919" y="252873"/>
                </a:lnTo>
                <a:lnTo>
                  <a:pt x="126251" y="252873"/>
                </a:lnTo>
                <a:lnTo>
                  <a:pt x="133971" y="281687"/>
                </a:lnTo>
                <a:lnTo>
                  <a:pt x="321075" y="281687"/>
                </a:lnTo>
                <a:lnTo>
                  <a:pt x="321075" y="314823"/>
                </a:lnTo>
                <a:lnTo>
                  <a:pt x="318480" y="314823"/>
                </a:lnTo>
                <a:cubicBezTo>
                  <a:pt x="329614" y="318311"/>
                  <a:pt x="336414" y="328969"/>
                  <a:pt x="336414" y="341215"/>
                </a:cubicBezTo>
                <a:cubicBezTo>
                  <a:pt x="336414" y="359094"/>
                  <a:pt x="321920" y="373588"/>
                  <a:pt x="304041" y="373588"/>
                </a:cubicBezTo>
                <a:cubicBezTo>
                  <a:pt x="286162" y="373588"/>
                  <a:pt x="271668" y="359094"/>
                  <a:pt x="271668" y="341215"/>
                </a:cubicBezTo>
                <a:cubicBezTo>
                  <a:pt x="271668" y="328969"/>
                  <a:pt x="278468" y="318311"/>
                  <a:pt x="289602" y="314823"/>
                </a:cubicBezTo>
                <a:lnTo>
                  <a:pt x="142850" y="314823"/>
                </a:lnTo>
                <a:lnTo>
                  <a:pt x="143397" y="316865"/>
                </a:lnTo>
                <a:cubicBezTo>
                  <a:pt x="151629" y="321811"/>
                  <a:pt x="156401" y="330956"/>
                  <a:pt x="156401" y="341215"/>
                </a:cubicBezTo>
                <a:cubicBezTo>
                  <a:pt x="156401" y="359094"/>
                  <a:pt x="141907" y="373588"/>
                  <a:pt x="124028" y="373588"/>
                </a:cubicBezTo>
                <a:cubicBezTo>
                  <a:pt x="106149" y="373588"/>
                  <a:pt x="91655" y="359094"/>
                  <a:pt x="91655" y="341215"/>
                </a:cubicBezTo>
                <a:cubicBezTo>
                  <a:pt x="91655" y="329356"/>
                  <a:pt x="98032" y="318986"/>
                  <a:pt x="108649" y="315212"/>
                </a:cubicBezTo>
                <a:lnTo>
                  <a:pt x="33542" y="34909"/>
                </a:lnTo>
                <a:lnTo>
                  <a:pt x="0" y="34909"/>
                </a:lnTo>
                <a:lnTo>
                  <a:pt x="0" y="1773"/>
                </a:lnTo>
                <a:lnTo>
                  <a:pt x="51879" y="177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sp>
        <p:nvSpPr>
          <p:cNvPr id="8" name="Text Placeholder 1">
            <a:extLst>
              <a:ext uri="{FF2B5EF4-FFF2-40B4-BE49-F238E27FC236}">
                <a16:creationId xmlns:a16="http://schemas.microsoft.com/office/drawing/2014/main" id="{DE215665-D737-49D2-BE72-4AB6528C4855}"/>
              </a:ext>
            </a:extLst>
          </p:cNvPr>
          <p:cNvSpPr>
            <a:spLocks noGrp="1"/>
          </p:cNvSpPr>
          <p:nvPr>
            <p:ph type="body" sz="quarter" idx="10"/>
          </p:nvPr>
        </p:nvSpPr>
        <p:spPr>
          <a:xfrm>
            <a:off x="309402" y="356008"/>
            <a:ext cx="3315542" cy="724247"/>
          </a:xfrm>
        </p:spPr>
        <p:txBody>
          <a:bodyPr>
            <a:normAutofit fontScale="92500" lnSpcReduction="10000"/>
          </a:bodyPr>
          <a:lstStyle/>
          <a:p>
            <a:pPr algn="l" eaLnBrk="1" hangingPunct="1"/>
            <a:r>
              <a:rPr lang="en-US" altLang="zh-CN" sz="5400" dirty="0">
                <a:solidFill>
                  <a:schemeClr val="accent3"/>
                </a:solidFill>
                <a:latin typeface="Calibri" panose="020F0502020204030204" pitchFamily="34" charset="0"/>
              </a:rPr>
              <a:t>Sharding</a:t>
            </a:r>
            <a:endParaRPr lang="zh-CN" altLang="zh-CN" sz="5400" dirty="0">
              <a:solidFill>
                <a:schemeClr val="accent3"/>
              </a:solidFill>
              <a:latin typeface="Calibri" panose="020F0502020204030204" pitchFamily="34" charset="0"/>
            </a:endParaRPr>
          </a:p>
        </p:txBody>
      </p:sp>
      <p:sp>
        <p:nvSpPr>
          <p:cNvPr id="9" name="Tartalom helye 2">
            <a:extLst>
              <a:ext uri="{FF2B5EF4-FFF2-40B4-BE49-F238E27FC236}">
                <a16:creationId xmlns:a16="http://schemas.microsoft.com/office/drawing/2014/main" id="{2F1C6C22-045E-40E1-90CB-130576644F0F}"/>
              </a:ext>
            </a:extLst>
          </p:cNvPr>
          <p:cNvSpPr txBox="1">
            <a:spLocks/>
          </p:cNvSpPr>
          <p:nvPr/>
        </p:nvSpPr>
        <p:spPr>
          <a:xfrm>
            <a:off x="86076" y="1841777"/>
            <a:ext cx="5506072" cy="42074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dirty="0"/>
              <a:t>Sharding is a method for distributing data across multiple machines. </a:t>
            </a:r>
          </a:p>
          <a:p>
            <a:pPr>
              <a:defRPr/>
            </a:pPr>
            <a:r>
              <a:rPr lang="en-US" dirty="0"/>
              <a:t>MongoDB uses </a:t>
            </a:r>
            <a:r>
              <a:rPr lang="en-US" dirty="0" err="1"/>
              <a:t>sharding</a:t>
            </a:r>
            <a:r>
              <a:rPr lang="en-US" dirty="0"/>
              <a:t> to support deployments with very large data sets and </a:t>
            </a:r>
            <a:r>
              <a:rPr lang="en-US" b="1" dirty="0"/>
              <a:t>high throughput operations.</a:t>
            </a:r>
            <a:endParaRPr lang="hu-HU" b="1" dirty="0"/>
          </a:p>
        </p:txBody>
      </p:sp>
      <p:pic>
        <p:nvPicPr>
          <p:cNvPr id="11" name="Picture 10">
            <a:extLst>
              <a:ext uri="{FF2B5EF4-FFF2-40B4-BE49-F238E27FC236}">
                <a16:creationId xmlns:a16="http://schemas.microsoft.com/office/drawing/2014/main" id="{C21D4A4E-046A-46EC-B25E-D03847DD6BA1}"/>
              </a:ext>
            </a:extLst>
          </p:cNvPr>
          <p:cNvPicPr>
            <a:picLocks noChangeAspect="1"/>
          </p:cNvPicPr>
          <p:nvPr/>
        </p:nvPicPr>
        <p:blipFill>
          <a:blip r:embed="rId2"/>
          <a:stretch>
            <a:fillRect/>
          </a:stretch>
        </p:blipFill>
        <p:spPr>
          <a:xfrm>
            <a:off x="6096000" y="1717776"/>
            <a:ext cx="4145035" cy="4249274"/>
          </a:xfrm>
          <a:prstGeom prst="rect">
            <a:avLst/>
          </a:prstGeom>
        </p:spPr>
      </p:pic>
    </p:spTree>
    <p:extLst>
      <p:ext uri="{BB962C8B-B14F-4D97-AF65-F5344CB8AC3E}">
        <p14:creationId xmlns:p14="http://schemas.microsoft.com/office/powerpoint/2010/main" val="525928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16">
            <a:extLst>
              <a:ext uri="{FF2B5EF4-FFF2-40B4-BE49-F238E27FC236}">
                <a16:creationId xmlns:a16="http://schemas.microsoft.com/office/drawing/2014/main" id="{8D4310E1-3B0E-4BB6-BB7C-F54A7503EA98}"/>
              </a:ext>
            </a:extLst>
          </p:cNvPr>
          <p:cNvSpPr/>
          <p:nvPr/>
        </p:nvSpPr>
        <p:spPr>
          <a:xfrm rot="2700000">
            <a:off x="3895195" y="3640429"/>
            <a:ext cx="298064" cy="534373"/>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88" name="Teardrop 1">
            <a:extLst>
              <a:ext uri="{FF2B5EF4-FFF2-40B4-BE49-F238E27FC236}">
                <a16:creationId xmlns:a16="http://schemas.microsoft.com/office/drawing/2014/main" id="{55AB887A-9899-412F-A87A-6C68DA1273F3}"/>
              </a:ext>
            </a:extLst>
          </p:cNvPr>
          <p:cNvSpPr/>
          <p:nvPr/>
        </p:nvSpPr>
        <p:spPr>
          <a:xfrm rot="18805991">
            <a:off x="5906366" y="3695853"/>
            <a:ext cx="422416" cy="418009"/>
          </a:xfrm>
          <a:custGeom>
            <a:avLst/>
            <a:gdLst/>
            <a:ahLst/>
            <a:cxnLst/>
            <a:rect l="l" t="t" r="r" b="b"/>
            <a:pathLst>
              <a:path w="1807241" h="1788383">
                <a:moveTo>
                  <a:pt x="712876" y="1117592"/>
                </a:moveTo>
                <a:cubicBezTo>
                  <a:pt x="771173" y="1181828"/>
                  <a:pt x="811089" y="1255910"/>
                  <a:pt x="847925" y="1348018"/>
                </a:cubicBezTo>
                <a:cubicBezTo>
                  <a:pt x="814544" y="1418896"/>
                  <a:pt x="753893" y="1474052"/>
                  <a:pt x="679064" y="1498332"/>
                </a:cubicBezTo>
                <a:lnTo>
                  <a:pt x="308226" y="1106637"/>
                </a:lnTo>
                <a:cubicBezTo>
                  <a:pt x="336560" y="1033247"/>
                  <a:pt x="394949" y="975701"/>
                  <a:pt x="467546" y="946245"/>
                </a:cubicBezTo>
                <a:cubicBezTo>
                  <a:pt x="577903" y="998968"/>
                  <a:pt x="654580" y="1053357"/>
                  <a:pt x="712876" y="1117592"/>
                </a:cubicBezTo>
                <a:close/>
                <a:moveTo>
                  <a:pt x="1038527" y="398886"/>
                </a:moveTo>
                <a:lnTo>
                  <a:pt x="1405560" y="786562"/>
                </a:lnTo>
                <a:cubicBezTo>
                  <a:pt x="1374476" y="799049"/>
                  <a:pt x="1340402" y="804299"/>
                  <a:pt x="1305054" y="803332"/>
                </a:cubicBezTo>
                <a:lnTo>
                  <a:pt x="1008167" y="795212"/>
                </a:lnTo>
                <a:lnTo>
                  <a:pt x="1016288" y="498325"/>
                </a:lnTo>
                <a:cubicBezTo>
                  <a:pt x="1017255" y="462976"/>
                  <a:pt x="1024360" y="429240"/>
                  <a:pt x="1038527" y="398886"/>
                </a:cubicBezTo>
                <a:close/>
                <a:moveTo>
                  <a:pt x="1097925" y="218888"/>
                </a:moveTo>
                <a:cubicBezTo>
                  <a:pt x="992582" y="279303"/>
                  <a:pt x="921871" y="392886"/>
                  <a:pt x="921053" y="523256"/>
                </a:cubicBezTo>
                <a:lnTo>
                  <a:pt x="919136" y="828763"/>
                </a:lnTo>
                <a:lnTo>
                  <a:pt x="830924" y="915875"/>
                </a:lnTo>
                <a:lnTo>
                  <a:pt x="525417" y="913958"/>
                </a:lnTo>
                <a:cubicBezTo>
                  <a:pt x="403891" y="913196"/>
                  <a:pt x="296188" y="973343"/>
                  <a:pt x="234366" y="1067831"/>
                </a:cubicBezTo>
                <a:lnTo>
                  <a:pt x="710285" y="1570519"/>
                </a:lnTo>
                <a:cubicBezTo>
                  <a:pt x="811872" y="1510375"/>
                  <a:pt x="878808" y="1399439"/>
                  <a:pt x="879603" y="1272618"/>
                </a:cubicBezTo>
                <a:lnTo>
                  <a:pt x="881520" y="967111"/>
                </a:lnTo>
                <a:lnTo>
                  <a:pt x="969732" y="879999"/>
                </a:lnTo>
                <a:lnTo>
                  <a:pt x="1275239" y="881916"/>
                </a:lnTo>
                <a:cubicBezTo>
                  <a:pt x="1400271" y="882701"/>
                  <a:pt x="1510670" y="819011"/>
                  <a:pt x="1573529" y="721242"/>
                </a:cubicBezTo>
                <a:close/>
                <a:moveTo>
                  <a:pt x="1162945" y="27894"/>
                </a:moveTo>
                <a:lnTo>
                  <a:pt x="1782798" y="682611"/>
                </a:lnTo>
                <a:cubicBezTo>
                  <a:pt x="1816692" y="718411"/>
                  <a:pt x="1815147" y="774907"/>
                  <a:pt x="1779347" y="808801"/>
                </a:cubicBezTo>
                <a:cubicBezTo>
                  <a:pt x="1743547" y="842694"/>
                  <a:pt x="1687050" y="841149"/>
                  <a:pt x="1653157" y="805349"/>
                </a:cubicBezTo>
                <a:lnTo>
                  <a:pt x="1644015" y="795693"/>
                </a:lnTo>
                <a:cubicBezTo>
                  <a:pt x="1561789" y="910282"/>
                  <a:pt x="1426630" y="983636"/>
                  <a:pt x="1274606" y="982683"/>
                </a:cubicBezTo>
                <a:lnTo>
                  <a:pt x="980378" y="980836"/>
                </a:lnTo>
                <a:lnTo>
                  <a:pt x="980378" y="1270380"/>
                </a:lnTo>
                <a:cubicBezTo>
                  <a:pt x="980378" y="1427425"/>
                  <a:pt x="901198" y="1565976"/>
                  <a:pt x="779756" y="1647056"/>
                </a:cubicBezTo>
                <a:cubicBezTo>
                  <a:pt x="807405" y="1681913"/>
                  <a:pt x="803595" y="1732594"/>
                  <a:pt x="770486" y="1763941"/>
                </a:cubicBezTo>
                <a:cubicBezTo>
                  <a:pt x="734686" y="1797834"/>
                  <a:pt x="678189" y="1796289"/>
                  <a:pt x="644296" y="1760489"/>
                </a:cubicBezTo>
                <a:lnTo>
                  <a:pt x="24442" y="1105772"/>
                </a:lnTo>
                <a:cubicBezTo>
                  <a:pt x="-9451" y="1069973"/>
                  <a:pt x="-7906" y="1013476"/>
                  <a:pt x="27894" y="979583"/>
                </a:cubicBezTo>
                <a:cubicBezTo>
                  <a:pt x="63694" y="945689"/>
                  <a:pt x="120190" y="947235"/>
                  <a:pt x="154084" y="983034"/>
                </a:cubicBezTo>
                <a:lnTo>
                  <a:pt x="163237" y="992702"/>
                </a:lnTo>
                <a:cubicBezTo>
                  <a:pt x="244774" y="882877"/>
                  <a:pt x="375836" y="813180"/>
                  <a:pt x="523178" y="813180"/>
                </a:cubicBezTo>
                <a:lnTo>
                  <a:pt x="818460" y="813180"/>
                </a:lnTo>
                <a:lnTo>
                  <a:pt x="820284" y="522622"/>
                </a:lnTo>
                <a:cubicBezTo>
                  <a:pt x="821285" y="363119"/>
                  <a:pt x="903845" y="223207"/>
                  <a:pt x="1028952" y="143673"/>
                </a:cubicBezTo>
                <a:cubicBezTo>
                  <a:pt x="999689" y="108599"/>
                  <a:pt x="1002953" y="56445"/>
                  <a:pt x="1036755" y="24443"/>
                </a:cubicBezTo>
                <a:cubicBezTo>
                  <a:pt x="1072555" y="-9451"/>
                  <a:pt x="1129052" y="-7906"/>
                  <a:pt x="1162945" y="278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sp>
        <p:nvSpPr>
          <p:cNvPr id="89" name="Rectangle 130">
            <a:extLst>
              <a:ext uri="{FF2B5EF4-FFF2-40B4-BE49-F238E27FC236}">
                <a16:creationId xmlns:a16="http://schemas.microsoft.com/office/drawing/2014/main" id="{E9F6910D-08B2-448E-9CBD-AF3616A1DD34}"/>
              </a:ext>
            </a:extLst>
          </p:cNvPr>
          <p:cNvSpPr/>
          <p:nvPr/>
        </p:nvSpPr>
        <p:spPr>
          <a:xfrm>
            <a:off x="7986107" y="3713707"/>
            <a:ext cx="379301" cy="381023"/>
          </a:xfrm>
          <a:custGeom>
            <a:avLst/>
            <a:gdLst/>
            <a:ahLst/>
            <a:cxnLst/>
            <a:rect l="l" t="t" r="r" b="b"/>
            <a:pathLst>
              <a:path w="371900" h="373588">
                <a:moveTo>
                  <a:pt x="297080" y="129105"/>
                </a:moveTo>
                <a:lnTo>
                  <a:pt x="284273" y="219737"/>
                </a:lnTo>
                <a:lnTo>
                  <a:pt x="305496" y="219737"/>
                </a:lnTo>
                <a:lnTo>
                  <a:pt x="333001" y="129105"/>
                </a:lnTo>
                <a:close/>
                <a:moveTo>
                  <a:pt x="228265" y="129105"/>
                </a:moveTo>
                <a:lnTo>
                  <a:pt x="228265" y="219737"/>
                </a:lnTo>
                <a:lnTo>
                  <a:pt x="250807" y="219737"/>
                </a:lnTo>
                <a:lnTo>
                  <a:pt x="263614" y="129105"/>
                </a:lnTo>
                <a:close/>
                <a:moveTo>
                  <a:pt x="157021" y="129105"/>
                </a:moveTo>
                <a:lnTo>
                  <a:pt x="175826" y="219737"/>
                </a:lnTo>
                <a:lnTo>
                  <a:pt x="195129" y="219737"/>
                </a:lnTo>
                <a:lnTo>
                  <a:pt x="195129" y="129105"/>
                </a:lnTo>
                <a:close/>
                <a:moveTo>
                  <a:pt x="93087" y="129105"/>
                </a:moveTo>
                <a:lnTo>
                  <a:pt x="117372" y="219737"/>
                </a:lnTo>
                <a:lnTo>
                  <a:pt x="141984" y="219737"/>
                </a:lnTo>
                <a:lnTo>
                  <a:pt x="123179" y="129105"/>
                </a:lnTo>
                <a:close/>
                <a:moveTo>
                  <a:pt x="58494" y="0"/>
                </a:moveTo>
                <a:lnTo>
                  <a:pt x="84208" y="95969"/>
                </a:lnTo>
                <a:lnTo>
                  <a:pt x="354346" y="95969"/>
                </a:lnTo>
                <a:lnTo>
                  <a:pt x="354346" y="97437"/>
                </a:lnTo>
                <a:cubicBezTo>
                  <a:pt x="356087" y="96136"/>
                  <a:pt x="357928" y="96353"/>
                  <a:pt x="359747" y="96905"/>
                </a:cubicBezTo>
                <a:lnTo>
                  <a:pt x="360371" y="97095"/>
                </a:lnTo>
                <a:cubicBezTo>
                  <a:pt x="368954" y="99700"/>
                  <a:pt x="373801" y="108770"/>
                  <a:pt x="371196" y="117354"/>
                </a:cubicBezTo>
                <a:lnTo>
                  <a:pt x="333339" y="242097"/>
                </a:lnTo>
                <a:cubicBezTo>
                  <a:pt x="331591" y="247858"/>
                  <a:pt x="326929" y="251935"/>
                  <a:pt x="321206" y="252122"/>
                </a:cubicBezTo>
                <a:lnTo>
                  <a:pt x="321206" y="252873"/>
                </a:lnTo>
                <a:lnTo>
                  <a:pt x="313576" y="252873"/>
                </a:lnTo>
                <a:cubicBezTo>
                  <a:pt x="313378" y="253010"/>
                  <a:pt x="313229" y="252967"/>
                  <a:pt x="313080" y="252922"/>
                </a:cubicBezTo>
                <a:lnTo>
                  <a:pt x="312919" y="252873"/>
                </a:lnTo>
                <a:lnTo>
                  <a:pt x="126251" y="252873"/>
                </a:lnTo>
                <a:lnTo>
                  <a:pt x="133971" y="281687"/>
                </a:lnTo>
                <a:lnTo>
                  <a:pt x="321075" y="281687"/>
                </a:lnTo>
                <a:lnTo>
                  <a:pt x="321075" y="314823"/>
                </a:lnTo>
                <a:lnTo>
                  <a:pt x="318480" y="314823"/>
                </a:lnTo>
                <a:cubicBezTo>
                  <a:pt x="329614" y="318311"/>
                  <a:pt x="336414" y="328969"/>
                  <a:pt x="336414" y="341215"/>
                </a:cubicBezTo>
                <a:cubicBezTo>
                  <a:pt x="336414" y="359094"/>
                  <a:pt x="321920" y="373588"/>
                  <a:pt x="304041" y="373588"/>
                </a:cubicBezTo>
                <a:cubicBezTo>
                  <a:pt x="286162" y="373588"/>
                  <a:pt x="271668" y="359094"/>
                  <a:pt x="271668" y="341215"/>
                </a:cubicBezTo>
                <a:cubicBezTo>
                  <a:pt x="271668" y="328969"/>
                  <a:pt x="278468" y="318311"/>
                  <a:pt x="289602" y="314823"/>
                </a:cubicBezTo>
                <a:lnTo>
                  <a:pt x="142850" y="314823"/>
                </a:lnTo>
                <a:lnTo>
                  <a:pt x="143397" y="316865"/>
                </a:lnTo>
                <a:cubicBezTo>
                  <a:pt x="151629" y="321811"/>
                  <a:pt x="156401" y="330956"/>
                  <a:pt x="156401" y="341215"/>
                </a:cubicBezTo>
                <a:cubicBezTo>
                  <a:pt x="156401" y="359094"/>
                  <a:pt x="141907" y="373588"/>
                  <a:pt x="124028" y="373588"/>
                </a:cubicBezTo>
                <a:cubicBezTo>
                  <a:pt x="106149" y="373588"/>
                  <a:pt x="91655" y="359094"/>
                  <a:pt x="91655" y="341215"/>
                </a:cubicBezTo>
                <a:cubicBezTo>
                  <a:pt x="91655" y="329356"/>
                  <a:pt x="98032" y="318986"/>
                  <a:pt x="108649" y="315212"/>
                </a:cubicBezTo>
                <a:lnTo>
                  <a:pt x="33542" y="34909"/>
                </a:lnTo>
                <a:lnTo>
                  <a:pt x="0" y="34909"/>
                </a:lnTo>
                <a:lnTo>
                  <a:pt x="0" y="1773"/>
                </a:lnTo>
                <a:lnTo>
                  <a:pt x="51879" y="177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sp>
        <p:nvSpPr>
          <p:cNvPr id="8" name="Text Placeholder 1">
            <a:extLst>
              <a:ext uri="{FF2B5EF4-FFF2-40B4-BE49-F238E27FC236}">
                <a16:creationId xmlns:a16="http://schemas.microsoft.com/office/drawing/2014/main" id="{DE215665-D737-49D2-BE72-4AB6528C4855}"/>
              </a:ext>
            </a:extLst>
          </p:cNvPr>
          <p:cNvSpPr>
            <a:spLocks noGrp="1"/>
          </p:cNvSpPr>
          <p:nvPr>
            <p:ph type="body" sz="quarter" idx="10"/>
          </p:nvPr>
        </p:nvSpPr>
        <p:spPr>
          <a:xfrm>
            <a:off x="166029" y="179379"/>
            <a:ext cx="6248527" cy="724247"/>
          </a:xfrm>
        </p:spPr>
        <p:txBody>
          <a:bodyPr>
            <a:normAutofit fontScale="92500" lnSpcReduction="10000"/>
          </a:bodyPr>
          <a:lstStyle/>
          <a:p>
            <a:pPr algn="l" eaLnBrk="1" hangingPunct="1"/>
            <a:r>
              <a:rPr lang="en-US" altLang="zh-CN" sz="5400" dirty="0">
                <a:solidFill>
                  <a:schemeClr val="accent3"/>
                </a:solidFill>
                <a:latin typeface="Calibri" panose="020F0502020204030204" pitchFamily="34" charset="0"/>
              </a:rPr>
              <a:t>Sharding Architecture </a:t>
            </a:r>
            <a:endParaRPr lang="zh-CN" altLang="zh-CN" sz="5400" dirty="0">
              <a:solidFill>
                <a:schemeClr val="accent3"/>
              </a:solidFill>
              <a:latin typeface="Calibri" panose="020F0502020204030204" pitchFamily="34" charset="0"/>
            </a:endParaRPr>
          </a:p>
        </p:txBody>
      </p:sp>
      <p:sp>
        <p:nvSpPr>
          <p:cNvPr id="9" name="Tartalom helye 2">
            <a:extLst>
              <a:ext uri="{FF2B5EF4-FFF2-40B4-BE49-F238E27FC236}">
                <a16:creationId xmlns:a16="http://schemas.microsoft.com/office/drawing/2014/main" id="{2F1C6C22-045E-40E1-90CB-130576644F0F}"/>
              </a:ext>
            </a:extLst>
          </p:cNvPr>
          <p:cNvSpPr txBox="1">
            <a:spLocks/>
          </p:cNvSpPr>
          <p:nvPr/>
        </p:nvSpPr>
        <p:spPr>
          <a:xfrm>
            <a:off x="166029" y="2548245"/>
            <a:ext cx="5506072" cy="42074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b="1" i="0" dirty="0">
                <a:solidFill>
                  <a:srgbClr val="262524"/>
                </a:solidFill>
                <a:effectLst/>
                <a:latin typeface="Geekflare"/>
              </a:rPr>
              <a:t>Shard</a:t>
            </a:r>
            <a:r>
              <a:rPr lang="en-US" b="0" i="0" dirty="0">
                <a:solidFill>
                  <a:srgbClr val="262524"/>
                </a:solidFill>
                <a:effectLst/>
                <a:latin typeface="Geekflare"/>
              </a:rPr>
              <a:t> is a Mongo instance to handle a subset of original data.</a:t>
            </a:r>
          </a:p>
          <a:p>
            <a:pPr algn="l"/>
            <a:r>
              <a:rPr lang="en-US" b="1" i="0" dirty="0">
                <a:solidFill>
                  <a:srgbClr val="262524"/>
                </a:solidFill>
                <a:effectLst/>
                <a:latin typeface="Geekflare"/>
              </a:rPr>
              <a:t>Mongos</a:t>
            </a:r>
            <a:r>
              <a:rPr lang="en-US" b="0" i="0" dirty="0">
                <a:solidFill>
                  <a:srgbClr val="262524"/>
                </a:solidFill>
                <a:effectLst/>
                <a:latin typeface="Geekflare"/>
              </a:rPr>
              <a:t> is a query router to shards.</a:t>
            </a:r>
          </a:p>
          <a:p>
            <a:pPr algn="l"/>
            <a:r>
              <a:rPr lang="en-US" b="1" i="0" dirty="0">
                <a:solidFill>
                  <a:srgbClr val="262524"/>
                </a:solidFill>
                <a:effectLst/>
                <a:latin typeface="Geekflare"/>
              </a:rPr>
              <a:t>Config Server</a:t>
            </a:r>
            <a:r>
              <a:rPr lang="en-US" b="0" i="0" dirty="0">
                <a:solidFill>
                  <a:srgbClr val="262524"/>
                </a:solidFill>
                <a:effectLst/>
                <a:latin typeface="Geekflare"/>
              </a:rPr>
              <a:t> is a Mongo instance which stores metadata information and configuration details of cluster. </a:t>
            </a:r>
          </a:p>
        </p:txBody>
      </p:sp>
      <p:pic>
        <p:nvPicPr>
          <p:cNvPr id="6" name="Picture 5">
            <a:extLst>
              <a:ext uri="{FF2B5EF4-FFF2-40B4-BE49-F238E27FC236}">
                <a16:creationId xmlns:a16="http://schemas.microsoft.com/office/drawing/2014/main" id="{EE12BD91-C18C-47AA-A5E5-2338563526A6}"/>
              </a:ext>
            </a:extLst>
          </p:cNvPr>
          <p:cNvPicPr>
            <a:picLocks noChangeAspect="1"/>
          </p:cNvPicPr>
          <p:nvPr/>
        </p:nvPicPr>
        <p:blipFill>
          <a:blip r:embed="rId2"/>
          <a:stretch>
            <a:fillRect/>
          </a:stretch>
        </p:blipFill>
        <p:spPr>
          <a:xfrm>
            <a:off x="6117574" y="1789505"/>
            <a:ext cx="6019800" cy="4311967"/>
          </a:xfrm>
          <a:prstGeom prst="rect">
            <a:avLst/>
          </a:prstGeom>
        </p:spPr>
      </p:pic>
    </p:spTree>
    <p:extLst>
      <p:ext uri="{BB962C8B-B14F-4D97-AF65-F5344CB8AC3E}">
        <p14:creationId xmlns:p14="http://schemas.microsoft.com/office/powerpoint/2010/main" val="801738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16">
            <a:extLst>
              <a:ext uri="{FF2B5EF4-FFF2-40B4-BE49-F238E27FC236}">
                <a16:creationId xmlns:a16="http://schemas.microsoft.com/office/drawing/2014/main" id="{8D4310E1-3B0E-4BB6-BB7C-F54A7503EA98}"/>
              </a:ext>
            </a:extLst>
          </p:cNvPr>
          <p:cNvSpPr/>
          <p:nvPr/>
        </p:nvSpPr>
        <p:spPr>
          <a:xfrm rot="2700000">
            <a:off x="3895195" y="3640429"/>
            <a:ext cx="298064" cy="534373"/>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88" name="Teardrop 1">
            <a:extLst>
              <a:ext uri="{FF2B5EF4-FFF2-40B4-BE49-F238E27FC236}">
                <a16:creationId xmlns:a16="http://schemas.microsoft.com/office/drawing/2014/main" id="{55AB887A-9899-412F-A87A-6C68DA1273F3}"/>
              </a:ext>
            </a:extLst>
          </p:cNvPr>
          <p:cNvSpPr/>
          <p:nvPr/>
        </p:nvSpPr>
        <p:spPr>
          <a:xfrm rot="18805991">
            <a:off x="5906366" y="3695853"/>
            <a:ext cx="422416" cy="418009"/>
          </a:xfrm>
          <a:custGeom>
            <a:avLst/>
            <a:gdLst/>
            <a:ahLst/>
            <a:cxnLst/>
            <a:rect l="l" t="t" r="r" b="b"/>
            <a:pathLst>
              <a:path w="1807241" h="1788383">
                <a:moveTo>
                  <a:pt x="712876" y="1117592"/>
                </a:moveTo>
                <a:cubicBezTo>
                  <a:pt x="771173" y="1181828"/>
                  <a:pt x="811089" y="1255910"/>
                  <a:pt x="847925" y="1348018"/>
                </a:cubicBezTo>
                <a:cubicBezTo>
                  <a:pt x="814544" y="1418896"/>
                  <a:pt x="753893" y="1474052"/>
                  <a:pt x="679064" y="1498332"/>
                </a:cubicBezTo>
                <a:lnTo>
                  <a:pt x="308226" y="1106637"/>
                </a:lnTo>
                <a:cubicBezTo>
                  <a:pt x="336560" y="1033247"/>
                  <a:pt x="394949" y="975701"/>
                  <a:pt x="467546" y="946245"/>
                </a:cubicBezTo>
                <a:cubicBezTo>
                  <a:pt x="577903" y="998968"/>
                  <a:pt x="654580" y="1053357"/>
                  <a:pt x="712876" y="1117592"/>
                </a:cubicBezTo>
                <a:close/>
                <a:moveTo>
                  <a:pt x="1038527" y="398886"/>
                </a:moveTo>
                <a:lnTo>
                  <a:pt x="1405560" y="786562"/>
                </a:lnTo>
                <a:cubicBezTo>
                  <a:pt x="1374476" y="799049"/>
                  <a:pt x="1340402" y="804299"/>
                  <a:pt x="1305054" y="803332"/>
                </a:cubicBezTo>
                <a:lnTo>
                  <a:pt x="1008167" y="795212"/>
                </a:lnTo>
                <a:lnTo>
                  <a:pt x="1016288" y="498325"/>
                </a:lnTo>
                <a:cubicBezTo>
                  <a:pt x="1017255" y="462976"/>
                  <a:pt x="1024360" y="429240"/>
                  <a:pt x="1038527" y="398886"/>
                </a:cubicBezTo>
                <a:close/>
                <a:moveTo>
                  <a:pt x="1097925" y="218888"/>
                </a:moveTo>
                <a:cubicBezTo>
                  <a:pt x="992582" y="279303"/>
                  <a:pt x="921871" y="392886"/>
                  <a:pt x="921053" y="523256"/>
                </a:cubicBezTo>
                <a:lnTo>
                  <a:pt x="919136" y="828763"/>
                </a:lnTo>
                <a:lnTo>
                  <a:pt x="830924" y="915875"/>
                </a:lnTo>
                <a:lnTo>
                  <a:pt x="525417" y="913958"/>
                </a:lnTo>
                <a:cubicBezTo>
                  <a:pt x="403891" y="913196"/>
                  <a:pt x="296188" y="973343"/>
                  <a:pt x="234366" y="1067831"/>
                </a:cubicBezTo>
                <a:lnTo>
                  <a:pt x="710285" y="1570519"/>
                </a:lnTo>
                <a:cubicBezTo>
                  <a:pt x="811872" y="1510375"/>
                  <a:pt x="878808" y="1399439"/>
                  <a:pt x="879603" y="1272618"/>
                </a:cubicBezTo>
                <a:lnTo>
                  <a:pt x="881520" y="967111"/>
                </a:lnTo>
                <a:lnTo>
                  <a:pt x="969732" y="879999"/>
                </a:lnTo>
                <a:lnTo>
                  <a:pt x="1275239" y="881916"/>
                </a:lnTo>
                <a:cubicBezTo>
                  <a:pt x="1400271" y="882701"/>
                  <a:pt x="1510670" y="819011"/>
                  <a:pt x="1573529" y="721242"/>
                </a:cubicBezTo>
                <a:close/>
                <a:moveTo>
                  <a:pt x="1162945" y="27894"/>
                </a:moveTo>
                <a:lnTo>
                  <a:pt x="1782798" y="682611"/>
                </a:lnTo>
                <a:cubicBezTo>
                  <a:pt x="1816692" y="718411"/>
                  <a:pt x="1815147" y="774907"/>
                  <a:pt x="1779347" y="808801"/>
                </a:cubicBezTo>
                <a:cubicBezTo>
                  <a:pt x="1743547" y="842694"/>
                  <a:pt x="1687050" y="841149"/>
                  <a:pt x="1653157" y="805349"/>
                </a:cubicBezTo>
                <a:lnTo>
                  <a:pt x="1644015" y="795693"/>
                </a:lnTo>
                <a:cubicBezTo>
                  <a:pt x="1561789" y="910282"/>
                  <a:pt x="1426630" y="983636"/>
                  <a:pt x="1274606" y="982683"/>
                </a:cubicBezTo>
                <a:lnTo>
                  <a:pt x="980378" y="980836"/>
                </a:lnTo>
                <a:lnTo>
                  <a:pt x="980378" y="1270380"/>
                </a:lnTo>
                <a:cubicBezTo>
                  <a:pt x="980378" y="1427425"/>
                  <a:pt x="901198" y="1565976"/>
                  <a:pt x="779756" y="1647056"/>
                </a:cubicBezTo>
                <a:cubicBezTo>
                  <a:pt x="807405" y="1681913"/>
                  <a:pt x="803595" y="1732594"/>
                  <a:pt x="770486" y="1763941"/>
                </a:cubicBezTo>
                <a:cubicBezTo>
                  <a:pt x="734686" y="1797834"/>
                  <a:pt x="678189" y="1796289"/>
                  <a:pt x="644296" y="1760489"/>
                </a:cubicBezTo>
                <a:lnTo>
                  <a:pt x="24442" y="1105772"/>
                </a:lnTo>
                <a:cubicBezTo>
                  <a:pt x="-9451" y="1069973"/>
                  <a:pt x="-7906" y="1013476"/>
                  <a:pt x="27894" y="979583"/>
                </a:cubicBezTo>
                <a:cubicBezTo>
                  <a:pt x="63694" y="945689"/>
                  <a:pt x="120190" y="947235"/>
                  <a:pt x="154084" y="983034"/>
                </a:cubicBezTo>
                <a:lnTo>
                  <a:pt x="163237" y="992702"/>
                </a:lnTo>
                <a:cubicBezTo>
                  <a:pt x="244774" y="882877"/>
                  <a:pt x="375836" y="813180"/>
                  <a:pt x="523178" y="813180"/>
                </a:cubicBezTo>
                <a:lnTo>
                  <a:pt x="818460" y="813180"/>
                </a:lnTo>
                <a:lnTo>
                  <a:pt x="820284" y="522622"/>
                </a:lnTo>
                <a:cubicBezTo>
                  <a:pt x="821285" y="363119"/>
                  <a:pt x="903845" y="223207"/>
                  <a:pt x="1028952" y="143673"/>
                </a:cubicBezTo>
                <a:cubicBezTo>
                  <a:pt x="999689" y="108599"/>
                  <a:pt x="1002953" y="56445"/>
                  <a:pt x="1036755" y="24443"/>
                </a:cubicBezTo>
                <a:cubicBezTo>
                  <a:pt x="1072555" y="-9451"/>
                  <a:pt x="1129052" y="-7906"/>
                  <a:pt x="1162945" y="278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sp>
        <p:nvSpPr>
          <p:cNvPr id="89" name="Rectangle 130">
            <a:extLst>
              <a:ext uri="{FF2B5EF4-FFF2-40B4-BE49-F238E27FC236}">
                <a16:creationId xmlns:a16="http://schemas.microsoft.com/office/drawing/2014/main" id="{E9F6910D-08B2-448E-9CBD-AF3616A1DD34}"/>
              </a:ext>
            </a:extLst>
          </p:cNvPr>
          <p:cNvSpPr/>
          <p:nvPr/>
        </p:nvSpPr>
        <p:spPr>
          <a:xfrm>
            <a:off x="7986107" y="3713707"/>
            <a:ext cx="379301" cy="381023"/>
          </a:xfrm>
          <a:custGeom>
            <a:avLst/>
            <a:gdLst/>
            <a:ahLst/>
            <a:cxnLst/>
            <a:rect l="l" t="t" r="r" b="b"/>
            <a:pathLst>
              <a:path w="371900" h="373588">
                <a:moveTo>
                  <a:pt x="297080" y="129105"/>
                </a:moveTo>
                <a:lnTo>
                  <a:pt x="284273" y="219737"/>
                </a:lnTo>
                <a:lnTo>
                  <a:pt x="305496" y="219737"/>
                </a:lnTo>
                <a:lnTo>
                  <a:pt x="333001" y="129105"/>
                </a:lnTo>
                <a:close/>
                <a:moveTo>
                  <a:pt x="228265" y="129105"/>
                </a:moveTo>
                <a:lnTo>
                  <a:pt x="228265" y="219737"/>
                </a:lnTo>
                <a:lnTo>
                  <a:pt x="250807" y="219737"/>
                </a:lnTo>
                <a:lnTo>
                  <a:pt x="263614" y="129105"/>
                </a:lnTo>
                <a:close/>
                <a:moveTo>
                  <a:pt x="157021" y="129105"/>
                </a:moveTo>
                <a:lnTo>
                  <a:pt x="175826" y="219737"/>
                </a:lnTo>
                <a:lnTo>
                  <a:pt x="195129" y="219737"/>
                </a:lnTo>
                <a:lnTo>
                  <a:pt x="195129" y="129105"/>
                </a:lnTo>
                <a:close/>
                <a:moveTo>
                  <a:pt x="93087" y="129105"/>
                </a:moveTo>
                <a:lnTo>
                  <a:pt x="117372" y="219737"/>
                </a:lnTo>
                <a:lnTo>
                  <a:pt x="141984" y="219737"/>
                </a:lnTo>
                <a:lnTo>
                  <a:pt x="123179" y="129105"/>
                </a:lnTo>
                <a:close/>
                <a:moveTo>
                  <a:pt x="58494" y="0"/>
                </a:moveTo>
                <a:lnTo>
                  <a:pt x="84208" y="95969"/>
                </a:lnTo>
                <a:lnTo>
                  <a:pt x="354346" y="95969"/>
                </a:lnTo>
                <a:lnTo>
                  <a:pt x="354346" y="97437"/>
                </a:lnTo>
                <a:cubicBezTo>
                  <a:pt x="356087" y="96136"/>
                  <a:pt x="357928" y="96353"/>
                  <a:pt x="359747" y="96905"/>
                </a:cubicBezTo>
                <a:lnTo>
                  <a:pt x="360371" y="97095"/>
                </a:lnTo>
                <a:cubicBezTo>
                  <a:pt x="368954" y="99700"/>
                  <a:pt x="373801" y="108770"/>
                  <a:pt x="371196" y="117354"/>
                </a:cubicBezTo>
                <a:lnTo>
                  <a:pt x="333339" y="242097"/>
                </a:lnTo>
                <a:cubicBezTo>
                  <a:pt x="331591" y="247858"/>
                  <a:pt x="326929" y="251935"/>
                  <a:pt x="321206" y="252122"/>
                </a:cubicBezTo>
                <a:lnTo>
                  <a:pt x="321206" y="252873"/>
                </a:lnTo>
                <a:lnTo>
                  <a:pt x="313576" y="252873"/>
                </a:lnTo>
                <a:cubicBezTo>
                  <a:pt x="313378" y="253010"/>
                  <a:pt x="313229" y="252967"/>
                  <a:pt x="313080" y="252922"/>
                </a:cubicBezTo>
                <a:lnTo>
                  <a:pt x="312919" y="252873"/>
                </a:lnTo>
                <a:lnTo>
                  <a:pt x="126251" y="252873"/>
                </a:lnTo>
                <a:lnTo>
                  <a:pt x="133971" y="281687"/>
                </a:lnTo>
                <a:lnTo>
                  <a:pt x="321075" y="281687"/>
                </a:lnTo>
                <a:lnTo>
                  <a:pt x="321075" y="314823"/>
                </a:lnTo>
                <a:lnTo>
                  <a:pt x="318480" y="314823"/>
                </a:lnTo>
                <a:cubicBezTo>
                  <a:pt x="329614" y="318311"/>
                  <a:pt x="336414" y="328969"/>
                  <a:pt x="336414" y="341215"/>
                </a:cubicBezTo>
                <a:cubicBezTo>
                  <a:pt x="336414" y="359094"/>
                  <a:pt x="321920" y="373588"/>
                  <a:pt x="304041" y="373588"/>
                </a:cubicBezTo>
                <a:cubicBezTo>
                  <a:pt x="286162" y="373588"/>
                  <a:pt x="271668" y="359094"/>
                  <a:pt x="271668" y="341215"/>
                </a:cubicBezTo>
                <a:cubicBezTo>
                  <a:pt x="271668" y="328969"/>
                  <a:pt x="278468" y="318311"/>
                  <a:pt x="289602" y="314823"/>
                </a:cubicBezTo>
                <a:lnTo>
                  <a:pt x="142850" y="314823"/>
                </a:lnTo>
                <a:lnTo>
                  <a:pt x="143397" y="316865"/>
                </a:lnTo>
                <a:cubicBezTo>
                  <a:pt x="151629" y="321811"/>
                  <a:pt x="156401" y="330956"/>
                  <a:pt x="156401" y="341215"/>
                </a:cubicBezTo>
                <a:cubicBezTo>
                  <a:pt x="156401" y="359094"/>
                  <a:pt x="141907" y="373588"/>
                  <a:pt x="124028" y="373588"/>
                </a:cubicBezTo>
                <a:cubicBezTo>
                  <a:pt x="106149" y="373588"/>
                  <a:pt x="91655" y="359094"/>
                  <a:pt x="91655" y="341215"/>
                </a:cubicBezTo>
                <a:cubicBezTo>
                  <a:pt x="91655" y="329356"/>
                  <a:pt x="98032" y="318986"/>
                  <a:pt x="108649" y="315212"/>
                </a:cubicBezTo>
                <a:lnTo>
                  <a:pt x="33542" y="34909"/>
                </a:lnTo>
                <a:lnTo>
                  <a:pt x="0" y="34909"/>
                </a:lnTo>
                <a:lnTo>
                  <a:pt x="0" y="1773"/>
                </a:lnTo>
                <a:lnTo>
                  <a:pt x="51879" y="177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sp>
        <p:nvSpPr>
          <p:cNvPr id="8" name="Text Placeholder 1">
            <a:extLst>
              <a:ext uri="{FF2B5EF4-FFF2-40B4-BE49-F238E27FC236}">
                <a16:creationId xmlns:a16="http://schemas.microsoft.com/office/drawing/2014/main" id="{DE215665-D737-49D2-BE72-4AB6528C4855}"/>
              </a:ext>
            </a:extLst>
          </p:cNvPr>
          <p:cNvSpPr>
            <a:spLocks noGrp="1"/>
          </p:cNvSpPr>
          <p:nvPr>
            <p:ph type="body" sz="quarter" idx="10"/>
          </p:nvPr>
        </p:nvSpPr>
        <p:spPr>
          <a:xfrm>
            <a:off x="627957" y="314601"/>
            <a:ext cx="5925243" cy="724247"/>
          </a:xfrm>
        </p:spPr>
        <p:txBody>
          <a:bodyPr>
            <a:normAutofit fontScale="92500" lnSpcReduction="10000"/>
          </a:bodyPr>
          <a:lstStyle/>
          <a:p>
            <a:pPr algn="l" eaLnBrk="1" hangingPunct="1"/>
            <a:r>
              <a:rPr lang="en-US" altLang="zh-CN" sz="5400" dirty="0">
                <a:solidFill>
                  <a:schemeClr val="accent3"/>
                </a:solidFill>
                <a:latin typeface="Calibri" panose="020F0502020204030204" pitchFamily="34" charset="0"/>
              </a:rPr>
              <a:t>Sharding/Replication</a:t>
            </a:r>
            <a:endParaRPr lang="zh-CN" altLang="zh-CN" sz="5400" dirty="0">
              <a:solidFill>
                <a:schemeClr val="accent3"/>
              </a:solidFill>
              <a:latin typeface="Calibri" panose="020F0502020204030204" pitchFamily="34" charset="0"/>
            </a:endParaRPr>
          </a:p>
        </p:txBody>
      </p:sp>
      <p:sp>
        <p:nvSpPr>
          <p:cNvPr id="9" name="Tartalom helye 2">
            <a:extLst>
              <a:ext uri="{FF2B5EF4-FFF2-40B4-BE49-F238E27FC236}">
                <a16:creationId xmlns:a16="http://schemas.microsoft.com/office/drawing/2014/main" id="{2F1C6C22-045E-40E1-90CB-130576644F0F}"/>
              </a:ext>
            </a:extLst>
          </p:cNvPr>
          <p:cNvSpPr txBox="1">
            <a:spLocks/>
          </p:cNvSpPr>
          <p:nvPr/>
        </p:nvSpPr>
        <p:spPr>
          <a:xfrm>
            <a:off x="120603" y="2650579"/>
            <a:ext cx="5506072" cy="42074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buFont typeface="Arial" panose="020B0604020202020204" pitchFamily="34" charset="0"/>
              <a:buChar char="•"/>
            </a:pPr>
            <a:r>
              <a:rPr lang="en-US" b="0" i="0" dirty="0">
                <a:solidFill>
                  <a:srgbClr val="000000"/>
                </a:solidFill>
                <a:effectLst/>
                <a:latin typeface="inherit"/>
              </a:rPr>
              <a:t>Replication Split data sets across multiple data nodes for high availability.</a:t>
            </a:r>
            <a:endParaRPr lang="en-US" b="0" i="0" dirty="0">
              <a:solidFill>
                <a:srgbClr val="5E5E5E"/>
              </a:solidFill>
              <a:effectLst/>
              <a:latin typeface="inherit"/>
            </a:endParaRPr>
          </a:p>
          <a:p>
            <a:pPr algn="l" fontAlgn="base">
              <a:buFont typeface="Arial" panose="020B0604020202020204" pitchFamily="34" charset="0"/>
              <a:buChar char="•"/>
            </a:pPr>
            <a:r>
              <a:rPr lang="en-US" b="0" i="0" dirty="0">
                <a:solidFill>
                  <a:srgbClr val="000000"/>
                </a:solidFill>
                <a:effectLst/>
                <a:latin typeface="inherit"/>
              </a:rPr>
              <a:t>Sharding scale up/down horizontally when it is required for high throughput </a:t>
            </a:r>
            <a:endParaRPr lang="en-US" b="0" i="0" dirty="0">
              <a:solidFill>
                <a:srgbClr val="5E5E5E"/>
              </a:solidFill>
              <a:effectLst/>
              <a:latin typeface="inherit"/>
            </a:endParaRPr>
          </a:p>
        </p:txBody>
      </p:sp>
      <p:pic>
        <p:nvPicPr>
          <p:cNvPr id="3" name="Picture 2">
            <a:extLst>
              <a:ext uri="{FF2B5EF4-FFF2-40B4-BE49-F238E27FC236}">
                <a16:creationId xmlns:a16="http://schemas.microsoft.com/office/drawing/2014/main" id="{960F6D57-748C-44A0-81A9-2B70A038D9AB}"/>
              </a:ext>
            </a:extLst>
          </p:cNvPr>
          <p:cNvPicPr>
            <a:picLocks noChangeAspect="1"/>
          </p:cNvPicPr>
          <p:nvPr/>
        </p:nvPicPr>
        <p:blipFill>
          <a:blip r:embed="rId2"/>
          <a:stretch>
            <a:fillRect/>
          </a:stretch>
        </p:blipFill>
        <p:spPr>
          <a:xfrm>
            <a:off x="5508957" y="1299666"/>
            <a:ext cx="6360220" cy="4935393"/>
          </a:xfrm>
          <a:prstGeom prst="rect">
            <a:avLst/>
          </a:prstGeom>
        </p:spPr>
      </p:pic>
    </p:spTree>
    <p:extLst>
      <p:ext uri="{BB962C8B-B14F-4D97-AF65-F5344CB8AC3E}">
        <p14:creationId xmlns:p14="http://schemas.microsoft.com/office/powerpoint/2010/main" val="3903870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DA351-0E34-33F2-B46B-DF3DA1B59804}"/>
              </a:ext>
            </a:extLst>
          </p:cNvPr>
          <p:cNvSpPr>
            <a:spLocks noGrp="1"/>
          </p:cNvSpPr>
          <p:nvPr>
            <p:ph type="title"/>
          </p:nvPr>
        </p:nvSpPr>
        <p:spPr>
          <a:xfrm>
            <a:off x="838200" y="365125"/>
            <a:ext cx="10515600" cy="385989"/>
          </a:xfrm>
        </p:spPr>
        <p:txBody>
          <a:bodyPr>
            <a:normAutofit fontScale="90000"/>
          </a:bodyPr>
          <a:lstStyle/>
          <a:p>
            <a:r>
              <a:rPr lang="en-IN" dirty="0"/>
              <a:t>Aggregation in MongoDB</a:t>
            </a:r>
          </a:p>
        </p:txBody>
      </p:sp>
      <p:sp>
        <p:nvSpPr>
          <p:cNvPr id="4" name="TextBox 3">
            <a:extLst>
              <a:ext uri="{FF2B5EF4-FFF2-40B4-BE49-F238E27FC236}">
                <a16:creationId xmlns:a16="http://schemas.microsoft.com/office/drawing/2014/main" id="{28CCABF1-D719-61B9-056D-873F9FD44AF9}"/>
              </a:ext>
            </a:extLst>
          </p:cNvPr>
          <p:cNvSpPr txBox="1"/>
          <p:nvPr/>
        </p:nvSpPr>
        <p:spPr>
          <a:xfrm>
            <a:off x="696685" y="1076351"/>
            <a:ext cx="8305800" cy="3554819"/>
          </a:xfrm>
          <a:prstGeom prst="rect">
            <a:avLst/>
          </a:prstGeom>
          <a:noFill/>
        </p:spPr>
        <p:txBody>
          <a:bodyPr wrap="square">
            <a:spAutoFit/>
          </a:bodyPr>
          <a:lstStyle/>
          <a:p>
            <a:pPr algn="l" fontAlgn="base">
              <a:spcAft>
                <a:spcPts val="1800"/>
              </a:spcAft>
              <a:buFont typeface="Arial" panose="020B0604020202020204" pitchFamily="34" charset="0"/>
              <a:buChar char="•"/>
            </a:pPr>
            <a:r>
              <a:rPr lang="en-US" b="0" i="0" dirty="0">
                <a:effectLst/>
                <a:latin typeface="Nunito" pitchFamily="2" charset="0"/>
              </a:rPr>
              <a:t>The Aggregation Framework in MongoDB is a powerful tool for performing data processing and transformation on documents within a collection.</a:t>
            </a:r>
            <a:br>
              <a:rPr lang="en-US" b="0" i="0" dirty="0">
                <a:effectLst/>
                <a:latin typeface="Nunito" pitchFamily="2" charset="0"/>
              </a:rPr>
            </a:br>
            <a:endParaRPr lang="en-US" b="0" i="0" dirty="0">
              <a:effectLst/>
              <a:latin typeface="Nunito" pitchFamily="2" charset="0"/>
            </a:endParaRPr>
          </a:p>
          <a:p>
            <a:pPr algn="l" fontAlgn="base">
              <a:spcAft>
                <a:spcPts val="1800"/>
              </a:spcAft>
              <a:buFont typeface="Arial" panose="020B0604020202020204" pitchFamily="34" charset="0"/>
              <a:buChar char="•"/>
            </a:pPr>
            <a:r>
              <a:rPr lang="en-US" b="0" i="0" dirty="0">
                <a:effectLst/>
                <a:latin typeface="Nunito" pitchFamily="2" charset="0"/>
              </a:rPr>
              <a:t>It works by passing documents through a multi-stage pipeline, where each stage performs a specific operation on the data, such as</a:t>
            </a:r>
            <a:r>
              <a:rPr lang="en-US" b="1" i="0" dirty="0">
                <a:effectLst/>
                <a:latin typeface="Nunito" pitchFamily="2" charset="0"/>
              </a:rPr>
              <a:t> filtering, grouping, sorting, reshaping and computing aggregations.</a:t>
            </a:r>
            <a:br>
              <a:rPr lang="en-US" b="0" i="0" dirty="0">
                <a:effectLst/>
                <a:latin typeface="Nunito" pitchFamily="2" charset="0"/>
              </a:rPr>
            </a:br>
            <a:endParaRPr lang="en-US" b="0" i="0" dirty="0">
              <a:effectLst/>
              <a:latin typeface="Nunito" pitchFamily="2" charset="0"/>
            </a:endParaRPr>
          </a:p>
          <a:p>
            <a:pPr algn="l" fontAlgn="base">
              <a:spcAft>
                <a:spcPts val="1800"/>
              </a:spcAft>
              <a:buFont typeface="Arial" panose="020B0604020202020204" pitchFamily="34" charset="0"/>
              <a:buChar char="•"/>
            </a:pPr>
            <a:r>
              <a:rPr lang="en-US" b="0" i="0" dirty="0">
                <a:effectLst/>
                <a:latin typeface="Nunito" pitchFamily="2" charset="0"/>
              </a:rPr>
              <a:t>This framework is particularly useful for creating complex data transformations and analytics directly within the </a:t>
            </a:r>
            <a:r>
              <a:rPr lang="en-US" b="1" i="0" u="sng" dirty="0">
                <a:effectLst/>
                <a:latin typeface="Nunito" pitchFamily="2" charset="0"/>
                <a:hlinkClick r:id="rId2">
                  <a:extLst>
                    <a:ext uri="{A12FA001-AC4F-418D-AE19-62706E023703}">
                      <ahyp:hlinkClr xmlns:ahyp="http://schemas.microsoft.com/office/drawing/2018/hyperlinkcolor" val="tx"/>
                    </a:ext>
                  </a:extLst>
                </a:hlinkClick>
              </a:rPr>
              <a:t>database</a:t>
            </a:r>
            <a:r>
              <a:rPr lang="en-US" b="0" i="0" dirty="0">
                <a:effectLst/>
                <a:latin typeface="Nunito" pitchFamily="2" charset="0"/>
              </a:rPr>
              <a:t>.</a:t>
            </a:r>
            <a:endParaRPr lang="en-US" dirty="0">
              <a:latin typeface="Nunito" pitchFamily="2" charset="0"/>
            </a:endParaRPr>
          </a:p>
          <a:p>
            <a:pPr algn="l" fontAlgn="base">
              <a:spcAft>
                <a:spcPts val="1800"/>
              </a:spcAft>
              <a:buFont typeface="Arial" panose="020B0604020202020204" pitchFamily="34" charset="0"/>
              <a:buChar char="•"/>
            </a:pPr>
            <a:endParaRPr lang="en-US" b="0" i="0" dirty="0">
              <a:effectLst/>
              <a:latin typeface="Nunito" pitchFamily="2" charset="0"/>
            </a:endParaRPr>
          </a:p>
        </p:txBody>
      </p:sp>
      <p:sp>
        <p:nvSpPr>
          <p:cNvPr id="7" name="Rectangle 3">
            <a:extLst>
              <a:ext uri="{FF2B5EF4-FFF2-40B4-BE49-F238E27FC236}">
                <a16:creationId xmlns:a16="http://schemas.microsoft.com/office/drawing/2014/main" id="{59FF43A7-F3E4-FF53-8445-4776C532F306}"/>
              </a:ext>
            </a:extLst>
          </p:cNvPr>
          <p:cNvSpPr>
            <a:spLocks noChangeArrowheads="1"/>
          </p:cNvSpPr>
          <p:nvPr/>
        </p:nvSpPr>
        <p:spPr bwMode="auto">
          <a:xfrm>
            <a:off x="272143" y="4462692"/>
            <a:ext cx="10363200" cy="987430"/>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err="1">
                <a:ln>
                  <a:noFill/>
                </a:ln>
                <a:solidFill>
                  <a:schemeClr val="tx1"/>
                </a:solidFill>
                <a:effectLst/>
                <a:latin typeface="Consolas" panose="020B0609020204030204" pitchFamily="49" charset="0"/>
              </a:rPr>
              <a:t>db.sales.aggregate</a:t>
            </a:r>
            <a:r>
              <a:rPr kumimoji="0" lang="en-US" altLang="en-US" sz="1200" b="0" i="0" u="none" strike="noStrike" cap="none" normalizeH="0" baseline="0" dirty="0">
                <a:ln>
                  <a:noFill/>
                </a:ln>
                <a:solidFill>
                  <a:schemeClr val="tx1"/>
                </a:solidFill>
                <a:effectLst/>
                <a:latin typeface="Consolas" panose="020B0609020204030204" pitchFamily="49" charset="0"/>
              </a:rPr>
              <a:t>([</a:t>
            </a:r>
            <a:br>
              <a:rPr kumimoji="0" lang="en-US" altLang="en-US" sz="1200" b="0" i="0" u="none" strike="noStrike" cap="none" normalizeH="0" baseline="0" dirty="0">
                <a:ln>
                  <a:noFill/>
                </a:ln>
                <a:solidFill>
                  <a:schemeClr val="tx1"/>
                </a:solidFill>
                <a:effectLst/>
                <a:latin typeface="Consolas" panose="020B0609020204030204" pitchFamily="49" charset="0"/>
              </a:rPr>
            </a:br>
            <a:r>
              <a:rPr kumimoji="0" lang="en-US" altLang="en-US" sz="1200" b="0" i="0" u="none" strike="noStrike" cap="none" normalizeH="0" baseline="0" dirty="0">
                <a:ln>
                  <a:noFill/>
                </a:ln>
                <a:solidFill>
                  <a:schemeClr val="tx1"/>
                </a:solidFill>
                <a:effectLst/>
                <a:latin typeface="Consolas" panose="020B0609020204030204" pitchFamily="49" charset="0"/>
              </a:rPr>
              <a:t>{ $match: { status: "completed" } }, // Filter completed sales</a:t>
            </a:r>
            <a:br>
              <a:rPr kumimoji="0" lang="en-US" altLang="en-US" sz="1200" b="0" i="0" u="none" strike="noStrike" cap="none" normalizeH="0" baseline="0" dirty="0">
                <a:ln>
                  <a:noFill/>
                </a:ln>
                <a:solidFill>
                  <a:schemeClr val="tx1"/>
                </a:solidFill>
                <a:effectLst/>
                <a:latin typeface="Consolas" panose="020B0609020204030204" pitchFamily="49" charset="0"/>
              </a:rPr>
            </a:br>
            <a:r>
              <a:rPr kumimoji="0" lang="en-US" altLang="en-US" sz="1200" b="0" i="0" u="none" strike="noStrike" cap="none" normalizeH="0" baseline="0" dirty="0">
                <a:ln>
                  <a:noFill/>
                </a:ln>
                <a:solidFill>
                  <a:schemeClr val="tx1"/>
                </a:solidFill>
                <a:effectLst/>
                <a:latin typeface="Consolas" panose="020B0609020204030204" pitchFamily="49" charset="0"/>
              </a:rPr>
              <a:t>{ $group: { _id: "$product", </a:t>
            </a:r>
            <a:r>
              <a:rPr kumimoji="0" lang="en-US" altLang="en-US" sz="1200" b="0" i="0" u="none" strike="noStrike" cap="none" normalizeH="0" baseline="0" dirty="0" err="1">
                <a:ln>
                  <a:noFill/>
                </a:ln>
                <a:solidFill>
                  <a:schemeClr val="tx1"/>
                </a:solidFill>
                <a:effectLst/>
                <a:latin typeface="Consolas" panose="020B0609020204030204" pitchFamily="49" charset="0"/>
              </a:rPr>
              <a:t>totalSales</a:t>
            </a:r>
            <a:r>
              <a:rPr kumimoji="0" lang="en-US" altLang="en-US" sz="1200" b="0" i="0" u="none" strike="noStrike" cap="none" normalizeH="0" baseline="0" dirty="0">
                <a:ln>
                  <a:noFill/>
                </a:ln>
                <a:solidFill>
                  <a:schemeClr val="tx1"/>
                </a:solidFill>
                <a:effectLst/>
                <a:latin typeface="Consolas" panose="020B0609020204030204" pitchFamily="49" charset="0"/>
              </a:rPr>
              <a:t>: { $sum: "$amount" } } }, // Group by product and sum the sales amount</a:t>
            </a:r>
            <a:br>
              <a:rPr kumimoji="0" lang="en-US" altLang="en-US" sz="1200" b="0" i="0" u="none" strike="noStrike" cap="none" normalizeH="0" baseline="0" dirty="0">
                <a:ln>
                  <a:noFill/>
                </a:ln>
                <a:solidFill>
                  <a:schemeClr val="tx1"/>
                </a:solidFill>
                <a:effectLst/>
                <a:latin typeface="Consolas" panose="020B0609020204030204" pitchFamily="49" charset="0"/>
              </a:rPr>
            </a:br>
            <a:r>
              <a:rPr kumimoji="0" lang="en-US" altLang="en-US" sz="1200" b="0" i="0" u="none" strike="noStrike" cap="none" normalizeH="0" baseline="0" dirty="0">
                <a:ln>
                  <a:noFill/>
                </a:ln>
                <a:solidFill>
                  <a:schemeClr val="tx1"/>
                </a:solidFill>
                <a:effectLst/>
                <a:latin typeface="Consolas" panose="020B0609020204030204" pitchFamily="49" charset="0"/>
              </a:rPr>
              <a:t>{ $sort: { </a:t>
            </a:r>
            <a:r>
              <a:rPr kumimoji="0" lang="en-US" altLang="en-US" sz="1200" b="0" i="0" u="none" strike="noStrike" cap="none" normalizeH="0" baseline="0" dirty="0" err="1">
                <a:ln>
                  <a:noFill/>
                </a:ln>
                <a:solidFill>
                  <a:schemeClr val="tx1"/>
                </a:solidFill>
                <a:effectLst/>
                <a:latin typeface="Consolas" panose="020B0609020204030204" pitchFamily="49" charset="0"/>
              </a:rPr>
              <a:t>totalSales</a:t>
            </a:r>
            <a:r>
              <a:rPr kumimoji="0" lang="en-US" altLang="en-US" sz="1200" b="0" i="0" u="none" strike="noStrike" cap="none" normalizeH="0" baseline="0" dirty="0">
                <a:ln>
                  <a:noFill/>
                </a:ln>
                <a:solidFill>
                  <a:schemeClr val="tx1"/>
                </a:solidFill>
                <a:effectLst/>
                <a:latin typeface="Consolas" panose="020B0609020204030204" pitchFamily="49" charset="0"/>
              </a:rPr>
              <a:t>: -1 } } // Sort by total sales in descending order</a:t>
            </a:r>
            <a:br>
              <a:rPr kumimoji="0" lang="en-US" altLang="en-US" sz="1200" b="0" i="0" u="none" strike="noStrike" cap="none" normalizeH="0" baseline="0" dirty="0">
                <a:ln>
                  <a:noFill/>
                </a:ln>
                <a:solidFill>
                  <a:schemeClr val="tx1"/>
                </a:solidFill>
                <a:effectLst/>
                <a:latin typeface="Consolas" panose="020B0609020204030204" pitchFamily="49" charset="0"/>
              </a:rPr>
            </a:br>
            <a:r>
              <a:rPr kumimoji="0" lang="en-US" altLang="en-US" sz="1200" b="0" i="0" u="none" strike="noStrike" cap="none" normalizeH="0" baseline="0" dirty="0">
                <a:ln>
                  <a:noFill/>
                </a:ln>
                <a:solidFill>
                  <a:schemeClr val="tx1"/>
                </a:solidFill>
                <a:effectLst/>
                <a:latin typeface="Consolas" panose="020B0609020204030204" pitchFamily="49" charset="0"/>
              </a:rPr>
              <a:t>])</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3315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7C1C9-0362-9EF0-7DC7-3E2BF3FB77F0}"/>
              </a:ext>
            </a:extLst>
          </p:cNvPr>
          <p:cNvSpPr>
            <a:spLocks noGrp="1"/>
          </p:cNvSpPr>
          <p:nvPr>
            <p:ph type="title"/>
          </p:nvPr>
        </p:nvSpPr>
        <p:spPr>
          <a:xfrm>
            <a:off x="838200" y="365125"/>
            <a:ext cx="10515600" cy="233589"/>
          </a:xfrm>
        </p:spPr>
        <p:txBody>
          <a:bodyPr>
            <a:normAutofit fontScale="90000"/>
          </a:bodyPr>
          <a:lstStyle/>
          <a:p>
            <a:r>
              <a:rPr lang="en-IN" dirty="0"/>
              <a:t>Data consistency in MongoDB</a:t>
            </a:r>
          </a:p>
        </p:txBody>
      </p:sp>
      <p:sp>
        <p:nvSpPr>
          <p:cNvPr id="4" name="TextBox 3">
            <a:extLst>
              <a:ext uri="{FF2B5EF4-FFF2-40B4-BE49-F238E27FC236}">
                <a16:creationId xmlns:a16="http://schemas.microsoft.com/office/drawing/2014/main" id="{6CC1A03C-8510-0287-C6E2-CB75094C2624}"/>
              </a:ext>
            </a:extLst>
          </p:cNvPr>
          <p:cNvSpPr txBox="1"/>
          <p:nvPr/>
        </p:nvSpPr>
        <p:spPr>
          <a:xfrm>
            <a:off x="1943100" y="1635242"/>
            <a:ext cx="8305800" cy="3426579"/>
          </a:xfrm>
          <a:prstGeom prst="rect">
            <a:avLst/>
          </a:prstGeom>
          <a:noFill/>
        </p:spPr>
        <p:txBody>
          <a:bodyPr wrap="square">
            <a:spAutoFit/>
          </a:bodyPr>
          <a:lstStyle/>
          <a:p>
            <a:pPr algn="just" rtl="0" fontAlgn="base">
              <a:spcAft>
                <a:spcPts val="750"/>
              </a:spcAft>
              <a:buNone/>
            </a:pPr>
            <a:r>
              <a:rPr lang="en-US" b="0" i="0" dirty="0">
                <a:effectLst/>
                <a:latin typeface="Nunito" pitchFamily="2" charset="0"/>
              </a:rPr>
              <a:t>MongoDB provides several mechanisms to ensure data consistency:</a:t>
            </a:r>
          </a:p>
          <a:p>
            <a:pPr algn="l" fontAlgn="base">
              <a:spcAft>
                <a:spcPts val="1800"/>
              </a:spcAft>
              <a:buFont typeface="Arial" panose="020B0604020202020204" pitchFamily="34" charset="0"/>
              <a:buChar char="•"/>
            </a:pPr>
            <a:r>
              <a:rPr lang="en-US" b="1" i="0" dirty="0">
                <a:effectLst/>
                <a:latin typeface="Nunito" pitchFamily="2" charset="0"/>
              </a:rPr>
              <a:t>Journaling:</a:t>
            </a:r>
            <a:r>
              <a:rPr lang="en-US" b="0" i="0" dirty="0">
                <a:effectLst/>
                <a:latin typeface="Nunito" pitchFamily="2" charset="0"/>
              </a:rPr>
              <a:t> MongoDB uses write-ahead logging to maintain data integrity.</a:t>
            </a:r>
            <a:br>
              <a:rPr lang="en-US" b="0" i="0" dirty="0">
                <a:effectLst/>
                <a:latin typeface="Nunito" pitchFamily="2" charset="0"/>
              </a:rPr>
            </a:br>
            <a:endParaRPr lang="en-US" b="0" i="0" dirty="0">
              <a:effectLst/>
              <a:latin typeface="Nunito" pitchFamily="2" charset="0"/>
            </a:endParaRPr>
          </a:p>
          <a:p>
            <a:pPr algn="l" fontAlgn="base">
              <a:spcAft>
                <a:spcPts val="1800"/>
              </a:spcAft>
              <a:buFont typeface="Arial" panose="020B0604020202020204" pitchFamily="34" charset="0"/>
              <a:buChar char="•"/>
            </a:pPr>
            <a:r>
              <a:rPr lang="en-US" b="1" i="0" dirty="0">
                <a:effectLst/>
                <a:latin typeface="Nunito" pitchFamily="2" charset="0"/>
              </a:rPr>
              <a:t>Write Concerns:</a:t>
            </a:r>
            <a:r>
              <a:rPr lang="en-US" b="0" i="0" dirty="0">
                <a:effectLst/>
                <a:latin typeface="Nunito" pitchFamily="2" charset="0"/>
              </a:rPr>
              <a:t> It specify the level of acknowledgment requested from MongoDB for write operations (e.g., acknowledgment from primary only, or acknowledgment from primary and secondaries).</a:t>
            </a:r>
            <a:br>
              <a:rPr lang="en-US" b="0" i="0" dirty="0">
                <a:effectLst/>
                <a:latin typeface="Nunito" pitchFamily="2" charset="0"/>
              </a:rPr>
            </a:br>
            <a:endParaRPr lang="en-US" b="0" i="0" dirty="0">
              <a:effectLst/>
              <a:latin typeface="Nunito" pitchFamily="2" charset="0"/>
            </a:endParaRPr>
          </a:p>
          <a:p>
            <a:pPr algn="l" fontAlgn="base">
              <a:spcAft>
                <a:spcPts val="1800"/>
              </a:spcAft>
              <a:buFont typeface="Arial" panose="020B0604020202020204" pitchFamily="34" charset="0"/>
              <a:buChar char="•"/>
            </a:pPr>
            <a:r>
              <a:rPr lang="en-US" b="1" i="0" dirty="0">
                <a:effectLst/>
                <a:latin typeface="Nunito" pitchFamily="2" charset="0"/>
              </a:rPr>
              <a:t>Replica Sets:</a:t>
            </a:r>
            <a:r>
              <a:rPr lang="en-US" b="0" i="0" dirty="0">
                <a:effectLst/>
                <a:latin typeface="Nunito" pitchFamily="2" charset="0"/>
              </a:rPr>
              <a:t> Replication ensures data is consistent across multiple nodes, and read concerns can be configured to ensure data consistency for read operations.</a:t>
            </a:r>
          </a:p>
        </p:txBody>
      </p:sp>
    </p:spTree>
    <p:extLst>
      <p:ext uri="{BB962C8B-B14F-4D97-AF65-F5344CB8AC3E}">
        <p14:creationId xmlns:p14="http://schemas.microsoft.com/office/powerpoint/2010/main" val="42077461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0419A-AD4D-F15F-61DA-1BE2C850CD32}"/>
              </a:ext>
            </a:extLst>
          </p:cNvPr>
          <p:cNvSpPr>
            <a:spLocks noGrp="1"/>
          </p:cNvSpPr>
          <p:nvPr>
            <p:ph type="title"/>
          </p:nvPr>
        </p:nvSpPr>
        <p:spPr>
          <a:xfrm>
            <a:off x="838200" y="365126"/>
            <a:ext cx="10515600" cy="429532"/>
          </a:xfrm>
        </p:spPr>
        <p:txBody>
          <a:bodyPr>
            <a:normAutofit fontScale="90000"/>
          </a:bodyPr>
          <a:lstStyle/>
          <a:p>
            <a:r>
              <a:rPr lang="en-IN" dirty="0"/>
              <a:t>CRUD operations</a:t>
            </a:r>
          </a:p>
        </p:txBody>
      </p:sp>
      <p:pic>
        <p:nvPicPr>
          <p:cNvPr id="6" name="Picture 5">
            <a:extLst>
              <a:ext uri="{FF2B5EF4-FFF2-40B4-BE49-F238E27FC236}">
                <a16:creationId xmlns:a16="http://schemas.microsoft.com/office/drawing/2014/main" id="{7D3A8382-3E8F-8CED-FEA0-9A0FA503B26A}"/>
              </a:ext>
            </a:extLst>
          </p:cNvPr>
          <p:cNvPicPr>
            <a:picLocks noChangeAspect="1"/>
          </p:cNvPicPr>
          <p:nvPr/>
        </p:nvPicPr>
        <p:blipFill>
          <a:blip r:embed="rId2"/>
          <a:stretch>
            <a:fillRect/>
          </a:stretch>
        </p:blipFill>
        <p:spPr>
          <a:xfrm>
            <a:off x="1122141" y="1230309"/>
            <a:ext cx="4639323" cy="1452765"/>
          </a:xfrm>
          <a:prstGeom prst="rect">
            <a:avLst/>
          </a:prstGeom>
        </p:spPr>
      </p:pic>
      <p:pic>
        <p:nvPicPr>
          <p:cNvPr id="8" name="Picture 7">
            <a:extLst>
              <a:ext uri="{FF2B5EF4-FFF2-40B4-BE49-F238E27FC236}">
                <a16:creationId xmlns:a16="http://schemas.microsoft.com/office/drawing/2014/main" id="{4C9EC636-DC03-78B1-062D-CC031ED0855F}"/>
              </a:ext>
            </a:extLst>
          </p:cNvPr>
          <p:cNvPicPr>
            <a:picLocks noChangeAspect="1"/>
          </p:cNvPicPr>
          <p:nvPr/>
        </p:nvPicPr>
        <p:blipFill>
          <a:blip r:embed="rId3"/>
          <a:stretch>
            <a:fillRect/>
          </a:stretch>
        </p:blipFill>
        <p:spPr>
          <a:xfrm>
            <a:off x="760778" y="3043035"/>
            <a:ext cx="4967723" cy="891386"/>
          </a:xfrm>
          <a:prstGeom prst="rect">
            <a:avLst/>
          </a:prstGeom>
        </p:spPr>
      </p:pic>
      <p:pic>
        <p:nvPicPr>
          <p:cNvPr id="10" name="Picture 9">
            <a:extLst>
              <a:ext uri="{FF2B5EF4-FFF2-40B4-BE49-F238E27FC236}">
                <a16:creationId xmlns:a16="http://schemas.microsoft.com/office/drawing/2014/main" id="{D63AB3E0-2724-EECE-427A-4C62A6CB0E83}"/>
              </a:ext>
            </a:extLst>
          </p:cNvPr>
          <p:cNvPicPr>
            <a:picLocks noChangeAspect="1"/>
          </p:cNvPicPr>
          <p:nvPr/>
        </p:nvPicPr>
        <p:blipFill>
          <a:blip r:embed="rId3"/>
          <a:stretch>
            <a:fillRect/>
          </a:stretch>
        </p:blipFill>
        <p:spPr>
          <a:xfrm>
            <a:off x="6430537" y="1230309"/>
            <a:ext cx="5595916" cy="1004106"/>
          </a:xfrm>
          <a:prstGeom prst="rect">
            <a:avLst/>
          </a:prstGeom>
        </p:spPr>
      </p:pic>
      <p:pic>
        <p:nvPicPr>
          <p:cNvPr id="12" name="Picture 11">
            <a:extLst>
              <a:ext uri="{FF2B5EF4-FFF2-40B4-BE49-F238E27FC236}">
                <a16:creationId xmlns:a16="http://schemas.microsoft.com/office/drawing/2014/main" id="{52355E70-3FFE-92FA-2551-592A187C0B3A}"/>
              </a:ext>
            </a:extLst>
          </p:cNvPr>
          <p:cNvPicPr>
            <a:picLocks noChangeAspect="1"/>
          </p:cNvPicPr>
          <p:nvPr/>
        </p:nvPicPr>
        <p:blipFill>
          <a:blip r:embed="rId4"/>
          <a:stretch>
            <a:fillRect/>
          </a:stretch>
        </p:blipFill>
        <p:spPr>
          <a:xfrm>
            <a:off x="6618208" y="3172315"/>
            <a:ext cx="4572635" cy="762106"/>
          </a:xfrm>
          <a:prstGeom prst="rect">
            <a:avLst/>
          </a:prstGeom>
        </p:spPr>
      </p:pic>
      <p:sp>
        <p:nvSpPr>
          <p:cNvPr id="14" name="TextBox 13">
            <a:extLst>
              <a:ext uri="{FF2B5EF4-FFF2-40B4-BE49-F238E27FC236}">
                <a16:creationId xmlns:a16="http://schemas.microsoft.com/office/drawing/2014/main" id="{D50B78F8-7623-6031-39D4-8A3B07CD0961}"/>
              </a:ext>
            </a:extLst>
          </p:cNvPr>
          <p:cNvSpPr txBox="1"/>
          <p:nvPr/>
        </p:nvSpPr>
        <p:spPr>
          <a:xfrm>
            <a:off x="3777037" y="5982003"/>
            <a:ext cx="6096000" cy="369332"/>
          </a:xfrm>
          <a:prstGeom prst="rect">
            <a:avLst/>
          </a:prstGeom>
          <a:noFill/>
        </p:spPr>
        <p:txBody>
          <a:bodyPr wrap="square">
            <a:spAutoFit/>
          </a:bodyPr>
          <a:lstStyle/>
          <a:p>
            <a:r>
              <a:rPr lang="en-IN" dirty="0">
                <a:hlinkClick r:id="rId5"/>
              </a:rPr>
              <a:t>https://www.mongodb.com/docs/manual/crud/</a:t>
            </a:r>
            <a:r>
              <a:rPr lang="en-IN" dirty="0"/>
              <a:t> </a:t>
            </a:r>
          </a:p>
        </p:txBody>
      </p:sp>
      <p:pic>
        <p:nvPicPr>
          <p:cNvPr id="16" name="Picture 15">
            <a:extLst>
              <a:ext uri="{FF2B5EF4-FFF2-40B4-BE49-F238E27FC236}">
                <a16:creationId xmlns:a16="http://schemas.microsoft.com/office/drawing/2014/main" id="{E6F3C804-4B97-4CC8-1801-F9778D9EAC08}"/>
              </a:ext>
            </a:extLst>
          </p:cNvPr>
          <p:cNvPicPr>
            <a:picLocks noChangeAspect="1"/>
          </p:cNvPicPr>
          <p:nvPr/>
        </p:nvPicPr>
        <p:blipFill>
          <a:blip r:embed="rId6"/>
          <a:stretch>
            <a:fillRect/>
          </a:stretch>
        </p:blipFill>
        <p:spPr>
          <a:xfrm>
            <a:off x="2530929" y="4159818"/>
            <a:ext cx="6906589" cy="1543265"/>
          </a:xfrm>
          <a:prstGeom prst="rect">
            <a:avLst/>
          </a:prstGeom>
        </p:spPr>
      </p:pic>
    </p:spTree>
    <p:extLst>
      <p:ext uri="{BB962C8B-B14F-4D97-AF65-F5344CB8AC3E}">
        <p14:creationId xmlns:p14="http://schemas.microsoft.com/office/powerpoint/2010/main" val="955054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319A2A-AAE8-B8B1-BEA6-2A6CA25F296D}"/>
              </a:ext>
            </a:extLst>
          </p:cNvPr>
          <p:cNvSpPr txBox="1"/>
          <p:nvPr/>
        </p:nvSpPr>
        <p:spPr>
          <a:xfrm>
            <a:off x="217714" y="1400965"/>
            <a:ext cx="11691257" cy="4893647"/>
          </a:xfrm>
          <a:prstGeom prst="rect">
            <a:avLst/>
          </a:prstGeom>
          <a:noFill/>
        </p:spPr>
        <p:txBody>
          <a:bodyPr wrap="square">
            <a:spAutoFit/>
          </a:bodyPr>
          <a:lstStyle/>
          <a:p>
            <a:pPr algn="l"/>
            <a:r>
              <a:rPr lang="en-US" sz="2400" b="0" i="0" dirty="0">
                <a:effectLst/>
              </a:rPr>
              <a:t>The </a:t>
            </a:r>
            <a:r>
              <a:rPr lang="en-US" sz="2400" b="0" i="0" dirty="0" err="1">
                <a:effectLst/>
              </a:rPr>
              <a:t>MongoTemplate</a:t>
            </a:r>
            <a:r>
              <a:rPr lang="en-US" sz="2400" b="0" i="0" dirty="0">
                <a:effectLst/>
              </a:rPr>
              <a:t> follows the standard template pattern in Spring and provides a ready-to-go, basic API to the underlying persistence engine. The repository follows the Spring Data-centric approach and comes with more flexible and complex API operations, based on the well-known access patterns in all Spring Data projects.</a:t>
            </a:r>
          </a:p>
          <a:p>
            <a:pPr algn="l"/>
            <a:endParaRPr lang="en-US" sz="2400" dirty="0"/>
          </a:p>
          <a:p>
            <a:pPr algn="l"/>
            <a:r>
              <a:rPr lang="en-US" sz="2400" b="1" i="0" dirty="0" err="1">
                <a:effectLst/>
              </a:rPr>
              <a:t>MongoTemplate</a:t>
            </a:r>
            <a:r>
              <a:rPr lang="en-US" sz="2400" b="0" i="0" dirty="0">
                <a:effectLst/>
              </a:rPr>
              <a:t> provides "atomic" out-of-the-box operations </a:t>
            </a:r>
            <a:r>
              <a:rPr lang="en-US" sz="2400" b="0" i="0" dirty="0" err="1">
                <a:effectLst/>
              </a:rPr>
              <a:t>updateFirst</a:t>
            </a:r>
            <a:r>
              <a:rPr lang="en-US" sz="2400" b="0" i="0" dirty="0">
                <a:effectLst/>
              </a:rPr>
              <a:t>, </a:t>
            </a:r>
            <a:r>
              <a:rPr lang="en-US" sz="2400" b="0" i="0" dirty="0" err="1">
                <a:effectLst/>
              </a:rPr>
              <a:t>updateMulti</a:t>
            </a:r>
            <a:r>
              <a:rPr lang="en-US" sz="2400" b="0" i="0" dirty="0">
                <a:effectLst/>
              </a:rPr>
              <a:t>, </a:t>
            </a:r>
            <a:r>
              <a:rPr lang="en-US" sz="2400" b="0" i="0" dirty="0" err="1">
                <a:effectLst/>
              </a:rPr>
              <a:t>findAndModify</a:t>
            </a:r>
            <a:r>
              <a:rPr lang="en-US" sz="2400" b="0" i="0" dirty="0">
                <a:effectLst/>
              </a:rPr>
              <a:t>, </a:t>
            </a:r>
            <a:r>
              <a:rPr lang="en-US" sz="2400" b="0" i="0" dirty="0" err="1">
                <a:effectLst/>
              </a:rPr>
              <a:t>upsert</a:t>
            </a:r>
            <a:r>
              <a:rPr lang="en-US" sz="2400" b="0" i="0" dirty="0">
                <a:effectLst/>
              </a:rPr>
              <a:t>... which allow you to modify a document in a single operation. The Update object used by these methods also allows you to target only the relevant fields.</a:t>
            </a:r>
          </a:p>
          <a:p>
            <a:pPr algn="l"/>
            <a:r>
              <a:rPr lang="en-US" sz="2400" b="1" i="0" dirty="0" err="1">
                <a:effectLst/>
              </a:rPr>
              <a:t>MongoRepository</a:t>
            </a:r>
            <a:r>
              <a:rPr lang="en-US" sz="2400" b="0" i="0" dirty="0">
                <a:effectLst/>
              </a:rPr>
              <a:t> only gives you the basic CRUD operations find, insert, save, delete, which work with POJOs containing all the fields. This forces you to either update the documents in several steps (1. find the document to update, 2. modify the relevant fields from the returned POJO, and then 3. save it), or define your own update queries by hand using @Query.</a:t>
            </a:r>
          </a:p>
        </p:txBody>
      </p:sp>
      <p:sp>
        <p:nvSpPr>
          <p:cNvPr id="4" name="Text Placeholder 1">
            <a:extLst>
              <a:ext uri="{FF2B5EF4-FFF2-40B4-BE49-F238E27FC236}">
                <a16:creationId xmlns:a16="http://schemas.microsoft.com/office/drawing/2014/main" id="{ED978F72-B3E8-2C5A-9DD3-76281FBD05D6}"/>
              </a:ext>
            </a:extLst>
          </p:cNvPr>
          <p:cNvSpPr txBox="1">
            <a:spLocks/>
          </p:cNvSpPr>
          <p:nvPr/>
        </p:nvSpPr>
        <p:spPr>
          <a:xfrm>
            <a:off x="627957" y="314601"/>
            <a:ext cx="10235986" cy="850170"/>
          </a:xfrm>
          <a:prstGeom prst="rect">
            <a:avLst/>
          </a:prstGeom>
        </p:spPr>
        <p:txBody>
          <a:bodyPr vert="horz" lIns="91440" tIns="45720" rIns="91440" bIns="45720" rtlCol="0" anchor="ctr">
            <a:normAutofit fontScale="85000" lnSpcReduction="10000"/>
          </a:bodyP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5400" dirty="0" err="1">
                <a:solidFill>
                  <a:schemeClr val="accent3"/>
                </a:solidFill>
                <a:latin typeface="Calibri" panose="020F0502020204030204" pitchFamily="34" charset="0"/>
              </a:rPr>
              <a:t>MongoTemplate</a:t>
            </a:r>
            <a:r>
              <a:rPr lang="en-US" altLang="zh-CN" sz="5400" dirty="0">
                <a:solidFill>
                  <a:schemeClr val="accent3"/>
                </a:solidFill>
                <a:latin typeface="Calibri" panose="020F0502020204030204" pitchFamily="34" charset="0"/>
              </a:rPr>
              <a:t> and </a:t>
            </a:r>
            <a:r>
              <a:rPr lang="en-US" altLang="zh-CN" sz="5400" dirty="0" err="1">
                <a:solidFill>
                  <a:schemeClr val="accent3"/>
                </a:solidFill>
                <a:latin typeface="Calibri" panose="020F0502020204030204" pitchFamily="34" charset="0"/>
              </a:rPr>
              <a:t>MongoRepository</a:t>
            </a:r>
            <a:endParaRPr lang="zh-CN" altLang="zh-CN" sz="5400" dirty="0">
              <a:solidFill>
                <a:schemeClr val="accent3"/>
              </a:solidFill>
              <a:latin typeface="Calibri" panose="020F0502020204030204" pitchFamily="34" charset="0"/>
            </a:endParaRPr>
          </a:p>
        </p:txBody>
      </p:sp>
    </p:spTree>
    <p:extLst>
      <p:ext uri="{BB962C8B-B14F-4D97-AF65-F5344CB8AC3E}">
        <p14:creationId xmlns:p14="http://schemas.microsoft.com/office/powerpoint/2010/main" val="1681551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AE7C2-E1E6-8575-6D4B-E3D8CA54533B}"/>
              </a:ext>
            </a:extLst>
          </p:cNvPr>
          <p:cNvSpPr txBox="1">
            <a:spLocks/>
          </p:cNvSpPr>
          <p:nvPr/>
        </p:nvSpPr>
        <p:spPr>
          <a:xfrm>
            <a:off x="70757" y="-5669"/>
            <a:ext cx="10880272" cy="34614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Sample implementation - </a:t>
            </a:r>
            <a:r>
              <a:rPr lang="en-US" sz="2000" dirty="0">
                <a:hlinkClick r:id="rId2"/>
              </a:rPr>
              <a:t>https://github.com/as6485/springmongodb</a:t>
            </a:r>
            <a:r>
              <a:rPr lang="en-US" sz="2000" dirty="0"/>
              <a:t> </a:t>
            </a:r>
          </a:p>
        </p:txBody>
      </p:sp>
      <p:pic>
        <p:nvPicPr>
          <p:cNvPr id="4" name="Picture 3">
            <a:extLst>
              <a:ext uri="{FF2B5EF4-FFF2-40B4-BE49-F238E27FC236}">
                <a16:creationId xmlns:a16="http://schemas.microsoft.com/office/drawing/2014/main" id="{50F0ADC9-5AC1-7CED-6368-D9B93226F712}"/>
              </a:ext>
            </a:extLst>
          </p:cNvPr>
          <p:cNvPicPr>
            <a:picLocks noChangeAspect="1"/>
          </p:cNvPicPr>
          <p:nvPr/>
        </p:nvPicPr>
        <p:blipFill>
          <a:blip r:embed="rId3"/>
          <a:stretch>
            <a:fillRect/>
          </a:stretch>
        </p:blipFill>
        <p:spPr>
          <a:xfrm>
            <a:off x="2275114" y="538880"/>
            <a:ext cx="7282543" cy="5698633"/>
          </a:xfrm>
          <a:prstGeom prst="rect">
            <a:avLst/>
          </a:prstGeom>
        </p:spPr>
      </p:pic>
    </p:spTree>
    <p:extLst>
      <p:ext uri="{BB962C8B-B14F-4D97-AF65-F5344CB8AC3E}">
        <p14:creationId xmlns:p14="http://schemas.microsoft.com/office/powerpoint/2010/main" val="7881759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normAutofit/>
          </a:bodyPr>
          <a:lstStyle/>
          <a:p>
            <a:r>
              <a:rPr lang="en-US" dirty="0">
                <a:hlinkClick r:id="rId2"/>
              </a:rPr>
              <a:t>https://en.wikipedia.org/wiki/MongoDB</a:t>
            </a:r>
            <a:r>
              <a:rPr lang="en-US" dirty="0"/>
              <a:t> </a:t>
            </a:r>
          </a:p>
          <a:p>
            <a:r>
              <a:rPr lang="en-US" dirty="0">
                <a:hlinkClick r:id="rId3"/>
              </a:rPr>
              <a:t>https://www.mongodb.com/</a:t>
            </a:r>
            <a:endParaRPr lang="en-US" dirty="0"/>
          </a:p>
          <a:p>
            <a:r>
              <a:rPr lang="en-US" dirty="0">
                <a:hlinkClick r:id="rId4"/>
              </a:rPr>
              <a:t>https://slideplayer.com/slide/9859102/</a:t>
            </a:r>
            <a:r>
              <a:rPr lang="en-US" dirty="0"/>
              <a:t> </a:t>
            </a:r>
          </a:p>
          <a:p>
            <a:r>
              <a:rPr lang="en-US" dirty="0">
                <a:hlinkClick r:id="rId5"/>
              </a:rPr>
              <a:t>https://stackoverflow.com/questions/17008947/whats-the-difference-between-spring-datas-mongotemplate-and-mongorepository</a:t>
            </a:r>
            <a:r>
              <a:rPr lang="en-US" dirty="0"/>
              <a:t> </a:t>
            </a:r>
          </a:p>
        </p:txBody>
      </p:sp>
    </p:spTree>
    <p:extLst>
      <p:ext uri="{BB962C8B-B14F-4D97-AF65-F5344CB8AC3E}">
        <p14:creationId xmlns:p14="http://schemas.microsoft.com/office/powerpoint/2010/main" val="1074557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TotalTime>
  <Words>1137</Words>
  <Application>Microsoft Office PowerPoint</Application>
  <PresentationFormat>Widescreen</PresentationFormat>
  <Paragraphs>124</Paragraphs>
  <Slides>18</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18</vt:i4>
      </vt:variant>
    </vt:vector>
  </HeadingPairs>
  <TitlesOfParts>
    <vt:vector size="32" baseType="lpstr">
      <vt:lpstr>__Source_Sans_3_a605e5</vt:lpstr>
      <vt:lpstr>Arial</vt:lpstr>
      <vt:lpstr>Calibri</vt:lpstr>
      <vt:lpstr>Calibri Light</vt:lpstr>
      <vt:lpstr>Consolas</vt:lpstr>
      <vt:lpstr>Constantia</vt:lpstr>
      <vt:lpstr>Geekflare</vt:lpstr>
      <vt:lpstr>Gill Sans</vt:lpstr>
      <vt:lpstr>inherit</vt:lpstr>
      <vt:lpstr>Inter</vt:lpstr>
      <vt:lpstr>Nunito</vt:lpstr>
      <vt:lpstr>Wingdings</vt:lpstr>
      <vt:lpstr>Wingdings 2</vt:lpstr>
      <vt:lpstr>Office Theme</vt:lpstr>
      <vt:lpstr>PowerPoint Presentation</vt:lpstr>
      <vt:lpstr>Overview</vt:lpstr>
      <vt:lpstr>PowerPoint Presentation</vt:lpstr>
      <vt:lpstr>PowerPoint Presentation</vt:lpstr>
      <vt:lpstr>PowerPoint Presentation</vt:lpstr>
      <vt:lpstr>PowerPoint Presentation</vt:lpstr>
      <vt:lpstr>Important Components</vt:lpstr>
      <vt:lpstr>PowerPoint Presentation</vt:lpstr>
      <vt:lpstr>PowerPoint Presentation</vt:lpstr>
      <vt:lpstr>PowerPoint Presentation</vt:lpstr>
      <vt:lpstr>PowerPoint Presentation</vt:lpstr>
      <vt:lpstr>PowerPoint Presentation</vt:lpstr>
      <vt:lpstr>Aggregation in MongoDB</vt:lpstr>
      <vt:lpstr>Data consistency in MongoDB</vt:lpstr>
      <vt:lpstr>CRUD operations</vt:lpstr>
      <vt:lpstr>PowerPoint Presentation</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Urmisha Sengupta</dc:creator>
  <cp:lastModifiedBy>Urmisha Sengupta</cp:lastModifiedBy>
  <cp:revision>55</cp:revision>
  <dcterms:created xsi:type="dcterms:W3CDTF">2023-10-16T14:39:36Z</dcterms:created>
  <dcterms:modified xsi:type="dcterms:W3CDTF">2025-05-05T15:02:18Z</dcterms:modified>
</cp:coreProperties>
</file>