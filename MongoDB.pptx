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362" r:id="rId4"/>
    <p:sldId id="365" r:id="rId5"/>
    <p:sldId id="366" r:id="rId6"/>
    <p:sldId id="372" r:id="rId7"/>
    <p:sldId id="367" r:id="rId8"/>
    <p:sldId id="368" r:id="rId9"/>
    <p:sldId id="369" r:id="rId10"/>
    <p:sldId id="370" r:id="rId11"/>
    <p:sldId id="371" r:id="rId12"/>
    <p:sldId id="374" r:id="rId13"/>
    <p:sldId id="3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ACABE-5793-C730-C02B-1EA6E1A648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3800B2E-29E3-7D14-3A0C-C5C4F26A236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2693E8D-9B96-FF56-4DAD-01A02C4E5282}"/>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5" name="Footer Placeholder 4">
            <a:extLst>
              <a:ext uri="{FF2B5EF4-FFF2-40B4-BE49-F238E27FC236}">
                <a16:creationId xmlns:a16="http://schemas.microsoft.com/office/drawing/2014/main" id="{C53A08D5-9142-9F97-3E6D-E81AA98B45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4EC4FEF-A9C2-D7FC-54B7-324CE4F4E1DA}"/>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782633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E48AC-D2FE-10A1-D686-E290BEF942C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6A92BC0-9244-CB87-3D40-077A8323D88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F26D051-24F0-C778-5D64-20E5B88C6DD4}"/>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5" name="Footer Placeholder 4">
            <a:extLst>
              <a:ext uri="{FF2B5EF4-FFF2-40B4-BE49-F238E27FC236}">
                <a16:creationId xmlns:a16="http://schemas.microsoft.com/office/drawing/2014/main" id="{DAA0A583-E0B8-8949-CF9B-0F250CB11CD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E95224E-CB1A-CFCB-54D8-6828367F20CF}"/>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8398559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AD047-84F7-4FCE-D253-4944A8C54F1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84BD355-1A90-DD24-3171-B819643A0CE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2CD7777-A9E7-4851-031C-B2CCF9F78FB5}"/>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5" name="Footer Placeholder 4">
            <a:extLst>
              <a:ext uri="{FF2B5EF4-FFF2-40B4-BE49-F238E27FC236}">
                <a16:creationId xmlns:a16="http://schemas.microsoft.com/office/drawing/2014/main" id="{A1224D2F-FE1C-2EB4-357B-4B5C11E63D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434FD5-EE9C-5C8F-CD4F-7269654C4296}"/>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431429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3C22A-BC43-A32A-F6F3-AC7E99BAE97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B2C4720-954A-1517-48A8-4A55FBF69B7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61D33C3-15B4-A290-79EA-0D8094F589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BA60FFE-F531-EE5F-467E-8979A612CC8A}"/>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6" name="Footer Placeholder 5">
            <a:extLst>
              <a:ext uri="{FF2B5EF4-FFF2-40B4-BE49-F238E27FC236}">
                <a16:creationId xmlns:a16="http://schemas.microsoft.com/office/drawing/2014/main" id="{A1F4D837-E2F6-8F96-6D66-41C7DFF9D7D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BBEDFB8-1CD3-FF98-06A6-E6DCCB251347}"/>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107417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DAA05-8F50-52A7-372E-DC6ACE8F557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C0E60F1-2D6A-3844-A57B-D1757A4064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E79C37-5F8D-C7F8-CD98-A5FC935E99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392F4EF-42CE-D95A-B6C3-2F79C994A9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DA5167-D468-28F6-39C8-BEA69861F8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47E7038-75FD-A9E6-FD08-5329A3D0C83B}"/>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8" name="Footer Placeholder 7">
            <a:extLst>
              <a:ext uri="{FF2B5EF4-FFF2-40B4-BE49-F238E27FC236}">
                <a16:creationId xmlns:a16="http://schemas.microsoft.com/office/drawing/2014/main" id="{69F0EE21-EDC7-8A1B-EF10-FA09454C683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ACF175A-742C-2402-CFBC-531AB7304501}"/>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20223246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D9932-D95C-37BD-B390-E2D908AC683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2A2A720-E249-C042-E232-614692D7C200}"/>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4" name="Footer Placeholder 3">
            <a:extLst>
              <a:ext uri="{FF2B5EF4-FFF2-40B4-BE49-F238E27FC236}">
                <a16:creationId xmlns:a16="http://schemas.microsoft.com/office/drawing/2014/main" id="{59BFA805-7B8A-D26E-2ACC-98946997F0D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12AF25E-A9F1-13D9-D1B8-85D6CE0B4D32}"/>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9175117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58A29F-861B-EEE5-20B5-6E09889CBE59}"/>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3" name="Footer Placeholder 2">
            <a:extLst>
              <a:ext uri="{FF2B5EF4-FFF2-40B4-BE49-F238E27FC236}">
                <a16:creationId xmlns:a16="http://schemas.microsoft.com/office/drawing/2014/main" id="{98D31773-7FC3-E88F-895A-2E6C22DF5BC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76FBA96-DA36-2981-4202-E58B7607EA49}"/>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3422305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4DB87E-D58B-8007-B828-9B4DB99B47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1C8C12B-D937-32EE-4C34-8DC00F9C18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B7F03B3-2CFF-6A5D-19DA-2854F95498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1F6BE49-529F-2593-4548-BD6C59F861BD}"/>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6" name="Footer Placeholder 5">
            <a:extLst>
              <a:ext uri="{FF2B5EF4-FFF2-40B4-BE49-F238E27FC236}">
                <a16:creationId xmlns:a16="http://schemas.microsoft.com/office/drawing/2014/main" id="{28CA7C42-2823-ED5A-07F9-36FE509435C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299BB19-189B-005E-F21C-4D9DE6475CE5}"/>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659218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34C1F-A6BA-EEEC-373E-1A3E2B8772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5D05471-3D5A-11C0-8F5F-0B1DE5B6FB3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3C0D396-130A-5353-FEE6-22065027BF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08E483-9FAC-86B5-4400-69B9B2F4B685}"/>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6" name="Footer Placeholder 5">
            <a:extLst>
              <a:ext uri="{FF2B5EF4-FFF2-40B4-BE49-F238E27FC236}">
                <a16:creationId xmlns:a16="http://schemas.microsoft.com/office/drawing/2014/main" id="{E4D8716B-D88B-E3A9-BF23-1E6C5BA3DFD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5CDBAD9-2FB9-C8D7-9DEB-004767DF7B55}"/>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2344945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134BD4-95B6-AC81-2B39-2FACA98D8249}"/>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7ED1124-E253-0D04-A20A-1A1CCCD83B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14D5A8-6AC7-0499-5153-1D7CA02363E0}"/>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5" name="Footer Placeholder 4">
            <a:extLst>
              <a:ext uri="{FF2B5EF4-FFF2-40B4-BE49-F238E27FC236}">
                <a16:creationId xmlns:a16="http://schemas.microsoft.com/office/drawing/2014/main" id="{51A3A4E8-8341-6CA9-91C9-DA18821B1B7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8A55431-75BE-3D84-5A44-C33B174D7560}"/>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0316045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97EFDD-52F9-F1D0-9C24-2DBADC9F1BD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ECB09F6-FEDF-E71F-0C60-62AB9C45C8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10DD57B-047D-F7D7-8B61-5D407FD73B21}"/>
              </a:ext>
            </a:extLst>
          </p:cNvPr>
          <p:cNvSpPr>
            <a:spLocks noGrp="1"/>
          </p:cNvSpPr>
          <p:nvPr>
            <p:ph type="dt" sz="half" idx="10"/>
          </p:nvPr>
        </p:nvSpPr>
        <p:spPr/>
        <p:txBody>
          <a:bodyPr/>
          <a:lstStyle/>
          <a:p>
            <a:fld id="{B66E714E-885D-4D12-977C-C047A2AC8E1D}" type="datetimeFigureOut">
              <a:rPr lang="en-IN" smtClean="0"/>
              <a:t>20-11-2023</a:t>
            </a:fld>
            <a:endParaRPr lang="en-IN"/>
          </a:p>
        </p:txBody>
      </p:sp>
      <p:sp>
        <p:nvSpPr>
          <p:cNvPr id="5" name="Footer Placeholder 4">
            <a:extLst>
              <a:ext uri="{FF2B5EF4-FFF2-40B4-BE49-F238E27FC236}">
                <a16:creationId xmlns:a16="http://schemas.microsoft.com/office/drawing/2014/main" id="{B70042F3-873E-D3F4-2AAF-32B65919A8E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515CBA4-5089-7085-CE07-0BF4589D76AF}"/>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3374766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dirty="0"/>
              <a:t>BASIC LAYOUT</a:t>
            </a:r>
          </a:p>
        </p:txBody>
      </p:sp>
    </p:spTree>
    <p:extLst>
      <p:ext uri="{BB962C8B-B14F-4D97-AF65-F5344CB8AC3E}">
        <p14:creationId xmlns:p14="http://schemas.microsoft.com/office/powerpoint/2010/main" val="3527324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07F8F4-0B3D-65F2-31F6-24CE7154E4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5BD904B-180B-C4E7-74B6-7CAECEA9FB0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F54194D-7B20-AE04-569D-1F1A02110E8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6E714E-885D-4D12-977C-C047A2AC8E1D}" type="datetimeFigureOut">
              <a:rPr lang="en-IN" smtClean="0"/>
              <a:t>20-11-2023</a:t>
            </a:fld>
            <a:endParaRPr lang="en-IN"/>
          </a:p>
        </p:txBody>
      </p:sp>
      <p:sp>
        <p:nvSpPr>
          <p:cNvPr id="5" name="Footer Placeholder 4">
            <a:extLst>
              <a:ext uri="{FF2B5EF4-FFF2-40B4-BE49-F238E27FC236}">
                <a16:creationId xmlns:a16="http://schemas.microsoft.com/office/drawing/2014/main" id="{B6D39C2A-E416-2158-6F17-3F14351D504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3F629325-588F-743F-E3F0-D46DF28EEF5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66D7DB-1E84-48AA-B84E-9BF98C01AE47}" type="slidenum">
              <a:rPr lang="en-IN" smtClean="0"/>
              <a:t>‹#›</a:t>
            </a:fld>
            <a:endParaRPr lang="en-IN"/>
          </a:p>
        </p:txBody>
      </p:sp>
    </p:spTree>
    <p:extLst>
      <p:ext uri="{BB962C8B-B14F-4D97-AF65-F5344CB8AC3E}">
        <p14:creationId xmlns:p14="http://schemas.microsoft.com/office/powerpoint/2010/main" val="13187306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ross-platform" TargetMode="External"/><Relationship Id="rId7" Type="http://schemas.openxmlformats.org/officeDocument/2006/relationships/hyperlink" Target="https://en.wikipedia.org/wiki/Database_schema" TargetMode="External"/><Relationship Id="rId2" Type="http://schemas.openxmlformats.org/officeDocument/2006/relationships/hyperlink" Target="https://en.wikipedia.org/wiki/Source-available" TargetMode="External"/><Relationship Id="rId1" Type="http://schemas.openxmlformats.org/officeDocument/2006/relationships/slideLayout" Target="../slideLayouts/slideLayout2.xml"/><Relationship Id="rId6" Type="http://schemas.openxmlformats.org/officeDocument/2006/relationships/hyperlink" Target="https://en.wikipedia.org/wiki/JSON" TargetMode="External"/><Relationship Id="rId5" Type="http://schemas.openxmlformats.org/officeDocument/2006/relationships/hyperlink" Target="https://en.wikipedia.org/wiki/NoSQL" TargetMode="External"/><Relationship Id="rId4" Type="http://schemas.openxmlformats.org/officeDocument/2006/relationships/hyperlink" Target="https://en.wikipedia.org/wiki/Document-oriented_database"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github.com/as6485/springmongodb" TargetMode="Externa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www.mongodb.com/" TargetMode="External"/><Relationship Id="rId2" Type="http://schemas.openxmlformats.org/officeDocument/2006/relationships/hyperlink" Target="https://en.wikipedia.org/wiki/MongoDB" TargetMode="External"/><Relationship Id="rId1" Type="http://schemas.openxmlformats.org/officeDocument/2006/relationships/slideLayout" Target="../slideLayouts/slideLayout2.xml"/><Relationship Id="rId5" Type="http://schemas.openxmlformats.org/officeDocument/2006/relationships/hyperlink" Target="https://stackoverflow.com/questions/17008947/whats-the-difference-between-spring-datas-mongotemplate-and-mongorepository" TargetMode="External"/><Relationship Id="rId4" Type="http://schemas.openxmlformats.org/officeDocument/2006/relationships/hyperlink" Target="https://slideplayer.com/slide/985910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2" descr="MongoDB logo">
            <a:extLst>
              <a:ext uri="{FF2B5EF4-FFF2-40B4-BE49-F238E27FC236}">
                <a16:creationId xmlns:a16="http://schemas.microsoft.com/office/drawing/2014/main" id="{4EDE54A6-7C3C-58B4-19C2-89FC338CD01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28" name="Picture 4" descr="MongoDB logo and symbol, meaning, history, PNG">
            <a:extLst>
              <a:ext uri="{FF2B5EF4-FFF2-40B4-BE49-F238E27FC236}">
                <a16:creationId xmlns:a16="http://schemas.microsoft.com/office/drawing/2014/main" id="{C5BD575B-FD13-DDBD-34A0-187CB91E39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5700" y="428625"/>
            <a:ext cx="4800600" cy="3000375"/>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3F7934F1-B10C-23F3-585B-F7800FE0E22B}"/>
              </a:ext>
            </a:extLst>
          </p:cNvPr>
          <p:cNvSpPr>
            <a:spLocks noGrp="1"/>
          </p:cNvSpPr>
          <p:nvPr>
            <p:ph type="subTitle" idx="1"/>
          </p:nvPr>
        </p:nvSpPr>
        <p:spPr>
          <a:xfrm>
            <a:off x="1524000" y="3602038"/>
            <a:ext cx="9144000" cy="1655762"/>
          </a:xfrm>
        </p:spPr>
        <p:txBody>
          <a:bodyPr>
            <a:normAutofit/>
          </a:bodyPr>
          <a:lstStyle/>
          <a:p>
            <a:r>
              <a:rPr lang="en-US" dirty="0"/>
              <a:t>Ayan Sengupta</a:t>
            </a:r>
          </a:p>
        </p:txBody>
      </p:sp>
    </p:spTree>
    <p:extLst>
      <p:ext uri="{BB962C8B-B14F-4D97-AF65-F5344CB8AC3E}">
        <p14:creationId xmlns:p14="http://schemas.microsoft.com/office/powerpoint/2010/main" val="18073049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Overview</a:t>
            </a:r>
          </a:p>
        </p:txBody>
      </p:sp>
      <p:sp>
        <p:nvSpPr>
          <p:cNvPr id="5" name="Content Placeholder 4"/>
          <p:cNvSpPr>
            <a:spLocks noGrp="1"/>
          </p:cNvSpPr>
          <p:nvPr>
            <p:ph idx="1"/>
          </p:nvPr>
        </p:nvSpPr>
        <p:spPr>
          <a:xfrm>
            <a:off x="838200" y="1825625"/>
            <a:ext cx="10515600" cy="3247118"/>
          </a:xfrm>
        </p:spPr>
        <p:txBody>
          <a:bodyPr>
            <a:normAutofit/>
          </a:bodyPr>
          <a:lstStyle/>
          <a:p>
            <a:pPr marL="0" indent="0">
              <a:buNone/>
            </a:pPr>
            <a:r>
              <a:rPr lang="en-IN" b="1" i="1" dirty="0">
                <a:solidFill>
                  <a:srgbClr val="202122"/>
                </a:solidFill>
                <a:effectLst/>
                <a:latin typeface="Arial" panose="020B0604020202020204" pitchFamily="34" charset="0"/>
              </a:rPr>
              <a:t>“MongoDB</a:t>
            </a:r>
            <a:r>
              <a:rPr lang="en-IN" b="0" i="1" dirty="0">
                <a:solidFill>
                  <a:srgbClr val="202122"/>
                </a:solidFill>
                <a:effectLst/>
                <a:latin typeface="Arial" panose="020B0604020202020204" pitchFamily="34" charset="0"/>
              </a:rPr>
              <a:t> is a </a:t>
            </a:r>
            <a:r>
              <a:rPr lang="en-IN" b="0" i="1" u="none" strike="noStrike" dirty="0">
                <a:solidFill>
                  <a:srgbClr val="3366CC"/>
                </a:solidFill>
                <a:effectLst/>
                <a:latin typeface="Arial" panose="020B0604020202020204" pitchFamily="34" charset="0"/>
                <a:hlinkClick r:id="rId2" tooltip="Source-available"/>
              </a:rPr>
              <a:t>source-available</a:t>
            </a:r>
            <a:r>
              <a:rPr lang="en-IN" b="0" i="1" dirty="0">
                <a:solidFill>
                  <a:srgbClr val="202122"/>
                </a:solidFill>
                <a:effectLst/>
                <a:latin typeface="Arial" panose="020B0604020202020204" pitchFamily="34" charset="0"/>
              </a:rPr>
              <a:t> </a:t>
            </a:r>
            <a:r>
              <a:rPr lang="en-IN" b="0" i="1" u="none" strike="noStrike" dirty="0">
                <a:solidFill>
                  <a:srgbClr val="3366CC"/>
                </a:solidFill>
                <a:effectLst/>
                <a:latin typeface="Arial" panose="020B0604020202020204" pitchFamily="34" charset="0"/>
                <a:hlinkClick r:id="rId3" tooltip="Cross-platform"/>
              </a:rPr>
              <a:t>cross-platform</a:t>
            </a:r>
            <a:r>
              <a:rPr lang="en-IN" b="0" i="1" dirty="0">
                <a:solidFill>
                  <a:srgbClr val="202122"/>
                </a:solidFill>
                <a:effectLst/>
                <a:latin typeface="Arial" panose="020B0604020202020204" pitchFamily="34" charset="0"/>
              </a:rPr>
              <a:t> </a:t>
            </a:r>
            <a:r>
              <a:rPr lang="en-IN" b="0" i="1" u="none" strike="noStrike" dirty="0">
                <a:solidFill>
                  <a:srgbClr val="3366CC"/>
                </a:solidFill>
                <a:effectLst/>
                <a:latin typeface="Arial" panose="020B0604020202020204" pitchFamily="34" charset="0"/>
                <a:hlinkClick r:id="rId4" tooltip="Document-oriented database"/>
              </a:rPr>
              <a:t>document-oriented database</a:t>
            </a:r>
            <a:r>
              <a:rPr lang="en-IN" b="0" i="1" dirty="0">
                <a:solidFill>
                  <a:srgbClr val="202122"/>
                </a:solidFill>
                <a:effectLst/>
                <a:latin typeface="Arial" panose="020B0604020202020204" pitchFamily="34" charset="0"/>
              </a:rPr>
              <a:t> program. Classified as a </a:t>
            </a:r>
            <a:r>
              <a:rPr lang="en-IN" b="0" i="1" u="none" strike="noStrike" dirty="0">
                <a:solidFill>
                  <a:srgbClr val="3366CC"/>
                </a:solidFill>
                <a:effectLst/>
                <a:latin typeface="Arial" panose="020B0604020202020204" pitchFamily="34" charset="0"/>
                <a:hlinkClick r:id="rId5" tooltip="NoSQL"/>
              </a:rPr>
              <a:t>NoSQL</a:t>
            </a:r>
            <a:r>
              <a:rPr lang="en-IN" b="0" i="1" dirty="0">
                <a:solidFill>
                  <a:srgbClr val="202122"/>
                </a:solidFill>
                <a:effectLst/>
                <a:latin typeface="Arial" panose="020B0604020202020204" pitchFamily="34" charset="0"/>
              </a:rPr>
              <a:t> database program, MongoDB uses </a:t>
            </a:r>
            <a:r>
              <a:rPr lang="en-IN" b="0" i="1" u="none" strike="noStrike" dirty="0">
                <a:solidFill>
                  <a:srgbClr val="3366CC"/>
                </a:solidFill>
                <a:effectLst/>
                <a:latin typeface="Arial" panose="020B0604020202020204" pitchFamily="34" charset="0"/>
                <a:hlinkClick r:id="rId6" tooltip="JSON"/>
              </a:rPr>
              <a:t>JSON</a:t>
            </a:r>
            <a:r>
              <a:rPr lang="en-IN" b="0" i="1" dirty="0">
                <a:solidFill>
                  <a:srgbClr val="202122"/>
                </a:solidFill>
                <a:effectLst/>
                <a:latin typeface="Arial" panose="020B0604020202020204" pitchFamily="34" charset="0"/>
              </a:rPr>
              <a:t>-like documents with optional </a:t>
            </a:r>
            <a:r>
              <a:rPr lang="en-IN" b="0" i="1" u="none" strike="noStrike" dirty="0">
                <a:solidFill>
                  <a:srgbClr val="3366CC"/>
                </a:solidFill>
                <a:effectLst/>
                <a:latin typeface="Arial" panose="020B0604020202020204" pitchFamily="34" charset="0"/>
                <a:hlinkClick r:id="rId7" tooltip="Database schema"/>
              </a:rPr>
              <a:t>schemas</a:t>
            </a:r>
            <a:r>
              <a:rPr lang="en-IN" b="0" i="1" dirty="0">
                <a:solidFill>
                  <a:srgbClr val="202122"/>
                </a:solidFill>
                <a:effectLst/>
                <a:latin typeface="Arial" panose="020B0604020202020204" pitchFamily="34" charset="0"/>
              </a:rPr>
              <a:t>.”</a:t>
            </a:r>
          </a:p>
          <a:p>
            <a:pPr marL="0" indent="0">
              <a:buNone/>
            </a:pPr>
            <a:endParaRPr lang="en-IN" i="1" dirty="0">
              <a:solidFill>
                <a:srgbClr val="202122"/>
              </a:solidFill>
              <a:latin typeface="Arial" panose="020B0604020202020204" pitchFamily="34" charset="0"/>
            </a:endParaRPr>
          </a:p>
          <a:p>
            <a:pPr marL="0" indent="0">
              <a:buNone/>
            </a:pPr>
            <a:endParaRPr lang="en-US" b="1" i="1" dirty="0"/>
          </a:p>
        </p:txBody>
      </p:sp>
    </p:spTree>
    <p:extLst>
      <p:ext uri="{BB962C8B-B14F-4D97-AF65-F5344CB8AC3E}">
        <p14:creationId xmlns:p14="http://schemas.microsoft.com/office/powerpoint/2010/main" val="579019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30975" y="210417"/>
            <a:ext cx="11573197" cy="638669"/>
          </a:xfrm>
        </p:spPr>
        <p:txBody>
          <a:bodyPr>
            <a:normAutofit fontScale="85000" lnSpcReduction="20000"/>
          </a:bodyPr>
          <a:lstStyle/>
          <a:p>
            <a:pPr algn="l" eaLnBrk="1" hangingPunct="1"/>
            <a:r>
              <a:rPr lang="en-US" altLang="zh-CN" sz="5400" dirty="0">
                <a:solidFill>
                  <a:schemeClr val="accent3"/>
                </a:solidFill>
                <a:latin typeface="Calibri" panose="020F0502020204030204" pitchFamily="34" charset="0"/>
              </a:rPr>
              <a:t>What is</a:t>
            </a:r>
            <a:endParaRPr lang="zh-CN" altLang="zh-CN" sz="5400" dirty="0">
              <a:solidFill>
                <a:schemeClr val="accent3"/>
              </a:solidFill>
              <a:latin typeface="Calibri" panose="020F0502020204030204" pitchFamily="34" charset="0"/>
            </a:endParaRPr>
          </a:p>
        </p:txBody>
      </p:sp>
      <p:sp>
        <p:nvSpPr>
          <p:cNvPr id="9" name="TextBox 8">
            <a:extLst>
              <a:ext uri="{FF2B5EF4-FFF2-40B4-BE49-F238E27FC236}">
                <a16:creationId xmlns:a16="http://schemas.microsoft.com/office/drawing/2014/main" id="{FB3A774B-F5C6-4696-A0C3-5761C26215AC}"/>
              </a:ext>
            </a:extLst>
          </p:cNvPr>
          <p:cNvSpPr txBox="1"/>
          <p:nvPr/>
        </p:nvSpPr>
        <p:spPr>
          <a:xfrm>
            <a:off x="1126655" y="1413077"/>
            <a:ext cx="3547885" cy="3962623"/>
          </a:xfrm>
          <a:prstGeom prst="rect">
            <a:avLst/>
          </a:prstGeom>
          <a:noFill/>
        </p:spPr>
        <p:txBody>
          <a:bodyPr wrap="square">
            <a:spAutoFit/>
          </a:bodyPr>
          <a:lstStyle/>
          <a:p>
            <a:pPr marL="285750" indent="-285750" eaLnBrk="1" hangingPunct="1">
              <a:spcBef>
                <a:spcPts val="650"/>
              </a:spcBef>
              <a:buClr>
                <a:srgbClr val="0BD0D9"/>
              </a:buClr>
              <a:buSzPct val="95000"/>
              <a:buFont typeface="Wingdings" panose="05000000000000000000" pitchFamily="2" charset="2"/>
              <a:buChar char="ü"/>
              <a:defRPr/>
            </a:pPr>
            <a:r>
              <a:rPr lang="en-US" altLang="zh-CN" sz="1800" b="1" dirty="0">
                <a:solidFill>
                  <a:srgbClr val="000000"/>
                </a:solidFill>
                <a:latin typeface="Constantia" panose="02030602050306030303" pitchFamily="18" charset="0"/>
              </a:rPr>
              <a:t> </a:t>
            </a:r>
            <a:r>
              <a:rPr lang="en-US" altLang="zh-CN" sz="1800" dirty="0">
                <a:solidFill>
                  <a:srgbClr val="000000"/>
                </a:solidFill>
                <a:latin typeface="Constantia" panose="02030602050306030303" pitchFamily="18" charset="0"/>
              </a:rPr>
              <a:t>MongoDB is an </a:t>
            </a:r>
            <a:r>
              <a:rPr lang="en-US" altLang="zh-CN" sz="1800" dirty="0">
                <a:solidFill>
                  <a:schemeClr val="accent1"/>
                </a:solidFill>
                <a:latin typeface="Constantia" panose="02030602050306030303" pitchFamily="18" charset="0"/>
              </a:rPr>
              <a:t>open source</a:t>
            </a:r>
            <a:r>
              <a:rPr lang="en-US" altLang="zh-CN" sz="1800" dirty="0">
                <a:solidFill>
                  <a:srgbClr val="000000"/>
                </a:solidFill>
                <a:latin typeface="Constantia" panose="02030602050306030303" pitchFamily="18" charset="0"/>
              </a:rPr>
              <a:t>, </a:t>
            </a:r>
            <a:r>
              <a:rPr lang="en-US" altLang="zh-CN" sz="1800" dirty="0">
                <a:solidFill>
                  <a:schemeClr val="accent1"/>
                </a:solidFill>
                <a:latin typeface="Constantia" panose="02030602050306030303" pitchFamily="18" charset="0"/>
              </a:rPr>
              <a:t>document-oriented</a:t>
            </a:r>
            <a:r>
              <a:rPr lang="en-US" altLang="zh-CN" sz="1800" dirty="0">
                <a:solidFill>
                  <a:srgbClr val="000000"/>
                </a:solidFill>
                <a:latin typeface="Constantia" panose="02030602050306030303" pitchFamily="18" charset="0"/>
              </a:rPr>
              <a:t> database designed with both scalability and developer agility in mind. </a:t>
            </a:r>
          </a:p>
          <a:p>
            <a:pPr marL="285750" indent="-285750" eaLnBrk="1" hangingPunct="1">
              <a:spcBef>
                <a:spcPts val="650"/>
              </a:spcBef>
              <a:buClr>
                <a:srgbClr val="0BD0D9"/>
              </a:buClr>
              <a:buSzPct val="95000"/>
              <a:buFont typeface="Wingdings" panose="05000000000000000000" pitchFamily="2" charset="2"/>
              <a:buChar char="ü"/>
              <a:defRPr/>
            </a:pPr>
            <a:r>
              <a:rPr lang="en-US" altLang="zh-CN" sz="1800" dirty="0">
                <a:solidFill>
                  <a:srgbClr val="000000"/>
                </a:solidFill>
                <a:latin typeface="Constantia" panose="02030602050306030303" pitchFamily="18" charset="0"/>
              </a:rPr>
              <a:t>Instead of storing your data</a:t>
            </a:r>
            <a:r>
              <a:rPr lang="en-US" altLang="zh-CN" sz="1800" dirty="0">
                <a:solidFill>
                  <a:schemeClr val="tx1"/>
                </a:solidFill>
                <a:latin typeface="Constantia" panose="02030602050306030303" pitchFamily="18" charset="0"/>
              </a:rPr>
              <a:t> in </a:t>
            </a:r>
            <a:r>
              <a:rPr lang="en-US" altLang="zh-CN" sz="1800" dirty="0">
                <a:solidFill>
                  <a:srgbClr val="FF0000"/>
                </a:solidFill>
                <a:latin typeface="Constantia" panose="02030602050306030303" pitchFamily="18" charset="0"/>
              </a:rPr>
              <a:t>tables and rows</a:t>
            </a:r>
            <a:r>
              <a:rPr lang="en-US" altLang="zh-CN" sz="1800" dirty="0">
                <a:solidFill>
                  <a:srgbClr val="000000"/>
                </a:solidFill>
                <a:latin typeface="Constantia" panose="02030602050306030303" pitchFamily="18" charset="0"/>
              </a:rPr>
              <a:t> as you would with a relational database, in MongoDB you store </a:t>
            </a:r>
            <a:r>
              <a:rPr lang="en-US" altLang="zh-CN" sz="1800" dirty="0">
                <a:solidFill>
                  <a:schemeClr val="accent1"/>
                </a:solidFill>
                <a:latin typeface="Constantia" panose="02030602050306030303" pitchFamily="18" charset="0"/>
              </a:rPr>
              <a:t>JSON-like documents </a:t>
            </a:r>
            <a:r>
              <a:rPr lang="en-US" altLang="zh-CN" sz="1800" dirty="0">
                <a:solidFill>
                  <a:srgbClr val="000000"/>
                </a:solidFill>
                <a:latin typeface="Constantia" panose="02030602050306030303" pitchFamily="18" charset="0"/>
              </a:rPr>
              <a:t>with </a:t>
            </a:r>
            <a:r>
              <a:rPr lang="en-US" altLang="zh-CN" sz="1800" dirty="0">
                <a:solidFill>
                  <a:schemeClr val="accent1"/>
                </a:solidFill>
                <a:latin typeface="Constantia" panose="02030602050306030303" pitchFamily="18" charset="0"/>
              </a:rPr>
              <a:t>dynamic schemas(schema-free, schema less)</a:t>
            </a:r>
            <a:r>
              <a:rPr lang="en-US" altLang="zh-CN" sz="1800" dirty="0">
                <a:solidFill>
                  <a:srgbClr val="000000"/>
                </a:solidFill>
                <a:latin typeface="Constantia" panose="02030602050306030303" pitchFamily="18" charset="0"/>
              </a:rPr>
              <a:t>.</a:t>
            </a:r>
          </a:p>
          <a:p>
            <a:pPr eaLnBrk="1" hangingPunct="1">
              <a:spcBef>
                <a:spcPts val="650"/>
              </a:spcBef>
              <a:buClr>
                <a:srgbClr val="0BD0D9"/>
              </a:buClr>
              <a:buSzPct val="95000"/>
              <a:buFont typeface="Wingdings 2" panose="05020102010507070707" pitchFamily="18" charset="2"/>
              <a:buChar char=""/>
              <a:defRPr/>
            </a:pPr>
            <a:endParaRPr lang="en-US" altLang="zh-CN" sz="1800" dirty="0">
              <a:solidFill>
                <a:srgbClr val="000000"/>
              </a:solidFill>
              <a:latin typeface="Constantia" panose="02030602050306030303" pitchFamily="18" charset="0"/>
            </a:endParaRPr>
          </a:p>
          <a:p>
            <a:pPr eaLnBrk="1" hangingPunct="1">
              <a:spcBef>
                <a:spcPts val="650"/>
              </a:spcBef>
              <a:buClr>
                <a:srgbClr val="0BD0D9"/>
              </a:buClr>
              <a:buSzPct val="95000"/>
              <a:buFont typeface="Wingdings 2" panose="05020102010507070707" pitchFamily="18" charset="2"/>
              <a:buChar char=""/>
              <a:defRPr/>
            </a:pPr>
            <a:endParaRPr lang="zh-CN" altLang="zh-CN" sz="1800" dirty="0">
              <a:solidFill>
                <a:srgbClr val="000000"/>
              </a:solidFill>
              <a:latin typeface="Constantia" panose="02030602050306030303" pitchFamily="18" charset="0"/>
            </a:endParaRPr>
          </a:p>
        </p:txBody>
      </p:sp>
      <p:sp>
        <p:nvSpPr>
          <p:cNvPr id="13" name="Lekerekített téglalap 12">
            <a:extLst>
              <a:ext uri="{FF2B5EF4-FFF2-40B4-BE49-F238E27FC236}">
                <a16:creationId xmlns:a16="http://schemas.microsoft.com/office/drawing/2014/main" id="{C968A72D-97FA-4817-93BC-5758E08A95B8}"/>
              </a:ext>
            </a:extLst>
          </p:cNvPr>
          <p:cNvSpPr/>
          <p:nvPr/>
        </p:nvSpPr>
        <p:spPr>
          <a:xfrm>
            <a:off x="5081480" y="1378791"/>
            <a:ext cx="5983865" cy="3656171"/>
          </a:xfrm>
          <a:prstGeom prst="roundRect">
            <a:avLst/>
          </a:prstGeom>
        </p:spPr>
        <p:style>
          <a:lnRef idx="2">
            <a:schemeClr val="accent1"/>
          </a:lnRef>
          <a:fillRef idx="1">
            <a:schemeClr val="lt1"/>
          </a:fillRef>
          <a:effectRef idx="0">
            <a:schemeClr val="accent1"/>
          </a:effectRef>
          <a:fontRef idx="minor">
            <a:schemeClr val="dk1"/>
          </a:fontRef>
        </p:style>
        <p:txBody>
          <a:bodyPr anchor="ctr"/>
          <a:lstStyle/>
          <a:p>
            <a:pPr eaLnBrk="1" hangingPunct="1">
              <a:defRPr/>
            </a:pPr>
            <a:r>
              <a:rPr lang="en-US" sz="2000" dirty="0"/>
              <a:t>   </a:t>
            </a:r>
            <a:r>
              <a:rPr lang="hu-HU" sz="2000" dirty="0"/>
              <a:t>{</a:t>
            </a:r>
          </a:p>
          <a:p>
            <a:pPr eaLnBrk="1" hangingPunct="1">
              <a:defRPr/>
            </a:pPr>
            <a:r>
              <a:rPr lang="hu-HU" sz="2000" dirty="0"/>
              <a:t>        "_</a:t>
            </a:r>
            <a:r>
              <a:rPr lang="hu-HU" sz="2000" dirty="0" err="1"/>
              <a:t>id</a:t>
            </a:r>
            <a:r>
              <a:rPr lang="hu-HU" sz="2000" dirty="0"/>
              <a:t>" : </a:t>
            </a:r>
            <a:r>
              <a:rPr lang="hu-HU" sz="2000" dirty="0" err="1"/>
              <a:t>ObjectId</a:t>
            </a:r>
            <a:r>
              <a:rPr lang="hu-HU" sz="2000" dirty="0"/>
              <a:t>("5114e0bd42…"),</a:t>
            </a:r>
          </a:p>
          <a:p>
            <a:pPr eaLnBrk="1" hangingPunct="1">
              <a:defRPr/>
            </a:pPr>
            <a:r>
              <a:rPr lang="hu-HU" sz="2000" dirty="0"/>
              <a:t>        “</a:t>
            </a:r>
            <a:r>
              <a:rPr lang="en-US" sz="2000" dirty="0"/>
              <a:t>FirstName</a:t>
            </a:r>
            <a:r>
              <a:rPr lang="hu-HU" sz="2000" dirty="0"/>
              <a:t>" : "John",</a:t>
            </a:r>
          </a:p>
          <a:p>
            <a:pPr eaLnBrk="1" hangingPunct="1">
              <a:defRPr/>
            </a:pPr>
            <a:r>
              <a:rPr lang="hu-HU" sz="2000" dirty="0"/>
              <a:t>        “</a:t>
            </a:r>
            <a:r>
              <a:rPr lang="en-US" sz="2000" dirty="0"/>
              <a:t>L</a:t>
            </a:r>
            <a:r>
              <a:rPr lang="hu-HU" sz="2000" dirty="0"/>
              <a:t>ast</a:t>
            </a:r>
            <a:r>
              <a:rPr lang="en-US" sz="2000" dirty="0"/>
              <a:t>Name</a:t>
            </a:r>
            <a:r>
              <a:rPr lang="hu-HU" sz="2000" dirty="0"/>
              <a:t>" : "Doe",</a:t>
            </a:r>
          </a:p>
          <a:p>
            <a:pPr eaLnBrk="1" hangingPunct="1">
              <a:defRPr/>
            </a:pPr>
            <a:r>
              <a:rPr lang="hu-HU" sz="2000" dirty="0"/>
              <a:t>        “</a:t>
            </a:r>
            <a:r>
              <a:rPr lang="en-US" sz="2000" dirty="0"/>
              <a:t>A</a:t>
            </a:r>
            <a:r>
              <a:rPr lang="hu-HU" sz="2000" dirty="0"/>
              <a:t>ge" : 39, </a:t>
            </a:r>
          </a:p>
          <a:p>
            <a:pPr eaLnBrk="1" hangingPunct="1">
              <a:defRPr/>
            </a:pPr>
            <a:r>
              <a:rPr lang="hu-HU" sz="2000" dirty="0"/>
              <a:t>       “</a:t>
            </a:r>
            <a:r>
              <a:rPr lang="en-US" sz="2000" dirty="0"/>
              <a:t>I</a:t>
            </a:r>
            <a:r>
              <a:rPr lang="hu-HU" sz="2000" dirty="0"/>
              <a:t>nterests" : [ "Reading",</a:t>
            </a:r>
            <a:r>
              <a:rPr lang="en-US" sz="2000" dirty="0"/>
              <a:t> </a:t>
            </a:r>
            <a:r>
              <a:rPr lang="hu-HU" sz="2000" dirty="0"/>
              <a:t> "Mountain Biking ]</a:t>
            </a:r>
          </a:p>
          <a:p>
            <a:pPr eaLnBrk="1" hangingPunct="1">
              <a:defRPr/>
            </a:pPr>
            <a:r>
              <a:rPr lang="hu-HU" sz="2000" dirty="0"/>
              <a:t>       </a:t>
            </a:r>
            <a:r>
              <a:rPr lang="en-US" sz="2000" dirty="0"/>
              <a:t>“Favorites": { </a:t>
            </a:r>
            <a:endParaRPr lang="hu-HU" sz="2000" dirty="0"/>
          </a:p>
          <a:p>
            <a:pPr eaLnBrk="1" hangingPunct="1">
              <a:defRPr/>
            </a:pPr>
            <a:r>
              <a:rPr lang="hu-HU" sz="2000" dirty="0"/>
              <a:t>               </a:t>
            </a:r>
            <a:r>
              <a:rPr lang="en-US" sz="2000" dirty="0"/>
              <a:t> 	    "color": "Blue", </a:t>
            </a:r>
            <a:endParaRPr lang="hu-HU" sz="2000" dirty="0"/>
          </a:p>
          <a:p>
            <a:pPr eaLnBrk="1" hangingPunct="1">
              <a:defRPr/>
            </a:pPr>
            <a:r>
              <a:rPr lang="hu-HU" sz="2000" dirty="0"/>
              <a:t>               </a:t>
            </a:r>
            <a:r>
              <a:rPr lang="en-US" sz="2000" dirty="0"/>
              <a:t>                "sport": "Soccer“</a:t>
            </a:r>
          </a:p>
          <a:p>
            <a:pPr eaLnBrk="1" hangingPunct="1">
              <a:defRPr/>
            </a:pPr>
            <a:r>
              <a:rPr lang="en-US" sz="2000" dirty="0"/>
              <a:t>		} </a:t>
            </a:r>
            <a:endParaRPr lang="hu-HU" sz="2000" b="1" dirty="0"/>
          </a:p>
          <a:p>
            <a:pPr eaLnBrk="1" hangingPunct="1">
              <a:defRPr/>
            </a:pPr>
            <a:r>
              <a:rPr lang="en-US" sz="2000" dirty="0"/>
              <a:t>     </a:t>
            </a:r>
            <a:r>
              <a:rPr lang="hu-HU" sz="2000" dirty="0"/>
              <a:t>}</a:t>
            </a:r>
          </a:p>
        </p:txBody>
      </p:sp>
      <p:pic>
        <p:nvPicPr>
          <p:cNvPr id="2" name="Picture 1" descr="Logo&#10;&#10;Description automatically generated">
            <a:extLst>
              <a:ext uri="{FF2B5EF4-FFF2-40B4-BE49-F238E27FC236}">
                <a16:creationId xmlns:a16="http://schemas.microsoft.com/office/drawing/2014/main" id="{7A1CA8E3-62E1-E78E-7894-71B9393426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9772" y="0"/>
            <a:ext cx="3141138" cy="846635"/>
          </a:xfrm>
          <a:prstGeom prst="rect">
            <a:avLst/>
          </a:prstGeom>
        </p:spPr>
      </p:pic>
    </p:spTree>
    <p:extLst>
      <p:ext uri="{BB962C8B-B14F-4D97-AF65-F5344CB8AC3E}">
        <p14:creationId xmlns:p14="http://schemas.microsoft.com/office/powerpoint/2010/main" val="3713165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9131970" y="4624228"/>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11143141" y="4679652"/>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graphicFrame>
        <p:nvGraphicFramePr>
          <p:cNvPr id="10" name="Táblázat 1">
            <a:extLst>
              <a:ext uri="{FF2B5EF4-FFF2-40B4-BE49-F238E27FC236}">
                <a16:creationId xmlns:a16="http://schemas.microsoft.com/office/drawing/2014/main" id="{845BD246-DB95-4090-B617-9D15AC2214EB}"/>
              </a:ext>
            </a:extLst>
          </p:cNvPr>
          <p:cNvGraphicFramePr>
            <a:graphicFrameLocks noGrp="1"/>
          </p:cNvGraphicFramePr>
          <p:nvPr/>
        </p:nvGraphicFramePr>
        <p:xfrm>
          <a:off x="7118759" y="2680624"/>
          <a:ext cx="4867895" cy="2966152"/>
        </p:xfrm>
        <a:graphic>
          <a:graphicData uri="http://schemas.openxmlformats.org/drawingml/2006/table">
            <a:tbl>
              <a:tblPr firstRow="1" bandRow="1">
                <a:tableStyleId>{5C22544A-7EE6-4342-B048-85BDC9FD1C3A}</a:tableStyleId>
              </a:tblPr>
              <a:tblGrid>
                <a:gridCol w="1502757">
                  <a:extLst>
                    <a:ext uri="{9D8B030D-6E8A-4147-A177-3AD203B41FA5}">
                      <a16:colId xmlns:a16="http://schemas.microsoft.com/office/drawing/2014/main" val="20000"/>
                    </a:ext>
                  </a:extLst>
                </a:gridCol>
                <a:gridCol w="490119">
                  <a:extLst>
                    <a:ext uri="{9D8B030D-6E8A-4147-A177-3AD203B41FA5}">
                      <a16:colId xmlns:a16="http://schemas.microsoft.com/office/drawing/2014/main" val="20001"/>
                    </a:ext>
                  </a:extLst>
                </a:gridCol>
                <a:gridCol w="2875019">
                  <a:extLst>
                    <a:ext uri="{9D8B030D-6E8A-4147-A177-3AD203B41FA5}">
                      <a16:colId xmlns:a16="http://schemas.microsoft.com/office/drawing/2014/main" val="20002"/>
                    </a:ext>
                  </a:extLst>
                </a:gridCol>
              </a:tblGrid>
              <a:tr h="370769">
                <a:tc>
                  <a:txBody>
                    <a:bodyPr/>
                    <a:lstStyle/>
                    <a:p>
                      <a:r>
                        <a:rPr lang="hu-HU" sz="1800" dirty="0"/>
                        <a:t>RDBMS</a:t>
                      </a:r>
                    </a:p>
                  </a:txBody>
                  <a:tcPr marL="91427" marR="91427" marT="45711" marB="45711"/>
                </a:tc>
                <a:tc>
                  <a:txBody>
                    <a:bodyPr/>
                    <a:lstStyle/>
                    <a:p>
                      <a:endParaRPr lang="hu-HU" sz="1800" dirty="0"/>
                    </a:p>
                  </a:txBody>
                  <a:tcPr marL="91427" marR="91427" marT="45711" marB="45711"/>
                </a:tc>
                <a:tc>
                  <a:txBody>
                    <a:bodyPr/>
                    <a:lstStyle/>
                    <a:p>
                      <a:r>
                        <a:rPr lang="hu-HU" sz="1800" dirty="0" err="1"/>
                        <a:t>MongoDB</a:t>
                      </a:r>
                      <a:endParaRPr lang="hu-HU" sz="1800" dirty="0"/>
                    </a:p>
                  </a:txBody>
                  <a:tcPr marL="91427" marR="91427" marT="45711" marB="45711"/>
                </a:tc>
                <a:extLst>
                  <a:ext uri="{0D108BD9-81ED-4DB2-BD59-A6C34878D82A}">
                    <a16:rowId xmlns:a16="http://schemas.microsoft.com/office/drawing/2014/main" val="10000"/>
                  </a:ext>
                </a:extLst>
              </a:tr>
              <a:tr h="370769">
                <a:tc>
                  <a:txBody>
                    <a:bodyPr/>
                    <a:lstStyle/>
                    <a:p>
                      <a:r>
                        <a:rPr lang="hu-HU" sz="1800" dirty="0" err="1"/>
                        <a:t>Database</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Database</a:t>
                      </a:r>
                      <a:endParaRPr lang="hu-HU" sz="1800" dirty="0"/>
                    </a:p>
                  </a:txBody>
                  <a:tcPr marL="91427" marR="91427" marT="45711" marB="45711"/>
                </a:tc>
                <a:extLst>
                  <a:ext uri="{0D108BD9-81ED-4DB2-BD59-A6C34878D82A}">
                    <a16:rowId xmlns:a16="http://schemas.microsoft.com/office/drawing/2014/main" val="10001"/>
                  </a:ext>
                </a:extLst>
              </a:tr>
              <a:tr h="370769">
                <a:tc>
                  <a:txBody>
                    <a:bodyPr/>
                    <a:lstStyle/>
                    <a:p>
                      <a:r>
                        <a:rPr lang="hu-HU" sz="1800" dirty="0"/>
                        <a:t>Table</a:t>
                      </a:r>
                    </a:p>
                  </a:txBody>
                  <a:tcPr marL="91427" marR="91427" marT="45711" marB="45711"/>
                </a:tc>
                <a:tc>
                  <a:txBody>
                    <a:bodyPr/>
                    <a:lstStyle/>
                    <a:p>
                      <a:endParaRPr lang="hu-HU" sz="1800" dirty="0"/>
                    </a:p>
                  </a:txBody>
                  <a:tcPr marL="91427" marR="91427" marT="45711" marB="45711"/>
                </a:tc>
                <a:tc>
                  <a:txBody>
                    <a:bodyPr/>
                    <a:lstStyle/>
                    <a:p>
                      <a:r>
                        <a:rPr lang="hu-HU" sz="1800" dirty="0" err="1"/>
                        <a:t>Collection</a:t>
                      </a:r>
                      <a:endParaRPr lang="hu-HU" sz="1800" dirty="0"/>
                    </a:p>
                  </a:txBody>
                  <a:tcPr marL="91427" marR="91427" marT="45711" marB="45711"/>
                </a:tc>
                <a:extLst>
                  <a:ext uri="{0D108BD9-81ED-4DB2-BD59-A6C34878D82A}">
                    <a16:rowId xmlns:a16="http://schemas.microsoft.com/office/drawing/2014/main" val="10002"/>
                  </a:ext>
                </a:extLst>
              </a:tr>
              <a:tr h="370769">
                <a:tc>
                  <a:txBody>
                    <a:bodyPr/>
                    <a:lstStyle/>
                    <a:p>
                      <a:r>
                        <a:rPr lang="hu-HU" sz="1800" dirty="0" err="1"/>
                        <a:t>Row</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Document</a:t>
                      </a:r>
                      <a:r>
                        <a:rPr lang="hu-HU" sz="1800" dirty="0"/>
                        <a:t> (JSON, BSON)</a:t>
                      </a:r>
                    </a:p>
                  </a:txBody>
                  <a:tcPr marL="91427" marR="91427" marT="45711" marB="45711"/>
                </a:tc>
                <a:extLst>
                  <a:ext uri="{0D108BD9-81ED-4DB2-BD59-A6C34878D82A}">
                    <a16:rowId xmlns:a16="http://schemas.microsoft.com/office/drawing/2014/main" val="10003"/>
                  </a:ext>
                </a:extLst>
              </a:tr>
              <a:tr h="370769">
                <a:tc>
                  <a:txBody>
                    <a:bodyPr/>
                    <a:lstStyle/>
                    <a:p>
                      <a:r>
                        <a:rPr lang="hu-HU" sz="1800" dirty="0" err="1"/>
                        <a:t>Column</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Field</a:t>
                      </a:r>
                      <a:endParaRPr lang="hu-HU" sz="1800" dirty="0"/>
                    </a:p>
                  </a:txBody>
                  <a:tcPr marL="91427" marR="91427" marT="45711" marB="45711"/>
                </a:tc>
                <a:extLst>
                  <a:ext uri="{0D108BD9-81ED-4DB2-BD59-A6C34878D82A}">
                    <a16:rowId xmlns:a16="http://schemas.microsoft.com/office/drawing/2014/main" val="10004"/>
                  </a:ext>
                </a:extLst>
              </a:tr>
              <a:tr h="370769">
                <a:tc>
                  <a:txBody>
                    <a:bodyPr/>
                    <a:lstStyle/>
                    <a:p>
                      <a:r>
                        <a:rPr lang="hu-HU" sz="1800" dirty="0"/>
                        <a:t>Index</a:t>
                      </a:r>
                    </a:p>
                  </a:txBody>
                  <a:tcPr marL="91427" marR="91427" marT="45711" marB="45711"/>
                </a:tc>
                <a:tc>
                  <a:txBody>
                    <a:bodyPr/>
                    <a:lstStyle/>
                    <a:p>
                      <a:endParaRPr lang="hu-HU" sz="1800" dirty="0"/>
                    </a:p>
                  </a:txBody>
                  <a:tcPr marL="91427" marR="91427" marT="45711" marB="45711"/>
                </a:tc>
                <a:tc>
                  <a:txBody>
                    <a:bodyPr/>
                    <a:lstStyle/>
                    <a:p>
                      <a:r>
                        <a:rPr lang="hu-HU" sz="1800" dirty="0"/>
                        <a:t>Index</a:t>
                      </a:r>
                    </a:p>
                  </a:txBody>
                  <a:tcPr marL="91427" marR="91427" marT="45711" marB="45711"/>
                </a:tc>
                <a:extLst>
                  <a:ext uri="{0D108BD9-81ED-4DB2-BD59-A6C34878D82A}">
                    <a16:rowId xmlns:a16="http://schemas.microsoft.com/office/drawing/2014/main" val="10005"/>
                  </a:ext>
                </a:extLst>
              </a:tr>
              <a:tr h="370769">
                <a:tc>
                  <a:txBody>
                    <a:bodyPr/>
                    <a:lstStyle/>
                    <a:p>
                      <a:r>
                        <a:rPr lang="hu-HU" sz="1800" b="0" dirty="0" err="1"/>
                        <a:t>Join</a:t>
                      </a:r>
                      <a:endParaRPr lang="hu-HU" sz="1800" b="0" dirty="0"/>
                    </a:p>
                  </a:txBody>
                  <a:tcPr marL="91427" marR="91427" marT="45711" marB="45711"/>
                </a:tc>
                <a:tc>
                  <a:txBody>
                    <a:bodyPr/>
                    <a:lstStyle/>
                    <a:p>
                      <a:endParaRPr lang="hu-HU" sz="1800" b="0" dirty="0"/>
                    </a:p>
                  </a:txBody>
                  <a:tcPr marL="91427" marR="91427" marT="45711" marB="45711"/>
                </a:tc>
                <a:tc>
                  <a:txBody>
                    <a:bodyPr/>
                    <a:lstStyle/>
                    <a:p>
                      <a:r>
                        <a:rPr lang="hu-HU" sz="1800" b="0" dirty="0" err="1"/>
                        <a:t>Embedded</a:t>
                      </a:r>
                      <a:r>
                        <a:rPr lang="hu-HU" sz="1800" b="0" dirty="0"/>
                        <a:t> </a:t>
                      </a:r>
                      <a:r>
                        <a:rPr lang="hu-HU" sz="1800" b="0" dirty="0" err="1"/>
                        <a:t>Document</a:t>
                      </a:r>
                      <a:endParaRPr lang="hu-HU" sz="1800" b="0" dirty="0"/>
                    </a:p>
                  </a:txBody>
                  <a:tcPr marL="91427" marR="91427" marT="45711" marB="45711"/>
                </a:tc>
                <a:extLst>
                  <a:ext uri="{0D108BD9-81ED-4DB2-BD59-A6C34878D82A}">
                    <a16:rowId xmlns:a16="http://schemas.microsoft.com/office/drawing/2014/main" val="10006"/>
                  </a:ext>
                </a:extLst>
              </a:tr>
              <a:tr h="370769">
                <a:tc>
                  <a:txBody>
                    <a:bodyPr/>
                    <a:lstStyle/>
                    <a:p>
                      <a:r>
                        <a:rPr lang="hu-HU" sz="1800" dirty="0" err="1"/>
                        <a:t>Partition</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Shard</a:t>
                      </a:r>
                      <a:endParaRPr lang="hu-HU" sz="1800" dirty="0"/>
                    </a:p>
                  </a:txBody>
                  <a:tcPr marL="91427" marR="91427" marT="45711" marB="45711"/>
                </a:tc>
                <a:extLst>
                  <a:ext uri="{0D108BD9-81ED-4DB2-BD59-A6C34878D82A}">
                    <a16:rowId xmlns:a16="http://schemas.microsoft.com/office/drawing/2014/main" val="10007"/>
                  </a:ext>
                </a:extLst>
              </a:tr>
            </a:tbl>
          </a:graphicData>
        </a:graphic>
      </p:graphicFrame>
      <p:sp>
        <p:nvSpPr>
          <p:cNvPr id="11" name="Jobbra nyíl 2">
            <a:extLst>
              <a:ext uri="{FF2B5EF4-FFF2-40B4-BE49-F238E27FC236}">
                <a16:creationId xmlns:a16="http://schemas.microsoft.com/office/drawing/2014/main" id="{F3DCD827-82E5-45AC-B1ED-9903C1F5E775}"/>
              </a:ext>
            </a:extLst>
          </p:cNvPr>
          <p:cNvSpPr/>
          <p:nvPr/>
        </p:nvSpPr>
        <p:spPr>
          <a:xfrm>
            <a:off x="8738480" y="3184482"/>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2" name="Jobbra nyíl 7">
            <a:extLst>
              <a:ext uri="{FF2B5EF4-FFF2-40B4-BE49-F238E27FC236}">
                <a16:creationId xmlns:a16="http://schemas.microsoft.com/office/drawing/2014/main" id="{B41C53EF-E96D-47FE-BFB3-A171A34CD840}"/>
              </a:ext>
            </a:extLst>
          </p:cNvPr>
          <p:cNvSpPr/>
          <p:nvPr/>
        </p:nvSpPr>
        <p:spPr>
          <a:xfrm>
            <a:off x="8738480" y="3504534"/>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3" name="Jobbra nyíl 8">
            <a:extLst>
              <a:ext uri="{FF2B5EF4-FFF2-40B4-BE49-F238E27FC236}">
                <a16:creationId xmlns:a16="http://schemas.microsoft.com/office/drawing/2014/main" id="{8EB0E217-3AED-46BB-A357-7118C525FB10}"/>
              </a:ext>
            </a:extLst>
          </p:cNvPr>
          <p:cNvSpPr/>
          <p:nvPr/>
        </p:nvSpPr>
        <p:spPr>
          <a:xfrm>
            <a:off x="8740496" y="3885273"/>
            <a:ext cx="287337" cy="1428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4" name="Jobbra nyíl 9">
            <a:extLst>
              <a:ext uri="{FF2B5EF4-FFF2-40B4-BE49-F238E27FC236}">
                <a16:creationId xmlns:a16="http://schemas.microsoft.com/office/drawing/2014/main" id="{5DF8E062-5D52-4393-8C91-7C41E652BBA9}"/>
              </a:ext>
            </a:extLst>
          </p:cNvPr>
          <p:cNvSpPr/>
          <p:nvPr/>
        </p:nvSpPr>
        <p:spPr>
          <a:xfrm>
            <a:off x="8738480" y="4257630"/>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5" name="Jobbra nyíl 10">
            <a:extLst>
              <a:ext uri="{FF2B5EF4-FFF2-40B4-BE49-F238E27FC236}">
                <a16:creationId xmlns:a16="http://schemas.microsoft.com/office/drawing/2014/main" id="{F0A03A88-F154-41AD-975B-86556530113B}"/>
              </a:ext>
            </a:extLst>
          </p:cNvPr>
          <p:cNvSpPr/>
          <p:nvPr/>
        </p:nvSpPr>
        <p:spPr>
          <a:xfrm>
            <a:off x="8738480" y="4670485"/>
            <a:ext cx="287337"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6" name="Jobbra nyíl 11">
            <a:extLst>
              <a:ext uri="{FF2B5EF4-FFF2-40B4-BE49-F238E27FC236}">
                <a16:creationId xmlns:a16="http://schemas.microsoft.com/office/drawing/2014/main" id="{A324D6F5-0998-452A-BB45-A81C203578E7}"/>
              </a:ext>
            </a:extLst>
          </p:cNvPr>
          <p:cNvSpPr/>
          <p:nvPr/>
        </p:nvSpPr>
        <p:spPr>
          <a:xfrm>
            <a:off x="8738480" y="5021120"/>
            <a:ext cx="288925"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7" name="Jobbra nyíl 13">
            <a:extLst>
              <a:ext uri="{FF2B5EF4-FFF2-40B4-BE49-F238E27FC236}">
                <a16:creationId xmlns:a16="http://schemas.microsoft.com/office/drawing/2014/main" id="{046578A0-9AEE-4D19-8189-5BAD9E2B9BF1}"/>
              </a:ext>
            </a:extLst>
          </p:cNvPr>
          <p:cNvSpPr/>
          <p:nvPr/>
        </p:nvSpPr>
        <p:spPr>
          <a:xfrm>
            <a:off x="8738480" y="5354092"/>
            <a:ext cx="287338"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pic>
        <p:nvPicPr>
          <p:cNvPr id="45" name="Picture 44" descr="Logo&#10;&#10;Description automatically generated">
            <a:extLst>
              <a:ext uri="{FF2B5EF4-FFF2-40B4-BE49-F238E27FC236}">
                <a16:creationId xmlns:a16="http://schemas.microsoft.com/office/drawing/2014/main" id="{A80068B3-8278-4813-A0A5-86452FAF98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0486" y="697014"/>
            <a:ext cx="3141138" cy="846635"/>
          </a:xfrm>
          <a:prstGeom prst="rect">
            <a:avLst/>
          </a:prstGeom>
        </p:spPr>
      </p:pic>
      <p:sp>
        <p:nvSpPr>
          <p:cNvPr id="46" name="Text Placeholder 1">
            <a:extLst>
              <a:ext uri="{FF2B5EF4-FFF2-40B4-BE49-F238E27FC236}">
                <a16:creationId xmlns:a16="http://schemas.microsoft.com/office/drawing/2014/main" id="{86528BF2-D2E9-4640-B13B-01B4DDCB4C60}"/>
              </a:ext>
            </a:extLst>
          </p:cNvPr>
          <p:cNvSpPr>
            <a:spLocks noGrp="1"/>
          </p:cNvSpPr>
          <p:nvPr>
            <p:ph type="body" sz="quarter" idx="10"/>
          </p:nvPr>
        </p:nvSpPr>
        <p:spPr>
          <a:xfrm>
            <a:off x="6595679" y="1501199"/>
            <a:ext cx="5959267" cy="724247"/>
          </a:xfrm>
        </p:spPr>
        <p:txBody>
          <a:bodyPr/>
          <a:lstStyle/>
          <a:p>
            <a:pPr eaLnBrk="1" hangingPunct="1"/>
            <a:r>
              <a:rPr lang="en-US" altLang="zh-CN" sz="2800" dirty="0">
                <a:solidFill>
                  <a:schemeClr val="accent3"/>
                </a:solidFill>
                <a:latin typeface="Calibri" panose="020F0502020204030204" pitchFamily="34" charset="0"/>
              </a:rPr>
              <a:t>RDBMS vs MongoDB</a:t>
            </a:r>
            <a:endParaRPr lang="zh-CN" altLang="zh-CN" sz="2800" dirty="0">
              <a:solidFill>
                <a:schemeClr val="accent3"/>
              </a:solidFill>
              <a:latin typeface="Calibri" panose="020F0502020204030204" pitchFamily="34" charset="0"/>
            </a:endParaRPr>
          </a:p>
        </p:txBody>
      </p:sp>
      <p:sp>
        <p:nvSpPr>
          <p:cNvPr id="49" name="TextBox 5">
            <a:extLst>
              <a:ext uri="{FF2B5EF4-FFF2-40B4-BE49-F238E27FC236}">
                <a16:creationId xmlns:a16="http://schemas.microsoft.com/office/drawing/2014/main" id="{885BD8E2-340A-42FE-8E4F-C0C7D41885CA}"/>
              </a:ext>
            </a:extLst>
          </p:cNvPr>
          <p:cNvSpPr txBox="1">
            <a:spLocks noChangeArrowheads="1"/>
          </p:cNvSpPr>
          <p:nvPr/>
        </p:nvSpPr>
        <p:spPr bwMode="auto">
          <a:xfrm>
            <a:off x="10636301" y="1649413"/>
            <a:ext cx="185738"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solidFill>
                <a:srgbClr val="2F2B20"/>
              </a:solidFill>
            </a:endParaRPr>
          </a:p>
        </p:txBody>
      </p:sp>
      <p:sp>
        <p:nvSpPr>
          <p:cNvPr id="68" name="TextBox 19">
            <a:extLst>
              <a:ext uri="{FF2B5EF4-FFF2-40B4-BE49-F238E27FC236}">
                <a16:creationId xmlns:a16="http://schemas.microsoft.com/office/drawing/2014/main" id="{CB28E907-9807-4166-8C43-AE3D5DF5A87F}"/>
              </a:ext>
            </a:extLst>
          </p:cNvPr>
          <p:cNvSpPr txBox="1">
            <a:spLocks noChangeArrowheads="1"/>
          </p:cNvSpPr>
          <p:nvPr/>
        </p:nvSpPr>
        <p:spPr bwMode="auto">
          <a:xfrm>
            <a:off x="10674401" y="4700588"/>
            <a:ext cx="184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solidFill>
                <a:srgbClr val="2F2B20"/>
              </a:solidFill>
            </a:endParaRPr>
          </a:p>
        </p:txBody>
      </p:sp>
      <p:sp>
        <p:nvSpPr>
          <p:cNvPr id="37" name="Content Placeholder 2">
            <a:extLst>
              <a:ext uri="{FF2B5EF4-FFF2-40B4-BE49-F238E27FC236}">
                <a16:creationId xmlns:a16="http://schemas.microsoft.com/office/drawing/2014/main" id="{3BF9BC83-86CB-47C5-A8F8-B54F3D55F2D6}"/>
              </a:ext>
            </a:extLst>
          </p:cNvPr>
          <p:cNvSpPr txBox="1">
            <a:spLocks/>
          </p:cNvSpPr>
          <p:nvPr/>
        </p:nvSpPr>
        <p:spPr>
          <a:xfrm>
            <a:off x="209594" y="1675396"/>
            <a:ext cx="6908059" cy="1225221"/>
          </a:xfrm>
          <a:prstGeom prst="rect">
            <a:avLst/>
          </a:prstGeom>
        </p:spPr>
        <p:txBody>
          <a:bodyPr lIns="64291" tIns="32146" rIns="64291" bIns="32146" anchor="ctr"/>
          <a:lstStyle>
            <a:lvl1pPr marL="0" indent="0" algn="ctr" defTabSz="914400" rtl="0" eaLnBrk="1" latinLnBrk="0" hangingPunct="1">
              <a:lnSpc>
                <a:spcPct val="90000"/>
              </a:lnSpc>
              <a:spcBef>
                <a:spcPts val="1000"/>
              </a:spcBef>
              <a:buFont typeface="Arial" panose="020B0604020202020204" pitchFamily="34" charset="0"/>
              <a:buNone/>
              <a:defRPr sz="5400" b="0" kern="1200" baseline="0">
                <a:solidFill>
                  <a:schemeClr val="tx1">
                    <a:lumMod val="85000"/>
                    <a:lumOff val="15000"/>
                  </a:schemeClr>
                </a:solidFill>
                <a:latin typeface="+mj-lt"/>
                <a:ea typeface="+mn-ea"/>
                <a:cs typeface="Arial"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84188" indent="-457200" algn="l"/>
            <a:r>
              <a:rPr lang="en-US" altLang="en-US" sz="1800" dirty="0">
                <a:latin typeface="Calibri" panose="020F0502020204030204" pitchFamily="34" charset="0"/>
                <a:cs typeface="Calibri" panose="020F0502020204030204" pitchFamily="34" charset="0"/>
              </a:rPr>
              <a:t>MongoDB does not need any pre-defined data schema</a:t>
            </a:r>
          </a:p>
          <a:p>
            <a:pPr marL="484188" indent="-457200" algn="l"/>
            <a:r>
              <a:rPr lang="en-US" altLang="en-US" sz="1800" dirty="0">
                <a:latin typeface="Calibri" panose="020F0502020204030204" pitchFamily="34" charset="0"/>
                <a:cs typeface="Calibri" panose="020F0502020204030204" pitchFamily="34" charset="0"/>
              </a:rPr>
              <a:t>Every document could have different data!</a:t>
            </a:r>
          </a:p>
        </p:txBody>
      </p:sp>
      <p:grpSp>
        <p:nvGrpSpPr>
          <p:cNvPr id="38" name="Group 3">
            <a:extLst>
              <a:ext uri="{FF2B5EF4-FFF2-40B4-BE49-F238E27FC236}">
                <a16:creationId xmlns:a16="http://schemas.microsoft.com/office/drawing/2014/main" id="{C8A847D3-339C-42C4-B0C2-6B58F92CF697}"/>
              </a:ext>
            </a:extLst>
          </p:cNvPr>
          <p:cNvGrpSpPr>
            <a:grpSpLocks/>
          </p:cNvGrpSpPr>
          <p:nvPr/>
        </p:nvGrpSpPr>
        <p:grpSpPr bwMode="auto">
          <a:xfrm>
            <a:off x="37370" y="2611959"/>
            <a:ext cx="6718399" cy="3425261"/>
            <a:chOff x="667822" y="1756985"/>
            <a:chExt cx="7683356" cy="3425261"/>
          </a:xfrm>
        </p:grpSpPr>
        <p:sp>
          <p:nvSpPr>
            <p:cNvPr id="39" name="Rounded Rectangle 45">
              <a:extLst>
                <a:ext uri="{FF2B5EF4-FFF2-40B4-BE49-F238E27FC236}">
                  <a16:creationId xmlns:a16="http://schemas.microsoft.com/office/drawing/2014/main" id="{234876B4-6FA4-4AC1-A2B2-FD47E59F2023}"/>
                </a:ext>
              </a:extLst>
            </p:cNvPr>
            <p:cNvSpPr/>
            <p:nvPr/>
          </p:nvSpPr>
          <p:spPr bwMode="auto">
            <a:xfrm>
              <a:off x="667822" y="1756985"/>
              <a:ext cx="7620001" cy="3169716"/>
            </a:xfrm>
            <a:prstGeom prst="roundRect">
              <a:avLst/>
            </a:prstGeom>
            <a:solidFill>
              <a:schemeClr val="accent1"/>
            </a:solidFill>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grpSp>
          <p:nvGrpSpPr>
            <p:cNvPr id="40" name="Group 47">
              <a:extLst>
                <a:ext uri="{FF2B5EF4-FFF2-40B4-BE49-F238E27FC236}">
                  <a16:creationId xmlns:a16="http://schemas.microsoft.com/office/drawing/2014/main" id="{07EE46D6-04F0-48AC-B47E-9523547FBAD2}"/>
                </a:ext>
              </a:extLst>
            </p:cNvPr>
            <p:cNvGrpSpPr>
              <a:grpSpLocks/>
            </p:cNvGrpSpPr>
            <p:nvPr/>
          </p:nvGrpSpPr>
          <p:grpSpPr bwMode="auto">
            <a:xfrm>
              <a:off x="830522" y="2047726"/>
              <a:ext cx="5589897" cy="3134520"/>
              <a:chOff x="-2110970" y="1237746"/>
              <a:chExt cx="5212947" cy="1830886"/>
            </a:xfrm>
          </p:grpSpPr>
          <p:sp>
            <p:nvSpPr>
              <p:cNvPr id="78" name="Document 60">
                <a:extLst>
                  <a:ext uri="{FF2B5EF4-FFF2-40B4-BE49-F238E27FC236}">
                    <a16:creationId xmlns:a16="http://schemas.microsoft.com/office/drawing/2014/main" id="{006DAF42-0017-4063-B545-6AC520AFB842}"/>
                  </a:ext>
                </a:extLst>
              </p:cNvPr>
              <p:cNvSpPr/>
              <p:nvPr/>
            </p:nvSpPr>
            <p:spPr bwMode="auto">
              <a:xfrm>
                <a:off x="-2110970" y="1237746"/>
                <a:ext cx="2054378" cy="1279568"/>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9" name="Rectangle 78">
                <a:extLst>
                  <a:ext uri="{FF2B5EF4-FFF2-40B4-BE49-F238E27FC236}">
                    <a16:creationId xmlns:a16="http://schemas.microsoft.com/office/drawing/2014/main" id="{06B7A5AD-179C-4801-A83B-B438987FDDE2}"/>
                  </a:ext>
                </a:extLst>
              </p:cNvPr>
              <p:cNvSpPr/>
              <p:nvPr/>
            </p:nvSpPr>
            <p:spPr>
              <a:xfrm>
                <a:off x="1158683" y="2743074"/>
                <a:ext cx="1943294" cy="325558"/>
              </a:xfrm>
              <a:prstGeom prst="rect">
                <a:avLst/>
              </a:prstGeom>
              <a:ln>
                <a:noFill/>
              </a:ln>
            </p:spPr>
            <p:txBody>
              <a:bodyPr lIns="64291" tIns="32146" rIns="64291" bIns="32146">
                <a:spAutoFit/>
              </a:bodyPr>
              <a:lstStyle/>
              <a:p>
                <a:pPr marL="27905" eaLnBrk="1" fontAlgn="auto" hangingPunct="1">
                  <a:spcBef>
                    <a:spcPts val="0"/>
                  </a:spcBef>
                  <a:spcAft>
                    <a:spcPts val="0"/>
                  </a:spcAft>
                  <a:defRPr/>
                </a:pPr>
                <a:endParaRPr lang="hu-HU" dirty="0">
                  <a:ln>
                    <a:solidFill>
                      <a:srgbClr val="675E47">
                        <a:lumMod val="10000"/>
                      </a:srgbClr>
                    </a:solidFill>
                  </a:ln>
                  <a:solidFill>
                    <a:srgbClr val="000000"/>
                  </a:solidFill>
                  <a:latin typeface="Calibri"/>
                </a:endParaRPr>
              </a:p>
              <a:p>
                <a:pPr marL="27905" eaLnBrk="1" fontAlgn="auto" hangingPunct="1">
                  <a:spcBef>
                    <a:spcPts val="0"/>
                  </a:spcBef>
                  <a:spcAft>
                    <a:spcPts val="0"/>
                  </a:spcAft>
                  <a:defRPr/>
                </a:pPr>
                <a:endParaRPr lang="hu-HU" sz="1400" dirty="0">
                  <a:solidFill>
                    <a:srgbClr val="2F2B20"/>
                  </a:solidFill>
                  <a:latin typeface="Calibri"/>
                </a:endParaRPr>
              </a:p>
            </p:txBody>
          </p:sp>
        </p:grpSp>
        <p:grpSp>
          <p:nvGrpSpPr>
            <p:cNvPr id="41" name="Group 48">
              <a:extLst>
                <a:ext uri="{FF2B5EF4-FFF2-40B4-BE49-F238E27FC236}">
                  <a16:creationId xmlns:a16="http://schemas.microsoft.com/office/drawing/2014/main" id="{6BCFD7DF-615B-4DAE-A542-FFCA151E8778}"/>
                </a:ext>
              </a:extLst>
            </p:cNvPr>
            <p:cNvGrpSpPr>
              <a:grpSpLocks/>
            </p:cNvGrpSpPr>
            <p:nvPr/>
          </p:nvGrpSpPr>
          <p:grpSpPr bwMode="auto">
            <a:xfrm>
              <a:off x="3316451" y="2087364"/>
              <a:ext cx="2469764" cy="1516062"/>
              <a:chOff x="3321608" y="2354652"/>
              <a:chExt cx="1917632" cy="1434262"/>
            </a:xfrm>
          </p:grpSpPr>
          <p:sp>
            <p:nvSpPr>
              <p:cNvPr id="76" name="Document 58">
                <a:extLst>
                  <a:ext uri="{FF2B5EF4-FFF2-40B4-BE49-F238E27FC236}">
                    <a16:creationId xmlns:a16="http://schemas.microsoft.com/office/drawing/2014/main" id="{AD58274D-7279-4C59-B7B9-CB9F84E929EA}"/>
                  </a:ext>
                </a:extLst>
              </p:cNvPr>
              <p:cNvSpPr/>
              <p:nvPr/>
            </p:nvSpPr>
            <p:spPr bwMode="auto">
              <a:xfrm>
                <a:off x="3321608" y="2354652"/>
                <a:ext cx="1711545" cy="1434262"/>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7" name="Rectangle 76">
                <a:extLst>
                  <a:ext uri="{FF2B5EF4-FFF2-40B4-BE49-F238E27FC236}">
                    <a16:creationId xmlns:a16="http://schemas.microsoft.com/office/drawing/2014/main" id="{AA741B5C-D3A5-4E5B-9203-384D9E7EC814}"/>
                  </a:ext>
                </a:extLst>
              </p:cNvPr>
              <p:cNvSpPr>
                <a:spLocks noChangeAspect="1"/>
              </p:cNvSpPr>
              <p:nvPr/>
            </p:nvSpPr>
            <p:spPr>
              <a:xfrm>
                <a:off x="3436629" y="2531526"/>
                <a:ext cx="1802611" cy="1080513"/>
              </a:xfrm>
              <a:prstGeom prst="rect">
                <a:avLst/>
              </a:prstGeom>
              <a:ln>
                <a:noFill/>
              </a:ln>
            </p:spPr>
            <p:txBody>
              <a:bodyPr wrap="square" lIns="64291" tIns="32146" rIns="64291" bIns="32146">
                <a:spAutoFit/>
              </a:bodyPr>
              <a:lstStyle/>
              <a:p>
                <a:pPr marL="27905" eaLnBrk="1" fontAlgn="auto" hangingPunct="1">
                  <a:spcBef>
                    <a:spcPts val="0"/>
                  </a:spcBef>
                  <a:spcAft>
                    <a:spcPts val="0"/>
                  </a:spcAft>
                  <a:defRPr/>
                </a:pPr>
                <a:r>
                  <a:rPr lang="en-US" sz="1400" dirty="0">
                    <a:ln>
                      <a:solidFill>
                        <a:srgbClr val="675E47">
                          <a:lumMod val="10000"/>
                        </a:srgbClr>
                      </a:solidFill>
                    </a:ln>
                    <a:solidFill>
                      <a:schemeClr val="bg1"/>
                    </a:solidFill>
                    <a:latin typeface="Calibri"/>
                  </a:rPr>
                  <a:t> {</a:t>
                </a:r>
                <a:r>
                  <a:rPr lang="en-US" sz="1400" dirty="0">
                    <a:solidFill>
                      <a:schemeClr val="bg1"/>
                    </a:solidFill>
                    <a:latin typeface="Calibri"/>
                  </a:rPr>
                  <a:t>name: “jeff”,</a:t>
                </a:r>
              </a:p>
              <a:p>
                <a:pPr marL="27905" eaLnBrk="1" fontAlgn="auto" hangingPunct="1">
                  <a:spcBef>
                    <a:spcPts val="0"/>
                  </a:spcBef>
                  <a:spcAft>
                    <a:spcPts val="0"/>
                  </a:spcAft>
                  <a:defRPr/>
                </a:pPr>
                <a:r>
                  <a:rPr lang="en-US" sz="1400" dirty="0">
                    <a:solidFill>
                      <a:schemeClr val="bg1"/>
                    </a:solidFill>
                    <a:latin typeface="Calibri"/>
                  </a:rPr>
                  <a:t>  eyes: “blue”,</a:t>
                </a:r>
              </a:p>
              <a:p>
                <a:pPr marL="27905" eaLnBrk="1" fontAlgn="auto" hangingPunct="1">
                  <a:spcBef>
                    <a:spcPts val="0"/>
                  </a:spcBef>
                  <a:spcAft>
                    <a:spcPts val="0"/>
                  </a:spcAft>
                  <a:defRPr/>
                </a:pPr>
                <a:r>
                  <a:rPr lang="hu-HU" sz="1400" dirty="0">
                    <a:solidFill>
                      <a:schemeClr val="bg1"/>
                    </a:solidFill>
                    <a:latin typeface="Calibri"/>
                  </a:rPr>
                  <a:t>  loc: [40.7, 73.4],</a:t>
                </a:r>
                <a:endParaRPr lang="en-US" sz="1400" dirty="0">
                  <a:solidFill>
                    <a:schemeClr val="bg1"/>
                  </a:solidFill>
                  <a:latin typeface="Calibri"/>
                </a:endParaRPr>
              </a:p>
              <a:p>
                <a:pPr marL="27905" eaLnBrk="1" fontAlgn="auto" hangingPunct="1">
                  <a:spcBef>
                    <a:spcPts val="0"/>
                  </a:spcBef>
                  <a:spcAft>
                    <a:spcPts val="0"/>
                  </a:spcAft>
                  <a:defRPr/>
                </a:pPr>
                <a:r>
                  <a:rPr lang="hu-HU" sz="1400" dirty="0">
                    <a:solidFill>
                      <a:schemeClr val="bg1"/>
                    </a:solidFill>
                    <a:latin typeface="Calibri"/>
                  </a:rPr>
                  <a:t>  </a:t>
                </a:r>
                <a:r>
                  <a:rPr lang="en-US" sz="1400" dirty="0">
                    <a:solidFill>
                      <a:schemeClr val="bg1"/>
                    </a:solidFill>
                    <a:latin typeface="Calibri"/>
                  </a:rPr>
                  <a:t>boss: “ben”</a:t>
                </a:r>
                <a:r>
                  <a:rPr lang="hu-HU" sz="1400" dirty="0">
                    <a:solidFill>
                      <a:schemeClr val="bg1"/>
                    </a:solidFill>
                    <a:latin typeface="Calibri"/>
                  </a:rPr>
                  <a:t>}</a:t>
                </a:r>
              </a:p>
              <a:p>
                <a:pPr marL="27905" eaLnBrk="1" fontAlgn="auto" hangingPunct="1">
                  <a:spcBef>
                    <a:spcPts val="0"/>
                  </a:spcBef>
                  <a:spcAft>
                    <a:spcPts val="0"/>
                  </a:spcAft>
                  <a:defRPr/>
                </a:pPr>
                <a:endParaRPr lang="hu-HU" sz="1400" dirty="0">
                  <a:solidFill>
                    <a:schemeClr val="bg1"/>
                  </a:solidFill>
                  <a:latin typeface="Calibri"/>
                </a:endParaRPr>
              </a:p>
            </p:txBody>
          </p:sp>
        </p:grpSp>
        <p:grpSp>
          <p:nvGrpSpPr>
            <p:cNvPr id="42" name="Group 49">
              <a:extLst>
                <a:ext uri="{FF2B5EF4-FFF2-40B4-BE49-F238E27FC236}">
                  <a16:creationId xmlns:a16="http://schemas.microsoft.com/office/drawing/2014/main" id="{C0E72036-2355-4C59-A7B2-6C33A0046A74}"/>
                </a:ext>
              </a:extLst>
            </p:cNvPr>
            <p:cNvGrpSpPr>
              <a:grpSpLocks/>
            </p:cNvGrpSpPr>
            <p:nvPr/>
          </p:nvGrpSpPr>
          <p:grpSpPr bwMode="auto">
            <a:xfrm>
              <a:off x="5836630" y="2106422"/>
              <a:ext cx="2514548" cy="1017588"/>
              <a:chOff x="5407257" y="2467593"/>
              <a:chExt cx="2057247" cy="787950"/>
            </a:xfrm>
          </p:grpSpPr>
          <p:sp>
            <p:nvSpPr>
              <p:cNvPr id="74" name="Document 56">
                <a:extLst>
                  <a:ext uri="{FF2B5EF4-FFF2-40B4-BE49-F238E27FC236}">
                    <a16:creationId xmlns:a16="http://schemas.microsoft.com/office/drawing/2014/main" id="{300831AF-6985-4BDA-A7DF-23A8DAEEDBD2}"/>
                  </a:ext>
                </a:extLst>
              </p:cNvPr>
              <p:cNvSpPr/>
              <p:nvPr/>
            </p:nvSpPr>
            <p:spPr bwMode="auto">
              <a:xfrm>
                <a:off x="5407257" y="2467593"/>
                <a:ext cx="1674455" cy="787950"/>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5" name="Rectangle 57">
                <a:extLst>
                  <a:ext uri="{FF2B5EF4-FFF2-40B4-BE49-F238E27FC236}">
                    <a16:creationId xmlns:a16="http://schemas.microsoft.com/office/drawing/2014/main" id="{C85B3EAB-5DB6-477D-A702-3C57865EDA57}"/>
                  </a:ext>
                </a:extLst>
              </p:cNvPr>
              <p:cNvSpPr>
                <a:spLocks noChangeArrowheads="1"/>
              </p:cNvSpPr>
              <p:nvPr/>
            </p:nvSpPr>
            <p:spPr bwMode="auto">
              <a:xfrm>
                <a:off x="5521509" y="2607729"/>
                <a:ext cx="1942995" cy="5507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291" tIns="32146" rIns="64291" bIns="32146">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400" dirty="0">
                    <a:solidFill>
                      <a:schemeClr val="bg1"/>
                    </a:solidFill>
                    <a:latin typeface="Calibri" panose="020F0502020204030204" pitchFamily="34" charset="0"/>
                  </a:rPr>
                  <a:t>{name: “</a:t>
                </a:r>
                <a:r>
                  <a:rPr lang="en-US" altLang="en-US" sz="1400" dirty="0" err="1">
                    <a:solidFill>
                      <a:schemeClr val="bg1"/>
                    </a:solidFill>
                    <a:latin typeface="Calibri" panose="020F0502020204030204" pitchFamily="34" charset="0"/>
                  </a:rPr>
                  <a:t>brendan</a:t>
                </a:r>
                <a:r>
                  <a:rPr lang="en-US" altLang="en-US" sz="1400" dirty="0">
                    <a:solidFill>
                      <a:schemeClr val="bg1"/>
                    </a:solidFill>
                    <a:latin typeface="Calibri" panose="020F0502020204030204" pitchFamily="34" charset="0"/>
                  </a:rPr>
                  <a:t>”,</a:t>
                </a:r>
              </a:p>
              <a:p>
                <a:pPr eaLnBrk="1" hangingPunct="1"/>
                <a:r>
                  <a:rPr lang="hu-HU" altLang="en-US" sz="1400" dirty="0">
                    <a:solidFill>
                      <a:schemeClr val="bg1"/>
                    </a:solidFill>
                    <a:latin typeface="Calibri" panose="020F0502020204030204" pitchFamily="34" charset="0"/>
                  </a:rPr>
                  <a:t>  </a:t>
                </a:r>
                <a:r>
                  <a:rPr lang="hu-HU" sz="1400" dirty="0">
                    <a:solidFill>
                      <a:schemeClr val="bg1"/>
                    </a:solidFill>
                    <a:latin typeface="Calibri"/>
                  </a:rPr>
                  <a:t> </a:t>
                </a:r>
                <a:r>
                  <a:rPr lang="en-US" sz="1400" dirty="0">
                    <a:solidFill>
                      <a:schemeClr val="bg1"/>
                    </a:solidFill>
                    <a:latin typeface="Calibri"/>
                  </a:rPr>
                  <a:t>boss: “will”</a:t>
                </a:r>
                <a:r>
                  <a:rPr lang="hu-HU" altLang="en-US" sz="1400" dirty="0">
                    <a:solidFill>
                      <a:schemeClr val="bg1"/>
                    </a:solidFill>
                    <a:latin typeface="Calibri" panose="020F0502020204030204" pitchFamily="34" charset="0"/>
                  </a:rPr>
                  <a:t>}</a:t>
                </a:r>
              </a:p>
              <a:p>
                <a:pPr eaLnBrk="1" hangingPunct="1"/>
                <a:endParaRPr lang="hu-HU" altLang="en-US" sz="1400" dirty="0">
                  <a:solidFill>
                    <a:schemeClr val="bg1"/>
                  </a:solidFill>
                  <a:latin typeface="Calibri" panose="020F0502020204030204" pitchFamily="34" charset="0"/>
                </a:endParaRPr>
              </a:p>
            </p:txBody>
          </p:sp>
        </p:grpSp>
        <p:grpSp>
          <p:nvGrpSpPr>
            <p:cNvPr id="43" name="Group 50">
              <a:extLst>
                <a:ext uri="{FF2B5EF4-FFF2-40B4-BE49-F238E27FC236}">
                  <a16:creationId xmlns:a16="http://schemas.microsoft.com/office/drawing/2014/main" id="{9CE4FC42-CD34-43AA-B4A1-63E66A643026}"/>
                </a:ext>
              </a:extLst>
            </p:cNvPr>
            <p:cNvGrpSpPr>
              <a:grpSpLocks/>
            </p:cNvGrpSpPr>
            <p:nvPr/>
          </p:nvGrpSpPr>
          <p:grpSpPr bwMode="auto">
            <a:xfrm>
              <a:off x="3313437" y="3883338"/>
              <a:ext cx="2269607" cy="1029682"/>
              <a:chOff x="5442162" y="2520533"/>
              <a:chExt cx="1758295" cy="797315"/>
            </a:xfrm>
          </p:grpSpPr>
          <p:sp>
            <p:nvSpPr>
              <p:cNvPr id="72" name="Document 54">
                <a:extLst>
                  <a:ext uri="{FF2B5EF4-FFF2-40B4-BE49-F238E27FC236}">
                    <a16:creationId xmlns:a16="http://schemas.microsoft.com/office/drawing/2014/main" id="{8359B0B8-825D-40E2-A604-DE12408C02DA}"/>
                  </a:ext>
                </a:extLst>
              </p:cNvPr>
              <p:cNvSpPr/>
              <p:nvPr/>
            </p:nvSpPr>
            <p:spPr bwMode="auto">
              <a:xfrm>
                <a:off x="5442162" y="2520533"/>
                <a:ext cx="1706640" cy="786721"/>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3" name="Rectangle 72">
                <a:extLst>
                  <a:ext uri="{FF2B5EF4-FFF2-40B4-BE49-F238E27FC236}">
                    <a16:creationId xmlns:a16="http://schemas.microsoft.com/office/drawing/2014/main" id="{73B43B34-504B-4A54-B1B2-9900FA83F981}"/>
                  </a:ext>
                </a:extLst>
              </p:cNvPr>
              <p:cNvSpPr/>
              <p:nvPr/>
            </p:nvSpPr>
            <p:spPr>
              <a:xfrm>
                <a:off x="5633394" y="2624111"/>
                <a:ext cx="1567063" cy="693737"/>
              </a:xfrm>
              <a:prstGeom prst="rect">
                <a:avLst/>
              </a:prstGeom>
              <a:ln>
                <a:noFill/>
              </a:ln>
            </p:spPr>
            <p:txBody>
              <a:bodyPr wrap="square" lIns="64291" tIns="32146" rIns="64291" bIns="32146">
                <a:spAutoFit/>
              </a:bodyPr>
              <a:lstStyle/>
              <a:p>
                <a:pPr marL="27905" eaLnBrk="1" fontAlgn="auto" hangingPunct="1">
                  <a:spcBef>
                    <a:spcPts val="0"/>
                  </a:spcBef>
                  <a:spcAft>
                    <a:spcPts val="0"/>
                  </a:spcAft>
                  <a:defRPr/>
                </a:pPr>
                <a:r>
                  <a:rPr lang="en-US" dirty="0">
                    <a:ln>
                      <a:solidFill>
                        <a:srgbClr val="675E47">
                          <a:lumMod val="10000"/>
                        </a:srgbClr>
                      </a:solidFill>
                    </a:ln>
                    <a:solidFill>
                      <a:schemeClr val="bg1"/>
                    </a:solidFill>
                    <a:latin typeface="Calibri"/>
                  </a:rPr>
                  <a:t>{</a:t>
                </a:r>
                <a:r>
                  <a:rPr lang="en-US" dirty="0">
                    <a:solidFill>
                      <a:schemeClr val="bg1"/>
                    </a:solidFill>
                    <a:latin typeface="Calibri"/>
                  </a:rPr>
                  <a:t>name: “ben”,</a:t>
                </a:r>
              </a:p>
              <a:p>
                <a:pPr marL="27905" eaLnBrk="1" fontAlgn="auto" hangingPunct="1">
                  <a:spcBef>
                    <a:spcPts val="0"/>
                  </a:spcBef>
                  <a:spcAft>
                    <a:spcPts val="0"/>
                  </a:spcAft>
                  <a:defRPr/>
                </a:pPr>
                <a:r>
                  <a:rPr lang="hu-HU" dirty="0">
                    <a:solidFill>
                      <a:schemeClr val="bg1"/>
                    </a:solidFill>
                    <a:latin typeface="Calibri"/>
                  </a:rPr>
                  <a:t>  </a:t>
                </a:r>
                <a:r>
                  <a:rPr lang="en-US" dirty="0">
                    <a:solidFill>
                      <a:schemeClr val="bg1"/>
                    </a:solidFill>
                    <a:latin typeface="Calibri"/>
                  </a:rPr>
                  <a:t>age:25</a:t>
                </a:r>
                <a:r>
                  <a:rPr lang="hu-HU" dirty="0">
                    <a:solidFill>
                      <a:schemeClr val="bg1"/>
                    </a:solidFill>
                    <a:latin typeface="Calibri"/>
                  </a:rPr>
                  <a:t>}</a:t>
                </a:r>
              </a:p>
              <a:p>
                <a:pPr marL="27905" eaLnBrk="1" fontAlgn="auto" hangingPunct="1">
                  <a:spcBef>
                    <a:spcPts val="0"/>
                  </a:spcBef>
                  <a:spcAft>
                    <a:spcPts val="0"/>
                  </a:spcAft>
                  <a:defRPr/>
                </a:pPr>
                <a:endParaRPr lang="hu-HU" dirty="0">
                  <a:solidFill>
                    <a:schemeClr val="bg1"/>
                  </a:solidFill>
                  <a:latin typeface="Calibri"/>
                </a:endParaRPr>
              </a:p>
            </p:txBody>
          </p:sp>
        </p:grpSp>
        <p:grpSp>
          <p:nvGrpSpPr>
            <p:cNvPr id="44" name="Group 51">
              <a:extLst>
                <a:ext uri="{FF2B5EF4-FFF2-40B4-BE49-F238E27FC236}">
                  <a16:creationId xmlns:a16="http://schemas.microsoft.com/office/drawing/2014/main" id="{23868B85-4EF9-4327-A0DA-00201335C7FD}"/>
                </a:ext>
              </a:extLst>
            </p:cNvPr>
            <p:cNvGrpSpPr>
              <a:grpSpLocks/>
            </p:cNvGrpSpPr>
            <p:nvPr/>
          </p:nvGrpSpPr>
          <p:grpSpPr bwMode="auto">
            <a:xfrm>
              <a:off x="5818251" y="3259865"/>
              <a:ext cx="2408192" cy="1514475"/>
              <a:chOff x="3257328" y="2395434"/>
              <a:chExt cx="1926486" cy="1432759"/>
            </a:xfrm>
          </p:grpSpPr>
          <p:sp>
            <p:nvSpPr>
              <p:cNvPr id="70" name="Document 52">
                <a:extLst>
                  <a:ext uri="{FF2B5EF4-FFF2-40B4-BE49-F238E27FC236}">
                    <a16:creationId xmlns:a16="http://schemas.microsoft.com/office/drawing/2014/main" id="{FDC49234-7C13-46BD-A5D1-4A95C2A4E775}"/>
                  </a:ext>
                </a:extLst>
              </p:cNvPr>
              <p:cNvSpPr/>
              <p:nvPr/>
            </p:nvSpPr>
            <p:spPr bwMode="auto">
              <a:xfrm>
                <a:off x="3257328" y="2395434"/>
                <a:ext cx="1830292" cy="1432759"/>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1" name="Rectangle 53">
                <a:extLst>
                  <a:ext uri="{FF2B5EF4-FFF2-40B4-BE49-F238E27FC236}">
                    <a16:creationId xmlns:a16="http://schemas.microsoft.com/office/drawing/2014/main" id="{D6964B85-1E35-4728-B3AC-554906C2910D}"/>
                  </a:ext>
                </a:extLst>
              </p:cNvPr>
              <p:cNvSpPr>
                <a:spLocks noChangeAspect="1"/>
              </p:cNvSpPr>
              <p:nvPr/>
            </p:nvSpPr>
            <p:spPr bwMode="auto">
              <a:xfrm>
                <a:off x="3378020" y="2441659"/>
                <a:ext cx="1805794" cy="1371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4291" tIns="32146" rIns="64291" bIns="32146">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dirty="0">
                    <a:solidFill>
                      <a:schemeClr val="bg1"/>
                    </a:solidFill>
                    <a:latin typeface="Calibri" panose="020F0502020204030204" pitchFamily="34" charset="0"/>
                  </a:rPr>
                  <a:t>{name: “matt”,</a:t>
                </a:r>
              </a:p>
              <a:p>
                <a:pPr eaLnBrk="1" hangingPunct="1"/>
                <a:r>
                  <a:rPr lang="en-US" altLang="en-US" dirty="0">
                    <a:solidFill>
                      <a:schemeClr val="bg1"/>
                    </a:solidFill>
                    <a:latin typeface="Calibri" panose="020F0502020204030204" pitchFamily="34" charset="0"/>
                  </a:rPr>
                  <a:t>  weight:60,</a:t>
                </a:r>
              </a:p>
              <a:p>
                <a:pPr eaLnBrk="1" hangingPunct="1"/>
                <a:r>
                  <a:rPr lang="en-US" altLang="en-US" dirty="0">
                    <a:solidFill>
                      <a:schemeClr val="bg1"/>
                    </a:solidFill>
                    <a:latin typeface="Calibri" panose="020F0502020204030204" pitchFamily="34" charset="0"/>
                  </a:rPr>
                  <a:t>  height: 72,</a:t>
                </a:r>
              </a:p>
              <a:p>
                <a:pPr eaLnBrk="1" hangingPunct="1"/>
                <a:r>
                  <a:rPr lang="hu-HU" altLang="en-US" dirty="0">
                    <a:solidFill>
                      <a:schemeClr val="bg1"/>
                    </a:solidFill>
                    <a:latin typeface="Calibri" panose="020F0502020204030204" pitchFamily="34" charset="0"/>
                  </a:rPr>
                  <a:t>  loc: [44.6, 71.3]}</a:t>
                </a:r>
              </a:p>
              <a:p>
                <a:pPr eaLnBrk="1" hangingPunct="1"/>
                <a:endParaRPr lang="hu-HU" altLang="en-US" dirty="0">
                  <a:solidFill>
                    <a:schemeClr val="bg1"/>
                  </a:solidFill>
                  <a:latin typeface="Calibri" panose="020F0502020204030204" pitchFamily="34" charset="0"/>
                </a:endParaRPr>
              </a:p>
            </p:txBody>
          </p:sp>
        </p:grpSp>
        <p:sp>
          <p:nvSpPr>
            <p:cNvPr id="48" name="Rectangle 15">
              <a:extLst>
                <a:ext uri="{FF2B5EF4-FFF2-40B4-BE49-F238E27FC236}">
                  <a16:creationId xmlns:a16="http://schemas.microsoft.com/office/drawing/2014/main" id="{05C63FC3-10EF-4B6A-B950-6AFED1A015D1}"/>
                </a:ext>
              </a:extLst>
            </p:cNvPr>
            <p:cNvSpPr>
              <a:spLocks noChangeArrowheads="1"/>
            </p:cNvSpPr>
            <p:nvPr/>
          </p:nvSpPr>
          <p:spPr bwMode="auto">
            <a:xfrm>
              <a:off x="848603" y="2182267"/>
              <a:ext cx="3071246"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400" dirty="0">
                  <a:solidFill>
                    <a:schemeClr val="bg1"/>
                  </a:solidFill>
                </a:rPr>
                <a:t>{name: “will”,</a:t>
              </a:r>
            </a:p>
            <a:p>
              <a:pPr eaLnBrk="1" hangingPunct="1"/>
              <a:r>
                <a:rPr lang="en-US" altLang="en-US" sz="1400" dirty="0">
                  <a:solidFill>
                    <a:schemeClr val="bg1"/>
                  </a:solidFill>
                </a:rPr>
                <a:t>  eyes: “blue”,</a:t>
              </a:r>
            </a:p>
            <a:p>
              <a:pPr eaLnBrk="1" hangingPunct="1"/>
              <a:r>
                <a:rPr lang="en-US" altLang="en-US" sz="1400" dirty="0">
                  <a:solidFill>
                    <a:schemeClr val="bg1"/>
                  </a:solidFill>
                </a:rPr>
                <a:t>  birthplace: “NY”,</a:t>
              </a:r>
            </a:p>
            <a:p>
              <a:pPr eaLnBrk="1" hangingPunct="1"/>
              <a:r>
                <a:rPr lang="hu-HU" altLang="en-US" sz="1400" dirty="0">
                  <a:solidFill>
                    <a:schemeClr val="bg1"/>
                  </a:solidFill>
                </a:rPr>
                <a:t>  aliases: [“bill”, “</a:t>
              </a:r>
              <a:r>
                <a:rPr lang="en-US" altLang="en-US" sz="1400" dirty="0">
                  <a:solidFill>
                    <a:schemeClr val="bg1"/>
                  </a:solidFill>
                </a:rPr>
                <a:t>ben</a:t>
              </a:r>
              <a:r>
                <a:rPr lang="hu-HU" altLang="en-US" sz="1400" dirty="0">
                  <a:solidFill>
                    <a:schemeClr val="bg1"/>
                  </a:solidFill>
                </a:rPr>
                <a:t>”],</a:t>
              </a:r>
            </a:p>
            <a:p>
              <a:pPr eaLnBrk="1" hangingPunct="1"/>
              <a:r>
                <a:rPr lang="hu-HU" altLang="en-US" sz="1400" dirty="0">
                  <a:solidFill>
                    <a:schemeClr val="bg1"/>
                  </a:solidFill>
                </a:rPr>
                <a:t>  loc: [32.7, 63.4],</a:t>
              </a:r>
            </a:p>
            <a:p>
              <a:pPr eaLnBrk="1" hangingPunct="1"/>
              <a:r>
                <a:rPr lang="hu-HU" altLang="en-US" sz="1400" dirty="0">
                  <a:solidFill>
                    <a:schemeClr val="bg1"/>
                  </a:solidFill>
                </a:rPr>
                <a:t>  boss: ”ben”}</a:t>
              </a:r>
            </a:p>
          </p:txBody>
        </p:sp>
      </p:grpSp>
      <p:sp>
        <p:nvSpPr>
          <p:cNvPr id="80" name="Text Placeholder 1">
            <a:extLst>
              <a:ext uri="{FF2B5EF4-FFF2-40B4-BE49-F238E27FC236}">
                <a16:creationId xmlns:a16="http://schemas.microsoft.com/office/drawing/2014/main" id="{26841B80-C52A-4DFF-858C-69AC6E94FAB1}"/>
              </a:ext>
            </a:extLst>
          </p:cNvPr>
          <p:cNvSpPr txBox="1">
            <a:spLocks/>
          </p:cNvSpPr>
          <p:nvPr/>
        </p:nvSpPr>
        <p:spPr>
          <a:xfrm>
            <a:off x="195447" y="1434824"/>
            <a:ext cx="3271803" cy="724247"/>
          </a:xfrm>
          <a:prstGeom prst="rect">
            <a:avLst/>
          </a:prstGeom>
        </p:spPr>
        <p:txBody>
          <a:bodyPr anchor="ctr"/>
          <a:lstStyle>
            <a:lvl1pPr marL="0" indent="0" algn="ctr" defTabSz="914400" rtl="0" eaLnBrk="1" latinLnBrk="0" hangingPunct="1">
              <a:lnSpc>
                <a:spcPct val="90000"/>
              </a:lnSpc>
              <a:spcBef>
                <a:spcPts val="1000"/>
              </a:spcBef>
              <a:buFont typeface="Arial" panose="020B0604020202020204" pitchFamily="34" charset="0"/>
              <a:buNone/>
              <a:defRPr sz="5400" b="0" kern="1200" baseline="0">
                <a:solidFill>
                  <a:schemeClr val="tx1">
                    <a:lumMod val="85000"/>
                    <a:lumOff val="15000"/>
                  </a:schemeClr>
                </a:solidFill>
                <a:latin typeface="+mj-lt"/>
                <a:ea typeface="+mn-ea"/>
                <a:cs typeface="Arial"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sz="2800" dirty="0">
                <a:solidFill>
                  <a:schemeClr val="accent3"/>
                </a:solidFill>
                <a:latin typeface="Calibri" panose="020F0502020204030204" pitchFamily="34" charset="0"/>
              </a:rPr>
              <a:t>Scheme Free</a:t>
            </a:r>
            <a:endParaRPr lang="zh-CN" altLang="zh-CN" sz="2800" dirty="0">
              <a:solidFill>
                <a:schemeClr val="accent3"/>
              </a:solidFill>
              <a:latin typeface="Calibri" panose="020F0502020204030204" pitchFamily="34" charset="0"/>
            </a:endParaRPr>
          </a:p>
        </p:txBody>
      </p:sp>
    </p:spTree>
    <p:extLst>
      <p:ext uri="{BB962C8B-B14F-4D97-AF65-F5344CB8AC3E}">
        <p14:creationId xmlns:p14="http://schemas.microsoft.com/office/powerpoint/2010/main" val="24487423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pic>
        <p:nvPicPr>
          <p:cNvPr id="4" name="Picture 3"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45889" y="534849"/>
            <a:ext cx="2687061" cy="724247"/>
          </a:xfrm>
          <a:prstGeom prst="rect">
            <a:avLst/>
          </a:prstGeom>
        </p:spPr>
      </p:pic>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09401" y="591101"/>
            <a:ext cx="3440515"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Features Of</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120331" y="1451806"/>
            <a:ext cx="9983098" cy="456799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hu-HU" dirty="0"/>
              <a:t>Document-Oriented stor</a:t>
            </a:r>
            <a:r>
              <a:rPr lang="en-IN"/>
              <a:t>a</a:t>
            </a:r>
            <a:r>
              <a:rPr lang="hu-HU"/>
              <a:t>ge</a:t>
            </a:r>
            <a:endParaRPr lang="hu-HU" dirty="0"/>
          </a:p>
          <a:p>
            <a:pPr>
              <a:defRPr/>
            </a:pPr>
            <a:r>
              <a:rPr lang="hu-HU" dirty="0"/>
              <a:t>Full Index Support</a:t>
            </a:r>
          </a:p>
          <a:p>
            <a:pPr>
              <a:defRPr/>
            </a:pPr>
            <a:r>
              <a:rPr lang="hu-HU" dirty="0"/>
              <a:t>Replication &amp; High Availability</a:t>
            </a:r>
          </a:p>
          <a:p>
            <a:pPr>
              <a:defRPr/>
            </a:pPr>
            <a:r>
              <a:rPr lang="hu-HU" dirty="0"/>
              <a:t>Auto-Sharding</a:t>
            </a:r>
          </a:p>
          <a:p>
            <a:pPr>
              <a:defRPr/>
            </a:pPr>
            <a:r>
              <a:rPr lang="en-US" dirty="0"/>
              <a:t>Aggregation</a:t>
            </a:r>
          </a:p>
          <a:p>
            <a:pPr>
              <a:defRPr/>
            </a:pPr>
            <a:r>
              <a:rPr lang="en-US" dirty="0"/>
              <a:t>MongoDB Atlas</a:t>
            </a:r>
          </a:p>
          <a:p>
            <a:pPr eaLnBrk="1" hangingPunct="1"/>
            <a:r>
              <a:rPr lang="hu-HU" altLang="en-US" dirty="0"/>
              <a:t>Various APIs</a:t>
            </a:r>
          </a:p>
          <a:p>
            <a:pPr lvl="1" eaLnBrk="1" hangingPunct="1"/>
            <a:r>
              <a:rPr lang="hu-HU" altLang="en-US" dirty="0"/>
              <a:t>JavaScript, Python, Ruby, Perl, Java, Java, Scala, C#, C++, Haskell, Erlang</a:t>
            </a:r>
          </a:p>
          <a:p>
            <a:pPr eaLnBrk="1" hangingPunct="1"/>
            <a:r>
              <a:rPr lang="hu-HU" altLang="en-US" dirty="0"/>
              <a:t>Community</a:t>
            </a:r>
          </a:p>
          <a:p>
            <a:pPr>
              <a:defRPr/>
            </a:pPr>
            <a:endParaRPr lang="hu-HU" dirty="0"/>
          </a:p>
          <a:p>
            <a:pPr marL="114300" indent="0">
              <a:buFont typeface="Arial" panose="020B0604020202020204" pitchFamily="34" charset="0"/>
              <a:buNone/>
              <a:defRPr/>
            </a:pPr>
            <a:endParaRPr lang="hu-HU" dirty="0"/>
          </a:p>
        </p:txBody>
      </p:sp>
    </p:spTree>
    <p:extLst>
      <p:ext uri="{BB962C8B-B14F-4D97-AF65-F5344CB8AC3E}">
        <p14:creationId xmlns:p14="http://schemas.microsoft.com/office/powerpoint/2010/main" val="2055161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7CE3DD-7EF3-87BC-4F89-FD167EB138ED}"/>
              </a:ext>
            </a:extLst>
          </p:cNvPr>
          <p:cNvSpPr txBox="1">
            <a:spLocks/>
          </p:cNvSpPr>
          <p:nvPr/>
        </p:nvSpPr>
        <p:spPr>
          <a:xfrm>
            <a:off x="647487" y="133901"/>
            <a:ext cx="3440515" cy="724247"/>
          </a:xfrm>
          <a:prstGeom prst="rect">
            <a:avLst/>
          </a:prstGeom>
        </p:spPr>
        <p:txBody>
          <a:bodyPr vert="horz" lIns="91440" tIns="45720" rIns="91440" bIns="45720" rtlCol="0" anchor="ctr">
            <a:normAutofit fontScale="85000" lnSpcReduction="10000"/>
          </a:bodyP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altLang="zh-CN" sz="5400" dirty="0">
                <a:solidFill>
                  <a:schemeClr val="accent3"/>
                </a:solidFill>
                <a:latin typeface="Calibri" panose="020F0502020204030204" pitchFamily="34" charset="0"/>
              </a:rPr>
              <a:t>ACID vs BASE</a:t>
            </a:r>
            <a:endParaRPr lang="zh-CN" altLang="zh-CN" sz="5400" dirty="0">
              <a:solidFill>
                <a:schemeClr val="accent3"/>
              </a:solidFill>
              <a:latin typeface="Calibri" panose="020F0502020204030204" pitchFamily="34" charset="0"/>
            </a:endParaRPr>
          </a:p>
        </p:txBody>
      </p:sp>
      <p:sp>
        <p:nvSpPr>
          <p:cNvPr id="4" name="TextBox 3">
            <a:extLst>
              <a:ext uri="{FF2B5EF4-FFF2-40B4-BE49-F238E27FC236}">
                <a16:creationId xmlns:a16="http://schemas.microsoft.com/office/drawing/2014/main" id="{70DCAC51-B0C7-EC15-F274-F497EC126F2E}"/>
              </a:ext>
            </a:extLst>
          </p:cNvPr>
          <p:cNvSpPr txBox="1"/>
          <p:nvPr/>
        </p:nvSpPr>
        <p:spPr>
          <a:xfrm>
            <a:off x="647487" y="1315348"/>
            <a:ext cx="4425255" cy="4893647"/>
          </a:xfrm>
          <a:prstGeom prst="rect">
            <a:avLst/>
          </a:prstGeom>
          <a:noFill/>
        </p:spPr>
        <p:txBody>
          <a:bodyPr wrap="square">
            <a:spAutoFit/>
          </a:bodyPr>
          <a:lstStyle/>
          <a:p>
            <a:pPr algn="l"/>
            <a:r>
              <a:rPr lang="en-US" sz="2400" b="0" i="0" dirty="0">
                <a:solidFill>
                  <a:srgbClr val="090B0B"/>
                </a:solidFill>
                <a:effectLst/>
                <a:latin typeface="Inter"/>
              </a:rPr>
              <a:t>ACID stands for:</a:t>
            </a:r>
          </a:p>
          <a:p>
            <a:pPr algn="l">
              <a:buFont typeface="Arial" panose="020B0604020202020204" pitchFamily="34" charset="0"/>
              <a:buChar char="•"/>
            </a:pPr>
            <a:r>
              <a:rPr lang="en-US" sz="2400" b="1" i="0" dirty="0">
                <a:solidFill>
                  <a:srgbClr val="090B0B"/>
                </a:solidFill>
                <a:effectLst/>
                <a:latin typeface="Inter"/>
              </a:rPr>
              <a:t>Atomicity</a:t>
            </a:r>
            <a:r>
              <a:rPr lang="en-US" sz="2400" b="0" i="0" dirty="0">
                <a:solidFill>
                  <a:srgbClr val="090B0B"/>
                </a:solidFill>
                <a:effectLst/>
                <a:latin typeface="Inter"/>
              </a:rPr>
              <a:t> - Transactions are treated as a single unit - so if one action fails, the whole transaction fails.</a:t>
            </a:r>
          </a:p>
          <a:p>
            <a:pPr algn="l">
              <a:buFont typeface="Arial" panose="020B0604020202020204" pitchFamily="34" charset="0"/>
              <a:buChar char="•"/>
            </a:pPr>
            <a:r>
              <a:rPr lang="en-US" sz="2400" b="1" i="0" dirty="0">
                <a:solidFill>
                  <a:srgbClr val="090B0B"/>
                </a:solidFill>
                <a:effectLst/>
                <a:latin typeface="Inter"/>
              </a:rPr>
              <a:t>Consistency</a:t>
            </a:r>
            <a:r>
              <a:rPr lang="en-US" sz="2400" b="0" i="0" dirty="0">
                <a:solidFill>
                  <a:srgbClr val="090B0B"/>
                </a:solidFill>
                <a:effectLst/>
                <a:latin typeface="Inter"/>
              </a:rPr>
              <a:t> - The database must remain in a consistent state for a transaction to succeed.</a:t>
            </a:r>
          </a:p>
          <a:p>
            <a:pPr algn="l">
              <a:buFont typeface="Arial" panose="020B0604020202020204" pitchFamily="34" charset="0"/>
              <a:buChar char="•"/>
            </a:pPr>
            <a:r>
              <a:rPr lang="en-US" sz="2400" b="1" i="0" dirty="0">
                <a:solidFill>
                  <a:srgbClr val="090B0B"/>
                </a:solidFill>
                <a:effectLst/>
                <a:latin typeface="Inter"/>
              </a:rPr>
              <a:t>Isolation</a:t>
            </a:r>
            <a:r>
              <a:rPr lang="en-US" sz="2400" b="0" i="0" dirty="0">
                <a:solidFill>
                  <a:srgbClr val="090B0B"/>
                </a:solidFill>
                <a:effectLst/>
                <a:latin typeface="Inter"/>
              </a:rPr>
              <a:t> - Simultaneous transactions do not affect the outcome of one another.</a:t>
            </a:r>
          </a:p>
          <a:p>
            <a:pPr algn="l">
              <a:buFont typeface="Arial" panose="020B0604020202020204" pitchFamily="34" charset="0"/>
              <a:buChar char="•"/>
            </a:pPr>
            <a:r>
              <a:rPr lang="en-US" sz="2400" b="1" i="0" dirty="0">
                <a:solidFill>
                  <a:srgbClr val="090B0B"/>
                </a:solidFill>
                <a:effectLst/>
                <a:latin typeface="Inter"/>
              </a:rPr>
              <a:t>Durability</a:t>
            </a:r>
            <a:r>
              <a:rPr lang="en-US" sz="2400" b="0" i="0" dirty="0">
                <a:solidFill>
                  <a:srgbClr val="090B0B"/>
                </a:solidFill>
                <a:effectLst/>
                <a:latin typeface="Inter"/>
              </a:rPr>
              <a:t> - Successful changes will be stored permanently.</a:t>
            </a:r>
          </a:p>
        </p:txBody>
      </p:sp>
      <p:sp>
        <p:nvSpPr>
          <p:cNvPr id="6" name="TextBox 5">
            <a:extLst>
              <a:ext uri="{FF2B5EF4-FFF2-40B4-BE49-F238E27FC236}">
                <a16:creationId xmlns:a16="http://schemas.microsoft.com/office/drawing/2014/main" id="{12853F93-E290-3257-87DD-67E434A523EB}"/>
              </a:ext>
            </a:extLst>
          </p:cNvPr>
          <p:cNvSpPr txBox="1"/>
          <p:nvPr/>
        </p:nvSpPr>
        <p:spPr>
          <a:xfrm>
            <a:off x="5682343" y="1315348"/>
            <a:ext cx="6096000" cy="3785652"/>
          </a:xfrm>
          <a:prstGeom prst="rect">
            <a:avLst/>
          </a:prstGeom>
          <a:noFill/>
        </p:spPr>
        <p:txBody>
          <a:bodyPr wrap="square">
            <a:spAutoFit/>
          </a:bodyPr>
          <a:lstStyle/>
          <a:p>
            <a:pPr algn="l"/>
            <a:r>
              <a:rPr lang="en-US" sz="2400" b="0" i="0" dirty="0">
                <a:solidFill>
                  <a:srgbClr val="090B0B"/>
                </a:solidFill>
                <a:effectLst/>
                <a:latin typeface="Inter"/>
              </a:rPr>
              <a:t>BASE stands for:</a:t>
            </a:r>
          </a:p>
          <a:p>
            <a:pPr algn="l">
              <a:buFont typeface="Arial" panose="020B0604020202020204" pitchFamily="34" charset="0"/>
              <a:buChar char="•"/>
            </a:pPr>
            <a:r>
              <a:rPr lang="en-US" sz="2400" b="1" i="0" dirty="0">
                <a:solidFill>
                  <a:srgbClr val="090B0B"/>
                </a:solidFill>
                <a:effectLst/>
                <a:latin typeface="Inter"/>
              </a:rPr>
              <a:t>Basically available</a:t>
            </a:r>
            <a:r>
              <a:rPr lang="en-US" sz="2400" b="0" i="0" dirty="0">
                <a:solidFill>
                  <a:srgbClr val="090B0B"/>
                </a:solidFill>
                <a:effectLst/>
                <a:latin typeface="Inter"/>
              </a:rPr>
              <a:t> - Ensuring the availability of data by distributing it across different nodes in a distributed database.</a:t>
            </a:r>
          </a:p>
          <a:p>
            <a:pPr algn="l">
              <a:buFont typeface="Arial" panose="020B0604020202020204" pitchFamily="34" charset="0"/>
              <a:buChar char="•"/>
            </a:pPr>
            <a:r>
              <a:rPr lang="en-US" sz="2400" b="1" i="0" dirty="0">
                <a:solidFill>
                  <a:srgbClr val="090B0B"/>
                </a:solidFill>
                <a:effectLst/>
                <a:latin typeface="Inter"/>
              </a:rPr>
              <a:t>Soft state</a:t>
            </a:r>
            <a:r>
              <a:rPr lang="en-US" sz="2400" b="0" i="0" dirty="0">
                <a:solidFill>
                  <a:srgbClr val="090B0B"/>
                </a:solidFill>
                <a:effectLst/>
                <a:latin typeface="Inter"/>
              </a:rPr>
              <a:t> - The database itself doesn’t impose consistency, instead placing this responsibility on developers.</a:t>
            </a:r>
          </a:p>
          <a:p>
            <a:pPr algn="l">
              <a:buFont typeface="Arial" panose="020B0604020202020204" pitchFamily="34" charset="0"/>
              <a:buChar char="•"/>
            </a:pPr>
            <a:r>
              <a:rPr lang="en-US" sz="2400" b="1" i="0" dirty="0">
                <a:solidFill>
                  <a:srgbClr val="090B0B"/>
                </a:solidFill>
                <a:effectLst/>
                <a:latin typeface="Inter"/>
              </a:rPr>
              <a:t>Eventually consistent</a:t>
            </a:r>
            <a:r>
              <a:rPr lang="en-US" sz="2400" b="0" i="0" dirty="0">
                <a:solidFill>
                  <a:srgbClr val="090B0B"/>
                </a:solidFill>
                <a:effectLst/>
                <a:latin typeface="Inter"/>
              </a:rPr>
              <a:t> - Consistency should ultimately be achieved, but isn’t guaranteed for individual transactions.</a:t>
            </a:r>
          </a:p>
        </p:txBody>
      </p:sp>
    </p:spTree>
    <p:extLst>
      <p:ext uri="{BB962C8B-B14F-4D97-AF65-F5344CB8AC3E}">
        <p14:creationId xmlns:p14="http://schemas.microsoft.com/office/powerpoint/2010/main" val="3877485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140689" y="465441"/>
            <a:ext cx="11573197"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Replication</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044429" y="1615197"/>
            <a:ext cx="10322654" cy="431196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dirty="0"/>
              <a:t>Replication provides redundancy and increases data availability. </a:t>
            </a:r>
          </a:p>
          <a:p>
            <a:pPr>
              <a:defRPr/>
            </a:pPr>
            <a:r>
              <a:rPr lang="en-US" dirty="0"/>
              <a:t>With multiple copies of data on different database servers, replication provides a level of fault tolerance against the loss of a single database server.</a:t>
            </a:r>
            <a:endParaRPr lang="hu-HU" dirty="0"/>
          </a:p>
        </p:txBody>
      </p:sp>
      <p:pic>
        <p:nvPicPr>
          <p:cNvPr id="10" name="Picture 4">
            <a:extLst>
              <a:ext uri="{FF2B5EF4-FFF2-40B4-BE49-F238E27FC236}">
                <a16:creationId xmlns:a16="http://schemas.microsoft.com/office/drawing/2014/main" id="{2543EEA3-B73B-439B-887F-18234A2068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48648" y="3607790"/>
            <a:ext cx="3495492" cy="25288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Picture 2">
            <a:extLst>
              <a:ext uri="{FF2B5EF4-FFF2-40B4-BE49-F238E27FC236}">
                <a16:creationId xmlns:a16="http://schemas.microsoft.com/office/drawing/2014/main" id="{D8B1A4E6-9B08-46C5-9EF2-C18146FA5F66}"/>
              </a:ext>
            </a:extLst>
          </p:cNvPr>
          <p:cNvPicPr>
            <a:picLocks noChangeAspect="1"/>
          </p:cNvPicPr>
          <p:nvPr/>
        </p:nvPicPr>
        <p:blipFill>
          <a:blip r:embed="rId3"/>
          <a:stretch>
            <a:fillRect/>
          </a:stretch>
        </p:blipFill>
        <p:spPr>
          <a:xfrm>
            <a:off x="893283" y="4021299"/>
            <a:ext cx="4895850" cy="1809750"/>
          </a:xfrm>
          <a:prstGeom prst="rect">
            <a:avLst/>
          </a:prstGeom>
        </p:spPr>
      </p:pic>
      <p:sp>
        <p:nvSpPr>
          <p:cNvPr id="5" name="TextBox 4">
            <a:extLst>
              <a:ext uri="{FF2B5EF4-FFF2-40B4-BE49-F238E27FC236}">
                <a16:creationId xmlns:a16="http://schemas.microsoft.com/office/drawing/2014/main" id="{D1409CB2-CB3C-491D-9C7A-6237E335ABF3}"/>
              </a:ext>
            </a:extLst>
          </p:cNvPr>
          <p:cNvSpPr txBox="1"/>
          <p:nvPr/>
        </p:nvSpPr>
        <p:spPr>
          <a:xfrm flipH="1">
            <a:off x="1488625" y="6032433"/>
            <a:ext cx="1598524" cy="230832"/>
          </a:xfrm>
          <a:prstGeom prst="rect">
            <a:avLst/>
          </a:prstGeom>
          <a:noFill/>
        </p:spPr>
        <p:txBody>
          <a:bodyPr wrap="square" rtlCol="0">
            <a:spAutoFit/>
          </a:bodyPr>
          <a:lstStyle/>
          <a:p>
            <a:r>
              <a:rPr lang="en-US" sz="900" b="1" dirty="0"/>
              <a:t>Copy of database</a:t>
            </a:r>
          </a:p>
        </p:txBody>
      </p:sp>
      <p:sp>
        <p:nvSpPr>
          <p:cNvPr id="12" name="TextBox 11">
            <a:extLst>
              <a:ext uri="{FF2B5EF4-FFF2-40B4-BE49-F238E27FC236}">
                <a16:creationId xmlns:a16="http://schemas.microsoft.com/office/drawing/2014/main" id="{22681904-6B94-478B-8177-335075ABCCBE}"/>
              </a:ext>
            </a:extLst>
          </p:cNvPr>
          <p:cNvSpPr txBox="1"/>
          <p:nvPr/>
        </p:nvSpPr>
        <p:spPr>
          <a:xfrm flipH="1">
            <a:off x="4459205" y="6053935"/>
            <a:ext cx="1598524" cy="230832"/>
          </a:xfrm>
          <a:prstGeom prst="rect">
            <a:avLst/>
          </a:prstGeom>
          <a:noFill/>
        </p:spPr>
        <p:txBody>
          <a:bodyPr wrap="square" rtlCol="0">
            <a:spAutoFit/>
          </a:bodyPr>
          <a:lstStyle/>
          <a:p>
            <a:r>
              <a:rPr lang="en-US" sz="900" b="1" dirty="0"/>
              <a:t>Copy of database</a:t>
            </a:r>
          </a:p>
        </p:txBody>
      </p:sp>
    </p:spTree>
    <p:extLst>
      <p:ext uri="{BB962C8B-B14F-4D97-AF65-F5344CB8AC3E}">
        <p14:creationId xmlns:p14="http://schemas.microsoft.com/office/powerpoint/2010/main" val="12928685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439834" y="436381"/>
            <a:ext cx="3310082"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Replication</a:t>
            </a:r>
            <a:endParaRPr lang="zh-CN" altLang="zh-CN" sz="5400" dirty="0">
              <a:solidFill>
                <a:schemeClr val="accent3"/>
              </a:solidFill>
              <a:latin typeface="Calibri" panose="020F0502020204030204" pitchFamily="34" charset="0"/>
            </a:endParaRPr>
          </a:p>
        </p:txBody>
      </p:sp>
      <p:pic>
        <p:nvPicPr>
          <p:cNvPr id="11" name="Picture 2">
            <a:extLst>
              <a:ext uri="{FF2B5EF4-FFF2-40B4-BE49-F238E27FC236}">
                <a16:creationId xmlns:a16="http://schemas.microsoft.com/office/drawing/2014/main" id="{E7FC68C2-9099-486B-B30F-FC6A92FD20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772" y="2298102"/>
            <a:ext cx="6524625" cy="2619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2">
            <a:extLst>
              <a:ext uri="{FF2B5EF4-FFF2-40B4-BE49-F238E27FC236}">
                <a16:creationId xmlns:a16="http://schemas.microsoft.com/office/drawing/2014/main" id="{8D8452D2-DB68-4290-8D0D-8E18D031B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69351" y="1778989"/>
            <a:ext cx="5153025" cy="365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99720CD7-14F4-47C0-B577-32E38C2EA963}"/>
              </a:ext>
            </a:extLst>
          </p:cNvPr>
          <p:cNvPicPr>
            <a:picLocks noChangeAspect="1"/>
          </p:cNvPicPr>
          <p:nvPr/>
        </p:nvPicPr>
        <p:blipFill>
          <a:blip r:embed="rId4"/>
          <a:stretch>
            <a:fillRect/>
          </a:stretch>
        </p:blipFill>
        <p:spPr>
          <a:xfrm>
            <a:off x="2713084" y="4573049"/>
            <a:ext cx="1524000" cy="228600"/>
          </a:xfrm>
          <a:prstGeom prst="rect">
            <a:avLst/>
          </a:prstGeom>
        </p:spPr>
      </p:pic>
    </p:spTree>
    <p:extLst>
      <p:ext uri="{BB962C8B-B14F-4D97-AF65-F5344CB8AC3E}">
        <p14:creationId xmlns:p14="http://schemas.microsoft.com/office/powerpoint/2010/main" val="30117163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09402" y="356008"/>
            <a:ext cx="3315542"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86076" y="1841777"/>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dirty="0"/>
              <a:t>Sharding is a method for distributing data across multiple machines. </a:t>
            </a:r>
          </a:p>
          <a:p>
            <a:pPr>
              <a:defRPr/>
            </a:pPr>
            <a:r>
              <a:rPr lang="en-US" dirty="0"/>
              <a:t>MongoDB uses </a:t>
            </a:r>
            <a:r>
              <a:rPr lang="en-US" dirty="0" err="1"/>
              <a:t>sharding</a:t>
            </a:r>
            <a:r>
              <a:rPr lang="en-US" dirty="0"/>
              <a:t> to support deployments with very large data sets and </a:t>
            </a:r>
            <a:r>
              <a:rPr lang="en-US" b="1" dirty="0"/>
              <a:t>high throughput operations.</a:t>
            </a:r>
            <a:endParaRPr lang="hu-HU" b="1" dirty="0"/>
          </a:p>
        </p:txBody>
      </p:sp>
      <p:pic>
        <p:nvPicPr>
          <p:cNvPr id="11" name="Picture 10">
            <a:extLst>
              <a:ext uri="{FF2B5EF4-FFF2-40B4-BE49-F238E27FC236}">
                <a16:creationId xmlns:a16="http://schemas.microsoft.com/office/drawing/2014/main" id="{C21D4A4E-046A-46EC-B25E-D03847DD6BA1}"/>
              </a:ext>
            </a:extLst>
          </p:cNvPr>
          <p:cNvPicPr>
            <a:picLocks noChangeAspect="1"/>
          </p:cNvPicPr>
          <p:nvPr/>
        </p:nvPicPr>
        <p:blipFill>
          <a:blip r:embed="rId2"/>
          <a:stretch>
            <a:fillRect/>
          </a:stretch>
        </p:blipFill>
        <p:spPr>
          <a:xfrm>
            <a:off x="6096000" y="1717776"/>
            <a:ext cx="4145035" cy="4249274"/>
          </a:xfrm>
          <a:prstGeom prst="rect">
            <a:avLst/>
          </a:prstGeom>
        </p:spPr>
      </p:pic>
    </p:spTree>
    <p:extLst>
      <p:ext uri="{BB962C8B-B14F-4D97-AF65-F5344CB8AC3E}">
        <p14:creationId xmlns:p14="http://schemas.microsoft.com/office/powerpoint/2010/main" val="5259287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166029" y="179379"/>
            <a:ext cx="6248527"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 Architecture </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66029" y="2548245"/>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b="1" i="0" dirty="0">
                <a:solidFill>
                  <a:srgbClr val="262524"/>
                </a:solidFill>
                <a:effectLst/>
                <a:latin typeface="Geekflare"/>
              </a:rPr>
              <a:t>Shard</a:t>
            </a:r>
            <a:r>
              <a:rPr lang="en-US" b="0" i="0" dirty="0">
                <a:solidFill>
                  <a:srgbClr val="262524"/>
                </a:solidFill>
                <a:effectLst/>
                <a:latin typeface="Geekflare"/>
              </a:rPr>
              <a:t> is a Mongo instance to handle a subset of original data.</a:t>
            </a:r>
          </a:p>
          <a:p>
            <a:pPr algn="l"/>
            <a:r>
              <a:rPr lang="en-US" b="1" i="0" dirty="0">
                <a:solidFill>
                  <a:srgbClr val="262524"/>
                </a:solidFill>
                <a:effectLst/>
                <a:latin typeface="Geekflare"/>
              </a:rPr>
              <a:t>Mongos</a:t>
            </a:r>
            <a:r>
              <a:rPr lang="en-US" b="0" i="0" dirty="0">
                <a:solidFill>
                  <a:srgbClr val="262524"/>
                </a:solidFill>
                <a:effectLst/>
                <a:latin typeface="Geekflare"/>
              </a:rPr>
              <a:t> is a query router to shards.</a:t>
            </a:r>
          </a:p>
          <a:p>
            <a:pPr algn="l"/>
            <a:r>
              <a:rPr lang="en-US" b="1" i="0" dirty="0">
                <a:solidFill>
                  <a:srgbClr val="262524"/>
                </a:solidFill>
                <a:effectLst/>
                <a:latin typeface="Geekflare"/>
              </a:rPr>
              <a:t>Config Server</a:t>
            </a:r>
            <a:r>
              <a:rPr lang="en-US" b="0" i="0" dirty="0">
                <a:solidFill>
                  <a:srgbClr val="262524"/>
                </a:solidFill>
                <a:effectLst/>
                <a:latin typeface="Geekflare"/>
              </a:rPr>
              <a:t> is a Mongo instance which stores metadata information and configuration details of cluster. </a:t>
            </a:r>
          </a:p>
        </p:txBody>
      </p:sp>
      <p:pic>
        <p:nvPicPr>
          <p:cNvPr id="6" name="Picture 5">
            <a:extLst>
              <a:ext uri="{FF2B5EF4-FFF2-40B4-BE49-F238E27FC236}">
                <a16:creationId xmlns:a16="http://schemas.microsoft.com/office/drawing/2014/main" id="{EE12BD91-C18C-47AA-A5E5-2338563526A6}"/>
              </a:ext>
            </a:extLst>
          </p:cNvPr>
          <p:cNvPicPr>
            <a:picLocks noChangeAspect="1"/>
          </p:cNvPicPr>
          <p:nvPr/>
        </p:nvPicPr>
        <p:blipFill>
          <a:blip r:embed="rId2"/>
          <a:stretch>
            <a:fillRect/>
          </a:stretch>
        </p:blipFill>
        <p:spPr>
          <a:xfrm>
            <a:off x="6117574" y="1789505"/>
            <a:ext cx="6019800" cy="4311967"/>
          </a:xfrm>
          <a:prstGeom prst="rect">
            <a:avLst/>
          </a:prstGeom>
        </p:spPr>
      </p:pic>
    </p:spTree>
    <p:extLst>
      <p:ext uri="{BB962C8B-B14F-4D97-AF65-F5344CB8AC3E}">
        <p14:creationId xmlns:p14="http://schemas.microsoft.com/office/powerpoint/2010/main" val="80173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627957" y="314601"/>
            <a:ext cx="5925243"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Sharding/Replication</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20603" y="2650579"/>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fontAlgn="base">
              <a:buFont typeface="Arial" panose="020B0604020202020204" pitchFamily="34" charset="0"/>
              <a:buChar char="•"/>
            </a:pPr>
            <a:r>
              <a:rPr lang="en-US" b="0" i="0" dirty="0">
                <a:solidFill>
                  <a:srgbClr val="000000"/>
                </a:solidFill>
                <a:effectLst/>
                <a:latin typeface="inherit"/>
              </a:rPr>
              <a:t>Replication Split data sets across multiple data nodes for high availability.</a:t>
            </a:r>
            <a:endParaRPr lang="en-US" b="0" i="0" dirty="0">
              <a:solidFill>
                <a:srgbClr val="5E5E5E"/>
              </a:solidFill>
              <a:effectLst/>
              <a:latin typeface="inherit"/>
            </a:endParaRPr>
          </a:p>
          <a:p>
            <a:pPr algn="l" fontAlgn="base">
              <a:buFont typeface="Arial" panose="020B0604020202020204" pitchFamily="34" charset="0"/>
              <a:buChar char="•"/>
            </a:pPr>
            <a:r>
              <a:rPr lang="en-US" b="0" i="0" dirty="0">
                <a:solidFill>
                  <a:srgbClr val="000000"/>
                </a:solidFill>
                <a:effectLst/>
                <a:latin typeface="inherit"/>
              </a:rPr>
              <a:t>Sharding scale up/down horizontally when it is required for high throughput </a:t>
            </a:r>
            <a:endParaRPr lang="en-US" b="0" i="0" dirty="0">
              <a:solidFill>
                <a:srgbClr val="5E5E5E"/>
              </a:solidFill>
              <a:effectLst/>
              <a:latin typeface="inherit"/>
            </a:endParaRPr>
          </a:p>
        </p:txBody>
      </p:sp>
      <p:pic>
        <p:nvPicPr>
          <p:cNvPr id="3" name="Picture 2">
            <a:extLst>
              <a:ext uri="{FF2B5EF4-FFF2-40B4-BE49-F238E27FC236}">
                <a16:creationId xmlns:a16="http://schemas.microsoft.com/office/drawing/2014/main" id="{960F6D57-748C-44A0-81A9-2B70A038D9AB}"/>
              </a:ext>
            </a:extLst>
          </p:cNvPr>
          <p:cNvPicPr>
            <a:picLocks noChangeAspect="1"/>
          </p:cNvPicPr>
          <p:nvPr/>
        </p:nvPicPr>
        <p:blipFill>
          <a:blip r:embed="rId2"/>
          <a:stretch>
            <a:fillRect/>
          </a:stretch>
        </p:blipFill>
        <p:spPr>
          <a:xfrm>
            <a:off x="5508957" y="1299666"/>
            <a:ext cx="6360220" cy="4935393"/>
          </a:xfrm>
          <a:prstGeom prst="rect">
            <a:avLst/>
          </a:prstGeom>
        </p:spPr>
      </p:pic>
    </p:spTree>
    <p:extLst>
      <p:ext uri="{BB962C8B-B14F-4D97-AF65-F5344CB8AC3E}">
        <p14:creationId xmlns:p14="http://schemas.microsoft.com/office/powerpoint/2010/main" val="3903870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319A2A-AAE8-B8B1-BEA6-2A6CA25F296D}"/>
              </a:ext>
            </a:extLst>
          </p:cNvPr>
          <p:cNvSpPr txBox="1"/>
          <p:nvPr/>
        </p:nvSpPr>
        <p:spPr>
          <a:xfrm>
            <a:off x="217714" y="1400965"/>
            <a:ext cx="11691257" cy="4893647"/>
          </a:xfrm>
          <a:prstGeom prst="rect">
            <a:avLst/>
          </a:prstGeom>
          <a:noFill/>
        </p:spPr>
        <p:txBody>
          <a:bodyPr wrap="square">
            <a:spAutoFit/>
          </a:bodyPr>
          <a:lstStyle/>
          <a:p>
            <a:pPr algn="l"/>
            <a:r>
              <a:rPr lang="en-US" sz="2400" b="0" i="0" dirty="0">
                <a:effectLst/>
              </a:rPr>
              <a:t>The </a:t>
            </a:r>
            <a:r>
              <a:rPr lang="en-US" sz="2400" b="0" i="0" dirty="0" err="1">
                <a:effectLst/>
              </a:rPr>
              <a:t>MongoTemplate</a:t>
            </a:r>
            <a:r>
              <a:rPr lang="en-US" sz="2400" b="0" i="0" dirty="0">
                <a:effectLst/>
              </a:rPr>
              <a:t> follows the standard template pattern in Spring and provides a ready-to-go, basic API to the underlying persistence engine. The repository follows the Spring Data-centric approach and comes with more flexible and complex API operations, based on the well-known access patterns in all Spring Data projects.</a:t>
            </a:r>
          </a:p>
          <a:p>
            <a:pPr algn="l"/>
            <a:endParaRPr lang="en-US" sz="2400" dirty="0"/>
          </a:p>
          <a:p>
            <a:pPr algn="l"/>
            <a:r>
              <a:rPr lang="en-US" sz="2400" b="1" i="0" dirty="0" err="1">
                <a:effectLst/>
              </a:rPr>
              <a:t>MongoTemplate</a:t>
            </a:r>
            <a:r>
              <a:rPr lang="en-US" sz="2400" b="0" i="0" dirty="0">
                <a:effectLst/>
              </a:rPr>
              <a:t> provides "atomic" out-of-the-box operations </a:t>
            </a:r>
            <a:r>
              <a:rPr lang="en-US" sz="2400" b="0" i="0" dirty="0" err="1">
                <a:effectLst/>
              </a:rPr>
              <a:t>updateFirst</a:t>
            </a:r>
            <a:r>
              <a:rPr lang="en-US" sz="2400" b="0" i="0" dirty="0">
                <a:effectLst/>
              </a:rPr>
              <a:t>, </a:t>
            </a:r>
            <a:r>
              <a:rPr lang="en-US" sz="2400" b="0" i="0" dirty="0" err="1">
                <a:effectLst/>
              </a:rPr>
              <a:t>updateMulti</a:t>
            </a:r>
            <a:r>
              <a:rPr lang="en-US" sz="2400" b="0" i="0" dirty="0">
                <a:effectLst/>
              </a:rPr>
              <a:t>, </a:t>
            </a:r>
            <a:r>
              <a:rPr lang="en-US" sz="2400" b="0" i="0" dirty="0" err="1">
                <a:effectLst/>
              </a:rPr>
              <a:t>findAndModify</a:t>
            </a:r>
            <a:r>
              <a:rPr lang="en-US" sz="2400" b="0" i="0" dirty="0">
                <a:effectLst/>
              </a:rPr>
              <a:t>, </a:t>
            </a:r>
            <a:r>
              <a:rPr lang="en-US" sz="2400" b="0" i="0" dirty="0" err="1">
                <a:effectLst/>
              </a:rPr>
              <a:t>upsert</a:t>
            </a:r>
            <a:r>
              <a:rPr lang="en-US" sz="2400" b="0" i="0" dirty="0">
                <a:effectLst/>
              </a:rPr>
              <a:t>... which allow you to modify a document in a single operation. The Update object used by these methods also allows you to target only the relevant fields.</a:t>
            </a:r>
          </a:p>
          <a:p>
            <a:pPr algn="l"/>
            <a:r>
              <a:rPr lang="en-US" sz="2400" b="1" i="0" dirty="0" err="1">
                <a:effectLst/>
              </a:rPr>
              <a:t>MongoRepository</a:t>
            </a:r>
            <a:r>
              <a:rPr lang="en-US" sz="2400" b="0" i="0" dirty="0">
                <a:effectLst/>
              </a:rPr>
              <a:t> only gives you the basic CRUD operations find, insert, save, delete, which work with POJOs containing all the fields. This forces you to either update the documents in several steps (1. find the document to update, 2. modify the relevant fields from the returned POJO, and then 3. save it), or define your own update queries by hand using @Query.</a:t>
            </a:r>
          </a:p>
        </p:txBody>
      </p:sp>
      <p:sp>
        <p:nvSpPr>
          <p:cNvPr id="4" name="Text Placeholder 1">
            <a:extLst>
              <a:ext uri="{FF2B5EF4-FFF2-40B4-BE49-F238E27FC236}">
                <a16:creationId xmlns:a16="http://schemas.microsoft.com/office/drawing/2014/main" id="{ED978F72-B3E8-2C5A-9DD3-76281FBD05D6}"/>
              </a:ext>
            </a:extLst>
          </p:cNvPr>
          <p:cNvSpPr txBox="1">
            <a:spLocks/>
          </p:cNvSpPr>
          <p:nvPr/>
        </p:nvSpPr>
        <p:spPr>
          <a:xfrm>
            <a:off x="627957" y="314601"/>
            <a:ext cx="10235986" cy="850170"/>
          </a:xfrm>
          <a:prstGeom prst="rect">
            <a:avLst/>
          </a:prstGeom>
        </p:spPr>
        <p:txBody>
          <a:bodyPr vert="horz" lIns="91440" tIns="45720" rIns="91440" bIns="45720" rtlCol="0" anchor="ctr">
            <a:normAutofit fontScale="85000" lnSpcReduction="10000"/>
          </a:bodyP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5400" dirty="0" err="1">
                <a:solidFill>
                  <a:schemeClr val="accent3"/>
                </a:solidFill>
                <a:latin typeface="Calibri" panose="020F0502020204030204" pitchFamily="34" charset="0"/>
              </a:rPr>
              <a:t>MongoTemplate</a:t>
            </a:r>
            <a:r>
              <a:rPr lang="en-US" altLang="zh-CN" sz="5400" dirty="0">
                <a:solidFill>
                  <a:schemeClr val="accent3"/>
                </a:solidFill>
                <a:latin typeface="Calibri" panose="020F0502020204030204" pitchFamily="34" charset="0"/>
              </a:rPr>
              <a:t> and </a:t>
            </a:r>
            <a:r>
              <a:rPr lang="en-US" altLang="zh-CN" sz="5400" dirty="0" err="1">
                <a:solidFill>
                  <a:schemeClr val="accent3"/>
                </a:solidFill>
                <a:latin typeface="Calibri" panose="020F0502020204030204" pitchFamily="34" charset="0"/>
              </a:rPr>
              <a:t>MongoRepository</a:t>
            </a:r>
            <a:endParaRPr lang="zh-CN" altLang="zh-CN" sz="5400" dirty="0">
              <a:solidFill>
                <a:schemeClr val="accent3"/>
              </a:solidFill>
              <a:latin typeface="Calibri" panose="020F0502020204030204" pitchFamily="34" charset="0"/>
            </a:endParaRPr>
          </a:p>
        </p:txBody>
      </p:sp>
    </p:spTree>
    <p:extLst>
      <p:ext uri="{BB962C8B-B14F-4D97-AF65-F5344CB8AC3E}">
        <p14:creationId xmlns:p14="http://schemas.microsoft.com/office/powerpoint/2010/main" val="16815519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AE7C2-E1E6-8575-6D4B-E3D8CA54533B}"/>
              </a:ext>
            </a:extLst>
          </p:cNvPr>
          <p:cNvSpPr txBox="1">
            <a:spLocks/>
          </p:cNvSpPr>
          <p:nvPr/>
        </p:nvSpPr>
        <p:spPr>
          <a:xfrm>
            <a:off x="70757" y="-5669"/>
            <a:ext cx="10880272" cy="346141"/>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dirty="0"/>
              <a:t>Sample implementation - </a:t>
            </a:r>
            <a:r>
              <a:rPr lang="en-US" sz="2000" dirty="0">
                <a:hlinkClick r:id="rId2"/>
              </a:rPr>
              <a:t>https://github.com/as6485/springmongodb</a:t>
            </a:r>
            <a:r>
              <a:rPr lang="en-US" sz="2000" dirty="0"/>
              <a:t> </a:t>
            </a:r>
          </a:p>
        </p:txBody>
      </p:sp>
      <p:pic>
        <p:nvPicPr>
          <p:cNvPr id="4" name="Picture 3">
            <a:extLst>
              <a:ext uri="{FF2B5EF4-FFF2-40B4-BE49-F238E27FC236}">
                <a16:creationId xmlns:a16="http://schemas.microsoft.com/office/drawing/2014/main" id="{50F0ADC9-5AC1-7CED-6368-D9B93226F712}"/>
              </a:ext>
            </a:extLst>
          </p:cNvPr>
          <p:cNvPicPr>
            <a:picLocks noChangeAspect="1"/>
          </p:cNvPicPr>
          <p:nvPr/>
        </p:nvPicPr>
        <p:blipFill>
          <a:blip r:embed="rId3"/>
          <a:stretch>
            <a:fillRect/>
          </a:stretch>
        </p:blipFill>
        <p:spPr>
          <a:xfrm>
            <a:off x="2275114" y="538880"/>
            <a:ext cx="7282543" cy="5698633"/>
          </a:xfrm>
          <a:prstGeom prst="rect">
            <a:avLst/>
          </a:prstGeom>
        </p:spPr>
      </p:pic>
    </p:spTree>
    <p:extLst>
      <p:ext uri="{BB962C8B-B14F-4D97-AF65-F5344CB8AC3E}">
        <p14:creationId xmlns:p14="http://schemas.microsoft.com/office/powerpoint/2010/main" val="7881759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p:txBody>
          <a:bodyPr>
            <a:normAutofit/>
          </a:bodyPr>
          <a:lstStyle/>
          <a:p>
            <a:r>
              <a:rPr lang="en-US" dirty="0">
                <a:hlinkClick r:id="rId2"/>
              </a:rPr>
              <a:t>https://en.wikipedia.org/wiki/MongoDB</a:t>
            </a:r>
            <a:r>
              <a:rPr lang="en-US" dirty="0"/>
              <a:t> </a:t>
            </a:r>
          </a:p>
          <a:p>
            <a:r>
              <a:rPr lang="en-US" dirty="0">
                <a:hlinkClick r:id="rId3"/>
              </a:rPr>
              <a:t>https://www.mongodb.com/</a:t>
            </a:r>
            <a:endParaRPr lang="en-US" dirty="0"/>
          </a:p>
          <a:p>
            <a:r>
              <a:rPr lang="en-US" dirty="0">
                <a:hlinkClick r:id="rId4"/>
              </a:rPr>
              <a:t>https://slideplayer.com/slide/9859102/</a:t>
            </a:r>
            <a:r>
              <a:rPr lang="en-US" dirty="0"/>
              <a:t> </a:t>
            </a:r>
          </a:p>
          <a:p>
            <a:r>
              <a:rPr lang="en-US" dirty="0">
                <a:hlinkClick r:id="rId5"/>
              </a:rPr>
              <a:t>https://stackoverflow.com/questions/17008947/whats-the-difference-between-spring-datas-mongotemplate-and-mongorepository</a:t>
            </a:r>
            <a:r>
              <a:rPr lang="en-US" dirty="0"/>
              <a:t> </a:t>
            </a:r>
          </a:p>
        </p:txBody>
      </p:sp>
    </p:spTree>
    <p:extLst>
      <p:ext uri="{BB962C8B-B14F-4D97-AF65-F5344CB8AC3E}">
        <p14:creationId xmlns:p14="http://schemas.microsoft.com/office/powerpoint/2010/main" val="1074557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TotalTime>
  <Words>843</Words>
  <Application>Microsoft Office PowerPoint</Application>
  <PresentationFormat>Widescreen</PresentationFormat>
  <Paragraphs>102</Paragraphs>
  <Slides>14</Slides>
  <Notes>0</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14</vt:i4>
      </vt:variant>
    </vt:vector>
  </HeadingPairs>
  <TitlesOfParts>
    <vt:vector size="25" baseType="lpstr">
      <vt:lpstr>Arial</vt:lpstr>
      <vt:lpstr>Calibri</vt:lpstr>
      <vt:lpstr>Calibri Light</vt:lpstr>
      <vt:lpstr>Constantia</vt:lpstr>
      <vt:lpstr>Geekflare</vt:lpstr>
      <vt:lpstr>Gill Sans</vt:lpstr>
      <vt:lpstr>inherit</vt:lpstr>
      <vt:lpstr>Inter</vt:lpstr>
      <vt:lpstr>Wingdings</vt:lpstr>
      <vt:lpstr>Wingdings 2</vt:lpstr>
      <vt:lpstr>Office Theme</vt:lpstr>
      <vt:lpstr>PowerPoint Presentation</vt:lpstr>
      <vt:lpstr>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Urmisha Sengupta</dc:creator>
  <cp:lastModifiedBy>Urmisha Sengupta</cp:lastModifiedBy>
  <cp:revision>37</cp:revision>
  <dcterms:created xsi:type="dcterms:W3CDTF">2023-10-16T14:39:36Z</dcterms:created>
  <dcterms:modified xsi:type="dcterms:W3CDTF">2023-11-20T13:56:44Z</dcterms:modified>
</cp:coreProperties>
</file>