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58" r:id="rId3"/>
    <p:sldId id="260" r:id="rId4"/>
    <p:sldId id="261" r:id="rId5"/>
    <p:sldId id="262" r:id="rId6"/>
    <p:sldId id="264" r:id="rId7"/>
    <p:sldId id="265" r:id="rId8"/>
    <p:sldId id="266" r:id="rId9"/>
    <p:sldId id="267" r:id="rId10"/>
    <p:sldId id="268" r:id="rId11"/>
    <p:sldId id="269" r:id="rId12"/>
    <p:sldId id="271" r:id="rId13"/>
    <p:sldId id="272" r:id="rId14"/>
    <p:sldId id="273"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F9C829-360C-4EBB-9913-31B20BDD9A0C}" type="datetimeFigureOut">
              <a:rPr lang="en-IN" smtClean="0"/>
              <a:t>21-04-2025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A55433-71DF-481E-BE35-1B71C54620B9}" type="slidenum">
              <a:rPr lang="en-IN" smtClean="0"/>
              <a:t>‹#›</a:t>
            </a:fld>
            <a:endParaRPr lang="en-IN" dirty="0"/>
          </a:p>
        </p:txBody>
      </p:sp>
    </p:spTree>
    <p:extLst>
      <p:ext uri="{BB962C8B-B14F-4D97-AF65-F5344CB8AC3E}">
        <p14:creationId xmlns:p14="http://schemas.microsoft.com/office/powerpoint/2010/main" val="601024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E871F-D764-DB11-194A-CDAB1F5309E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CEAF7B0-E2BC-59C5-D624-24AA2A68DC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8E84802-86B7-0D48-6923-A5D75DD4B5C9}"/>
              </a:ext>
            </a:extLst>
          </p:cNvPr>
          <p:cNvSpPr>
            <a:spLocks noGrp="1"/>
          </p:cNvSpPr>
          <p:nvPr>
            <p:ph type="dt" sz="half" idx="10"/>
          </p:nvPr>
        </p:nvSpPr>
        <p:spPr/>
        <p:txBody>
          <a:bodyPr/>
          <a:lstStyle/>
          <a:p>
            <a:fld id="{2133CE5E-D606-42C7-8D19-97ABF8996B29}" type="datetimeFigureOut">
              <a:rPr lang="en-IN" smtClean="0"/>
              <a:t>21-04-2025</a:t>
            </a:fld>
            <a:endParaRPr lang="en-IN" dirty="0"/>
          </a:p>
        </p:txBody>
      </p:sp>
      <p:sp>
        <p:nvSpPr>
          <p:cNvPr id="5" name="Footer Placeholder 4">
            <a:extLst>
              <a:ext uri="{FF2B5EF4-FFF2-40B4-BE49-F238E27FC236}">
                <a16:creationId xmlns:a16="http://schemas.microsoft.com/office/drawing/2014/main" id="{317D40F1-7E2A-04B6-96B3-533A8A7679D5}"/>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DB9D4CC5-E4A9-2557-81A8-09CEF439704C}"/>
              </a:ext>
            </a:extLst>
          </p:cNvPr>
          <p:cNvSpPr>
            <a:spLocks noGrp="1"/>
          </p:cNvSpPr>
          <p:nvPr>
            <p:ph type="sldNum" sz="quarter" idx="12"/>
          </p:nvPr>
        </p:nvSpPr>
        <p:spPr/>
        <p:txBody>
          <a:bodyPr/>
          <a:lstStyle/>
          <a:p>
            <a:fld id="{140514A6-4A6F-4184-9B29-DF4E668ED1D8}" type="slidenum">
              <a:rPr lang="en-IN" smtClean="0"/>
              <a:t>‹#›</a:t>
            </a:fld>
            <a:endParaRPr lang="en-IN" dirty="0"/>
          </a:p>
        </p:txBody>
      </p:sp>
    </p:spTree>
    <p:extLst>
      <p:ext uri="{BB962C8B-B14F-4D97-AF65-F5344CB8AC3E}">
        <p14:creationId xmlns:p14="http://schemas.microsoft.com/office/powerpoint/2010/main" val="4150879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02A09-8CFB-BAD1-9C5D-2D7664B2F50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957186A-D145-8773-57DA-9FF7987197C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B87B138-8B9D-867C-4433-64FC9A3323FE}"/>
              </a:ext>
            </a:extLst>
          </p:cNvPr>
          <p:cNvSpPr>
            <a:spLocks noGrp="1"/>
          </p:cNvSpPr>
          <p:nvPr>
            <p:ph type="dt" sz="half" idx="10"/>
          </p:nvPr>
        </p:nvSpPr>
        <p:spPr/>
        <p:txBody>
          <a:bodyPr/>
          <a:lstStyle/>
          <a:p>
            <a:fld id="{2133CE5E-D606-42C7-8D19-97ABF8996B29}" type="datetimeFigureOut">
              <a:rPr lang="en-IN" smtClean="0"/>
              <a:t>21-04-2025</a:t>
            </a:fld>
            <a:endParaRPr lang="en-IN" dirty="0"/>
          </a:p>
        </p:txBody>
      </p:sp>
      <p:sp>
        <p:nvSpPr>
          <p:cNvPr id="5" name="Footer Placeholder 4">
            <a:extLst>
              <a:ext uri="{FF2B5EF4-FFF2-40B4-BE49-F238E27FC236}">
                <a16:creationId xmlns:a16="http://schemas.microsoft.com/office/drawing/2014/main" id="{C09035E6-B460-1576-F271-0D8916093EA4}"/>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1BABE382-7E0E-A9A2-E76C-7F9962D06BD8}"/>
              </a:ext>
            </a:extLst>
          </p:cNvPr>
          <p:cNvSpPr>
            <a:spLocks noGrp="1"/>
          </p:cNvSpPr>
          <p:nvPr>
            <p:ph type="sldNum" sz="quarter" idx="12"/>
          </p:nvPr>
        </p:nvSpPr>
        <p:spPr/>
        <p:txBody>
          <a:bodyPr/>
          <a:lstStyle/>
          <a:p>
            <a:fld id="{140514A6-4A6F-4184-9B29-DF4E668ED1D8}" type="slidenum">
              <a:rPr lang="en-IN" smtClean="0"/>
              <a:t>‹#›</a:t>
            </a:fld>
            <a:endParaRPr lang="en-IN" dirty="0"/>
          </a:p>
        </p:txBody>
      </p:sp>
    </p:spTree>
    <p:extLst>
      <p:ext uri="{BB962C8B-B14F-4D97-AF65-F5344CB8AC3E}">
        <p14:creationId xmlns:p14="http://schemas.microsoft.com/office/powerpoint/2010/main" val="22983259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AF434-056E-0E86-C9BD-A10B13AD37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41D71A3-17EE-B7FF-991E-F22BE3B298E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B884919-6A3A-60EA-FABD-75274BFD93F9}"/>
              </a:ext>
            </a:extLst>
          </p:cNvPr>
          <p:cNvSpPr>
            <a:spLocks noGrp="1"/>
          </p:cNvSpPr>
          <p:nvPr>
            <p:ph type="dt" sz="half" idx="10"/>
          </p:nvPr>
        </p:nvSpPr>
        <p:spPr/>
        <p:txBody>
          <a:bodyPr/>
          <a:lstStyle/>
          <a:p>
            <a:fld id="{2133CE5E-D606-42C7-8D19-97ABF8996B29}" type="datetimeFigureOut">
              <a:rPr lang="en-IN" smtClean="0"/>
              <a:t>21-04-2025</a:t>
            </a:fld>
            <a:endParaRPr lang="en-IN" dirty="0"/>
          </a:p>
        </p:txBody>
      </p:sp>
      <p:sp>
        <p:nvSpPr>
          <p:cNvPr id="5" name="Footer Placeholder 4">
            <a:extLst>
              <a:ext uri="{FF2B5EF4-FFF2-40B4-BE49-F238E27FC236}">
                <a16:creationId xmlns:a16="http://schemas.microsoft.com/office/drawing/2014/main" id="{31E2ED38-D233-8127-8CAA-FB6A5E233D85}"/>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0FE1B378-46FD-17FB-F628-0A4B91E95D8B}"/>
              </a:ext>
            </a:extLst>
          </p:cNvPr>
          <p:cNvSpPr>
            <a:spLocks noGrp="1"/>
          </p:cNvSpPr>
          <p:nvPr>
            <p:ph type="sldNum" sz="quarter" idx="12"/>
          </p:nvPr>
        </p:nvSpPr>
        <p:spPr/>
        <p:txBody>
          <a:bodyPr/>
          <a:lstStyle/>
          <a:p>
            <a:fld id="{140514A6-4A6F-4184-9B29-DF4E668ED1D8}" type="slidenum">
              <a:rPr lang="en-IN" smtClean="0"/>
              <a:t>‹#›</a:t>
            </a:fld>
            <a:endParaRPr lang="en-IN" dirty="0"/>
          </a:p>
        </p:txBody>
      </p:sp>
    </p:spTree>
    <p:extLst>
      <p:ext uri="{BB962C8B-B14F-4D97-AF65-F5344CB8AC3E}">
        <p14:creationId xmlns:p14="http://schemas.microsoft.com/office/powerpoint/2010/main" val="6592413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94DFB-0D11-48D6-EBC6-676FF4ED86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B5DE231-AD6E-C651-5872-7F0E934C247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DAAF1E9-C463-7FF8-ABCD-112A3881C4B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76819C5-B588-BF5F-F1F5-D196B9E16D28}"/>
              </a:ext>
            </a:extLst>
          </p:cNvPr>
          <p:cNvSpPr>
            <a:spLocks noGrp="1"/>
          </p:cNvSpPr>
          <p:nvPr>
            <p:ph type="dt" sz="half" idx="10"/>
          </p:nvPr>
        </p:nvSpPr>
        <p:spPr/>
        <p:txBody>
          <a:bodyPr/>
          <a:lstStyle/>
          <a:p>
            <a:fld id="{2133CE5E-D606-42C7-8D19-97ABF8996B29}" type="datetimeFigureOut">
              <a:rPr lang="en-IN" smtClean="0"/>
              <a:t>21-04-2025</a:t>
            </a:fld>
            <a:endParaRPr lang="en-IN" dirty="0"/>
          </a:p>
        </p:txBody>
      </p:sp>
      <p:sp>
        <p:nvSpPr>
          <p:cNvPr id="6" name="Footer Placeholder 5">
            <a:extLst>
              <a:ext uri="{FF2B5EF4-FFF2-40B4-BE49-F238E27FC236}">
                <a16:creationId xmlns:a16="http://schemas.microsoft.com/office/drawing/2014/main" id="{43891BE7-DA2E-6C18-D4E1-8EEDA6694418}"/>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5AE26F40-8C0D-E986-9D12-D0539F845C05}"/>
              </a:ext>
            </a:extLst>
          </p:cNvPr>
          <p:cNvSpPr>
            <a:spLocks noGrp="1"/>
          </p:cNvSpPr>
          <p:nvPr>
            <p:ph type="sldNum" sz="quarter" idx="12"/>
          </p:nvPr>
        </p:nvSpPr>
        <p:spPr/>
        <p:txBody>
          <a:bodyPr/>
          <a:lstStyle/>
          <a:p>
            <a:fld id="{140514A6-4A6F-4184-9B29-DF4E668ED1D8}" type="slidenum">
              <a:rPr lang="en-IN" smtClean="0"/>
              <a:t>‹#›</a:t>
            </a:fld>
            <a:endParaRPr lang="en-IN" dirty="0"/>
          </a:p>
        </p:txBody>
      </p:sp>
    </p:spTree>
    <p:extLst>
      <p:ext uri="{BB962C8B-B14F-4D97-AF65-F5344CB8AC3E}">
        <p14:creationId xmlns:p14="http://schemas.microsoft.com/office/powerpoint/2010/main" val="26282803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02714-57DD-DF93-C3F7-C7108B9AC35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BF0BD34-AFDE-D841-5C68-7CF6540141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551386-90E9-BB74-60B5-12A0BF628BB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067BB40-B41E-9AD3-E570-C2469FEABB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DF0950A-C04D-2B11-1559-D55536D15B7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9C7206B-B74B-2DFD-F8F3-B223CDCA2E67}"/>
              </a:ext>
            </a:extLst>
          </p:cNvPr>
          <p:cNvSpPr>
            <a:spLocks noGrp="1"/>
          </p:cNvSpPr>
          <p:nvPr>
            <p:ph type="dt" sz="half" idx="10"/>
          </p:nvPr>
        </p:nvSpPr>
        <p:spPr/>
        <p:txBody>
          <a:bodyPr/>
          <a:lstStyle/>
          <a:p>
            <a:fld id="{2133CE5E-D606-42C7-8D19-97ABF8996B29}" type="datetimeFigureOut">
              <a:rPr lang="en-IN" smtClean="0"/>
              <a:t>21-04-2025</a:t>
            </a:fld>
            <a:endParaRPr lang="en-IN" dirty="0"/>
          </a:p>
        </p:txBody>
      </p:sp>
      <p:sp>
        <p:nvSpPr>
          <p:cNvPr id="8" name="Footer Placeholder 7">
            <a:extLst>
              <a:ext uri="{FF2B5EF4-FFF2-40B4-BE49-F238E27FC236}">
                <a16:creationId xmlns:a16="http://schemas.microsoft.com/office/drawing/2014/main" id="{95AB4380-F05E-1367-AFA6-31FB9A3FC7C7}"/>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E96796BF-B181-89E7-0DF0-FD0ADBFC0663}"/>
              </a:ext>
            </a:extLst>
          </p:cNvPr>
          <p:cNvSpPr>
            <a:spLocks noGrp="1"/>
          </p:cNvSpPr>
          <p:nvPr>
            <p:ph type="sldNum" sz="quarter" idx="12"/>
          </p:nvPr>
        </p:nvSpPr>
        <p:spPr/>
        <p:txBody>
          <a:bodyPr/>
          <a:lstStyle/>
          <a:p>
            <a:fld id="{140514A6-4A6F-4184-9B29-DF4E668ED1D8}" type="slidenum">
              <a:rPr lang="en-IN" smtClean="0"/>
              <a:t>‹#›</a:t>
            </a:fld>
            <a:endParaRPr lang="en-IN" dirty="0"/>
          </a:p>
        </p:txBody>
      </p:sp>
    </p:spTree>
    <p:extLst>
      <p:ext uri="{BB962C8B-B14F-4D97-AF65-F5344CB8AC3E}">
        <p14:creationId xmlns:p14="http://schemas.microsoft.com/office/powerpoint/2010/main" val="523893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1FA15-ED46-3C06-1BEC-A658BA6F20B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D2CD869-7144-4465-D2E2-2AAA1F854687}"/>
              </a:ext>
            </a:extLst>
          </p:cNvPr>
          <p:cNvSpPr>
            <a:spLocks noGrp="1"/>
          </p:cNvSpPr>
          <p:nvPr>
            <p:ph type="dt" sz="half" idx="10"/>
          </p:nvPr>
        </p:nvSpPr>
        <p:spPr/>
        <p:txBody>
          <a:bodyPr/>
          <a:lstStyle/>
          <a:p>
            <a:fld id="{2133CE5E-D606-42C7-8D19-97ABF8996B29}" type="datetimeFigureOut">
              <a:rPr lang="en-IN" smtClean="0"/>
              <a:t>21-04-2025</a:t>
            </a:fld>
            <a:endParaRPr lang="en-IN" dirty="0"/>
          </a:p>
        </p:txBody>
      </p:sp>
      <p:sp>
        <p:nvSpPr>
          <p:cNvPr id="4" name="Footer Placeholder 3">
            <a:extLst>
              <a:ext uri="{FF2B5EF4-FFF2-40B4-BE49-F238E27FC236}">
                <a16:creationId xmlns:a16="http://schemas.microsoft.com/office/drawing/2014/main" id="{5576F86D-9E7B-A80B-576A-195C3F5CD210}"/>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64D93936-F682-C5A6-9AC1-BF6C7B734A5D}"/>
              </a:ext>
            </a:extLst>
          </p:cNvPr>
          <p:cNvSpPr>
            <a:spLocks noGrp="1"/>
          </p:cNvSpPr>
          <p:nvPr>
            <p:ph type="sldNum" sz="quarter" idx="12"/>
          </p:nvPr>
        </p:nvSpPr>
        <p:spPr/>
        <p:txBody>
          <a:bodyPr/>
          <a:lstStyle/>
          <a:p>
            <a:fld id="{140514A6-4A6F-4184-9B29-DF4E668ED1D8}" type="slidenum">
              <a:rPr lang="en-IN" smtClean="0"/>
              <a:t>‹#›</a:t>
            </a:fld>
            <a:endParaRPr lang="en-IN" dirty="0"/>
          </a:p>
        </p:txBody>
      </p:sp>
    </p:spTree>
    <p:extLst>
      <p:ext uri="{BB962C8B-B14F-4D97-AF65-F5344CB8AC3E}">
        <p14:creationId xmlns:p14="http://schemas.microsoft.com/office/powerpoint/2010/main" val="10311502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443C68-602B-5690-F313-DD8048E830DB}"/>
              </a:ext>
            </a:extLst>
          </p:cNvPr>
          <p:cNvSpPr>
            <a:spLocks noGrp="1"/>
          </p:cNvSpPr>
          <p:nvPr>
            <p:ph type="dt" sz="half" idx="10"/>
          </p:nvPr>
        </p:nvSpPr>
        <p:spPr/>
        <p:txBody>
          <a:bodyPr/>
          <a:lstStyle/>
          <a:p>
            <a:fld id="{2133CE5E-D606-42C7-8D19-97ABF8996B29}" type="datetimeFigureOut">
              <a:rPr lang="en-IN" smtClean="0"/>
              <a:t>21-04-2025</a:t>
            </a:fld>
            <a:endParaRPr lang="en-IN" dirty="0"/>
          </a:p>
        </p:txBody>
      </p:sp>
      <p:sp>
        <p:nvSpPr>
          <p:cNvPr id="3" name="Footer Placeholder 2">
            <a:extLst>
              <a:ext uri="{FF2B5EF4-FFF2-40B4-BE49-F238E27FC236}">
                <a16:creationId xmlns:a16="http://schemas.microsoft.com/office/drawing/2014/main" id="{130DDBEC-A10D-5831-9E75-C1C765E5DAB0}"/>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F44F311D-3FAD-684A-20D5-3077F9FFFC4D}"/>
              </a:ext>
            </a:extLst>
          </p:cNvPr>
          <p:cNvSpPr>
            <a:spLocks noGrp="1"/>
          </p:cNvSpPr>
          <p:nvPr>
            <p:ph type="sldNum" sz="quarter" idx="12"/>
          </p:nvPr>
        </p:nvSpPr>
        <p:spPr/>
        <p:txBody>
          <a:bodyPr/>
          <a:lstStyle/>
          <a:p>
            <a:fld id="{140514A6-4A6F-4184-9B29-DF4E668ED1D8}" type="slidenum">
              <a:rPr lang="en-IN" smtClean="0"/>
              <a:t>‹#›</a:t>
            </a:fld>
            <a:endParaRPr lang="en-IN" dirty="0"/>
          </a:p>
        </p:txBody>
      </p:sp>
    </p:spTree>
    <p:extLst>
      <p:ext uri="{BB962C8B-B14F-4D97-AF65-F5344CB8AC3E}">
        <p14:creationId xmlns:p14="http://schemas.microsoft.com/office/powerpoint/2010/main" val="18374192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5B7AC-810D-2810-CEA7-B22C0C70EA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F853604-00B6-C5D7-7D9D-8C31D12A95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803A01A-D0BE-D70B-5537-06BC740A0B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0EF64D-4139-FCE8-1B36-B56475846E12}"/>
              </a:ext>
            </a:extLst>
          </p:cNvPr>
          <p:cNvSpPr>
            <a:spLocks noGrp="1"/>
          </p:cNvSpPr>
          <p:nvPr>
            <p:ph type="dt" sz="half" idx="10"/>
          </p:nvPr>
        </p:nvSpPr>
        <p:spPr/>
        <p:txBody>
          <a:bodyPr/>
          <a:lstStyle/>
          <a:p>
            <a:fld id="{2133CE5E-D606-42C7-8D19-97ABF8996B29}" type="datetimeFigureOut">
              <a:rPr lang="en-IN" smtClean="0"/>
              <a:t>21-04-2025</a:t>
            </a:fld>
            <a:endParaRPr lang="en-IN" dirty="0"/>
          </a:p>
        </p:txBody>
      </p:sp>
      <p:sp>
        <p:nvSpPr>
          <p:cNvPr id="6" name="Footer Placeholder 5">
            <a:extLst>
              <a:ext uri="{FF2B5EF4-FFF2-40B4-BE49-F238E27FC236}">
                <a16:creationId xmlns:a16="http://schemas.microsoft.com/office/drawing/2014/main" id="{AE49ACEF-873A-ECB8-6272-91E36BF2388C}"/>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E769778E-8C27-2F86-2FAF-494A43F30E84}"/>
              </a:ext>
            </a:extLst>
          </p:cNvPr>
          <p:cNvSpPr>
            <a:spLocks noGrp="1"/>
          </p:cNvSpPr>
          <p:nvPr>
            <p:ph type="sldNum" sz="quarter" idx="12"/>
          </p:nvPr>
        </p:nvSpPr>
        <p:spPr/>
        <p:txBody>
          <a:bodyPr/>
          <a:lstStyle/>
          <a:p>
            <a:fld id="{140514A6-4A6F-4184-9B29-DF4E668ED1D8}" type="slidenum">
              <a:rPr lang="en-IN" smtClean="0"/>
              <a:t>‹#›</a:t>
            </a:fld>
            <a:endParaRPr lang="en-IN" dirty="0"/>
          </a:p>
        </p:txBody>
      </p:sp>
    </p:spTree>
    <p:extLst>
      <p:ext uri="{BB962C8B-B14F-4D97-AF65-F5344CB8AC3E}">
        <p14:creationId xmlns:p14="http://schemas.microsoft.com/office/powerpoint/2010/main" val="267902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7DB7B-31BC-7A55-BCEF-01A097DC31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F7762F5-A440-4289-6BFA-5F037D6DED2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DF762C7D-2ABD-B1A2-DCC9-3C2044C7EB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B274C5-374C-501E-2DDB-F3623AFE7178}"/>
              </a:ext>
            </a:extLst>
          </p:cNvPr>
          <p:cNvSpPr>
            <a:spLocks noGrp="1"/>
          </p:cNvSpPr>
          <p:nvPr>
            <p:ph type="dt" sz="half" idx="10"/>
          </p:nvPr>
        </p:nvSpPr>
        <p:spPr/>
        <p:txBody>
          <a:bodyPr/>
          <a:lstStyle/>
          <a:p>
            <a:fld id="{2133CE5E-D606-42C7-8D19-97ABF8996B29}" type="datetimeFigureOut">
              <a:rPr lang="en-IN" smtClean="0"/>
              <a:t>21-04-2025</a:t>
            </a:fld>
            <a:endParaRPr lang="en-IN" dirty="0"/>
          </a:p>
        </p:txBody>
      </p:sp>
      <p:sp>
        <p:nvSpPr>
          <p:cNvPr id="6" name="Footer Placeholder 5">
            <a:extLst>
              <a:ext uri="{FF2B5EF4-FFF2-40B4-BE49-F238E27FC236}">
                <a16:creationId xmlns:a16="http://schemas.microsoft.com/office/drawing/2014/main" id="{C7164AF4-D482-0EF6-396F-CA3A12473900}"/>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AB33A84F-E8C0-A202-5695-D53D58416676}"/>
              </a:ext>
            </a:extLst>
          </p:cNvPr>
          <p:cNvSpPr>
            <a:spLocks noGrp="1"/>
          </p:cNvSpPr>
          <p:nvPr>
            <p:ph type="sldNum" sz="quarter" idx="12"/>
          </p:nvPr>
        </p:nvSpPr>
        <p:spPr/>
        <p:txBody>
          <a:bodyPr/>
          <a:lstStyle/>
          <a:p>
            <a:fld id="{140514A6-4A6F-4184-9B29-DF4E668ED1D8}" type="slidenum">
              <a:rPr lang="en-IN" smtClean="0"/>
              <a:t>‹#›</a:t>
            </a:fld>
            <a:endParaRPr lang="en-IN" dirty="0"/>
          </a:p>
        </p:txBody>
      </p:sp>
    </p:spTree>
    <p:extLst>
      <p:ext uri="{BB962C8B-B14F-4D97-AF65-F5344CB8AC3E}">
        <p14:creationId xmlns:p14="http://schemas.microsoft.com/office/powerpoint/2010/main" val="5214965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076D9-E307-422A-B558-03962627DF8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946C4C7-C04A-7201-1AEF-92A321080A6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C29584E-4BC9-2DE1-D9B6-708A72951BFE}"/>
              </a:ext>
            </a:extLst>
          </p:cNvPr>
          <p:cNvSpPr>
            <a:spLocks noGrp="1"/>
          </p:cNvSpPr>
          <p:nvPr>
            <p:ph type="dt" sz="half" idx="10"/>
          </p:nvPr>
        </p:nvSpPr>
        <p:spPr/>
        <p:txBody>
          <a:bodyPr/>
          <a:lstStyle/>
          <a:p>
            <a:fld id="{2133CE5E-D606-42C7-8D19-97ABF8996B29}" type="datetimeFigureOut">
              <a:rPr lang="en-IN" smtClean="0"/>
              <a:t>21-04-2025</a:t>
            </a:fld>
            <a:endParaRPr lang="en-IN" dirty="0"/>
          </a:p>
        </p:txBody>
      </p:sp>
      <p:sp>
        <p:nvSpPr>
          <p:cNvPr id="5" name="Footer Placeholder 4">
            <a:extLst>
              <a:ext uri="{FF2B5EF4-FFF2-40B4-BE49-F238E27FC236}">
                <a16:creationId xmlns:a16="http://schemas.microsoft.com/office/drawing/2014/main" id="{313B8D10-FAD7-3C00-A67B-5B9548AD97BD}"/>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E38AFBC0-C61E-57F3-5647-7349257A5F0A}"/>
              </a:ext>
            </a:extLst>
          </p:cNvPr>
          <p:cNvSpPr>
            <a:spLocks noGrp="1"/>
          </p:cNvSpPr>
          <p:nvPr>
            <p:ph type="sldNum" sz="quarter" idx="12"/>
          </p:nvPr>
        </p:nvSpPr>
        <p:spPr/>
        <p:txBody>
          <a:bodyPr/>
          <a:lstStyle/>
          <a:p>
            <a:fld id="{140514A6-4A6F-4184-9B29-DF4E668ED1D8}" type="slidenum">
              <a:rPr lang="en-IN" smtClean="0"/>
              <a:t>‹#›</a:t>
            </a:fld>
            <a:endParaRPr lang="en-IN" dirty="0"/>
          </a:p>
        </p:txBody>
      </p:sp>
    </p:spTree>
    <p:extLst>
      <p:ext uri="{BB962C8B-B14F-4D97-AF65-F5344CB8AC3E}">
        <p14:creationId xmlns:p14="http://schemas.microsoft.com/office/powerpoint/2010/main" val="10100436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073E9D-905C-CE6F-945F-2D443D4A6A0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0F8E11C-B0C4-04F2-A58C-C279F58D6C4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C33F8EB-B465-90F6-D0B4-2E91FD9E265B}"/>
              </a:ext>
            </a:extLst>
          </p:cNvPr>
          <p:cNvSpPr>
            <a:spLocks noGrp="1"/>
          </p:cNvSpPr>
          <p:nvPr>
            <p:ph type="dt" sz="half" idx="10"/>
          </p:nvPr>
        </p:nvSpPr>
        <p:spPr/>
        <p:txBody>
          <a:bodyPr/>
          <a:lstStyle/>
          <a:p>
            <a:fld id="{2133CE5E-D606-42C7-8D19-97ABF8996B29}" type="datetimeFigureOut">
              <a:rPr lang="en-IN" smtClean="0"/>
              <a:t>21-04-2025</a:t>
            </a:fld>
            <a:endParaRPr lang="en-IN" dirty="0"/>
          </a:p>
        </p:txBody>
      </p:sp>
      <p:sp>
        <p:nvSpPr>
          <p:cNvPr id="5" name="Footer Placeholder 4">
            <a:extLst>
              <a:ext uri="{FF2B5EF4-FFF2-40B4-BE49-F238E27FC236}">
                <a16:creationId xmlns:a16="http://schemas.microsoft.com/office/drawing/2014/main" id="{0C221F3D-DF37-FB2B-D6FE-4D2A8C4A216B}"/>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D0D870C0-D1B4-5933-41A7-674ADA58914F}"/>
              </a:ext>
            </a:extLst>
          </p:cNvPr>
          <p:cNvSpPr>
            <a:spLocks noGrp="1"/>
          </p:cNvSpPr>
          <p:nvPr>
            <p:ph type="sldNum" sz="quarter" idx="12"/>
          </p:nvPr>
        </p:nvSpPr>
        <p:spPr/>
        <p:txBody>
          <a:bodyPr/>
          <a:lstStyle/>
          <a:p>
            <a:fld id="{140514A6-4A6F-4184-9B29-DF4E668ED1D8}" type="slidenum">
              <a:rPr lang="en-IN" smtClean="0"/>
              <a:t>‹#›</a:t>
            </a:fld>
            <a:endParaRPr lang="en-IN" dirty="0"/>
          </a:p>
        </p:txBody>
      </p:sp>
    </p:spTree>
    <p:extLst>
      <p:ext uri="{BB962C8B-B14F-4D97-AF65-F5344CB8AC3E}">
        <p14:creationId xmlns:p14="http://schemas.microsoft.com/office/powerpoint/2010/main" val="3748532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D25F56-2476-33DD-D340-112F8E3536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D742633-1565-4D97-94B6-925E63C531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A287152-7C89-C430-8FEA-C35E03C04A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33CE5E-D606-42C7-8D19-97ABF8996B29}" type="datetimeFigureOut">
              <a:rPr lang="en-IN" smtClean="0"/>
              <a:t>21-04-2025</a:t>
            </a:fld>
            <a:endParaRPr lang="en-IN" dirty="0"/>
          </a:p>
        </p:txBody>
      </p:sp>
      <p:sp>
        <p:nvSpPr>
          <p:cNvPr id="5" name="Footer Placeholder 4">
            <a:extLst>
              <a:ext uri="{FF2B5EF4-FFF2-40B4-BE49-F238E27FC236}">
                <a16:creationId xmlns:a16="http://schemas.microsoft.com/office/drawing/2014/main" id="{4F6D1552-7702-A707-D5C0-839A0C6DC5F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6A689298-D6D6-A22F-BB49-37C5455019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40514A6-4A6F-4184-9B29-DF4E668ED1D8}" type="slidenum">
              <a:rPr lang="en-IN" smtClean="0"/>
              <a:t>‹#›</a:t>
            </a:fld>
            <a:endParaRPr lang="en-IN" dirty="0"/>
          </a:p>
        </p:txBody>
      </p:sp>
    </p:spTree>
    <p:extLst>
      <p:ext uri="{BB962C8B-B14F-4D97-AF65-F5344CB8AC3E}">
        <p14:creationId xmlns:p14="http://schemas.microsoft.com/office/powerpoint/2010/main" val="22967802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github.com/as6485/springkafka"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medium.com/analytics-vidhya/introduction-to-apache-kafka-88ebd24eb962" TargetMode="External"/><Relationship Id="rId7" Type="http://schemas.openxmlformats.org/officeDocument/2006/relationships/hyperlink" Target="https://aws.amazon.com/compare/the-difference-between-rabbitmq-and-kafka/#:~:text=RabbitMQ%20sends%20and%20queues%20messages,a%20specific%20topic%20and%20partition" TargetMode="External"/><Relationship Id="rId2" Type="http://schemas.openxmlformats.org/officeDocument/2006/relationships/hyperlink" Target="https://en.wikipedia.org/wiki/Apache_Kafka" TargetMode="External"/><Relationship Id="rId1" Type="http://schemas.openxmlformats.org/officeDocument/2006/relationships/slideLayout" Target="../slideLayouts/slideLayout2.xml"/><Relationship Id="rId6" Type="http://schemas.openxmlformats.org/officeDocument/2006/relationships/hyperlink" Target="https://www.simplilearn.com/kafka-vs-rabbitmq-article" TargetMode="External"/><Relationship Id="rId5" Type="http://schemas.openxmlformats.org/officeDocument/2006/relationships/hyperlink" Target="https://www.csee.umbc.edu/~shadam1/491s16/lectures/04-Kafka.pptx" TargetMode="External"/><Relationship Id="rId4" Type="http://schemas.openxmlformats.org/officeDocument/2006/relationships/hyperlink" Target="https://docs.google.com/presentation/d/1jPU6soIDn7W1F4CtUADuB4r3ujrebwHmxIoDhOLb_ok/htmlpresen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513632"/>
            <a:ext cx="4256314" cy="1158649"/>
          </a:xfrm>
        </p:spPr>
        <p:txBody>
          <a:bodyPr/>
          <a:lstStyle/>
          <a:p>
            <a:r>
              <a:rPr lang="en-US" dirty="0"/>
              <a:t>Apache</a:t>
            </a:r>
          </a:p>
        </p:txBody>
      </p:sp>
      <p:sp>
        <p:nvSpPr>
          <p:cNvPr id="3" name="Subtitle 2"/>
          <p:cNvSpPr>
            <a:spLocks noGrp="1"/>
          </p:cNvSpPr>
          <p:nvPr>
            <p:ph type="subTitle" idx="1"/>
          </p:nvPr>
        </p:nvSpPr>
        <p:spPr/>
        <p:txBody>
          <a:bodyPr>
            <a:normAutofit/>
          </a:bodyPr>
          <a:lstStyle/>
          <a:p>
            <a:r>
              <a:rPr lang="en-US" dirty="0"/>
              <a:t>Ayan Sengupta</a:t>
            </a:r>
          </a:p>
        </p:txBody>
      </p:sp>
      <p:pic>
        <p:nvPicPr>
          <p:cNvPr id="4" name="Picture 3"/>
          <p:cNvPicPr>
            <a:picLocks noChangeAspect="1"/>
          </p:cNvPicPr>
          <p:nvPr/>
        </p:nvPicPr>
        <p:blipFill>
          <a:blip r:embed="rId2"/>
          <a:stretch>
            <a:fillRect/>
          </a:stretch>
        </p:blipFill>
        <p:spPr>
          <a:xfrm>
            <a:off x="5061857" y="987536"/>
            <a:ext cx="4644736" cy="2441464"/>
          </a:xfrm>
          <a:prstGeom prst="rect">
            <a:avLst/>
          </a:prstGeom>
        </p:spPr>
      </p:pic>
    </p:spTree>
    <p:extLst>
      <p:ext uri="{BB962C8B-B14F-4D97-AF65-F5344CB8AC3E}">
        <p14:creationId xmlns:p14="http://schemas.microsoft.com/office/powerpoint/2010/main" val="32370397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Overview</a:t>
            </a:r>
          </a:p>
        </p:txBody>
      </p:sp>
      <p:sp>
        <p:nvSpPr>
          <p:cNvPr id="5" name="Content Placeholder 4"/>
          <p:cNvSpPr>
            <a:spLocks noGrp="1"/>
          </p:cNvSpPr>
          <p:nvPr>
            <p:ph idx="1"/>
          </p:nvPr>
        </p:nvSpPr>
        <p:spPr>
          <a:xfrm>
            <a:off x="838200" y="1825625"/>
            <a:ext cx="10515600" cy="3247118"/>
          </a:xfrm>
        </p:spPr>
        <p:txBody>
          <a:bodyPr>
            <a:normAutofit/>
          </a:bodyPr>
          <a:lstStyle/>
          <a:p>
            <a:pPr marL="0" indent="0">
              <a:buNone/>
            </a:pPr>
            <a:r>
              <a:rPr lang="en-US" i="1" dirty="0">
                <a:solidFill>
                  <a:srgbClr val="333333"/>
                </a:solidFill>
                <a:latin typeface="Arial" panose="020B0604020202020204" pitchFamily="34" charset="0"/>
              </a:rPr>
              <a:t>“Apache Kafka is an open-source </a:t>
            </a:r>
            <a:r>
              <a:rPr lang="en-US" b="1" i="1" dirty="0">
                <a:solidFill>
                  <a:srgbClr val="333333"/>
                </a:solidFill>
                <a:latin typeface="Arial" panose="020B0604020202020204" pitchFamily="34" charset="0"/>
              </a:rPr>
              <a:t>distributed event streaming platform</a:t>
            </a:r>
            <a:r>
              <a:rPr lang="en-US" i="1" dirty="0">
                <a:solidFill>
                  <a:srgbClr val="333333"/>
                </a:solidFill>
                <a:latin typeface="Arial" panose="020B0604020202020204" pitchFamily="34" charset="0"/>
              </a:rPr>
              <a:t>”</a:t>
            </a:r>
          </a:p>
          <a:p>
            <a:pPr marL="0" indent="0">
              <a:buNone/>
            </a:pPr>
            <a:endParaRPr lang="en-US" b="1" dirty="0">
              <a:solidFill>
                <a:srgbClr val="000000"/>
              </a:solidFill>
              <a:latin typeface="Roboto" panose="02000000000000000000" pitchFamily="2" charset="0"/>
            </a:endParaRPr>
          </a:p>
          <a:p>
            <a:pPr marL="0" indent="0">
              <a:buNone/>
            </a:pPr>
            <a:r>
              <a:rPr lang="en-US" b="0" i="1" dirty="0">
                <a:solidFill>
                  <a:srgbClr val="333333"/>
                </a:solidFill>
                <a:effectLst/>
                <a:latin typeface="Arial" panose="020B0604020202020204" pitchFamily="34" charset="0"/>
              </a:rPr>
              <a:t>“Kafka is a </a:t>
            </a:r>
            <a:r>
              <a:rPr lang="en-US" b="1" i="1" dirty="0">
                <a:solidFill>
                  <a:srgbClr val="333333"/>
                </a:solidFill>
                <a:effectLst/>
                <a:latin typeface="Arial" panose="020B0604020202020204" pitchFamily="34" charset="0"/>
              </a:rPr>
              <a:t>distributed, partitioned, replicated commit log </a:t>
            </a:r>
            <a:r>
              <a:rPr lang="en-US" i="1" dirty="0">
                <a:solidFill>
                  <a:srgbClr val="333333"/>
                </a:solidFill>
                <a:effectLst/>
                <a:latin typeface="Arial" panose="020B0604020202020204" pitchFamily="34" charset="0"/>
              </a:rPr>
              <a:t>service</a:t>
            </a:r>
            <a:r>
              <a:rPr lang="en-US" b="0" i="1" dirty="0">
                <a:solidFill>
                  <a:srgbClr val="333333"/>
                </a:solidFill>
                <a:effectLst/>
                <a:latin typeface="Arial" panose="020B0604020202020204" pitchFamily="34" charset="0"/>
              </a:rPr>
              <a:t>. It provides the functionality of a messaging system, but with a unique design”</a:t>
            </a:r>
            <a:endParaRPr lang="en-US" b="1" dirty="0"/>
          </a:p>
        </p:txBody>
      </p:sp>
    </p:spTree>
    <p:extLst>
      <p:ext uri="{BB962C8B-B14F-4D97-AF65-F5344CB8AC3E}">
        <p14:creationId xmlns:p14="http://schemas.microsoft.com/office/powerpoint/2010/main" val="5790196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607717" y="3394863"/>
            <a:ext cx="4595629" cy="2626075"/>
          </a:xfrm>
          <a:prstGeom prst="rect">
            <a:avLst/>
          </a:prstGeom>
        </p:spPr>
      </p:pic>
      <p:sp>
        <p:nvSpPr>
          <p:cNvPr id="2" name="Title 1"/>
          <p:cNvSpPr>
            <a:spLocks noGrp="1"/>
          </p:cNvSpPr>
          <p:nvPr>
            <p:ph type="title"/>
          </p:nvPr>
        </p:nvSpPr>
        <p:spPr/>
        <p:txBody>
          <a:bodyPr/>
          <a:lstStyle/>
          <a:p>
            <a:r>
              <a:rPr lang="en-US" dirty="0"/>
              <a:t>How fast is Kafka?</a:t>
            </a:r>
          </a:p>
        </p:txBody>
      </p:sp>
      <p:sp>
        <p:nvSpPr>
          <p:cNvPr id="3" name="Content Placeholder 2"/>
          <p:cNvSpPr>
            <a:spLocks noGrp="1"/>
          </p:cNvSpPr>
          <p:nvPr>
            <p:ph idx="1"/>
          </p:nvPr>
        </p:nvSpPr>
        <p:spPr>
          <a:xfrm>
            <a:off x="1981200" y="1600201"/>
            <a:ext cx="8229600" cy="2150035"/>
          </a:xfrm>
        </p:spPr>
        <p:txBody>
          <a:bodyPr/>
          <a:lstStyle/>
          <a:p>
            <a:r>
              <a:rPr lang="en-US" sz="2000" b="1" dirty="0">
                <a:sym typeface="Wingdings"/>
              </a:rPr>
              <a:t>“Up to 2 million writes/sec on 3 cheap machines”</a:t>
            </a:r>
          </a:p>
          <a:p>
            <a:pPr lvl="1"/>
            <a:r>
              <a:rPr lang="en-US" sz="1800" dirty="0">
                <a:sym typeface="Wingdings"/>
              </a:rPr>
              <a:t>Using 3 producers on 3 different machines, 3x async replication</a:t>
            </a:r>
          </a:p>
          <a:p>
            <a:pPr lvl="2"/>
            <a:r>
              <a:rPr lang="en-US" sz="1600" dirty="0">
                <a:sym typeface="Wingdings"/>
              </a:rPr>
              <a:t>Only 1 producer/machine because NIC already saturated</a:t>
            </a:r>
          </a:p>
          <a:p>
            <a:r>
              <a:rPr lang="en-US" sz="2000" b="1" dirty="0">
                <a:sym typeface="Wingdings"/>
              </a:rPr>
              <a:t>Sustained throughput as stored data grows</a:t>
            </a:r>
          </a:p>
          <a:p>
            <a:pPr lvl="1"/>
            <a:r>
              <a:rPr lang="en-US" sz="1800" dirty="0">
                <a:sym typeface="Wingdings"/>
              </a:rPr>
              <a:t>Slightly different test config than 2M writes/sec above.</a:t>
            </a:r>
          </a:p>
          <a:p>
            <a:endParaRPr lang="en-US" sz="2000" dirty="0">
              <a:sym typeface="Wingdings"/>
            </a:endParaRPr>
          </a:p>
          <a:p>
            <a:endParaRPr lang="en-US" sz="2000" dirty="0">
              <a:sym typeface="Wingdings"/>
            </a:endParaRPr>
          </a:p>
          <a:p>
            <a:pPr marL="0" indent="0">
              <a:buNone/>
            </a:pPr>
            <a:endParaRPr lang="en-US" sz="2000" dirty="0">
              <a:sym typeface="Wingdings"/>
            </a:endParaRPr>
          </a:p>
        </p:txBody>
      </p:sp>
      <p:sp>
        <p:nvSpPr>
          <p:cNvPr id="5" name="Slide Number Placeholder 4"/>
          <p:cNvSpPr>
            <a:spLocks noGrp="1"/>
          </p:cNvSpPr>
          <p:nvPr>
            <p:ph type="sldNum" sz="quarter" idx="12"/>
          </p:nvPr>
        </p:nvSpPr>
        <p:spPr/>
        <p:txBody>
          <a:bodyPr/>
          <a:lstStyle/>
          <a:p>
            <a:fld id="{407C8B75-4858-41E6-BEC3-A0853FA4AC5B}" type="slidenum">
              <a:rPr lang="en-US" smtClean="0"/>
              <a:pPr/>
              <a:t>3</a:t>
            </a:fld>
            <a:endParaRPr lang="en-US" dirty="0"/>
          </a:p>
        </p:txBody>
      </p:sp>
    </p:spTree>
    <p:extLst>
      <p:ext uri="{BB962C8B-B14F-4D97-AF65-F5344CB8AC3E}">
        <p14:creationId xmlns:p14="http://schemas.microsoft.com/office/powerpoint/2010/main" val="36375127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is Kafka so fast?</a:t>
            </a:r>
          </a:p>
        </p:txBody>
      </p:sp>
      <p:sp>
        <p:nvSpPr>
          <p:cNvPr id="3" name="Content Placeholder 2"/>
          <p:cNvSpPr>
            <a:spLocks noGrp="1"/>
          </p:cNvSpPr>
          <p:nvPr>
            <p:ph idx="1"/>
          </p:nvPr>
        </p:nvSpPr>
        <p:spPr/>
        <p:txBody>
          <a:bodyPr/>
          <a:lstStyle/>
          <a:p>
            <a:r>
              <a:rPr lang="en-US" sz="2000" dirty="0">
                <a:sym typeface="Wingdings"/>
              </a:rPr>
              <a:t>Fast </a:t>
            </a:r>
            <a:r>
              <a:rPr lang="en-US" sz="2000" b="1" dirty="0">
                <a:sym typeface="Wingdings"/>
              </a:rPr>
              <a:t>writes</a:t>
            </a:r>
            <a:r>
              <a:rPr lang="en-US" sz="2000" dirty="0">
                <a:sym typeface="Wingdings"/>
              </a:rPr>
              <a:t>:</a:t>
            </a:r>
          </a:p>
          <a:p>
            <a:pPr lvl="1"/>
            <a:r>
              <a:rPr lang="en-US" sz="1800" dirty="0">
                <a:sym typeface="Wingdings"/>
              </a:rPr>
              <a:t>While Kafka persists all data to disk, essentially all writes go to the</a:t>
            </a:r>
            <a:br>
              <a:rPr lang="en-US" sz="1800" dirty="0">
                <a:sym typeface="Wingdings"/>
              </a:rPr>
            </a:br>
            <a:r>
              <a:rPr lang="en-US" sz="1800" b="1" dirty="0">
                <a:sym typeface="Wingdings"/>
              </a:rPr>
              <a:t>page cache </a:t>
            </a:r>
            <a:r>
              <a:rPr lang="en-US" sz="1800" dirty="0">
                <a:sym typeface="Wingdings"/>
              </a:rPr>
              <a:t>of OS, i.e. RAM.</a:t>
            </a:r>
          </a:p>
          <a:p>
            <a:pPr marL="0" indent="0">
              <a:buNone/>
            </a:pPr>
            <a:endParaRPr lang="en-US" sz="2000" dirty="0">
              <a:sym typeface="Wingdings"/>
            </a:endParaRPr>
          </a:p>
          <a:p>
            <a:r>
              <a:rPr lang="en-US" sz="2000" dirty="0">
                <a:sym typeface="Wingdings"/>
              </a:rPr>
              <a:t>Fast </a:t>
            </a:r>
            <a:r>
              <a:rPr lang="en-US" sz="2000" b="1" dirty="0">
                <a:sym typeface="Wingdings"/>
              </a:rPr>
              <a:t>reads</a:t>
            </a:r>
            <a:r>
              <a:rPr lang="en-US" sz="2000" dirty="0">
                <a:sym typeface="Wingdings"/>
              </a:rPr>
              <a:t>:</a:t>
            </a:r>
          </a:p>
          <a:p>
            <a:pPr lvl="1"/>
            <a:r>
              <a:rPr lang="en-US" sz="1800" dirty="0">
                <a:sym typeface="Wingdings"/>
              </a:rPr>
              <a:t>Very efficient to transfer data from page cache to a network </a:t>
            </a:r>
            <a:r>
              <a:rPr lang="en-US" sz="1800" b="1" dirty="0">
                <a:sym typeface="Wingdings"/>
              </a:rPr>
              <a:t>socket</a:t>
            </a:r>
          </a:p>
          <a:p>
            <a:pPr lvl="1"/>
            <a:r>
              <a:rPr lang="en-US" sz="1800" dirty="0">
                <a:sym typeface="Wingdings"/>
              </a:rPr>
              <a:t>Linux: </a:t>
            </a:r>
            <a:r>
              <a:rPr lang="en-US" sz="1800" b="1" dirty="0">
                <a:latin typeface="Consolas"/>
                <a:cs typeface="Consolas"/>
                <a:sym typeface="Wingdings"/>
              </a:rPr>
              <a:t>sendfile()</a:t>
            </a:r>
            <a:r>
              <a:rPr lang="en-US" sz="1800" dirty="0">
                <a:sym typeface="Wingdings"/>
              </a:rPr>
              <a:t> system call</a:t>
            </a:r>
          </a:p>
          <a:p>
            <a:endParaRPr lang="en-US" sz="2000" dirty="0"/>
          </a:p>
          <a:p>
            <a:r>
              <a:rPr lang="en-US" sz="2000" dirty="0"/>
              <a:t>Combination of the two = fast Kafka!</a:t>
            </a:r>
          </a:p>
          <a:p>
            <a:pPr lvl="1"/>
            <a:r>
              <a:rPr lang="en-US" sz="1800" dirty="0"/>
              <a:t>Example (Operations): On a Kafka cluster where the consumers are mostly caught up you will see no read activity on the disks as they will be serving data entirely from cache.</a:t>
            </a:r>
          </a:p>
        </p:txBody>
      </p:sp>
      <p:sp>
        <p:nvSpPr>
          <p:cNvPr id="5" name="Slide Number Placeholder 4"/>
          <p:cNvSpPr>
            <a:spLocks noGrp="1"/>
          </p:cNvSpPr>
          <p:nvPr>
            <p:ph type="sldNum" sz="quarter" idx="12"/>
          </p:nvPr>
        </p:nvSpPr>
        <p:spPr/>
        <p:txBody>
          <a:bodyPr/>
          <a:lstStyle/>
          <a:p>
            <a:fld id="{407C8B75-4858-41E6-BEC3-A0853FA4AC5B}" type="slidenum">
              <a:rPr lang="en-US" smtClean="0"/>
              <a:pPr/>
              <a:t>4</a:t>
            </a:fld>
            <a:endParaRPr lang="en-US" dirty="0"/>
          </a:p>
        </p:txBody>
      </p:sp>
    </p:spTree>
    <p:extLst>
      <p:ext uri="{BB962C8B-B14F-4D97-AF65-F5344CB8AC3E}">
        <p14:creationId xmlns:p14="http://schemas.microsoft.com/office/powerpoint/2010/main" val="14518956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943" y="178027"/>
            <a:ext cx="8033657" cy="647246"/>
          </a:xfrm>
        </p:spPr>
        <p:txBody>
          <a:bodyPr>
            <a:normAutofit fontScale="90000"/>
          </a:bodyPr>
          <a:lstStyle/>
          <a:p>
            <a:r>
              <a:rPr lang="en-US" dirty="0"/>
              <a:t>Kafka Components</a:t>
            </a:r>
          </a:p>
        </p:txBody>
      </p:sp>
      <p:sp>
        <p:nvSpPr>
          <p:cNvPr id="3" name="Content Placeholder 2"/>
          <p:cNvSpPr>
            <a:spLocks noGrp="1"/>
          </p:cNvSpPr>
          <p:nvPr>
            <p:ph idx="1"/>
          </p:nvPr>
        </p:nvSpPr>
        <p:spPr>
          <a:xfrm>
            <a:off x="119743" y="1126220"/>
            <a:ext cx="5344886" cy="5230130"/>
          </a:xfrm>
        </p:spPr>
        <p:txBody>
          <a:bodyPr>
            <a:normAutofit fontScale="92500" lnSpcReduction="20000"/>
          </a:bodyPr>
          <a:lstStyle/>
          <a:p>
            <a:pPr lvl="1"/>
            <a:r>
              <a:rPr lang="en-US" b="1" dirty="0">
                <a:sym typeface="Wingdings"/>
              </a:rPr>
              <a:t>Producers</a:t>
            </a:r>
            <a:r>
              <a:rPr lang="en-US" dirty="0">
                <a:sym typeface="Wingdings"/>
              </a:rPr>
              <a:t> write data to </a:t>
            </a:r>
            <a:r>
              <a:rPr lang="en-US" b="1" dirty="0">
                <a:sym typeface="Wingdings"/>
              </a:rPr>
              <a:t>brokers</a:t>
            </a:r>
            <a:r>
              <a:rPr lang="en-US" dirty="0">
                <a:sym typeface="Wingdings"/>
              </a:rPr>
              <a:t>.</a:t>
            </a:r>
          </a:p>
          <a:p>
            <a:pPr lvl="1"/>
            <a:r>
              <a:rPr lang="en-US" b="1" dirty="0">
                <a:sym typeface="Wingdings"/>
              </a:rPr>
              <a:t>Consumers</a:t>
            </a:r>
            <a:r>
              <a:rPr lang="en-US" dirty="0">
                <a:sym typeface="Wingdings"/>
              </a:rPr>
              <a:t> read data from </a:t>
            </a:r>
            <a:r>
              <a:rPr lang="en-US" b="1" dirty="0">
                <a:sym typeface="Wingdings"/>
              </a:rPr>
              <a:t>brokers</a:t>
            </a:r>
            <a:r>
              <a:rPr lang="en-US" dirty="0">
                <a:sym typeface="Wingdings"/>
              </a:rPr>
              <a:t>.</a:t>
            </a:r>
          </a:p>
          <a:p>
            <a:pPr lvl="1"/>
            <a:r>
              <a:rPr lang="en-US" dirty="0">
                <a:sym typeface="Wingdings"/>
              </a:rPr>
              <a:t>All this is distributed.</a:t>
            </a:r>
          </a:p>
          <a:p>
            <a:pPr lvl="1"/>
            <a:r>
              <a:rPr lang="en-US" dirty="0">
                <a:sym typeface="Wingdings"/>
              </a:rPr>
              <a:t>Data is stored in </a:t>
            </a:r>
            <a:r>
              <a:rPr lang="en-US" b="1" dirty="0">
                <a:sym typeface="Wingdings"/>
              </a:rPr>
              <a:t>topics</a:t>
            </a:r>
            <a:r>
              <a:rPr lang="en-US" dirty="0">
                <a:sym typeface="Wingdings"/>
              </a:rPr>
              <a:t>.</a:t>
            </a:r>
          </a:p>
          <a:p>
            <a:pPr lvl="1"/>
            <a:r>
              <a:rPr lang="en-US" b="1" dirty="0">
                <a:sym typeface="Wingdings"/>
              </a:rPr>
              <a:t>Topics </a:t>
            </a:r>
            <a:r>
              <a:rPr lang="en-US" dirty="0">
                <a:sym typeface="Wingdings"/>
              </a:rPr>
              <a:t>are split into </a:t>
            </a:r>
            <a:r>
              <a:rPr lang="en-US" b="1" dirty="0">
                <a:sym typeface="Wingdings"/>
              </a:rPr>
              <a:t>partitions</a:t>
            </a:r>
            <a:r>
              <a:rPr lang="en-US" dirty="0">
                <a:sym typeface="Wingdings"/>
              </a:rPr>
              <a:t>,</a:t>
            </a:r>
            <a:r>
              <a:rPr lang="en-US" b="1" dirty="0">
                <a:sym typeface="Wingdings"/>
              </a:rPr>
              <a:t> </a:t>
            </a:r>
            <a:r>
              <a:rPr lang="en-US" dirty="0">
                <a:sym typeface="Wingdings"/>
              </a:rPr>
              <a:t>which are </a:t>
            </a:r>
            <a:r>
              <a:rPr lang="en-US" b="1" dirty="0">
                <a:sym typeface="Wingdings"/>
              </a:rPr>
              <a:t>replicated</a:t>
            </a:r>
            <a:r>
              <a:rPr lang="en-US" dirty="0">
                <a:sym typeface="Wingdings"/>
              </a:rPr>
              <a:t>.</a:t>
            </a:r>
          </a:p>
          <a:p>
            <a:pPr lvl="1"/>
            <a:r>
              <a:rPr lang="en-US" dirty="0">
                <a:sym typeface="Wingdings"/>
              </a:rPr>
              <a:t>Replicas are </a:t>
            </a:r>
            <a:r>
              <a:rPr lang="en-US" b="1" dirty="0">
                <a:sym typeface="Wingdings"/>
              </a:rPr>
              <a:t>backups</a:t>
            </a:r>
            <a:r>
              <a:rPr lang="en-US" dirty="0">
                <a:sym typeface="Wingdings"/>
              </a:rPr>
              <a:t> of a partition. They are never read or write data.</a:t>
            </a:r>
          </a:p>
          <a:p>
            <a:pPr lvl="1"/>
            <a:r>
              <a:rPr lang="en-US" dirty="0">
                <a:sym typeface="Wingdings"/>
              </a:rPr>
              <a:t>Each partitioned message has a unique sequence id called as </a:t>
            </a:r>
            <a:r>
              <a:rPr lang="en-US" b="1" dirty="0">
                <a:sym typeface="Wingdings"/>
              </a:rPr>
              <a:t>offset</a:t>
            </a:r>
          </a:p>
          <a:p>
            <a:pPr lvl="1"/>
            <a:r>
              <a:rPr lang="en-US" dirty="0">
                <a:sym typeface="Wingdings"/>
              </a:rPr>
              <a:t>Collection of brokers are called as Kafka </a:t>
            </a:r>
            <a:r>
              <a:rPr lang="en-US" b="1" dirty="0">
                <a:sym typeface="Wingdings"/>
              </a:rPr>
              <a:t>cluster</a:t>
            </a:r>
            <a:r>
              <a:rPr lang="en-US" dirty="0">
                <a:sym typeface="Wingdings"/>
              </a:rPr>
              <a:t>. 	</a:t>
            </a:r>
          </a:p>
          <a:p>
            <a:pPr lvl="1"/>
            <a:r>
              <a:rPr lang="en-US" b="1" dirty="0">
                <a:sym typeface="Wingdings"/>
              </a:rPr>
              <a:t>Leader</a:t>
            </a:r>
            <a:r>
              <a:rPr lang="en-US" dirty="0">
                <a:sym typeface="Wingdings"/>
              </a:rPr>
              <a:t> is the node responsible for all reads and writes for the given partition.</a:t>
            </a:r>
          </a:p>
          <a:p>
            <a:pPr lvl="1"/>
            <a:r>
              <a:rPr lang="en-US" dirty="0"/>
              <a:t>If the leader fails, one of the </a:t>
            </a:r>
            <a:r>
              <a:rPr lang="en-US" b="1" dirty="0"/>
              <a:t>follower</a:t>
            </a:r>
            <a:r>
              <a:rPr lang="en-US" dirty="0"/>
              <a:t> will automatically become the new leader. </a:t>
            </a:r>
            <a:endParaRPr lang="en-US" dirty="0">
              <a:sym typeface="Wingdings"/>
            </a:endParaRPr>
          </a:p>
          <a:p>
            <a:pPr lvl="1"/>
            <a:endParaRPr lang="en-US" dirty="0">
              <a:sym typeface="Wingdings"/>
            </a:endParaRPr>
          </a:p>
          <a:p>
            <a:pPr lvl="1"/>
            <a:endParaRPr lang="en-US" b="1" dirty="0">
              <a:sym typeface="Wingdings"/>
            </a:endParaRPr>
          </a:p>
          <a:p>
            <a:pPr marL="0" indent="0">
              <a:buNone/>
            </a:pPr>
            <a:endParaRPr lang="en-US" dirty="0">
              <a:sym typeface="Wingdings"/>
            </a:endParaRPr>
          </a:p>
        </p:txBody>
      </p:sp>
      <p:sp>
        <p:nvSpPr>
          <p:cNvPr id="5" name="Slide Number Placeholder 4"/>
          <p:cNvSpPr>
            <a:spLocks noGrp="1"/>
          </p:cNvSpPr>
          <p:nvPr>
            <p:ph type="sldNum" sz="quarter" idx="12"/>
          </p:nvPr>
        </p:nvSpPr>
        <p:spPr/>
        <p:txBody>
          <a:bodyPr/>
          <a:lstStyle/>
          <a:p>
            <a:fld id="{407C8B75-4858-41E6-BEC3-A0853FA4AC5B}" type="slidenum">
              <a:rPr lang="en-US" smtClean="0"/>
              <a:pPr/>
              <a:t>5</a:t>
            </a:fld>
            <a:endParaRPr lang="en-US" dirty="0"/>
          </a:p>
        </p:txBody>
      </p:sp>
      <p:pic>
        <p:nvPicPr>
          <p:cNvPr id="1026" name="Picture 2" descr="Fundamentals">
            <a:extLst>
              <a:ext uri="{FF2B5EF4-FFF2-40B4-BE49-F238E27FC236}">
                <a16:creationId xmlns:a16="http://schemas.microsoft.com/office/drawing/2014/main" id="{B9FE69D7-E4A1-87CD-0F4E-C65137BF9D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47657" y="584880"/>
            <a:ext cx="6139542" cy="280851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9D8542BC-6AD4-3E6E-63C6-04AED7C99F83}"/>
              </a:ext>
            </a:extLst>
          </p:cNvPr>
          <p:cNvPicPr>
            <a:picLocks noChangeAspect="1"/>
          </p:cNvPicPr>
          <p:nvPr/>
        </p:nvPicPr>
        <p:blipFill>
          <a:blip r:embed="rId3"/>
          <a:stretch>
            <a:fillRect/>
          </a:stretch>
        </p:blipFill>
        <p:spPr>
          <a:xfrm>
            <a:off x="6434586" y="3788229"/>
            <a:ext cx="4352027" cy="2770286"/>
          </a:xfrm>
          <a:prstGeom prst="rect">
            <a:avLst/>
          </a:prstGeom>
        </p:spPr>
      </p:pic>
    </p:spTree>
    <p:extLst>
      <p:ext uri="{BB962C8B-B14F-4D97-AF65-F5344CB8AC3E}">
        <p14:creationId xmlns:p14="http://schemas.microsoft.com/office/powerpoint/2010/main" val="35191559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Group 31"/>
          <p:cNvGrpSpPr/>
          <p:nvPr/>
        </p:nvGrpSpPr>
        <p:grpSpPr>
          <a:xfrm>
            <a:off x="3095311" y="2475231"/>
            <a:ext cx="5208999" cy="3583701"/>
            <a:chOff x="1571310" y="2222500"/>
            <a:chExt cx="5208999" cy="3836431"/>
          </a:xfrm>
        </p:grpSpPr>
        <p:sp>
          <p:nvSpPr>
            <p:cNvPr id="33" name="Rectangle 32"/>
            <p:cNvSpPr/>
            <p:nvPr/>
          </p:nvSpPr>
          <p:spPr>
            <a:xfrm>
              <a:off x="1571310" y="2222500"/>
              <a:ext cx="5208999" cy="383643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34" name="TextBox 33"/>
            <p:cNvSpPr txBox="1"/>
            <p:nvPr/>
          </p:nvSpPr>
          <p:spPr>
            <a:xfrm>
              <a:off x="3831740" y="5660742"/>
              <a:ext cx="844462" cy="329482"/>
            </a:xfrm>
            <a:prstGeom prst="rect">
              <a:avLst/>
            </a:prstGeom>
            <a:noFill/>
          </p:spPr>
          <p:txBody>
            <a:bodyPr wrap="none" rtlCol="0">
              <a:spAutoFit/>
            </a:bodyPr>
            <a:lstStyle/>
            <a:p>
              <a:r>
                <a:rPr lang="en-US" sz="1400" dirty="0"/>
                <a:t>Broker(s)</a:t>
              </a:r>
            </a:p>
          </p:txBody>
        </p:sp>
      </p:grpSp>
      <p:sp>
        <p:nvSpPr>
          <p:cNvPr id="2" name="Title 1"/>
          <p:cNvSpPr>
            <a:spLocks noGrp="1"/>
          </p:cNvSpPr>
          <p:nvPr>
            <p:ph type="title"/>
          </p:nvPr>
        </p:nvSpPr>
        <p:spPr>
          <a:xfrm>
            <a:off x="838200" y="365126"/>
            <a:ext cx="10515600" cy="583256"/>
          </a:xfrm>
        </p:spPr>
        <p:txBody>
          <a:bodyPr>
            <a:normAutofit fontScale="90000"/>
          </a:bodyPr>
          <a:lstStyle/>
          <a:p>
            <a:r>
              <a:rPr lang="en-US" dirty="0"/>
              <a:t>Topics</a:t>
            </a:r>
          </a:p>
        </p:txBody>
      </p:sp>
      <p:sp>
        <p:nvSpPr>
          <p:cNvPr id="5" name="Slide Number Placeholder 4"/>
          <p:cNvSpPr>
            <a:spLocks noGrp="1"/>
          </p:cNvSpPr>
          <p:nvPr>
            <p:ph type="sldNum" sz="quarter" idx="12"/>
          </p:nvPr>
        </p:nvSpPr>
        <p:spPr/>
        <p:txBody>
          <a:bodyPr/>
          <a:lstStyle/>
          <a:p>
            <a:fld id="{407C8B75-4858-41E6-BEC3-A0853FA4AC5B}" type="slidenum">
              <a:rPr lang="en-US" smtClean="0"/>
              <a:pPr/>
              <a:t>6</a:t>
            </a:fld>
            <a:endParaRPr lang="en-US" dirty="0"/>
          </a:p>
        </p:txBody>
      </p:sp>
      <p:sp>
        <p:nvSpPr>
          <p:cNvPr id="17" name="Rectangle 16"/>
          <p:cNvSpPr/>
          <p:nvPr/>
        </p:nvSpPr>
        <p:spPr>
          <a:xfrm>
            <a:off x="4146550" y="3168650"/>
            <a:ext cx="368300" cy="3683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9" name="Rectangle 18"/>
          <p:cNvSpPr/>
          <p:nvPr/>
        </p:nvSpPr>
        <p:spPr>
          <a:xfrm>
            <a:off x="4521200" y="3168650"/>
            <a:ext cx="368300" cy="3683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20" name="Rectangle 19"/>
          <p:cNvSpPr/>
          <p:nvPr/>
        </p:nvSpPr>
        <p:spPr>
          <a:xfrm>
            <a:off x="5264150" y="3168650"/>
            <a:ext cx="368300" cy="3683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21" name="Rectangle 20"/>
          <p:cNvSpPr/>
          <p:nvPr/>
        </p:nvSpPr>
        <p:spPr>
          <a:xfrm>
            <a:off x="4889500" y="3168650"/>
            <a:ext cx="368300" cy="3683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22" name="Rectangle 21"/>
          <p:cNvSpPr/>
          <p:nvPr/>
        </p:nvSpPr>
        <p:spPr>
          <a:xfrm>
            <a:off x="5638800" y="3168650"/>
            <a:ext cx="368300" cy="3683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23" name="Rectangle 22"/>
          <p:cNvSpPr/>
          <p:nvPr/>
        </p:nvSpPr>
        <p:spPr>
          <a:xfrm>
            <a:off x="6381750" y="3168650"/>
            <a:ext cx="368300" cy="3683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24" name="Rectangle 23"/>
          <p:cNvSpPr/>
          <p:nvPr/>
        </p:nvSpPr>
        <p:spPr>
          <a:xfrm>
            <a:off x="6007100" y="3168650"/>
            <a:ext cx="368300" cy="3683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25" name="Rectangle 24"/>
          <p:cNvSpPr/>
          <p:nvPr/>
        </p:nvSpPr>
        <p:spPr>
          <a:xfrm>
            <a:off x="6756400" y="3168650"/>
            <a:ext cx="368300" cy="3683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grpSp>
        <p:nvGrpSpPr>
          <p:cNvPr id="45" name="Group 44"/>
          <p:cNvGrpSpPr/>
          <p:nvPr/>
        </p:nvGrpSpPr>
        <p:grpSpPr>
          <a:xfrm>
            <a:off x="6675341" y="2557957"/>
            <a:ext cx="3278735" cy="1959355"/>
            <a:chOff x="5151340" y="2557956"/>
            <a:chExt cx="3278735" cy="1959355"/>
          </a:xfrm>
        </p:grpSpPr>
        <p:sp>
          <p:nvSpPr>
            <p:cNvPr id="27" name="Rectangle 26"/>
            <p:cNvSpPr/>
            <p:nvPr/>
          </p:nvSpPr>
          <p:spPr>
            <a:xfrm>
              <a:off x="5600700" y="3168650"/>
              <a:ext cx="368300" cy="3683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rgbClr val="000000"/>
                  </a:solidFill>
                </a:rPr>
                <a:t>new</a:t>
              </a:r>
            </a:p>
          </p:txBody>
        </p:sp>
        <p:sp>
          <p:nvSpPr>
            <p:cNvPr id="11" name="TextBox 10"/>
            <p:cNvSpPr txBox="1"/>
            <p:nvPr/>
          </p:nvSpPr>
          <p:spPr>
            <a:xfrm>
              <a:off x="7213600" y="2557956"/>
              <a:ext cx="1084271" cy="307777"/>
            </a:xfrm>
            <a:prstGeom prst="rect">
              <a:avLst/>
            </a:prstGeom>
            <a:noFill/>
          </p:spPr>
          <p:txBody>
            <a:bodyPr wrap="none" rtlCol="0">
              <a:spAutoFit/>
            </a:bodyPr>
            <a:lstStyle/>
            <a:p>
              <a:r>
                <a:rPr lang="en-US" sz="1400" dirty="0"/>
                <a:t>Producer A1</a:t>
              </a:r>
            </a:p>
          </p:txBody>
        </p:sp>
        <p:sp>
          <p:nvSpPr>
            <p:cNvPr id="29" name="TextBox 28"/>
            <p:cNvSpPr txBox="1"/>
            <p:nvPr/>
          </p:nvSpPr>
          <p:spPr>
            <a:xfrm>
              <a:off x="7213600" y="2853428"/>
              <a:ext cx="1084271" cy="307777"/>
            </a:xfrm>
            <a:prstGeom prst="rect">
              <a:avLst/>
            </a:prstGeom>
            <a:noFill/>
          </p:spPr>
          <p:txBody>
            <a:bodyPr wrap="none" rtlCol="0">
              <a:spAutoFit/>
            </a:bodyPr>
            <a:lstStyle/>
            <a:p>
              <a:r>
                <a:rPr lang="en-US" sz="1400" dirty="0"/>
                <a:t>Producer A2</a:t>
              </a:r>
            </a:p>
          </p:txBody>
        </p:sp>
        <p:sp>
          <p:nvSpPr>
            <p:cNvPr id="30" name="TextBox 29"/>
            <p:cNvSpPr txBox="1"/>
            <p:nvPr/>
          </p:nvSpPr>
          <p:spPr>
            <a:xfrm>
              <a:off x="7213600" y="3263202"/>
              <a:ext cx="1085875" cy="307777"/>
            </a:xfrm>
            <a:prstGeom prst="rect">
              <a:avLst/>
            </a:prstGeom>
            <a:noFill/>
          </p:spPr>
          <p:txBody>
            <a:bodyPr wrap="none" rtlCol="0">
              <a:spAutoFit/>
            </a:bodyPr>
            <a:lstStyle/>
            <a:p>
              <a:r>
                <a:rPr lang="en-US" sz="1400" dirty="0"/>
                <a:t>Producer A</a:t>
              </a:r>
              <a:r>
                <a:rPr lang="en-US" sz="1400" i="1" dirty="0"/>
                <a:t>n</a:t>
              </a:r>
            </a:p>
          </p:txBody>
        </p:sp>
        <p:sp>
          <p:nvSpPr>
            <p:cNvPr id="31" name="TextBox 30"/>
            <p:cNvSpPr txBox="1"/>
            <p:nvPr/>
          </p:nvSpPr>
          <p:spPr>
            <a:xfrm>
              <a:off x="7548101" y="3007317"/>
              <a:ext cx="308098" cy="307777"/>
            </a:xfrm>
            <a:prstGeom prst="rect">
              <a:avLst/>
            </a:prstGeom>
            <a:noFill/>
          </p:spPr>
          <p:txBody>
            <a:bodyPr wrap="none" rtlCol="0">
              <a:spAutoFit/>
            </a:bodyPr>
            <a:lstStyle/>
            <a:p>
              <a:r>
                <a:rPr lang="en-US" sz="1400" dirty="0"/>
                <a:t>…</a:t>
              </a:r>
            </a:p>
          </p:txBody>
        </p:sp>
        <p:cxnSp>
          <p:nvCxnSpPr>
            <p:cNvPr id="36" name="Elbow Connector 35"/>
            <p:cNvCxnSpPr/>
            <p:nvPr/>
          </p:nvCxnSpPr>
          <p:spPr>
            <a:xfrm rot="10800000" flipV="1">
              <a:off x="6137822" y="2768600"/>
              <a:ext cx="897979" cy="596900"/>
            </a:xfrm>
            <a:prstGeom prst="bentConnector3">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151340" y="3932535"/>
              <a:ext cx="3278735" cy="584776"/>
            </a:xfrm>
            <a:prstGeom prst="rect">
              <a:avLst/>
            </a:prstGeom>
            <a:noFill/>
          </p:spPr>
          <p:txBody>
            <a:bodyPr wrap="none" rtlCol="0">
              <a:spAutoFit/>
            </a:bodyPr>
            <a:lstStyle/>
            <a:p>
              <a:pPr algn="ctr"/>
              <a:r>
                <a:rPr lang="en-US" sz="1600" i="1" dirty="0">
                  <a:latin typeface="Arial"/>
                  <a:cs typeface="Arial"/>
                </a:rPr>
                <a:t>Producers always append to “tail”</a:t>
              </a:r>
            </a:p>
            <a:p>
              <a:pPr algn="ctr"/>
              <a:r>
                <a:rPr lang="en-US" sz="1600" i="1" dirty="0">
                  <a:latin typeface="Arial"/>
                  <a:cs typeface="Arial"/>
                </a:rPr>
                <a:t>(think: append to a file)</a:t>
              </a:r>
            </a:p>
          </p:txBody>
        </p:sp>
      </p:grpSp>
      <p:sp>
        <p:nvSpPr>
          <p:cNvPr id="40" name="TextBox 39"/>
          <p:cNvSpPr txBox="1"/>
          <p:nvPr/>
        </p:nvSpPr>
        <p:spPr>
          <a:xfrm>
            <a:off x="3731751" y="3211612"/>
            <a:ext cx="308098" cy="307777"/>
          </a:xfrm>
          <a:prstGeom prst="rect">
            <a:avLst/>
          </a:prstGeom>
          <a:noFill/>
        </p:spPr>
        <p:txBody>
          <a:bodyPr wrap="none" rtlCol="0">
            <a:spAutoFit/>
          </a:bodyPr>
          <a:lstStyle/>
          <a:p>
            <a:r>
              <a:rPr lang="en-US" sz="1400" dirty="0"/>
              <a:t>…</a:t>
            </a:r>
          </a:p>
        </p:txBody>
      </p:sp>
      <p:grpSp>
        <p:nvGrpSpPr>
          <p:cNvPr id="44" name="Group 43"/>
          <p:cNvGrpSpPr/>
          <p:nvPr/>
        </p:nvGrpSpPr>
        <p:grpSpPr>
          <a:xfrm>
            <a:off x="2206074" y="2062755"/>
            <a:ext cx="5256340" cy="802979"/>
            <a:chOff x="682074" y="2062754"/>
            <a:chExt cx="5256340" cy="802979"/>
          </a:xfrm>
        </p:grpSpPr>
        <p:sp>
          <p:nvSpPr>
            <p:cNvPr id="42" name="Left Brace 41"/>
            <p:cNvSpPr/>
            <p:nvPr/>
          </p:nvSpPr>
          <p:spPr>
            <a:xfrm rot="5400000">
              <a:off x="1943303" y="2237083"/>
              <a:ext cx="419100" cy="838200"/>
            </a:xfrm>
            <a:prstGeom prst="leftBrace">
              <a:avLst/>
            </a:prstGeom>
            <a:ln>
              <a:solidFill>
                <a:srgbClr val="4F81BD"/>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solidFill>
                  <a:srgbClr val="0061A3"/>
                </a:solidFill>
              </a:endParaRPr>
            </a:p>
          </p:txBody>
        </p:sp>
        <p:sp>
          <p:nvSpPr>
            <p:cNvPr id="43" name="TextBox 42"/>
            <p:cNvSpPr txBox="1"/>
            <p:nvPr/>
          </p:nvSpPr>
          <p:spPr>
            <a:xfrm>
              <a:off x="682074" y="2062754"/>
              <a:ext cx="5256340" cy="338554"/>
            </a:xfrm>
            <a:prstGeom prst="rect">
              <a:avLst/>
            </a:prstGeom>
            <a:noFill/>
          </p:spPr>
          <p:txBody>
            <a:bodyPr wrap="none" rtlCol="0">
              <a:spAutoFit/>
            </a:bodyPr>
            <a:lstStyle/>
            <a:p>
              <a:pPr algn="ctr"/>
              <a:r>
                <a:rPr lang="en-US" sz="1600" i="1" dirty="0">
                  <a:latin typeface="Arial"/>
                  <a:cs typeface="Arial"/>
                </a:rPr>
                <a:t>Kafka prunes “head” based on </a:t>
              </a:r>
              <a:r>
                <a:rPr lang="en-US" sz="1600" i="1" dirty="0">
                  <a:solidFill>
                    <a:srgbClr val="FF0000"/>
                  </a:solidFill>
                  <a:latin typeface="Arial"/>
                  <a:cs typeface="Arial"/>
                </a:rPr>
                <a:t>age</a:t>
              </a:r>
              <a:r>
                <a:rPr lang="en-US" sz="1600" i="1" dirty="0">
                  <a:latin typeface="Arial"/>
                  <a:cs typeface="Arial"/>
                </a:rPr>
                <a:t> or </a:t>
              </a:r>
              <a:r>
                <a:rPr lang="en-US" sz="1600" i="1" dirty="0">
                  <a:solidFill>
                    <a:srgbClr val="FF0000"/>
                  </a:solidFill>
                  <a:latin typeface="Arial"/>
                  <a:cs typeface="Arial"/>
                </a:rPr>
                <a:t>max size</a:t>
              </a:r>
              <a:r>
                <a:rPr lang="en-US" sz="1600" i="1" dirty="0">
                  <a:latin typeface="Arial"/>
                  <a:cs typeface="Arial"/>
                </a:rPr>
                <a:t> or </a:t>
              </a:r>
              <a:r>
                <a:rPr lang="en-US" sz="1600" i="1" dirty="0">
                  <a:solidFill>
                    <a:srgbClr val="FF0000"/>
                  </a:solidFill>
                  <a:latin typeface="Arial"/>
                  <a:cs typeface="Arial"/>
                </a:rPr>
                <a:t>“key”</a:t>
              </a:r>
            </a:p>
          </p:txBody>
        </p:sp>
      </p:grpSp>
      <p:sp>
        <p:nvSpPr>
          <p:cNvPr id="46" name="TextBox 45"/>
          <p:cNvSpPr txBox="1"/>
          <p:nvPr/>
        </p:nvSpPr>
        <p:spPr>
          <a:xfrm>
            <a:off x="3692737" y="3558977"/>
            <a:ext cx="1000595" cy="307777"/>
          </a:xfrm>
          <a:prstGeom prst="rect">
            <a:avLst/>
          </a:prstGeom>
          <a:noFill/>
        </p:spPr>
        <p:txBody>
          <a:bodyPr wrap="none" rtlCol="0">
            <a:spAutoFit/>
          </a:bodyPr>
          <a:lstStyle/>
          <a:p>
            <a:r>
              <a:rPr lang="en-US" sz="1400" dirty="0"/>
              <a:t>Older msgs</a:t>
            </a:r>
          </a:p>
        </p:txBody>
      </p:sp>
      <p:sp>
        <p:nvSpPr>
          <p:cNvPr id="47" name="TextBox 46"/>
          <p:cNvSpPr txBox="1"/>
          <p:nvPr/>
        </p:nvSpPr>
        <p:spPr>
          <a:xfrm>
            <a:off x="6026151" y="3558977"/>
            <a:ext cx="1076641" cy="307777"/>
          </a:xfrm>
          <a:prstGeom prst="rect">
            <a:avLst/>
          </a:prstGeom>
          <a:noFill/>
        </p:spPr>
        <p:txBody>
          <a:bodyPr wrap="none" rtlCol="0">
            <a:spAutoFit/>
          </a:bodyPr>
          <a:lstStyle/>
          <a:p>
            <a:r>
              <a:rPr lang="en-US" sz="1400" dirty="0"/>
              <a:t>Newer msgs</a:t>
            </a:r>
          </a:p>
        </p:txBody>
      </p:sp>
      <p:sp>
        <p:nvSpPr>
          <p:cNvPr id="48" name="TextBox 47"/>
          <p:cNvSpPr txBox="1"/>
          <p:nvPr/>
        </p:nvSpPr>
        <p:spPr>
          <a:xfrm>
            <a:off x="4902200" y="2761854"/>
            <a:ext cx="1009444" cy="307777"/>
          </a:xfrm>
          <a:prstGeom prst="rect">
            <a:avLst/>
          </a:prstGeom>
          <a:noFill/>
        </p:spPr>
        <p:txBody>
          <a:bodyPr wrap="none" rtlCol="0">
            <a:spAutoFit/>
          </a:bodyPr>
          <a:lstStyle/>
          <a:p>
            <a:r>
              <a:rPr lang="en-US" sz="1400" b="1" dirty="0"/>
              <a:t>Kafka topic</a:t>
            </a:r>
          </a:p>
        </p:txBody>
      </p:sp>
      <p:sp>
        <p:nvSpPr>
          <p:cNvPr id="35" name="Content Placeholder 2"/>
          <p:cNvSpPr>
            <a:spLocks noGrp="1"/>
          </p:cNvSpPr>
          <p:nvPr>
            <p:ph idx="1"/>
          </p:nvPr>
        </p:nvSpPr>
        <p:spPr>
          <a:xfrm>
            <a:off x="1981200" y="1078993"/>
            <a:ext cx="8229600" cy="1682861"/>
          </a:xfrm>
        </p:spPr>
        <p:txBody>
          <a:bodyPr>
            <a:normAutofit/>
          </a:bodyPr>
          <a:lstStyle/>
          <a:p>
            <a:r>
              <a:rPr lang="en-US" b="1" dirty="0"/>
              <a:t>Topic:  </a:t>
            </a:r>
            <a:r>
              <a:rPr lang="en-US" dirty="0"/>
              <a:t>feed name to which messages are published</a:t>
            </a:r>
          </a:p>
          <a:p>
            <a:pPr lvl="1"/>
            <a:r>
              <a:rPr lang="en-US" dirty="0">
                <a:sym typeface="Wingdings"/>
              </a:rPr>
              <a:t>Example: “zerg.hydra”</a:t>
            </a:r>
          </a:p>
        </p:txBody>
      </p:sp>
    </p:spTree>
    <p:extLst>
      <p:ext uri="{BB962C8B-B14F-4D97-AF65-F5344CB8AC3E}">
        <p14:creationId xmlns:p14="http://schemas.microsoft.com/office/powerpoint/2010/main" val="577028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Group 31"/>
          <p:cNvGrpSpPr/>
          <p:nvPr/>
        </p:nvGrpSpPr>
        <p:grpSpPr>
          <a:xfrm>
            <a:off x="3095311" y="2475231"/>
            <a:ext cx="5208999" cy="3583701"/>
            <a:chOff x="1571310" y="2222500"/>
            <a:chExt cx="5208999" cy="3836431"/>
          </a:xfrm>
        </p:grpSpPr>
        <p:sp>
          <p:nvSpPr>
            <p:cNvPr id="33" name="Rectangle 32"/>
            <p:cNvSpPr/>
            <p:nvPr/>
          </p:nvSpPr>
          <p:spPr>
            <a:xfrm>
              <a:off x="1571310" y="2222500"/>
              <a:ext cx="5208999" cy="383643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34" name="TextBox 33"/>
            <p:cNvSpPr txBox="1"/>
            <p:nvPr/>
          </p:nvSpPr>
          <p:spPr>
            <a:xfrm>
              <a:off x="3831740" y="5660742"/>
              <a:ext cx="844462" cy="329482"/>
            </a:xfrm>
            <a:prstGeom prst="rect">
              <a:avLst/>
            </a:prstGeom>
            <a:noFill/>
          </p:spPr>
          <p:txBody>
            <a:bodyPr wrap="none" rtlCol="0">
              <a:spAutoFit/>
            </a:bodyPr>
            <a:lstStyle/>
            <a:p>
              <a:r>
                <a:rPr lang="en-US" sz="1400" dirty="0"/>
                <a:t>Broker(s)</a:t>
              </a:r>
            </a:p>
          </p:txBody>
        </p:sp>
      </p:grpSp>
      <p:sp>
        <p:nvSpPr>
          <p:cNvPr id="2" name="Title 1"/>
          <p:cNvSpPr>
            <a:spLocks noGrp="1"/>
          </p:cNvSpPr>
          <p:nvPr>
            <p:ph type="title"/>
          </p:nvPr>
        </p:nvSpPr>
        <p:spPr/>
        <p:txBody>
          <a:bodyPr/>
          <a:lstStyle/>
          <a:p>
            <a:r>
              <a:rPr lang="en-US" dirty="0"/>
              <a:t>Topics</a:t>
            </a:r>
          </a:p>
        </p:txBody>
      </p:sp>
      <p:sp>
        <p:nvSpPr>
          <p:cNvPr id="5" name="Slide Number Placeholder 4"/>
          <p:cNvSpPr>
            <a:spLocks noGrp="1"/>
          </p:cNvSpPr>
          <p:nvPr>
            <p:ph type="sldNum" sz="quarter" idx="12"/>
          </p:nvPr>
        </p:nvSpPr>
        <p:spPr/>
        <p:txBody>
          <a:bodyPr/>
          <a:lstStyle/>
          <a:p>
            <a:fld id="{407C8B75-4858-41E6-BEC3-A0853FA4AC5B}" type="slidenum">
              <a:rPr lang="en-US" smtClean="0"/>
              <a:pPr/>
              <a:t>7</a:t>
            </a:fld>
            <a:endParaRPr lang="en-US" dirty="0"/>
          </a:p>
        </p:txBody>
      </p:sp>
      <p:sp>
        <p:nvSpPr>
          <p:cNvPr id="17" name="Rectangle 16"/>
          <p:cNvSpPr/>
          <p:nvPr/>
        </p:nvSpPr>
        <p:spPr>
          <a:xfrm>
            <a:off x="4146550" y="3168650"/>
            <a:ext cx="368300" cy="3683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9" name="Rectangle 18"/>
          <p:cNvSpPr/>
          <p:nvPr/>
        </p:nvSpPr>
        <p:spPr>
          <a:xfrm>
            <a:off x="4521200" y="3168650"/>
            <a:ext cx="368300" cy="3683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20" name="Rectangle 19"/>
          <p:cNvSpPr/>
          <p:nvPr/>
        </p:nvSpPr>
        <p:spPr>
          <a:xfrm>
            <a:off x="5264150" y="3168650"/>
            <a:ext cx="368300" cy="3683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21" name="Rectangle 20"/>
          <p:cNvSpPr/>
          <p:nvPr/>
        </p:nvSpPr>
        <p:spPr>
          <a:xfrm>
            <a:off x="4889500" y="3168650"/>
            <a:ext cx="368300" cy="3683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22" name="Rectangle 21"/>
          <p:cNvSpPr/>
          <p:nvPr/>
        </p:nvSpPr>
        <p:spPr>
          <a:xfrm>
            <a:off x="5638800" y="3168650"/>
            <a:ext cx="368300" cy="3683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23" name="Rectangle 22"/>
          <p:cNvSpPr/>
          <p:nvPr/>
        </p:nvSpPr>
        <p:spPr>
          <a:xfrm>
            <a:off x="6381750" y="3168650"/>
            <a:ext cx="368300" cy="3683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24" name="Rectangle 23"/>
          <p:cNvSpPr/>
          <p:nvPr/>
        </p:nvSpPr>
        <p:spPr>
          <a:xfrm>
            <a:off x="6007100" y="3168650"/>
            <a:ext cx="368300" cy="3683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25" name="Rectangle 24"/>
          <p:cNvSpPr/>
          <p:nvPr/>
        </p:nvSpPr>
        <p:spPr>
          <a:xfrm>
            <a:off x="6756400" y="3168650"/>
            <a:ext cx="368300" cy="3683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grpSp>
        <p:nvGrpSpPr>
          <p:cNvPr id="45" name="Group 44"/>
          <p:cNvGrpSpPr/>
          <p:nvPr/>
        </p:nvGrpSpPr>
        <p:grpSpPr>
          <a:xfrm>
            <a:off x="6675341" y="2557957"/>
            <a:ext cx="3278735" cy="1959355"/>
            <a:chOff x="5151340" y="2557956"/>
            <a:chExt cx="3278735" cy="1959355"/>
          </a:xfrm>
        </p:grpSpPr>
        <p:sp>
          <p:nvSpPr>
            <p:cNvPr id="27" name="Rectangle 26"/>
            <p:cNvSpPr/>
            <p:nvPr/>
          </p:nvSpPr>
          <p:spPr>
            <a:xfrm>
              <a:off x="5600700" y="3168650"/>
              <a:ext cx="368300" cy="3683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rgbClr val="000000"/>
                  </a:solidFill>
                </a:rPr>
                <a:t>new</a:t>
              </a:r>
            </a:p>
          </p:txBody>
        </p:sp>
        <p:sp>
          <p:nvSpPr>
            <p:cNvPr id="11" name="TextBox 10"/>
            <p:cNvSpPr txBox="1"/>
            <p:nvPr/>
          </p:nvSpPr>
          <p:spPr>
            <a:xfrm>
              <a:off x="7213600" y="2557956"/>
              <a:ext cx="1084271" cy="307777"/>
            </a:xfrm>
            <a:prstGeom prst="rect">
              <a:avLst/>
            </a:prstGeom>
            <a:noFill/>
          </p:spPr>
          <p:txBody>
            <a:bodyPr wrap="none" rtlCol="0">
              <a:spAutoFit/>
            </a:bodyPr>
            <a:lstStyle/>
            <a:p>
              <a:r>
                <a:rPr lang="en-US" sz="1400" dirty="0"/>
                <a:t>Producer A1</a:t>
              </a:r>
            </a:p>
          </p:txBody>
        </p:sp>
        <p:sp>
          <p:nvSpPr>
            <p:cNvPr id="29" name="TextBox 28"/>
            <p:cNvSpPr txBox="1"/>
            <p:nvPr/>
          </p:nvSpPr>
          <p:spPr>
            <a:xfrm>
              <a:off x="7213600" y="2853428"/>
              <a:ext cx="1084271" cy="307777"/>
            </a:xfrm>
            <a:prstGeom prst="rect">
              <a:avLst/>
            </a:prstGeom>
            <a:noFill/>
          </p:spPr>
          <p:txBody>
            <a:bodyPr wrap="none" rtlCol="0">
              <a:spAutoFit/>
            </a:bodyPr>
            <a:lstStyle/>
            <a:p>
              <a:r>
                <a:rPr lang="en-US" sz="1400" dirty="0"/>
                <a:t>Producer A2</a:t>
              </a:r>
            </a:p>
          </p:txBody>
        </p:sp>
        <p:sp>
          <p:nvSpPr>
            <p:cNvPr id="30" name="TextBox 29"/>
            <p:cNvSpPr txBox="1"/>
            <p:nvPr/>
          </p:nvSpPr>
          <p:spPr>
            <a:xfrm>
              <a:off x="7213600" y="3263202"/>
              <a:ext cx="1085875" cy="307777"/>
            </a:xfrm>
            <a:prstGeom prst="rect">
              <a:avLst/>
            </a:prstGeom>
            <a:noFill/>
          </p:spPr>
          <p:txBody>
            <a:bodyPr wrap="none" rtlCol="0">
              <a:spAutoFit/>
            </a:bodyPr>
            <a:lstStyle/>
            <a:p>
              <a:r>
                <a:rPr lang="en-US" sz="1400" dirty="0"/>
                <a:t>Producer A</a:t>
              </a:r>
              <a:r>
                <a:rPr lang="en-US" sz="1400" i="1" dirty="0"/>
                <a:t>n</a:t>
              </a:r>
            </a:p>
          </p:txBody>
        </p:sp>
        <p:sp>
          <p:nvSpPr>
            <p:cNvPr id="31" name="TextBox 30"/>
            <p:cNvSpPr txBox="1"/>
            <p:nvPr/>
          </p:nvSpPr>
          <p:spPr>
            <a:xfrm>
              <a:off x="7548101" y="3007317"/>
              <a:ext cx="308098" cy="307777"/>
            </a:xfrm>
            <a:prstGeom prst="rect">
              <a:avLst/>
            </a:prstGeom>
            <a:noFill/>
          </p:spPr>
          <p:txBody>
            <a:bodyPr wrap="none" rtlCol="0">
              <a:spAutoFit/>
            </a:bodyPr>
            <a:lstStyle/>
            <a:p>
              <a:r>
                <a:rPr lang="en-US" sz="1400" dirty="0"/>
                <a:t>…</a:t>
              </a:r>
            </a:p>
          </p:txBody>
        </p:sp>
        <p:cxnSp>
          <p:nvCxnSpPr>
            <p:cNvPr id="36" name="Elbow Connector 35"/>
            <p:cNvCxnSpPr/>
            <p:nvPr/>
          </p:nvCxnSpPr>
          <p:spPr>
            <a:xfrm rot="10800000" flipV="1">
              <a:off x="6137822" y="2768600"/>
              <a:ext cx="897979" cy="596900"/>
            </a:xfrm>
            <a:prstGeom prst="bentConnector3">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151340" y="3932535"/>
              <a:ext cx="3278735" cy="584776"/>
            </a:xfrm>
            <a:prstGeom prst="rect">
              <a:avLst/>
            </a:prstGeom>
            <a:noFill/>
          </p:spPr>
          <p:txBody>
            <a:bodyPr wrap="none" rtlCol="0">
              <a:spAutoFit/>
            </a:bodyPr>
            <a:lstStyle/>
            <a:p>
              <a:pPr algn="ctr"/>
              <a:r>
                <a:rPr lang="en-US" sz="1600" i="1" dirty="0">
                  <a:solidFill>
                    <a:srgbClr val="000000"/>
                  </a:solidFill>
                  <a:latin typeface="Arial"/>
                  <a:cs typeface="Arial"/>
                </a:rPr>
                <a:t>Producers always append to “tail”</a:t>
              </a:r>
            </a:p>
            <a:p>
              <a:pPr algn="ctr"/>
              <a:r>
                <a:rPr lang="en-US" sz="1600" i="1" dirty="0">
                  <a:solidFill>
                    <a:srgbClr val="000000"/>
                  </a:solidFill>
                  <a:latin typeface="Arial"/>
                  <a:cs typeface="Arial"/>
                </a:rPr>
                <a:t>(think: append to a file)</a:t>
              </a:r>
            </a:p>
          </p:txBody>
        </p:sp>
      </p:grpSp>
      <p:sp>
        <p:nvSpPr>
          <p:cNvPr id="40" name="TextBox 39"/>
          <p:cNvSpPr txBox="1"/>
          <p:nvPr/>
        </p:nvSpPr>
        <p:spPr>
          <a:xfrm>
            <a:off x="3731751" y="3211612"/>
            <a:ext cx="308098" cy="307777"/>
          </a:xfrm>
          <a:prstGeom prst="rect">
            <a:avLst/>
          </a:prstGeom>
          <a:noFill/>
        </p:spPr>
        <p:txBody>
          <a:bodyPr wrap="none" rtlCol="0">
            <a:spAutoFit/>
          </a:bodyPr>
          <a:lstStyle/>
          <a:p>
            <a:r>
              <a:rPr lang="en-US" sz="1400" dirty="0"/>
              <a:t>…</a:t>
            </a:r>
          </a:p>
        </p:txBody>
      </p:sp>
      <p:sp>
        <p:nvSpPr>
          <p:cNvPr id="46" name="TextBox 45"/>
          <p:cNvSpPr txBox="1"/>
          <p:nvPr/>
        </p:nvSpPr>
        <p:spPr>
          <a:xfrm>
            <a:off x="3692737" y="3558977"/>
            <a:ext cx="1000595" cy="307777"/>
          </a:xfrm>
          <a:prstGeom prst="rect">
            <a:avLst/>
          </a:prstGeom>
          <a:noFill/>
        </p:spPr>
        <p:txBody>
          <a:bodyPr wrap="none" rtlCol="0">
            <a:spAutoFit/>
          </a:bodyPr>
          <a:lstStyle/>
          <a:p>
            <a:r>
              <a:rPr lang="en-US" sz="1400" dirty="0"/>
              <a:t>Older msgs</a:t>
            </a:r>
          </a:p>
        </p:txBody>
      </p:sp>
      <p:sp>
        <p:nvSpPr>
          <p:cNvPr id="47" name="TextBox 46"/>
          <p:cNvSpPr txBox="1"/>
          <p:nvPr/>
        </p:nvSpPr>
        <p:spPr>
          <a:xfrm>
            <a:off x="6026151" y="3558977"/>
            <a:ext cx="1076641" cy="307777"/>
          </a:xfrm>
          <a:prstGeom prst="rect">
            <a:avLst/>
          </a:prstGeom>
          <a:noFill/>
        </p:spPr>
        <p:txBody>
          <a:bodyPr wrap="none" rtlCol="0">
            <a:spAutoFit/>
          </a:bodyPr>
          <a:lstStyle/>
          <a:p>
            <a:r>
              <a:rPr lang="en-US" sz="1400" dirty="0"/>
              <a:t>Newer msgs</a:t>
            </a:r>
          </a:p>
        </p:txBody>
      </p:sp>
      <p:grpSp>
        <p:nvGrpSpPr>
          <p:cNvPr id="13" name="Group 12"/>
          <p:cNvGrpSpPr/>
          <p:nvPr/>
        </p:nvGrpSpPr>
        <p:grpSpPr>
          <a:xfrm>
            <a:off x="2382270" y="1267677"/>
            <a:ext cx="6934555" cy="1739640"/>
            <a:chOff x="858269" y="1267677"/>
            <a:chExt cx="6934555" cy="1739640"/>
          </a:xfrm>
        </p:grpSpPr>
        <p:sp>
          <p:nvSpPr>
            <p:cNvPr id="3" name="TextBox 2"/>
            <p:cNvSpPr txBox="1"/>
            <p:nvPr/>
          </p:nvSpPr>
          <p:spPr>
            <a:xfrm>
              <a:off x="858269" y="1319311"/>
              <a:ext cx="1626086" cy="307777"/>
            </a:xfrm>
            <a:prstGeom prst="rect">
              <a:avLst/>
            </a:prstGeom>
            <a:noFill/>
          </p:spPr>
          <p:txBody>
            <a:bodyPr wrap="none" rtlCol="0">
              <a:spAutoFit/>
            </a:bodyPr>
            <a:lstStyle/>
            <a:p>
              <a:pPr algn="ctr"/>
              <a:r>
                <a:rPr lang="en-US" sz="1400" dirty="0"/>
                <a:t>Consumer group C1</a:t>
              </a:r>
            </a:p>
          </p:txBody>
        </p:sp>
        <p:cxnSp>
          <p:nvCxnSpPr>
            <p:cNvPr id="48" name="Elbow Connector 47"/>
            <p:cNvCxnSpPr>
              <a:stCxn id="3" idx="3"/>
            </p:cNvCxnSpPr>
            <p:nvPr/>
          </p:nvCxnSpPr>
          <p:spPr>
            <a:xfrm>
              <a:off x="2484355" y="1473200"/>
              <a:ext cx="1427245" cy="1534117"/>
            </a:xfrm>
            <a:prstGeom prst="bentConnector2">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4125862" y="1267677"/>
              <a:ext cx="3666962" cy="830997"/>
            </a:xfrm>
            <a:prstGeom prst="rect">
              <a:avLst/>
            </a:prstGeom>
            <a:noFill/>
          </p:spPr>
          <p:txBody>
            <a:bodyPr wrap="none" rtlCol="0">
              <a:spAutoFit/>
            </a:bodyPr>
            <a:lstStyle/>
            <a:p>
              <a:pPr algn="ctr"/>
              <a:r>
                <a:rPr lang="en-US" sz="1600" i="1" dirty="0">
                  <a:solidFill>
                    <a:srgbClr val="000000"/>
                  </a:solidFill>
                  <a:latin typeface="Arial"/>
                  <a:cs typeface="Arial"/>
                </a:rPr>
                <a:t>Consumers use an “offset pointer” to</a:t>
              </a:r>
            </a:p>
            <a:p>
              <a:pPr algn="ctr"/>
              <a:r>
                <a:rPr lang="en-US" sz="1600" i="1" dirty="0">
                  <a:solidFill>
                    <a:srgbClr val="000000"/>
                  </a:solidFill>
                  <a:latin typeface="Arial"/>
                  <a:cs typeface="Arial"/>
                </a:rPr>
                <a:t>track/control their read progress</a:t>
              </a:r>
            </a:p>
            <a:p>
              <a:pPr algn="ctr"/>
              <a:r>
                <a:rPr lang="en-US" sz="1600" i="1" dirty="0">
                  <a:solidFill>
                    <a:srgbClr val="000000"/>
                  </a:solidFill>
                  <a:latin typeface="Arial"/>
                  <a:cs typeface="Arial"/>
                </a:rPr>
                <a:t>(and decide the pace of consumption)</a:t>
              </a:r>
            </a:p>
          </p:txBody>
        </p:sp>
        <p:sp>
          <p:nvSpPr>
            <p:cNvPr id="50" name="TextBox 49"/>
            <p:cNvSpPr txBox="1"/>
            <p:nvPr/>
          </p:nvSpPr>
          <p:spPr>
            <a:xfrm>
              <a:off x="858269" y="1944785"/>
              <a:ext cx="1626086" cy="307777"/>
            </a:xfrm>
            <a:prstGeom prst="rect">
              <a:avLst/>
            </a:prstGeom>
            <a:noFill/>
          </p:spPr>
          <p:txBody>
            <a:bodyPr wrap="none" rtlCol="0">
              <a:spAutoFit/>
            </a:bodyPr>
            <a:lstStyle/>
            <a:p>
              <a:pPr algn="ctr"/>
              <a:r>
                <a:rPr lang="en-US" sz="1400" dirty="0"/>
                <a:t>Consumer group C2</a:t>
              </a:r>
            </a:p>
          </p:txBody>
        </p:sp>
        <p:cxnSp>
          <p:nvCxnSpPr>
            <p:cNvPr id="51" name="Elbow Connector 50"/>
            <p:cNvCxnSpPr>
              <a:stCxn id="50" idx="3"/>
            </p:cNvCxnSpPr>
            <p:nvPr/>
          </p:nvCxnSpPr>
          <p:spPr>
            <a:xfrm>
              <a:off x="2484355" y="2098674"/>
              <a:ext cx="690645" cy="908643"/>
            </a:xfrm>
            <a:prstGeom prst="bentConnector2">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649189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11026"/>
          </a:xfrm>
        </p:spPr>
        <p:txBody>
          <a:bodyPr>
            <a:normAutofit fontScale="90000"/>
          </a:bodyPr>
          <a:lstStyle/>
          <a:p>
            <a:r>
              <a:rPr lang="en-US" dirty="0"/>
              <a:t>Partitions</a:t>
            </a:r>
          </a:p>
        </p:txBody>
      </p:sp>
      <p:sp>
        <p:nvSpPr>
          <p:cNvPr id="5" name="Slide Number Placeholder 4"/>
          <p:cNvSpPr>
            <a:spLocks noGrp="1"/>
          </p:cNvSpPr>
          <p:nvPr>
            <p:ph type="sldNum" sz="quarter" idx="12"/>
          </p:nvPr>
        </p:nvSpPr>
        <p:spPr>
          <a:xfrm>
            <a:off x="10198100" y="6537323"/>
            <a:ext cx="355600" cy="152400"/>
          </a:xfrm>
        </p:spPr>
        <p:txBody>
          <a:bodyPr/>
          <a:lstStyle/>
          <a:p>
            <a:fld id="{407C8B75-4858-41E6-BEC3-A0853FA4AC5B}" type="slidenum">
              <a:rPr lang="en-US" smtClean="0"/>
              <a:pPr/>
              <a:t>8</a:t>
            </a:fld>
            <a:endParaRPr lang="en-US" dirty="0"/>
          </a:p>
        </p:txBody>
      </p:sp>
      <p:pic>
        <p:nvPicPr>
          <p:cNvPr id="4" name="Picture 3"/>
          <p:cNvPicPr>
            <a:picLocks noChangeAspect="1"/>
          </p:cNvPicPr>
          <p:nvPr/>
        </p:nvPicPr>
        <p:blipFill>
          <a:blip r:embed="rId2"/>
          <a:stretch>
            <a:fillRect/>
          </a:stretch>
        </p:blipFill>
        <p:spPr>
          <a:xfrm>
            <a:off x="3460287" y="2718625"/>
            <a:ext cx="4701628" cy="3017631"/>
          </a:xfrm>
          <a:prstGeom prst="rect">
            <a:avLst/>
          </a:prstGeom>
        </p:spPr>
      </p:pic>
      <p:sp>
        <p:nvSpPr>
          <p:cNvPr id="35" name="Content Placeholder 2"/>
          <p:cNvSpPr>
            <a:spLocks noGrp="1"/>
          </p:cNvSpPr>
          <p:nvPr>
            <p:ph idx="1"/>
          </p:nvPr>
        </p:nvSpPr>
        <p:spPr>
          <a:xfrm>
            <a:off x="653143" y="1011813"/>
            <a:ext cx="8229600" cy="5255490"/>
          </a:xfrm>
        </p:spPr>
        <p:txBody>
          <a:bodyPr>
            <a:normAutofit/>
          </a:bodyPr>
          <a:lstStyle/>
          <a:p>
            <a:r>
              <a:rPr lang="en-US" sz="2400" dirty="0"/>
              <a:t>A topic consists of </a:t>
            </a:r>
            <a:r>
              <a:rPr lang="en-US" sz="2400" b="1" dirty="0"/>
              <a:t>partitions.</a:t>
            </a:r>
          </a:p>
          <a:p>
            <a:r>
              <a:rPr lang="en-US" sz="2400" dirty="0"/>
              <a:t>Partition:  </a:t>
            </a:r>
            <a:r>
              <a:rPr lang="en-US" sz="2400" b="1" dirty="0"/>
              <a:t>ordered +</a:t>
            </a:r>
            <a:r>
              <a:rPr lang="en-US" sz="2400" dirty="0"/>
              <a:t> </a:t>
            </a:r>
            <a:r>
              <a:rPr lang="en-US" sz="2400" b="1" dirty="0"/>
              <a:t>immutable </a:t>
            </a:r>
            <a:r>
              <a:rPr lang="en-US" sz="2400" dirty="0"/>
              <a:t>sequence of messages </a:t>
            </a:r>
            <a:br>
              <a:rPr lang="en-US" sz="2400" dirty="0"/>
            </a:br>
            <a:r>
              <a:rPr lang="en-US" sz="2400" dirty="0"/>
              <a:t>                that is continually appended to</a:t>
            </a:r>
          </a:p>
          <a:p>
            <a:pPr lvl="1"/>
            <a:endParaRPr lang="en-US" sz="2000" dirty="0"/>
          </a:p>
          <a:p>
            <a:pPr lvl="1"/>
            <a:endParaRPr lang="en-US" sz="2000" dirty="0"/>
          </a:p>
          <a:p>
            <a:pPr lvl="1"/>
            <a:endParaRPr lang="en-US" sz="2000" dirty="0"/>
          </a:p>
          <a:p>
            <a:pPr lvl="1"/>
            <a:endParaRPr lang="en-US" sz="2000" dirty="0"/>
          </a:p>
          <a:p>
            <a:pPr lvl="1"/>
            <a:endParaRPr lang="en-US" sz="2000" dirty="0"/>
          </a:p>
          <a:p>
            <a:pPr lvl="1"/>
            <a:endParaRPr lang="en-US" sz="2000" dirty="0"/>
          </a:p>
          <a:p>
            <a:pPr lvl="1"/>
            <a:endParaRPr lang="en-US" sz="2000" dirty="0"/>
          </a:p>
        </p:txBody>
      </p:sp>
      <p:sp>
        <p:nvSpPr>
          <p:cNvPr id="6" name="TextBox 5">
            <a:extLst>
              <a:ext uri="{FF2B5EF4-FFF2-40B4-BE49-F238E27FC236}">
                <a16:creationId xmlns:a16="http://schemas.microsoft.com/office/drawing/2014/main" id="{CE92A281-7B86-1698-5BCB-7110E9CCC416}"/>
              </a:ext>
            </a:extLst>
          </p:cNvPr>
          <p:cNvSpPr txBox="1"/>
          <p:nvPr/>
        </p:nvSpPr>
        <p:spPr>
          <a:xfrm>
            <a:off x="8240486" y="1106521"/>
            <a:ext cx="3298372" cy="5309146"/>
          </a:xfrm>
          <a:prstGeom prst="rect">
            <a:avLst/>
          </a:prstGeom>
          <a:noFill/>
        </p:spPr>
        <p:txBody>
          <a:bodyPr wrap="square">
            <a:spAutoFit/>
          </a:bodyPr>
          <a:lstStyle/>
          <a:p>
            <a:pPr algn="l" fontAlgn="base">
              <a:spcBef>
                <a:spcPts val="1800"/>
              </a:spcBef>
              <a:spcAft>
                <a:spcPts val="1800"/>
              </a:spcAft>
              <a:buNone/>
            </a:pPr>
            <a:r>
              <a:rPr lang="en-US" b="1" i="0" dirty="0">
                <a:effectLst/>
                <a:latin typeface="Nunito" pitchFamily="2" charset="0"/>
              </a:rPr>
              <a:t>How does Kafka handle message ordering across multiple partitions?</a:t>
            </a:r>
          </a:p>
          <a:p>
            <a:pPr algn="l" rtl="0" fontAlgn="base">
              <a:spcAft>
                <a:spcPts val="750"/>
              </a:spcAft>
            </a:pPr>
            <a:r>
              <a:rPr lang="en-US" b="0" i="0" dirty="0">
                <a:effectLst/>
                <a:latin typeface="Nunito" pitchFamily="2" charset="0"/>
              </a:rPr>
              <a:t>Kafka only guarantees message ordering within a single partition. Across multiple partitions, there is no guarantee of message ordering. If global ordering is required, it's typically achieved by using a single partition for the topic, but this limits scalability. For use cases requiring ordering and scalability, it's common to use a partition key that ensures related messages go to the same partition.</a:t>
            </a:r>
          </a:p>
        </p:txBody>
      </p:sp>
    </p:spTree>
    <p:extLst>
      <p:ext uri="{BB962C8B-B14F-4D97-AF65-F5344CB8AC3E}">
        <p14:creationId xmlns:p14="http://schemas.microsoft.com/office/powerpoint/2010/main" val="7157609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11026"/>
          </a:xfrm>
        </p:spPr>
        <p:txBody>
          <a:bodyPr>
            <a:normAutofit fontScale="90000"/>
          </a:bodyPr>
          <a:lstStyle/>
          <a:p>
            <a:r>
              <a:rPr lang="en-US" dirty="0"/>
              <a:t>Partitions</a:t>
            </a:r>
          </a:p>
        </p:txBody>
      </p:sp>
      <p:sp>
        <p:nvSpPr>
          <p:cNvPr id="5" name="Slide Number Placeholder 4"/>
          <p:cNvSpPr>
            <a:spLocks noGrp="1"/>
          </p:cNvSpPr>
          <p:nvPr>
            <p:ph type="sldNum" sz="quarter" idx="12"/>
          </p:nvPr>
        </p:nvSpPr>
        <p:spPr>
          <a:xfrm>
            <a:off x="10198100" y="6537323"/>
            <a:ext cx="355600" cy="152400"/>
          </a:xfrm>
        </p:spPr>
        <p:txBody>
          <a:bodyPr/>
          <a:lstStyle/>
          <a:p>
            <a:fld id="{407C8B75-4858-41E6-BEC3-A0853FA4AC5B}" type="slidenum">
              <a:rPr lang="en-US" smtClean="0"/>
              <a:pPr/>
              <a:t>9</a:t>
            </a:fld>
            <a:endParaRPr lang="en-US" dirty="0"/>
          </a:p>
        </p:txBody>
      </p:sp>
      <p:sp>
        <p:nvSpPr>
          <p:cNvPr id="35" name="Content Placeholder 2"/>
          <p:cNvSpPr>
            <a:spLocks noGrp="1"/>
          </p:cNvSpPr>
          <p:nvPr>
            <p:ph idx="1"/>
          </p:nvPr>
        </p:nvSpPr>
        <p:spPr>
          <a:xfrm>
            <a:off x="1981200" y="1078992"/>
            <a:ext cx="8229600" cy="5255490"/>
          </a:xfrm>
        </p:spPr>
        <p:txBody>
          <a:bodyPr>
            <a:normAutofit/>
          </a:bodyPr>
          <a:lstStyle/>
          <a:p>
            <a:r>
              <a:rPr lang="en-US" sz="2400" dirty="0"/>
              <a:t>#partitions of a topic is configurable</a:t>
            </a:r>
          </a:p>
          <a:p>
            <a:r>
              <a:rPr lang="en-US" sz="2400" dirty="0"/>
              <a:t>#partitions determines </a:t>
            </a:r>
            <a:r>
              <a:rPr lang="en-US" sz="2400" b="1" dirty="0"/>
              <a:t>max</a:t>
            </a:r>
            <a:r>
              <a:rPr lang="en-US" sz="2400" dirty="0"/>
              <a:t> consumer (group) parallelism</a:t>
            </a:r>
          </a:p>
          <a:p>
            <a:pPr lvl="1"/>
            <a:r>
              <a:rPr lang="en-US" sz="2000" dirty="0"/>
              <a:t>cf. parallelism of Storm’s KafkaSpout via </a:t>
            </a:r>
            <a:r>
              <a:rPr lang="en-US" sz="1400" dirty="0">
                <a:latin typeface="Consolas"/>
                <a:cs typeface="Consolas"/>
              </a:rPr>
              <a:t>builder.setSpout(,,</a:t>
            </a:r>
            <a:r>
              <a:rPr lang="en-US" sz="1400" i="1" dirty="0">
                <a:latin typeface="Consolas"/>
                <a:cs typeface="Consolas"/>
              </a:rPr>
              <a:t>N</a:t>
            </a:r>
            <a:r>
              <a:rPr lang="en-US" sz="1400" dirty="0">
                <a:latin typeface="Consolas"/>
                <a:cs typeface="Consolas"/>
              </a:rPr>
              <a:t>)</a:t>
            </a:r>
          </a:p>
          <a:p>
            <a:pPr lvl="1"/>
            <a:endParaRPr lang="en-US" sz="1400" dirty="0">
              <a:latin typeface="Consolas"/>
              <a:cs typeface="Consolas"/>
            </a:endParaRPr>
          </a:p>
          <a:p>
            <a:pPr lvl="1"/>
            <a:endParaRPr lang="en-US" sz="1400" dirty="0">
              <a:latin typeface="Consolas"/>
              <a:cs typeface="Consolas"/>
            </a:endParaRPr>
          </a:p>
          <a:p>
            <a:pPr lvl="1"/>
            <a:endParaRPr lang="en-US" sz="1400" dirty="0">
              <a:latin typeface="Consolas"/>
              <a:cs typeface="Consolas"/>
            </a:endParaRPr>
          </a:p>
          <a:p>
            <a:pPr lvl="1"/>
            <a:endParaRPr lang="en-US" sz="1400" dirty="0">
              <a:latin typeface="Consolas"/>
              <a:cs typeface="Consolas"/>
            </a:endParaRPr>
          </a:p>
          <a:p>
            <a:pPr lvl="1"/>
            <a:endParaRPr lang="en-US" sz="1400" dirty="0">
              <a:latin typeface="Consolas"/>
              <a:cs typeface="Consolas"/>
            </a:endParaRPr>
          </a:p>
          <a:p>
            <a:pPr lvl="1"/>
            <a:endParaRPr lang="en-US" sz="1400" dirty="0">
              <a:latin typeface="Consolas"/>
              <a:cs typeface="Consolas"/>
            </a:endParaRPr>
          </a:p>
          <a:p>
            <a:pPr lvl="1"/>
            <a:endParaRPr lang="en-US" sz="1400" dirty="0">
              <a:latin typeface="Consolas"/>
              <a:cs typeface="Consolas"/>
            </a:endParaRPr>
          </a:p>
          <a:p>
            <a:pPr lvl="1"/>
            <a:endParaRPr lang="en-US" sz="1400" dirty="0">
              <a:latin typeface="Consolas"/>
              <a:cs typeface="Consolas"/>
            </a:endParaRPr>
          </a:p>
          <a:p>
            <a:pPr lvl="1"/>
            <a:endParaRPr lang="en-US" sz="1400" dirty="0">
              <a:latin typeface="Consolas"/>
              <a:cs typeface="Consolas"/>
            </a:endParaRPr>
          </a:p>
          <a:p>
            <a:pPr lvl="1"/>
            <a:endParaRPr lang="en-US" sz="1400" dirty="0">
              <a:latin typeface="Consolas"/>
              <a:cs typeface="Consolas"/>
            </a:endParaRPr>
          </a:p>
          <a:p>
            <a:pPr lvl="1"/>
            <a:endParaRPr lang="en-US" sz="1400" dirty="0">
              <a:latin typeface="Consolas"/>
              <a:cs typeface="Consolas"/>
            </a:endParaRPr>
          </a:p>
          <a:p>
            <a:pPr lvl="1"/>
            <a:endParaRPr lang="en-US" sz="1400" dirty="0">
              <a:latin typeface="Consolas"/>
              <a:cs typeface="Consolas"/>
            </a:endParaRPr>
          </a:p>
          <a:p>
            <a:pPr lvl="1"/>
            <a:r>
              <a:rPr lang="en-US" sz="1400" dirty="0">
                <a:latin typeface="Helvetica"/>
                <a:cs typeface="Helvetica"/>
              </a:rPr>
              <a:t>Consumer group A, with 2 consumers, reads from a 4-partition topic</a:t>
            </a:r>
          </a:p>
          <a:p>
            <a:pPr lvl="1"/>
            <a:r>
              <a:rPr lang="en-US" sz="1400" dirty="0">
                <a:latin typeface="Helvetica"/>
                <a:cs typeface="Helvetica"/>
              </a:rPr>
              <a:t>Consumer group B, with 4 consumers, reads from the same topic</a:t>
            </a:r>
            <a:endParaRPr lang="en-US" sz="1800" dirty="0">
              <a:latin typeface="Helvetica"/>
              <a:cs typeface="Helvetica"/>
            </a:endParaRPr>
          </a:p>
        </p:txBody>
      </p:sp>
      <p:pic>
        <p:nvPicPr>
          <p:cNvPr id="3" name="Picture 2"/>
          <p:cNvPicPr>
            <a:picLocks noChangeAspect="1"/>
          </p:cNvPicPr>
          <p:nvPr/>
        </p:nvPicPr>
        <p:blipFill>
          <a:blip r:embed="rId2"/>
          <a:stretch>
            <a:fillRect/>
          </a:stretch>
        </p:blipFill>
        <p:spPr>
          <a:xfrm>
            <a:off x="3366593" y="2648401"/>
            <a:ext cx="4948137" cy="2630655"/>
          </a:xfrm>
          <a:prstGeom prst="rect">
            <a:avLst/>
          </a:prstGeom>
        </p:spPr>
      </p:pic>
    </p:spTree>
    <p:extLst>
      <p:ext uri="{BB962C8B-B14F-4D97-AF65-F5344CB8AC3E}">
        <p14:creationId xmlns:p14="http://schemas.microsoft.com/office/powerpoint/2010/main" val="834664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365126"/>
          </a:xfrm>
        </p:spPr>
        <p:txBody>
          <a:bodyPr>
            <a:normAutofit fontScale="90000"/>
          </a:bodyPr>
          <a:lstStyle/>
          <a:p>
            <a:r>
              <a:rPr lang="en-US" dirty="0"/>
              <a:t>Partition offsets</a:t>
            </a:r>
          </a:p>
        </p:txBody>
      </p:sp>
      <p:sp>
        <p:nvSpPr>
          <p:cNvPr id="5" name="Slide Number Placeholder 4"/>
          <p:cNvSpPr>
            <a:spLocks noGrp="1"/>
          </p:cNvSpPr>
          <p:nvPr>
            <p:ph type="sldNum" sz="quarter" idx="12"/>
          </p:nvPr>
        </p:nvSpPr>
        <p:spPr/>
        <p:txBody>
          <a:bodyPr/>
          <a:lstStyle/>
          <a:p>
            <a:fld id="{407C8B75-4858-41E6-BEC3-A0853FA4AC5B}" type="slidenum">
              <a:rPr lang="en-US" smtClean="0"/>
              <a:pPr/>
              <a:t>10</a:t>
            </a:fld>
            <a:endParaRPr lang="en-US" dirty="0"/>
          </a:p>
        </p:txBody>
      </p:sp>
      <p:sp>
        <p:nvSpPr>
          <p:cNvPr id="35" name="Content Placeholder 2"/>
          <p:cNvSpPr>
            <a:spLocks noGrp="1"/>
          </p:cNvSpPr>
          <p:nvPr>
            <p:ph idx="1"/>
          </p:nvPr>
        </p:nvSpPr>
        <p:spPr>
          <a:xfrm>
            <a:off x="1981200" y="1078992"/>
            <a:ext cx="8229600" cy="5255490"/>
          </a:xfrm>
        </p:spPr>
        <p:txBody>
          <a:bodyPr>
            <a:normAutofit/>
          </a:bodyPr>
          <a:lstStyle/>
          <a:p>
            <a:r>
              <a:rPr lang="en-US" sz="2400" b="1" dirty="0"/>
              <a:t>Offset</a:t>
            </a:r>
            <a:r>
              <a:rPr lang="en-US" sz="2400" dirty="0"/>
              <a:t>:  messages in the partitions are each assigned a unique (per partition) and sequential id called the </a:t>
            </a:r>
            <a:r>
              <a:rPr lang="en-US" sz="2400" i="1" dirty="0"/>
              <a:t>offset</a:t>
            </a:r>
            <a:endParaRPr lang="en-US" sz="2400" dirty="0"/>
          </a:p>
          <a:p>
            <a:pPr lvl="1"/>
            <a:r>
              <a:rPr lang="en-US" sz="2000" dirty="0"/>
              <a:t>Consumers track their pointers via </a:t>
            </a:r>
            <a:r>
              <a:rPr lang="en-US" sz="2000" i="1" dirty="0"/>
              <a:t>(offset, partition, topic)</a:t>
            </a:r>
            <a:r>
              <a:rPr lang="en-US" sz="2000" dirty="0"/>
              <a:t> tuples</a:t>
            </a:r>
            <a:endParaRPr lang="en-US" sz="2000" i="1" dirty="0">
              <a:sym typeface="Wingdings"/>
            </a:endParaRPr>
          </a:p>
        </p:txBody>
      </p:sp>
      <p:pic>
        <p:nvPicPr>
          <p:cNvPr id="38" name="Picture 37"/>
          <p:cNvPicPr>
            <a:picLocks noChangeAspect="1"/>
          </p:cNvPicPr>
          <p:nvPr/>
        </p:nvPicPr>
        <p:blipFill rotWithShape="1">
          <a:blip r:embed="rId2"/>
          <a:srcRect t="18031"/>
          <a:stretch/>
        </p:blipFill>
        <p:spPr>
          <a:xfrm>
            <a:off x="3647669" y="3495402"/>
            <a:ext cx="4642916" cy="2442611"/>
          </a:xfrm>
          <a:prstGeom prst="rect">
            <a:avLst/>
          </a:prstGeom>
        </p:spPr>
      </p:pic>
      <p:grpSp>
        <p:nvGrpSpPr>
          <p:cNvPr id="16" name="Group 15"/>
          <p:cNvGrpSpPr/>
          <p:nvPr/>
        </p:nvGrpSpPr>
        <p:grpSpPr>
          <a:xfrm>
            <a:off x="2486370" y="2483723"/>
            <a:ext cx="2837328" cy="2950185"/>
            <a:chOff x="962370" y="2483722"/>
            <a:chExt cx="2837328" cy="2950185"/>
          </a:xfrm>
        </p:grpSpPr>
        <p:sp>
          <p:nvSpPr>
            <p:cNvPr id="39" name="TextBox 38"/>
            <p:cNvSpPr txBox="1"/>
            <p:nvPr/>
          </p:nvSpPr>
          <p:spPr>
            <a:xfrm>
              <a:off x="962370" y="2483722"/>
              <a:ext cx="1626086" cy="307777"/>
            </a:xfrm>
            <a:prstGeom prst="rect">
              <a:avLst/>
            </a:prstGeom>
            <a:noFill/>
          </p:spPr>
          <p:txBody>
            <a:bodyPr wrap="none" rtlCol="0">
              <a:spAutoFit/>
            </a:bodyPr>
            <a:lstStyle/>
            <a:p>
              <a:pPr algn="ctr"/>
              <a:r>
                <a:rPr lang="en-US" sz="1400" dirty="0"/>
                <a:t>Consumer group C1</a:t>
              </a:r>
            </a:p>
          </p:txBody>
        </p:sp>
        <p:cxnSp>
          <p:nvCxnSpPr>
            <p:cNvPr id="41" name="Elbow Connector 40"/>
            <p:cNvCxnSpPr>
              <a:stCxn id="39" idx="3"/>
            </p:cNvCxnSpPr>
            <p:nvPr/>
          </p:nvCxnSpPr>
          <p:spPr>
            <a:xfrm>
              <a:off x="2588456" y="2637611"/>
              <a:ext cx="764344" cy="943789"/>
            </a:xfrm>
            <a:prstGeom prst="bentConnector2">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42" name="Elbow Connector 41"/>
            <p:cNvCxnSpPr/>
            <p:nvPr/>
          </p:nvCxnSpPr>
          <p:spPr>
            <a:xfrm rot="16200000" flipH="1">
              <a:off x="2089379" y="3224286"/>
              <a:ext cx="1630746" cy="457396"/>
            </a:xfrm>
            <a:prstGeom prst="bentConnector3">
              <a:avLst>
                <a:gd name="adj1" fmla="val 205"/>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43" name="Elbow Connector 42"/>
            <p:cNvCxnSpPr/>
            <p:nvPr/>
          </p:nvCxnSpPr>
          <p:spPr>
            <a:xfrm rot="16200000" flipH="1">
              <a:off x="2030602" y="3269642"/>
              <a:ext cx="2320856" cy="1029953"/>
            </a:xfrm>
            <a:prstGeom prst="bentConnector3">
              <a:avLst>
                <a:gd name="adj1" fmla="val 475"/>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3060578" y="4320408"/>
              <a:ext cx="187383" cy="457923"/>
            </a:xfrm>
            <a:prstGeom prst="rect">
              <a:avLst/>
            </a:prstGeom>
            <a:no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53" name="Rectangle 52"/>
            <p:cNvSpPr/>
            <p:nvPr/>
          </p:nvSpPr>
          <p:spPr>
            <a:xfrm>
              <a:off x="3612315" y="4975984"/>
              <a:ext cx="187383" cy="457923"/>
            </a:xfrm>
            <a:prstGeom prst="rect">
              <a:avLst/>
            </a:prstGeom>
            <a:no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54" name="Rectangle 53"/>
            <p:cNvSpPr/>
            <p:nvPr/>
          </p:nvSpPr>
          <p:spPr>
            <a:xfrm>
              <a:off x="3238288" y="3663952"/>
              <a:ext cx="187383" cy="457923"/>
            </a:xfrm>
            <a:prstGeom prst="rect">
              <a:avLst/>
            </a:prstGeom>
            <a:no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grpSp>
    </p:spTree>
    <p:extLst>
      <p:ext uri="{BB962C8B-B14F-4D97-AF65-F5344CB8AC3E}">
        <p14:creationId xmlns:p14="http://schemas.microsoft.com/office/powerpoint/2010/main" val="578954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Replicas of a partition</a:t>
            </a:r>
          </a:p>
        </p:txBody>
      </p:sp>
      <p:sp>
        <p:nvSpPr>
          <p:cNvPr id="35" name="Content Placeholder 2"/>
          <p:cNvSpPr>
            <a:spLocks noGrp="1"/>
          </p:cNvSpPr>
          <p:nvPr>
            <p:ph idx="1"/>
          </p:nvPr>
        </p:nvSpPr>
        <p:spPr/>
        <p:txBody>
          <a:bodyPr/>
          <a:lstStyle/>
          <a:p>
            <a:r>
              <a:rPr lang="en-US" b="1" dirty="0"/>
              <a:t>Replicas: </a:t>
            </a:r>
            <a:r>
              <a:rPr lang="en-US" dirty="0"/>
              <a:t>“backups” of a partition</a:t>
            </a:r>
          </a:p>
          <a:p>
            <a:pPr lvl="1"/>
            <a:r>
              <a:rPr lang="en-US" dirty="0">
                <a:sym typeface="Wingdings"/>
              </a:rPr>
              <a:t>They exist solely to prevent data loss.</a:t>
            </a:r>
          </a:p>
          <a:p>
            <a:pPr lvl="1"/>
            <a:r>
              <a:rPr lang="en-US" dirty="0">
                <a:sym typeface="Wingdings"/>
              </a:rPr>
              <a:t>Replicas are never read from, never written to.</a:t>
            </a:r>
          </a:p>
          <a:p>
            <a:pPr lvl="2"/>
            <a:r>
              <a:rPr lang="en-US" dirty="0">
                <a:sym typeface="Wingdings"/>
              </a:rPr>
              <a:t>They do NOT help to increase producer or consumer parallelism!</a:t>
            </a:r>
          </a:p>
          <a:p>
            <a:pPr lvl="1"/>
            <a:r>
              <a:rPr lang="en-US" dirty="0">
                <a:sym typeface="Wingdings"/>
              </a:rPr>
              <a:t>Kafka tolerates </a:t>
            </a:r>
            <a:r>
              <a:rPr lang="en-US" i="1" dirty="0">
                <a:sym typeface="Wingdings"/>
              </a:rPr>
              <a:t>(numReplicas - 1)</a:t>
            </a:r>
            <a:r>
              <a:rPr lang="en-US" dirty="0">
                <a:sym typeface="Wingdings"/>
              </a:rPr>
              <a:t> dead brokers before losing data</a:t>
            </a:r>
          </a:p>
          <a:p>
            <a:pPr lvl="2"/>
            <a:r>
              <a:rPr lang="en-US" dirty="0">
                <a:sym typeface="Wingdings"/>
              </a:rPr>
              <a:t>LinkedIn: numReplicas == 2  1 broker can die</a:t>
            </a:r>
          </a:p>
        </p:txBody>
      </p:sp>
      <p:sp>
        <p:nvSpPr>
          <p:cNvPr id="5" name="Slide Number Placeholder 4"/>
          <p:cNvSpPr>
            <a:spLocks noGrp="1"/>
          </p:cNvSpPr>
          <p:nvPr>
            <p:ph type="sldNum" sz="quarter" idx="12"/>
          </p:nvPr>
        </p:nvSpPr>
        <p:spPr/>
        <p:txBody>
          <a:bodyPr/>
          <a:lstStyle/>
          <a:p>
            <a:fld id="{407C8B75-4858-41E6-BEC3-A0853FA4AC5B}" type="slidenum">
              <a:rPr lang="en-US" smtClean="0"/>
              <a:pPr/>
              <a:t>11</a:t>
            </a:fld>
            <a:endParaRPr lang="en-US" dirty="0"/>
          </a:p>
        </p:txBody>
      </p:sp>
    </p:spTree>
    <p:extLst>
      <p:ext uri="{BB962C8B-B14F-4D97-AF65-F5344CB8AC3E}">
        <p14:creationId xmlns:p14="http://schemas.microsoft.com/office/powerpoint/2010/main" val="40005040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757" y="-5669"/>
            <a:ext cx="10880272" cy="346141"/>
          </a:xfrm>
        </p:spPr>
        <p:txBody>
          <a:bodyPr>
            <a:noAutofit/>
          </a:bodyPr>
          <a:lstStyle/>
          <a:p>
            <a:r>
              <a:rPr lang="en-US" sz="2000" dirty="0"/>
              <a:t>Sample implementation - </a:t>
            </a:r>
            <a:r>
              <a:rPr lang="en-US" sz="2000" dirty="0">
                <a:hlinkClick r:id="rId2"/>
              </a:rPr>
              <a:t>https://github.com/as6485/springkafka</a:t>
            </a:r>
            <a:r>
              <a:rPr lang="en-US" sz="2000" dirty="0"/>
              <a:t> </a:t>
            </a:r>
          </a:p>
        </p:txBody>
      </p:sp>
      <p:sp>
        <p:nvSpPr>
          <p:cNvPr id="5" name="Slide Number Placeholder 4"/>
          <p:cNvSpPr>
            <a:spLocks noGrp="1"/>
          </p:cNvSpPr>
          <p:nvPr>
            <p:ph type="sldNum" sz="quarter" idx="12"/>
          </p:nvPr>
        </p:nvSpPr>
        <p:spPr/>
        <p:txBody>
          <a:bodyPr/>
          <a:lstStyle/>
          <a:p>
            <a:fld id="{407C8B75-4858-41E6-BEC3-A0853FA4AC5B}" type="slidenum">
              <a:rPr lang="en-US" smtClean="0"/>
              <a:pPr/>
              <a:t>12</a:t>
            </a:fld>
            <a:endParaRPr lang="en-US" dirty="0"/>
          </a:p>
        </p:txBody>
      </p:sp>
      <p:pic>
        <p:nvPicPr>
          <p:cNvPr id="11" name="Picture 10">
            <a:extLst>
              <a:ext uri="{FF2B5EF4-FFF2-40B4-BE49-F238E27FC236}">
                <a16:creationId xmlns:a16="http://schemas.microsoft.com/office/drawing/2014/main" id="{9397D17D-A685-1330-A624-106038726F45}"/>
              </a:ext>
            </a:extLst>
          </p:cNvPr>
          <p:cNvPicPr>
            <a:picLocks noChangeAspect="1"/>
          </p:cNvPicPr>
          <p:nvPr/>
        </p:nvPicPr>
        <p:blipFill>
          <a:blip r:embed="rId3"/>
          <a:stretch>
            <a:fillRect/>
          </a:stretch>
        </p:blipFill>
        <p:spPr>
          <a:xfrm>
            <a:off x="185058" y="523035"/>
            <a:ext cx="10765971" cy="6015877"/>
          </a:xfrm>
          <a:prstGeom prst="rect">
            <a:avLst/>
          </a:prstGeom>
        </p:spPr>
      </p:pic>
    </p:spTree>
    <p:extLst>
      <p:ext uri="{BB962C8B-B14F-4D97-AF65-F5344CB8AC3E}">
        <p14:creationId xmlns:p14="http://schemas.microsoft.com/office/powerpoint/2010/main" val="31353247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79161"/>
          </a:xfrm>
        </p:spPr>
        <p:txBody>
          <a:bodyPr>
            <a:normAutofit fontScale="90000"/>
          </a:bodyPr>
          <a:lstStyle/>
          <a:p>
            <a:pPr algn="l"/>
            <a:r>
              <a:rPr lang="en-IN" b="0" i="0" dirty="0">
                <a:solidFill>
                  <a:srgbClr val="272C37"/>
                </a:solidFill>
                <a:effectLst/>
                <a:latin typeface="Roboto" panose="02000000000000000000" pitchFamily="2" charset="0"/>
              </a:rPr>
              <a:t>RabbitMQ vs Kafka</a:t>
            </a:r>
          </a:p>
        </p:txBody>
      </p:sp>
      <p:sp>
        <p:nvSpPr>
          <p:cNvPr id="5" name="Slide Number Placeholder 4"/>
          <p:cNvSpPr>
            <a:spLocks noGrp="1"/>
          </p:cNvSpPr>
          <p:nvPr>
            <p:ph type="sldNum" sz="quarter" idx="12"/>
          </p:nvPr>
        </p:nvSpPr>
        <p:spPr/>
        <p:txBody>
          <a:bodyPr/>
          <a:lstStyle/>
          <a:p>
            <a:fld id="{407C8B75-4858-41E6-BEC3-A0853FA4AC5B}" type="slidenum">
              <a:rPr lang="en-US" smtClean="0"/>
              <a:pPr/>
              <a:t>13</a:t>
            </a:fld>
            <a:endParaRPr lang="en-US" dirty="0"/>
          </a:p>
        </p:txBody>
      </p:sp>
      <p:graphicFrame>
        <p:nvGraphicFramePr>
          <p:cNvPr id="6" name="Table 5">
            <a:extLst>
              <a:ext uri="{FF2B5EF4-FFF2-40B4-BE49-F238E27FC236}">
                <a16:creationId xmlns:a16="http://schemas.microsoft.com/office/drawing/2014/main" id="{5B2A31A4-711A-A699-0352-8E234C6066E7}"/>
              </a:ext>
            </a:extLst>
          </p:cNvPr>
          <p:cNvGraphicFramePr>
            <a:graphicFrameLocks noGrp="1"/>
          </p:cNvGraphicFramePr>
          <p:nvPr>
            <p:extLst>
              <p:ext uri="{D42A27DB-BD31-4B8C-83A1-F6EECF244321}">
                <p14:modId xmlns:p14="http://schemas.microsoft.com/office/powerpoint/2010/main" val="3612233355"/>
              </p:ext>
            </p:extLst>
          </p:nvPr>
        </p:nvGraphicFramePr>
        <p:xfrm>
          <a:off x="932542" y="761999"/>
          <a:ext cx="10671630" cy="5699760"/>
        </p:xfrm>
        <a:graphic>
          <a:graphicData uri="http://schemas.openxmlformats.org/drawingml/2006/table">
            <a:tbl>
              <a:tblPr firstRow="1" bandRow="1">
                <a:tableStyleId>{5C22544A-7EE6-4342-B048-85BDC9FD1C3A}</a:tableStyleId>
              </a:tblPr>
              <a:tblGrid>
                <a:gridCol w="3557210">
                  <a:extLst>
                    <a:ext uri="{9D8B030D-6E8A-4147-A177-3AD203B41FA5}">
                      <a16:colId xmlns:a16="http://schemas.microsoft.com/office/drawing/2014/main" val="1774579816"/>
                    </a:ext>
                  </a:extLst>
                </a:gridCol>
                <a:gridCol w="3557210">
                  <a:extLst>
                    <a:ext uri="{9D8B030D-6E8A-4147-A177-3AD203B41FA5}">
                      <a16:colId xmlns:a16="http://schemas.microsoft.com/office/drawing/2014/main" val="876463231"/>
                    </a:ext>
                  </a:extLst>
                </a:gridCol>
                <a:gridCol w="3557210">
                  <a:extLst>
                    <a:ext uri="{9D8B030D-6E8A-4147-A177-3AD203B41FA5}">
                      <a16:colId xmlns:a16="http://schemas.microsoft.com/office/drawing/2014/main" val="2549872033"/>
                    </a:ext>
                  </a:extLst>
                </a:gridCol>
              </a:tblGrid>
              <a:tr h="165220">
                <a:tc>
                  <a:txBody>
                    <a:bodyPr/>
                    <a:lstStyle/>
                    <a:p>
                      <a:endParaRPr lang="en-IN" dirty="0"/>
                    </a:p>
                  </a:txBody>
                  <a:tcPr/>
                </a:tc>
                <a:tc>
                  <a:txBody>
                    <a:bodyPr/>
                    <a:lstStyle/>
                    <a:p>
                      <a:r>
                        <a:rPr lang="en-IN" dirty="0"/>
                        <a:t>RabbitMQ</a:t>
                      </a:r>
                    </a:p>
                  </a:txBody>
                  <a:tcPr/>
                </a:tc>
                <a:tc>
                  <a:txBody>
                    <a:bodyPr/>
                    <a:lstStyle/>
                    <a:p>
                      <a:r>
                        <a:rPr lang="en-IN" dirty="0"/>
                        <a:t>Kafka</a:t>
                      </a:r>
                    </a:p>
                  </a:txBody>
                  <a:tcPr/>
                </a:tc>
                <a:extLst>
                  <a:ext uri="{0D108BD9-81ED-4DB2-BD59-A6C34878D82A}">
                    <a16:rowId xmlns:a16="http://schemas.microsoft.com/office/drawing/2014/main" val="2316238321"/>
                  </a:ext>
                </a:extLst>
              </a:tr>
              <a:tr h="370840">
                <a:tc>
                  <a:txBody>
                    <a:bodyPr/>
                    <a:lstStyle/>
                    <a:p>
                      <a:pPr algn="ctr"/>
                      <a:r>
                        <a:rPr lang="en-IN" sz="1800" b="0" i="0" kern="1200" dirty="0">
                          <a:solidFill>
                            <a:schemeClr val="dk1"/>
                          </a:solidFill>
                          <a:effectLst/>
                          <a:latin typeface="+mn-lt"/>
                          <a:ea typeface="+mn-ea"/>
                          <a:cs typeface="+mn-cs"/>
                        </a:rPr>
                        <a:t>Architecture</a:t>
                      </a:r>
                      <a:endParaRPr lang="en-IN" b="0" i="0" dirty="0">
                        <a:solidFill>
                          <a:srgbClr val="51565E"/>
                        </a:solidFill>
                        <a:effectLst/>
                        <a:latin typeface="Roboto" panose="02000000000000000000" pitchFamily="2" charset="0"/>
                      </a:endParaRPr>
                    </a:p>
                  </a:txBody>
                  <a:tcPr marL="76200" marR="76200" marT="101600" marB="101600" anchor="ctr"/>
                </a:tc>
                <a:tc>
                  <a:txBody>
                    <a:bodyPr/>
                    <a:lstStyle/>
                    <a:p>
                      <a:pPr algn="ctr"/>
                      <a:r>
                        <a:rPr lang="en-US" b="0" i="0" dirty="0">
                          <a:solidFill>
                            <a:srgbClr val="51565E"/>
                          </a:solidFill>
                          <a:effectLst/>
                          <a:latin typeface="Roboto" panose="02000000000000000000" pitchFamily="2" charset="0"/>
                        </a:rPr>
                        <a:t>Supports complex architecture Exchange type: Direct, Fan out, Topic, Header-based</a:t>
                      </a:r>
                    </a:p>
                  </a:txBody>
                  <a:tcPr marL="76200" marR="76200" marT="101600" marB="101600" anchor="ctr"/>
                </a:tc>
                <a:tc>
                  <a:txBody>
                    <a:bodyPr/>
                    <a:lstStyle/>
                    <a:p>
                      <a:pPr algn="ctr"/>
                      <a:r>
                        <a:rPr lang="en-IN" b="0" i="0" dirty="0">
                          <a:solidFill>
                            <a:srgbClr val="51565E"/>
                          </a:solidFill>
                          <a:effectLst/>
                          <a:latin typeface="Roboto" panose="02000000000000000000" pitchFamily="2" charset="0"/>
                        </a:rPr>
                        <a:t>Publish/subscribe based</a:t>
                      </a:r>
                    </a:p>
                  </a:txBody>
                  <a:tcPr marL="76200" marR="76200" marT="101600" marB="101600" anchor="ctr"/>
                </a:tc>
                <a:extLst>
                  <a:ext uri="{0D108BD9-81ED-4DB2-BD59-A6C34878D82A}">
                    <a16:rowId xmlns:a16="http://schemas.microsoft.com/office/drawing/2014/main" val="3086784717"/>
                  </a:ext>
                </a:extLst>
              </a:tr>
              <a:tr h="370840">
                <a:tc>
                  <a:txBody>
                    <a:bodyPr/>
                    <a:lstStyle/>
                    <a:p>
                      <a:pPr algn="ctr"/>
                      <a:r>
                        <a:rPr lang="en-IN" b="0" i="0" dirty="0">
                          <a:solidFill>
                            <a:srgbClr val="51565E"/>
                          </a:solidFill>
                          <a:effectLst/>
                          <a:latin typeface="Roboto" panose="02000000000000000000" pitchFamily="2" charset="0"/>
                        </a:rPr>
                        <a:t>Performance</a:t>
                      </a:r>
                    </a:p>
                  </a:txBody>
                  <a:tcPr marL="76200" marR="76200" marT="101600" marB="101600" anchor="ctr"/>
                </a:tc>
                <a:tc>
                  <a:txBody>
                    <a:bodyPr/>
                    <a:lstStyle/>
                    <a:p>
                      <a:pPr algn="ctr"/>
                      <a:r>
                        <a:rPr lang="en-IN" b="1" i="0" dirty="0">
                          <a:solidFill>
                            <a:srgbClr val="51565E"/>
                          </a:solidFill>
                          <a:effectLst/>
                          <a:latin typeface="Roboto" panose="02000000000000000000" pitchFamily="2" charset="0"/>
                        </a:rPr>
                        <a:t>4K-10K messages per second</a:t>
                      </a:r>
                    </a:p>
                  </a:txBody>
                  <a:tcPr marL="76200" marR="76200" marT="101600" marB="101600" anchor="ctr"/>
                </a:tc>
                <a:tc>
                  <a:txBody>
                    <a:bodyPr/>
                    <a:lstStyle/>
                    <a:p>
                      <a:pPr algn="ctr"/>
                      <a:r>
                        <a:rPr lang="fr-FR" b="1" i="0" dirty="0">
                          <a:solidFill>
                            <a:srgbClr val="51565E"/>
                          </a:solidFill>
                          <a:effectLst/>
                          <a:latin typeface="Roboto" panose="02000000000000000000" pitchFamily="2" charset="0"/>
                        </a:rPr>
                        <a:t>1 million messages per second</a:t>
                      </a:r>
                    </a:p>
                  </a:txBody>
                  <a:tcPr marL="76200" marR="76200" marT="101600" marB="101600" anchor="ctr"/>
                </a:tc>
                <a:extLst>
                  <a:ext uri="{0D108BD9-81ED-4DB2-BD59-A6C34878D82A}">
                    <a16:rowId xmlns:a16="http://schemas.microsoft.com/office/drawing/2014/main" val="737343747"/>
                  </a:ext>
                </a:extLst>
              </a:tr>
              <a:tr h="370840">
                <a:tc>
                  <a:txBody>
                    <a:bodyPr/>
                    <a:lstStyle/>
                    <a:p>
                      <a:pPr algn="ctr"/>
                      <a:r>
                        <a:rPr lang="en-IN" b="0" i="0" dirty="0">
                          <a:solidFill>
                            <a:srgbClr val="51565E"/>
                          </a:solidFill>
                          <a:effectLst/>
                          <a:latin typeface="Roboto" panose="02000000000000000000" pitchFamily="2" charset="0"/>
                        </a:rPr>
                        <a:t>Consumer Mode</a:t>
                      </a:r>
                    </a:p>
                  </a:txBody>
                  <a:tcPr marL="76200" marR="76200" marT="101600" marB="101600" anchor="ctr"/>
                </a:tc>
                <a:tc>
                  <a:txBody>
                    <a:bodyPr/>
                    <a:lstStyle/>
                    <a:p>
                      <a:pPr algn="ctr"/>
                      <a:r>
                        <a:rPr lang="en-IN" b="0" i="0" dirty="0">
                          <a:solidFill>
                            <a:srgbClr val="51565E"/>
                          </a:solidFill>
                          <a:effectLst/>
                          <a:latin typeface="Roboto" panose="02000000000000000000" pitchFamily="2" charset="0"/>
                        </a:rPr>
                        <a:t>Smart broker/dumb consumer</a:t>
                      </a:r>
                    </a:p>
                  </a:txBody>
                  <a:tcPr marL="76200" marR="76200" marT="101600" marB="101600" anchor="ctr"/>
                </a:tc>
                <a:tc>
                  <a:txBody>
                    <a:bodyPr/>
                    <a:lstStyle/>
                    <a:p>
                      <a:pPr algn="ctr"/>
                      <a:r>
                        <a:rPr lang="en-IN" b="0" i="0" dirty="0">
                          <a:solidFill>
                            <a:srgbClr val="51565E"/>
                          </a:solidFill>
                          <a:effectLst/>
                          <a:latin typeface="Roboto" panose="02000000000000000000" pitchFamily="2" charset="0"/>
                        </a:rPr>
                        <a:t>Dumb broker/smart consumer</a:t>
                      </a:r>
                    </a:p>
                  </a:txBody>
                  <a:tcPr marL="76200" marR="76200" marT="101600" marB="101600" anchor="ctr"/>
                </a:tc>
                <a:extLst>
                  <a:ext uri="{0D108BD9-81ED-4DB2-BD59-A6C34878D82A}">
                    <a16:rowId xmlns:a16="http://schemas.microsoft.com/office/drawing/2014/main" val="28767847"/>
                  </a:ext>
                </a:extLst>
              </a:tr>
              <a:tr h="370840">
                <a:tc>
                  <a:txBody>
                    <a:bodyPr/>
                    <a:lstStyle/>
                    <a:p>
                      <a:pPr algn="ctr"/>
                      <a:r>
                        <a:rPr lang="en-IN" b="0" i="0" dirty="0">
                          <a:solidFill>
                            <a:srgbClr val="51565E"/>
                          </a:solidFill>
                          <a:effectLst/>
                          <a:latin typeface="Roboto" panose="02000000000000000000" pitchFamily="2" charset="0"/>
                        </a:rPr>
                        <a:t>Message Retention</a:t>
                      </a:r>
                    </a:p>
                  </a:txBody>
                  <a:tcPr marL="76200" marR="76200" marT="101600" marB="101600" anchor="ctr"/>
                </a:tc>
                <a:tc>
                  <a:txBody>
                    <a:bodyPr/>
                    <a:lstStyle/>
                    <a:p>
                      <a:pPr algn="ctr"/>
                      <a:r>
                        <a:rPr lang="en-IN" sz="1800" b="0" i="0" kern="1200" dirty="0">
                          <a:solidFill>
                            <a:srgbClr val="51565E"/>
                          </a:solidFill>
                          <a:effectLst/>
                          <a:latin typeface="Roboto" panose="02000000000000000000" pitchFamily="2" charset="0"/>
                          <a:ea typeface="+mn-ea"/>
                          <a:cs typeface="+mn-cs"/>
                        </a:rPr>
                        <a:t>Acknowledgment based. </a:t>
                      </a:r>
                      <a:r>
                        <a:rPr lang="en-US" sz="1800" b="0" i="0" kern="1200" dirty="0">
                          <a:solidFill>
                            <a:srgbClr val="51565E"/>
                          </a:solidFill>
                          <a:effectLst/>
                          <a:latin typeface="Roboto" panose="02000000000000000000" pitchFamily="2" charset="0"/>
                          <a:ea typeface="+mn-ea"/>
                          <a:cs typeface="+mn-cs"/>
                        </a:rPr>
                        <a:t>It deletes messages after they’re consumed.</a:t>
                      </a:r>
                      <a:endParaRPr lang="en-IN" sz="1800" b="0" i="0" kern="1200" dirty="0">
                        <a:solidFill>
                          <a:srgbClr val="51565E"/>
                        </a:solidFill>
                        <a:effectLst/>
                        <a:latin typeface="Roboto" panose="02000000000000000000" pitchFamily="2" charset="0"/>
                        <a:ea typeface="+mn-ea"/>
                        <a:cs typeface="+mn-cs"/>
                      </a:endParaRPr>
                    </a:p>
                  </a:txBody>
                  <a:tcPr marL="76200" marR="76200" marT="101600" marB="101600" anchor="ctr"/>
                </a:tc>
                <a:tc>
                  <a:txBody>
                    <a:bodyPr/>
                    <a:lstStyle/>
                    <a:p>
                      <a:pPr algn="ctr"/>
                      <a:r>
                        <a:rPr lang="en-US" b="0" i="0" dirty="0">
                          <a:solidFill>
                            <a:srgbClr val="51565E"/>
                          </a:solidFill>
                          <a:effectLst/>
                          <a:latin typeface="Roboto" panose="02000000000000000000" pitchFamily="2" charset="0"/>
                        </a:rPr>
                        <a:t>Policy-based (e.g., 30 days)</a:t>
                      </a:r>
                    </a:p>
                  </a:txBody>
                  <a:tcPr marL="76200" marR="76200" marT="101600" marB="101600" anchor="ctr"/>
                </a:tc>
                <a:extLst>
                  <a:ext uri="{0D108BD9-81ED-4DB2-BD59-A6C34878D82A}">
                    <a16:rowId xmlns:a16="http://schemas.microsoft.com/office/drawing/2014/main" val="3803519331"/>
                  </a:ext>
                </a:extLst>
              </a:tr>
              <a:tr h="370840">
                <a:tc>
                  <a:txBody>
                    <a:bodyPr/>
                    <a:lstStyle/>
                    <a:p>
                      <a:pPr algn="ctr"/>
                      <a:r>
                        <a:rPr lang="en-IN" b="0" i="0" dirty="0">
                          <a:solidFill>
                            <a:srgbClr val="51565E"/>
                          </a:solidFill>
                          <a:effectLst/>
                          <a:latin typeface="Roboto" panose="02000000000000000000" pitchFamily="2" charset="0"/>
                        </a:rPr>
                        <a:t>Message ordering</a:t>
                      </a:r>
                    </a:p>
                  </a:txBody>
                  <a:tcPr marL="76200" marR="76200" marT="101600" marB="101600" anchor="ctr"/>
                </a:tc>
                <a:tc>
                  <a:txBody>
                    <a:bodyPr/>
                    <a:lstStyle/>
                    <a:p>
                      <a:pPr algn="ctr"/>
                      <a:r>
                        <a:rPr lang="en-IN" b="0" i="0" dirty="0">
                          <a:solidFill>
                            <a:srgbClr val="51565E"/>
                          </a:solidFill>
                          <a:effectLst/>
                          <a:latin typeface="Roboto" panose="02000000000000000000" pitchFamily="2" charset="0"/>
                        </a:rPr>
                        <a:t>Unsupported.</a:t>
                      </a:r>
                    </a:p>
                  </a:txBody>
                  <a:tcPr marL="76200" marR="76200" marT="101600" marB="101600" anchor="ctr"/>
                </a:tc>
                <a:tc>
                  <a:txBody>
                    <a:bodyPr/>
                    <a:lstStyle/>
                    <a:p>
                      <a:pPr algn="ctr"/>
                      <a:r>
                        <a:rPr lang="en-US" b="0" i="0" dirty="0">
                          <a:solidFill>
                            <a:srgbClr val="51565E"/>
                          </a:solidFill>
                          <a:effectLst/>
                          <a:latin typeface="Roboto" panose="02000000000000000000" pitchFamily="2" charset="0"/>
                        </a:rPr>
                        <a:t>Message ordering is provided via its partitioning. By message key, messages are sent to topics.</a:t>
                      </a:r>
                    </a:p>
                  </a:txBody>
                  <a:tcPr marL="76200" marR="76200" marT="101600" marB="101600" anchor="ctr"/>
                </a:tc>
                <a:extLst>
                  <a:ext uri="{0D108BD9-81ED-4DB2-BD59-A6C34878D82A}">
                    <a16:rowId xmlns:a16="http://schemas.microsoft.com/office/drawing/2014/main" val="1328117714"/>
                  </a:ext>
                </a:extLst>
              </a:tr>
              <a:tr h="370840">
                <a:tc>
                  <a:txBody>
                    <a:bodyPr/>
                    <a:lstStyle/>
                    <a:p>
                      <a:pPr algn="ctr"/>
                      <a:r>
                        <a:rPr lang="en-IN" b="0" i="0" dirty="0">
                          <a:solidFill>
                            <a:srgbClr val="51565E"/>
                          </a:solidFill>
                          <a:effectLst/>
                          <a:latin typeface="Roboto" panose="02000000000000000000" pitchFamily="2" charset="0"/>
                        </a:rPr>
                        <a:t>Message priorities</a:t>
                      </a:r>
                    </a:p>
                  </a:txBody>
                  <a:tcPr marL="76200" marR="76200" marT="101600" marB="101600" anchor="ctr"/>
                </a:tc>
                <a:tc>
                  <a:txBody>
                    <a:bodyPr/>
                    <a:lstStyle/>
                    <a:p>
                      <a:pPr algn="ctr"/>
                      <a:r>
                        <a:rPr lang="en-US" b="0" i="0" dirty="0">
                          <a:solidFill>
                            <a:srgbClr val="51565E"/>
                          </a:solidFill>
                          <a:effectLst/>
                          <a:latin typeface="Roboto" panose="02000000000000000000" pitchFamily="2" charset="0"/>
                        </a:rPr>
                        <a:t>You can set message priorities in RabbitMQ and consume messages in the order of highest priority.</a:t>
                      </a:r>
                    </a:p>
                  </a:txBody>
                  <a:tcPr marL="76200" marR="76200" marT="101600" marB="101600" anchor="ctr"/>
                </a:tc>
                <a:tc>
                  <a:txBody>
                    <a:bodyPr/>
                    <a:lstStyle/>
                    <a:p>
                      <a:pPr algn="ctr"/>
                      <a:r>
                        <a:rPr lang="en-IN" b="0" i="0" dirty="0">
                          <a:solidFill>
                            <a:srgbClr val="51565E"/>
                          </a:solidFill>
                          <a:effectLst/>
                          <a:latin typeface="Roboto" panose="02000000000000000000" pitchFamily="2" charset="0"/>
                        </a:rPr>
                        <a:t>Unavailable</a:t>
                      </a:r>
                    </a:p>
                  </a:txBody>
                  <a:tcPr marL="76200" marR="76200" marT="101600" marB="101600" anchor="ctr"/>
                </a:tc>
                <a:extLst>
                  <a:ext uri="{0D108BD9-81ED-4DB2-BD59-A6C34878D82A}">
                    <a16:rowId xmlns:a16="http://schemas.microsoft.com/office/drawing/2014/main" val="3618579303"/>
                  </a:ext>
                </a:extLst>
              </a:tr>
            </a:tbl>
          </a:graphicData>
        </a:graphic>
      </p:graphicFrame>
    </p:spTree>
    <p:extLst>
      <p:ext uri="{BB962C8B-B14F-4D97-AF65-F5344CB8AC3E}">
        <p14:creationId xmlns:p14="http://schemas.microsoft.com/office/powerpoint/2010/main" val="1355065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When to use RabbitMQ vs Kafka</a:t>
            </a:r>
          </a:p>
        </p:txBody>
      </p:sp>
      <p:sp>
        <p:nvSpPr>
          <p:cNvPr id="35" name="Content Placeholder 2"/>
          <p:cNvSpPr>
            <a:spLocks noGrp="1"/>
          </p:cNvSpPr>
          <p:nvPr>
            <p:ph idx="1"/>
          </p:nvPr>
        </p:nvSpPr>
        <p:spPr/>
        <p:txBody>
          <a:bodyPr>
            <a:normAutofit fontScale="62500" lnSpcReduction="20000"/>
          </a:bodyPr>
          <a:lstStyle/>
          <a:p>
            <a:pPr algn="l"/>
            <a:r>
              <a:rPr lang="en-US" b="0" i="0" dirty="0">
                <a:solidFill>
                  <a:srgbClr val="333333"/>
                </a:solidFill>
                <a:effectLst/>
                <a:latin typeface="AmazonEmber"/>
              </a:rPr>
              <a:t>It's important to understand that RabbitMQ and Kafka are not competing message brokers. Both were designed to support data exchange in different use cases where one is more suitable than the other.</a:t>
            </a:r>
          </a:p>
          <a:p>
            <a:pPr algn="l"/>
            <a:r>
              <a:rPr lang="en-US" b="1" i="0" dirty="0">
                <a:solidFill>
                  <a:srgbClr val="333333"/>
                </a:solidFill>
                <a:effectLst/>
                <a:latin typeface="AmazonEmberBold"/>
              </a:rPr>
              <a:t>Event stream replays</a:t>
            </a:r>
            <a:endParaRPr lang="en-US" b="1" i="0" dirty="0">
              <a:solidFill>
                <a:srgbClr val="333333"/>
              </a:solidFill>
              <a:effectLst/>
              <a:latin typeface="AmazonEmber"/>
            </a:endParaRPr>
          </a:p>
          <a:p>
            <a:pPr lvl="1"/>
            <a:r>
              <a:rPr lang="en-US" b="1" i="0" dirty="0">
                <a:solidFill>
                  <a:srgbClr val="333333"/>
                </a:solidFill>
                <a:effectLst/>
                <a:latin typeface="AmazonEmber"/>
              </a:rPr>
              <a:t>Kafka</a:t>
            </a:r>
            <a:r>
              <a:rPr lang="en-US" b="0" i="0" dirty="0">
                <a:solidFill>
                  <a:srgbClr val="333333"/>
                </a:solidFill>
                <a:effectLst/>
                <a:latin typeface="AmazonEmber"/>
              </a:rPr>
              <a:t> is suitable for applications that need to reanalyze the received data. You can process streaming data multiple times within the retention period or collect log files for analysis.</a:t>
            </a:r>
          </a:p>
          <a:p>
            <a:pPr lvl="1"/>
            <a:r>
              <a:rPr lang="en-US" b="0" i="0" dirty="0">
                <a:solidFill>
                  <a:srgbClr val="333333"/>
                </a:solidFill>
                <a:effectLst/>
                <a:latin typeface="AmazonEmber"/>
              </a:rPr>
              <a:t>Log aggregation with RabbitMQ is more challenging, as messages are deleted once consumed. A workaround is to replay the stored messages from the producers.</a:t>
            </a:r>
          </a:p>
          <a:p>
            <a:pPr algn="l"/>
            <a:r>
              <a:rPr lang="en-US" b="1" i="0" dirty="0">
                <a:solidFill>
                  <a:srgbClr val="333333"/>
                </a:solidFill>
                <a:effectLst/>
                <a:latin typeface="AmazonEmberBold"/>
              </a:rPr>
              <a:t>Real-time data processing</a:t>
            </a:r>
            <a:endParaRPr lang="en-US" b="1" i="0" dirty="0">
              <a:solidFill>
                <a:srgbClr val="333333"/>
              </a:solidFill>
              <a:effectLst/>
              <a:latin typeface="AmazonEmber"/>
            </a:endParaRPr>
          </a:p>
          <a:p>
            <a:pPr lvl="1"/>
            <a:r>
              <a:rPr lang="en-US" b="1" i="0" dirty="0">
                <a:solidFill>
                  <a:srgbClr val="333333"/>
                </a:solidFill>
                <a:effectLst/>
                <a:latin typeface="AmazonEmber"/>
              </a:rPr>
              <a:t>Kafka</a:t>
            </a:r>
            <a:r>
              <a:rPr lang="en-US" b="0" i="0" dirty="0">
                <a:solidFill>
                  <a:srgbClr val="333333"/>
                </a:solidFill>
                <a:effectLst/>
                <a:latin typeface="AmazonEmber"/>
              </a:rPr>
              <a:t> streams messages with very low latency and is suitable to analyze streaming data in real time. For example, you can use Kafka as a distributed monitoring service to raise alerts for online transaction processing in real time.</a:t>
            </a:r>
          </a:p>
          <a:p>
            <a:pPr algn="l"/>
            <a:r>
              <a:rPr lang="en-US" b="1" i="0" dirty="0">
                <a:solidFill>
                  <a:srgbClr val="333333"/>
                </a:solidFill>
                <a:effectLst/>
                <a:latin typeface="AmazonEmberBold"/>
              </a:rPr>
              <a:t>Complex routing architecture</a:t>
            </a:r>
            <a:endParaRPr lang="en-US" b="1" i="0" dirty="0">
              <a:solidFill>
                <a:srgbClr val="333333"/>
              </a:solidFill>
              <a:effectLst/>
              <a:latin typeface="AmazonEmber"/>
            </a:endParaRPr>
          </a:p>
          <a:p>
            <a:pPr lvl="1"/>
            <a:r>
              <a:rPr lang="en-US" b="1" i="0" dirty="0">
                <a:solidFill>
                  <a:srgbClr val="333333"/>
                </a:solidFill>
                <a:effectLst/>
                <a:latin typeface="AmazonEmber"/>
              </a:rPr>
              <a:t>RabbitMQ</a:t>
            </a:r>
            <a:r>
              <a:rPr lang="en-US" b="0" i="0" dirty="0">
                <a:solidFill>
                  <a:srgbClr val="333333"/>
                </a:solidFill>
                <a:effectLst/>
                <a:latin typeface="AmazonEmber"/>
              </a:rPr>
              <a:t> provides flexibility for clients with vague requirements or </a:t>
            </a:r>
            <a:r>
              <a:rPr lang="en-US" b="1" i="0" dirty="0">
                <a:solidFill>
                  <a:srgbClr val="333333"/>
                </a:solidFill>
                <a:effectLst/>
                <a:latin typeface="AmazonEmber"/>
              </a:rPr>
              <a:t>complex routing scenarios</a:t>
            </a:r>
            <a:r>
              <a:rPr lang="en-US" b="0" i="0" dirty="0">
                <a:solidFill>
                  <a:srgbClr val="333333"/>
                </a:solidFill>
                <a:effectLst/>
                <a:latin typeface="AmazonEmber"/>
              </a:rPr>
              <a:t>. For example, you can set up RabbitMQ to route data to different applications with different bindings and exchanges.</a:t>
            </a:r>
          </a:p>
          <a:p>
            <a:pPr algn="l"/>
            <a:r>
              <a:rPr lang="en-US" b="1" i="0" dirty="0">
                <a:solidFill>
                  <a:srgbClr val="333333"/>
                </a:solidFill>
                <a:effectLst/>
                <a:latin typeface="AmazonEmberBold"/>
              </a:rPr>
              <a:t>Effective message delivery</a:t>
            </a:r>
            <a:endParaRPr lang="en-US" b="1" i="0" dirty="0">
              <a:solidFill>
                <a:srgbClr val="333333"/>
              </a:solidFill>
              <a:effectLst/>
              <a:latin typeface="AmazonEmber"/>
            </a:endParaRPr>
          </a:p>
          <a:p>
            <a:pPr lvl="1"/>
            <a:r>
              <a:rPr lang="en-US" b="1" i="0" dirty="0">
                <a:solidFill>
                  <a:srgbClr val="333333"/>
                </a:solidFill>
                <a:effectLst/>
                <a:latin typeface="AmazonEmber"/>
              </a:rPr>
              <a:t>RabbitMQ</a:t>
            </a:r>
            <a:r>
              <a:rPr lang="en-US" b="0" i="0" dirty="0">
                <a:solidFill>
                  <a:srgbClr val="333333"/>
                </a:solidFill>
                <a:effectLst/>
                <a:latin typeface="AmazonEmber"/>
              </a:rPr>
              <a:t> applies the push model, which means the producer knows whether the client application consumed the message. It suits applications that must adhere to specific sequences and </a:t>
            </a:r>
            <a:r>
              <a:rPr lang="en-US" b="1" i="0" dirty="0">
                <a:solidFill>
                  <a:srgbClr val="333333"/>
                </a:solidFill>
                <a:effectLst/>
                <a:latin typeface="AmazonEmber"/>
              </a:rPr>
              <a:t>delivery guarantees </a:t>
            </a:r>
            <a:r>
              <a:rPr lang="en-US" b="0" i="0" dirty="0">
                <a:solidFill>
                  <a:srgbClr val="333333"/>
                </a:solidFill>
                <a:effectLst/>
                <a:latin typeface="AmazonEmber"/>
              </a:rPr>
              <a:t>when exchanging and analyzing data. </a:t>
            </a:r>
          </a:p>
        </p:txBody>
      </p:sp>
      <p:sp>
        <p:nvSpPr>
          <p:cNvPr id="5" name="Slide Number Placeholder 4"/>
          <p:cNvSpPr>
            <a:spLocks noGrp="1"/>
          </p:cNvSpPr>
          <p:nvPr>
            <p:ph type="sldNum" sz="quarter" idx="12"/>
          </p:nvPr>
        </p:nvSpPr>
        <p:spPr/>
        <p:txBody>
          <a:bodyPr/>
          <a:lstStyle/>
          <a:p>
            <a:fld id="{407C8B75-4858-41E6-BEC3-A0853FA4AC5B}" type="slidenum">
              <a:rPr lang="en-US" smtClean="0"/>
              <a:pPr/>
              <a:t>14</a:t>
            </a:fld>
            <a:endParaRPr lang="en-US" dirty="0"/>
          </a:p>
        </p:txBody>
      </p:sp>
    </p:spTree>
    <p:extLst>
      <p:ext uri="{BB962C8B-B14F-4D97-AF65-F5344CB8AC3E}">
        <p14:creationId xmlns:p14="http://schemas.microsoft.com/office/powerpoint/2010/main" val="37606484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p:txBody>
          <a:bodyPr>
            <a:normAutofit fontScale="92500" lnSpcReduction="10000"/>
          </a:bodyPr>
          <a:lstStyle/>
          <a:p>
            <a:r>
              <a:rPr lang="en-US" dirty="0">
                <a:hlinkClick r:id="rId2"/>
              </a:rPr>
              <a:t>https://kafka.apache.org/intro</a:t>
            </a:r>
          </a:p>
          <a:p>
            <a:r>
              <a:rPr lang="en-US" dirty="0">
                <a:hlinkClick r:id="rId2"/>
              </a:rPr>
              <a:t>https://en.wikipedia.org/wiki/Apache_Kafka</a:t>
            </a:r>
            <a:endParaRPr lang="en-US" dirty="0"/>
          </a:p>
          <a:p>
            <a:r>
              <a:rPr lang="en-US" dirty="0">
                <a:hlinkClick r:id="rId3"/>
              </a:rPr>
              <a:t>https://medium.com/analytics-vidhya/introduction-to-apache-kafka-88ebd24eb962</a:t>
            </a:r>
            <a:endParaRPr lang="en-US" dirty="0"/>
          </a:p>
          <a:p>
            <a:r>
              <a:rPr lang="en-US" dirty="0">
                <a:hlinkClick r:id="rId4"/>
              </a:rPr>
              <a:t>https://docs.google.com/presentation/d/1jPU6soIDn7W1F4CtUADuB4r3ujrebwHmxIoDhOLb_ok/htmlpresent</a:t>
            </a:r>
            <a:endParaRPr lang="en-US" dirty="0"/>
          </a:p>
          <a:p>
            <a:r>
              <a:rPr lang="en-US" dirty="0">
                <a:hlinkClick r:id="rId5"/>
              </a:rPr>
              <a:t>https://www.csee.umbc.edu/~shadam1/491s16/lectures/04-Kafka.pptx</a:t>
            </a:r>
            <a:r>
              <a:rPr lang="en-US" dirty="0"/>
              <a:t> </a:t>
            </a:r>
          </a:p>
          <a:p>
            <a:r>
              <a:rPr lang="en-US" dirty="0">
                <a:hlinkClick r:id="rId6"/>
              </a:rPr>
              <a:t>https://www.simplilearn.com/kafka-vs-rabbitmq-article</a:t>
            </a:r>
            <a:r>
              <a:rPr lang="en-US" dirty="0"/>
              <a:t> </a:t>
            </a:r>
          </a:p>
          <a:p>
            <a:r>
              <a:rPr lang="en-US" dirty="0">
                <a:hlinkClick r:id="rId7"/>
              </a:rPr>
              <a:t>https://aws.amazon.com/compare/the-difference-between-rabbitmq-and-kafka/#:~:text=RabbitMQ%20sends%20and%20queues%20messages,a%20specific%20topic%20and%20partition</a:t>
            </a:r>
            <a:r>
              <a:rPr lang="en-US" dirty="0"/>
              <a:t>. </a:t>
            </a:r>
          </a:p>
        </p:txBody>
      </p:sp>
    </p:spTree>
    <p:extLst>
      <p:ext uri="{BB962C8B-B14F-4D97-AF65-F5344CB8AC3E}">
        <p14:creationId xmlns:p14="http://schemas.microsoft.com/office/powerpoint/2010/main" val="10745578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120</TotalTime>
  <Words>1148</Words>
  <Application>Microsoft Office PowerPoint</Application>
  <PresentationFormat>Widescreen</PresentationFormat>
  <Paragraphs>160</Paragraphs>
  <Slides>15</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15</vt:i4>
      </vt:variant>
    </vt:vector>
  </HeadingPairs>
  <TitlesOfParts>
    <vt:vector size="26" baseType="lpstr">
      <vt:lpstr>AmazonEmber</vt:lpstr>
      <vt:lpstr>AmazonEmberBold</vt:lpstr>
      <vt:lpstr>Arial</vt:lpstr>
      <vt:lpstr>Calibri</vt:lpstr>
      <vt:lpstr>Calibri Light</vt:lpstr>
      <vt:lpstr>Consolas</vt:lpstr>
      <vt:lpstr>Helvetica</vt:lpstr>
      <vt:lpstr>Nunito</vt:lpstr>
      <vt:lpstr>Roboto</vt:lpstr>
      <vt:lpstr>Wingdings</vt:lpstr>
      <vt:lpstr>Office Theme</vt:lpstr>
      <vt:lpstr>Apache</vt:lpstr>
      <vt:lpstr>Overview</vt:lpstr>
      <vt:lpstr>How fast is Kafka?</vt:lpstr>
      <vt:lpstr>Why is Kafka so fast?</vt:lpstr>
      <vt:lpstr>Kafka Components</vt:lpstr>
      <vt:lpstr>Topics</vt:lpstr>
      <vt:lpstr>Topics</vt:lpstr>
      <vt:lpstr>Partitions</vt:lpstr>
      <vt:lpstr>Partitions</vt:lpstr>
      <vt:lpstr>Partition offsets</vt:lpstr>
      <vt:lpstr>Replicas of a partition</vt:lpstr>
      <vt:lpstr>Sample implementation - https://github.com/as6485/springkafka </vt:lpstr>
      <vt:lpstr>RabbitMQ vs Kafka</vt:lpstr>
      <vt:lpstr>When to use RabbitMQ vs Kafka</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Apache Kafka</dc:title>
  <dc:creator>Urmisha Sengupta</dc:creator>
  <cp:lastModifiedBy>Urmisha Sengupta</cp:lastModifiedBy>
  <cp:revision>68</cp:revision>
  <dcterms:created xsi:type="dcterms:W3CDTF">2023-10-16T07:25:46Z</dcterms:created>
  <dcterms:modified xsi:type="dcterms:W3CDTF">2025-04-21T08:36:44Z</dcterms:modified>
</cp:coreProperties>
</file>