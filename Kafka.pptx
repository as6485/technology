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7" r:id="rId2"/>
    <p:sldId id="258" r:id="rId3"/>
    <p:sldId id="260" r:id="rId4"/>
    <p:sldId id="261" r:id="rId5"/>
    <p:sldId id="262" r:id="rId6"/>
    <p:sldId id="274" r:id="rId7"/>
    <p:sldId id="264" r:id="rId8"/>
    <p:sldId id="265" r:id="rId9"/>
    <p:sldId id="266" r:id="rId10"/>
    <p:sldId id="267" r:id="rId11"/>
    <p:sldId id="268" r:id="rId12"/>
    <p:sldId id="269" r:id="rId13"/>
    <p:sldId id="275" r:id="rId14"/>
    <p:sldId id="271" r:id="rId15"/>
    <p:sldId id="272" r:id="rId16"/>
    <p:sldId id="273" r:id="rId17"/>
    <p:sldId id="270"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9" d="100"/>
          <a:sy n="59" d="100"/>
        </p:scale>
        <p:origin x="940"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EF9C829-360C-4EBB-9913-31B20BDD9A0C}" type="datetimeFigureOut">
              <a:rPr lang="en-IN" smtClean="0"/>
              <a:t>05-05-2025</a:t>
            </a:fld>
            <a:endParaRPr lang="en-IN"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6A55433-71DF-481E-BE35-1B71C54620B9}" type="slidenum">
              <a:rPr lang="en-IN" smtClean="0"/>
              <a:t>‹#›</a:t>
            </a:fld>
            <a:endParaRPr lang="en-IN" dirty="0"/>
          </a:p>
        </p:txBody>
      </p:sp>
    </p:spTree>
    <p:extLst>
      <p:ext uri="{BB962C8B-B14F-4D97-AF65-F5344CB8AC3E}">
        <p14:creationId xmlns:p14="http://schemas.microsoft.com/office/powerpoint/2010/main" val="6010248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E871F-D764-DB11-194A-CDAB1F5309E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CEAF7B0-E2BC-59C5-D624-24AA2A68DC2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58E84802-86B7-0D48-6923-A5D75DD4B5C9}"/>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5" name="Footer Placeholder 4">
            <a:extLst>
              <a:ext uri="{FF2B5EF4-FFF2-40B4-BE49-F238E27FC236}">
                <a16:creationId xmlns:a16="http://schemas.microsoft.com/office/drawing/2014/main" id="{317D40F1-7E2A-04B6-96B3-533A8A7679D5}"/>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DB9D4CC5-E4A9-2557-81A8-09CEF439704C}"/>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4150879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702A09-8CFB-BAD1-9C5D-2D7664B2F505}"/>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957186A-D145-8773-57DA-9FF7987197C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B87B138-8B9D-867C-4433-64FC9A3323FE}"/>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5" name="Footer Placeholder 4">
            <a:extLst>
              <a:ext uri="{FF2B5EF4-FFF2-40B4-BE49-F238E27FC236}">
                <a16:creationId xmlns:a16="http://schemas.microsoft.com/office/drawing/2014/main" id="{C09035E6-B460-1576-F271-0D8916093EA4}"/>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1BABE382-7E0E-A9A2-E76C-7F9962D06BD8}"/>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229832590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EAF434-056E-0E86-C9BD-A10B13AD378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241D71A3-17EE-B7FF-991E-F22BE3B298E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B884919-6A3A-60EA-FABD-75274BFD93F9}"/>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5" name="Footer Placeholder 4">
            <a:extLst>
              <a:ext uri="{FF2B5EF4-FFF2-40B4-BE49-F238E27FC236}">
                <a16:creationId xmlns:a16="http://schemas.microsoft.com/office/drawing/2014/main" id="{31E2ED38-D233-8127-8CAA-FB6A5E233D85}"/>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0FE1B378-46FD-17FB-F628-0A4B91E95D8B}"/>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6592413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B94DFB-0D11-48D6-EBC6-676FF4ED860A}"/>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B5DE231-AD6E-C651-5872-7F0E934C247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1DAAF1E9-C463-7FF8-ABCD-112A3881C4B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F76819C5-B588-BF5F-F1F5-D196B9E16D28}"/>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6" name="Footer Placeholder 5">
            <a:extLst>
              <a:ext uri="{FF2B5EF4-FFF2-40B4-BE49-F238E27FC236}">
                <a16:creationId xmlns:a16="http://schemas.microsoft.com/office/drawing/2014/main" id="{43891BE7-DA2E-6C18-D4E1-8EEDA6694418}"/>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5AE26F40-8C0D-E986-9D12-D0539F845C05}"/>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26282803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02714-57DD-DF93-C3F7-C7108B9AC35B}"/>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BF0BD34-AFDE-D841-5C68-7CF65401417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551386-90E9-BB74-60B5-12A0BF628BB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6067BB40-B41E-9AD3-E570-C2469FEABB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DF0950A-C04D-2B11-1559-D55536D15B7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29C7206B-B74B-2DFD-F8F3-B223CDCA2E67}"/>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8" name="Footer Placeholder 7">
            <a:extLst>
              <a:ext uri="{FF2B5EF4-FFF2-40B4-BE49-F238E27FC236}">
                <a16:creationId xmlns:a16="http://schemas.microsoft.com/office/drawing/2014/main" id="{95AB4380-F05E-1367-AFA6-31FB9A3FC7C7}"/>
              </a:ext>
            </a:extLst>
          </p:cNvPr>
          <p:cNvSpPr>
            <a:spLocks noGrp="1"/>
          </p:cNvSpPr>
          <p:nvPr>
            <p:ph type="ftr" sz="quarter" idx="11"/>
          </p:nvPr>
        </p:nvSpPr>
        <p:spPr/>
        <p:txBody>
          <a:bodyPr/>
          <a:lstStyle/>
          <a:p>
            <a:endParaRPr lang="en-IN" dirty="0"/>
          </a:p>
        </p:txBody>
      </p:sp>
      <p:sp>
        <p:nvSpPr>
          <p:cNvPr id="9" name="Slide Number Placeholder 8">
            <a:extLst>
              <a:ext uri="{FF2B5EF4-FFF2-40B4-BE49-F238E27FC236}">
                <a16:creationId xmlns:a16="http://schemas.microsoft.com/office/drawing/2014/main" id="{E96796BF-B181-89E7-0DF0-FD0ADBFC0663}"/>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5238935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B1FA15-ED46-3C06-1BEC-A658BA6F20B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ED2CD869-7144-4465-D2E2-2AAA1F854687}"/>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4" name="Footer Placeholder 3">
            <a:extLst>
              <a:ext uri="{FF2B5EF4-FFF2-40B4-BE49-F238E27FC236}">
                <a16:creationId xmlns:a16="http://schemas.microsoft.com/office/drawing/2014/main" id="{5576F86D-9E7B-A80B-576A-195C3F5CD210}"/>
              </a:ext>
            </a:extLst>
          </p:cNvPr>
          <p:cNvSpPr>
            <a:spLocks noGrp="1"/>
          </p:cNvSpPr>
          <p:nvPr>
            <p:ph type="ftr" sz="quarter" idx="11"/>
          </p:nvPr>
        </p:nvSpPr>
        <p:spPr/>
        <p:txBody>
          <a:bodyPr/>
          <a:lstStyle/>
          <a:p>
            <a:endParaRPr lang="en-IN" dirty="0"/>
          </a:p>
        </p:txBody>
      </p:sp>
      <p:sp>
        <p:nvSpPr>
          <p:cNvPr id="5" name="Slide Number Placeholder 4">
            <a:extLst>
              <a:ext uri="{FF2B5EF4-FFF2-40B4-BE49-F238E27FC236}">
                <a16:creationId xmlns:a16="http://schemas.microsoft.com/office/drawing/2014/main" id="{64D93936-F682-C5A6-9AC1-BF6C7B734A5D}"/>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10311502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0443C68-602B-5690-F313-DD8048E830DB}"/>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3" name="Footer Placeholder 2">
            <a:extLst>
              <a:ext uri="{FF2B5EF4-FFF2-40B4-BE49-F238E27FC236}">
                <a16:creationId xmlns:a16="http://schemas.microsoft.com/office/drawing/2014/main" id="{130DDBEC-A10D-5831-9E75-C1C765E5DAB0}"/>
              </a:ext>
            </a:extLst>
          </p:cNvPr>
          <p:cNvSpPr>
            <a:spLocks noGrp="1"/>
          </p:cNvSpPr>
          <p:nvPr>
            <p:ph type="ftr" sz="quarter" idx="11"/>
          </p:nvPr>
        </p:nvSpPr>
        <p:spPr/>
        <p:txBody>
          <a:bodyPr/>
          <a:lstStyle/>
          <a:p>
            <a:endParaRPr lang="en-IN" dirty="0"/>
          </a:p>
        </p:txBody>
      </p:sp>
      <p:sp>
        <p:nvSpPr>
          <p:cNvPr id="4" name="Slide Number Placeholder 3">
            <a:extLst>
              <a:ext uri="{FF2B5EF4-FFF2-40B4-BE49-F238E27FC236}">
                <a16:creationId xmlns:a16="http://schemas.microsoft.com/office/drawing/2014/main" id="{F44F311D-3FAD-684A-20D5-3077F9FFFC4D}"/>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18374192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A5B7AC-810D-2810-CEA7-B22C0C70EA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6F853604-00B6-C5D7-7D9D-8C31D12A954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D803A01A-D0BE-D70B-5537-06BC740A0B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A0EF64D-4139-FCE8-1B36-B56475846E12}"/>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6" name="Footer Placeholder 5">
            <a:extLst>
              <a:ext uri="{FF2B5EF4-FFF2-40B4-BE49-F238E27FC236}">
                <a16:creationId xmlns:a16="http://schemas.microsoft.com/office/drawing/2014/main" id="{AE49ACEF-873A-ECB8-6272-91E36BF2388C}"/>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E769778E-8C27-2F86-2FAF-494A43F30E84}"/>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2679023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27DB7B-31BC-7A55-BCEF-01A097DC31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0F7762F5-A440-4289-6BFA-5F037D6DED2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dirty="0"/>
          </a:p>
        </p:txBody>
      </p:sp>
      <p:sp>
        <p:nvSpPr>
          <p:cNvPr id="4" name="Text Placeholder 3">
            <a:extLst>
              <a:ext uri="{FF2B5EF4-FFF2-40B4-BE49-F238E27FC236}">
                <a16:creationId xmlns:a16="http://schemas.microsoft.com/office/drawing/2014/main" id="{DF762C7D-2ABD-B1A2-DCC9-3C2044C7EB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CB274C5-374C-501E-2DDB-F3623AFE7178}"/>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6" name="Footer Placeholder 5">
            <a:extLst>
              <a:ext uri="{FF2B5EF4-FFF2-40B4-BE49-F238E27FC236}">
                <a16:creationId xmlns:a16="http://schemas.microsoft.com/office/drawing/2014/main" id="{C7164AF4-D482-0EF6-396F-CA3A12473900}"/>
              </a:ext>
            </a:extLst>
          </p:cNvPr>
          <p:cNvSpPr>
            <a:spLocks noGrp="1"/>
          </p:cNvSpPr>
          <p:nvPr>
            <p:ph type="ftr" sz="quarter" idx="11"/>
          </p:nvPr>
        </p:nvSpPr>
        <p:spPr/>
        <p:txBody>
          <a:bodyPr/>
          <a:lstStyle/>
          <a:p>
            <a:endParaRPr lang="en-IN" dirty="0"/>
          </a:p>
        </p:txBody>
      </p:sp>
      <p:sp>
        <p:nvSpPr>
          <p:cNvPr id="7" name="Slide Number Placeholder 6">
            <a:extLst>
              <a:ext uri="{FF2B5EF4-FFF2-40B4-BE49-F238E27FC236}">
                <a16:creationId xmlns:a16="http://schemas.microsoft.com/office/drawing/2014/main" id="{AB33A84F-E8C0-A202-5695-D53D58416676}"/>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5214965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076D9-E307-422A-B558-03962627DF8B}"/>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946C4C7-C04A-7201-1AEF-92A321080A6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FC29584E-4BC9-2DE1-D9B6-708A72951BFE}"/>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5" name="Footer Placeholder 4">
            <a:extLst>
              <a:ext uri="{FF2B5EF4-FFF2-40B4-BE49-F238E27FC236}">
                <a16:creationId xmlns:a16="http://schemas.microsoft.com/office/drawing/2014/main" id="{313B8D10-FAD7-3C00-A67B-5B9548AD97BD}"/>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E38AFBC0-C61E-57F3-5647-7349257A5F0A}"/>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10100436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5073E9D-905C-CE6F-945F-2D443D4A6A0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A0F8E11C-B0C4-04F2-A58C-C279F58D6C4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4C33F8EB-B465-90F6-D0B4-2E91FD9E265B}"/>
              </a:ext>
            </a:extLst>
          </p:cNvPr>
          <p:cNvSpPr>
            <a:spLocks noGrp="1"/>
          </p:cNvSpPr>
          <p:nvPr>
            <p:ph type="dt" sz="half" idx="10"/>
          </p:nvPr>
        </p:nvSpPr>
        <p:spPr/>
        <p:txBody>
          <a:bodyPr/>
          <a:lstStyle/>
          <a:p>
            <a:fld id="{2133CE5E-D606-42C7-8D19-97ABF8996B29}" type="datetimeFigureOut">
              <a:rPr lang="en-IN" smtClean="0"/>
              <a:t>05-05-2025</a:t>
            </a:fld>
            <a:endParaRPr lang="en-IN" dirty="0"/>
          </a:p>
        </p:txBody>
      </p:sp>
      <p:sp>
        <p:nvSpPr>
          <p:cNvPr id="5" name="Footer Placeholder 4">
            <a:extLst>
              <a:ext uri="{FF2B5EF4-FFF2-40B4-BE49-F238E27FC236}">
                <a16:creationId xmlns:a16="http://schemas.microsoft.com/office/drawing/2014/main" id="{0C221F3D-DF37-FB2B-D6FE-4D2A8C4A216B}"/>
              </a:ext>
            </a:extLst>
          </p:cNvPr>
          <p:cNvSpPr>
            <a:spLocks noGrp="1"/>
          </p:cNvSpPr>
          <p:nvPr>
            <p:ph type="ftr" sz="quarter" idx="11"/>
          </p:nvPr>
        </p:nvSpPr>
        <p:spPr/>
        <p:txBody>
          <a:bodyPr/>
          <a:lstStyle/>
          <a:p>
            <a:endParaRPr lang="en-IN" dirty="0"/>
          </a:p>
        </p:txBody>
      </p:sp>
      <p:sp>
        <p:nvSpPr>
          <p:cNvPr id="6" name="Slide Number Placeholder 5">
            <a:extLst>
              <a:ext uri="{FF2B5EF4-FFF2-40B4-BE49-F238E27FC236}">
                <a16:creationId xmlns:a16="http://schemas.microsoft.com/office/drawing/2014/main" id="{D0D870C0-D1B4-5933-41A7-674ADA58914F}"/>
              </a:ext>
            </a:extLst>
          </p:cNvPr>
          <p:cNvSpPr>
            <a:spLocks noGrp="1"/>
          </p:cNvSpPr>
          <p:nvPr>
            <p:ph type="sldNum" sz="quarter" idx="12"/>
          </p:nvPr>
        </p:nvSpPr>
        <p:spPr/>
        <p:txBody>
          <a:bodyPr/>
          <a:lstStyle/>
          <a:p>
            <a:fld id="{140514A6-4A6F-4184-9B29-DF4E668ED1D8}" type="slidenum">
              <a:rPr lang="en-IN" smtClean="0"/>
              <a:t>‹#›</a:t>
            </a:fld>
            <a:endParaRPr lang="en-IN" dirty="0"/>
          </a:p>
        </p:txBody>
      </p:sp>
    </p:spTree>
    <p:extLst>
      <p:ext uri="{BB962C8B-B14F-4D97-AF65-F5344CB8AC3E}">
        <p14:creationId xmlns:p14="http://schemas.microsoft.com/office/powerpoint/2010/main" val="37485329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CD25F56-2476-33DD-D340-112F8E3536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BD742633-1565-4D97-94B6-925E63C5318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A287152-7C89-C430-8FEA-C35E03C04AC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133CE5E-D606-42C7-8D19-97ABF8996B29}" type="datetimeFigureOut">
              <a:rPr lang="en-IN" smtClean="0"/>
              <a:t>05-05-2025</a:t>
            </a:fld>
            <a:endParaRPr lang="en-IN" dirty="0"/>
          </a:p>
        </p:txBody>
      </p:sp>
      <p:sp>
        <p:nvSpPr>
          <p:cNvPr id="5" name="Footer Placeholder 4">
            <a:extLst>
              <a:ext uri="{FF2B5EF4-FFF2-40B4-BE49-F238E27FC236}">
                <a16:creationId xmlns:a16="http://schemas.microsoft.com/office/drawing/2014/main" id="{4F6D1552-7702-A707-D5C0-839A0C6DC5F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dirty="0"/>
          </a:p>
        </p:txBody>
      </p:sp>
      <p:sp>
        <p:nvSpPr>
          <p:cNvPr id="6" name="Slide Number Placeholder 5">
            <a:extLst>
              <a:ext uri="{FF2B5EF4-FFF2-40B4-BE49-F238E27FC236}">
                <a16:creationId xmlns:a16="http://schemas.microsoft.com/office/drawing/2014/main" id="{6A689298-D6D6-A22F-BB49-37C5455019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40514A6-4A6F-4184-9B29-DF4E668ED1D8}" type="slidenum">
              <a:rPr lang="en-IN" smtClean="0"/>
              <a:t>‹#›</a:t>
            </a:fld>
            <a:endParaRPr lang="en-IN" dirty="0"/>
          </a:p>
        </p:txBody>
      </p:sp>
    </p:spTree>
    <p:extLst>
      <p:ext uri="{BB962C8B-B14F-4D97-AF65-F5344CB8AC3E}">
        <p14:creationId xmlns:p14="http://schemas.microsoft.com/office/powerpoint/2010/main" val="229678029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hyperlink" Target="https://www.scaler.com/topics/kafka-tutorial/the-role-of-zookeeper-in-the-kafka-cluster/" TargetMode="Externa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hyperlink" Target="https://github.com/as6485/springkafka"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medium.com/analytics-vidhya/introduction-to-apache-kafka-88ebd24eb962" TargetMode="External"/><Relationship Id="rId7" Type="http://schemas.openxmlformats.org/officeDocument/2006/relationships/hyperlink" Target="https://aws.amazon.com/compare/the-difference-between-rabbitmq-and-kafka/#:~:text=RabbitMQ%20sends%20and%20queues%20messages,a%20specific%20topic%20and%20partition" TargetMode="External"/><Relationship Id="rId2" Type="http://schemas.openxmlformats.org/officeDocument/2006/relationships/hyperlink" Target="https://en.wikipedia.org/wiki/Apache_Kafka" TargetMode="External"/><Relationship Id="rId1" Type="http://schemas.openxmlformats.org/officeDocument/2006/relationships/slideLayout" Target="../slideLayouts/slideLayout2.xml"/><Relationship Id="rId6" Type="http://schemas.openxmlformats.org/officeDocument/2006/relationships/hyperlink" Target="https://www.simplilearn.com/kafka-vs-rabbitmq-article" TargetMode="External"/><Relationship Id="rId5" Type="http://schemas.openxmlformats.org/officeDocument/2006/relationships/hyperlink" Target="https://www.csee.umbc.edu/~shadam1/491s16/lectures/04-Kafka.pptx" TargetMode="External"/><Relationship Id="rId4" Type="http://schemas.openxmlformats.org/officeDocument/2006/relationships/hyperlink" Target="https://docs.google.com/presentation/d/1jPU6soIDn7W1F4CtUADuB4r3ujrebwHmxIoDhOLb_ok/htmlpresen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513632"/>
            <a:ext cx="4256314" cy="1158649"/>
          </a:xfrm>
        </p:spPr>
        <p:txBody>
          <a:bodyPr/>
          <a:lstStyle/>
          <a:p>
            <a:r>
              <a:rPr lang="en-US" dirty="0"/>
              <a:t>Apache</a:t>
            </a:r>
          </a:p>
        </p:txBody>
      </p:sp>
      <p:sp>
        <p:nvSpPr>
          <p:cNvPr id="3" name="Subtitle 2"/>
          <p:cNvSpPr>
            <a:spLocks noGrp="1"/>
          </p:cNvSpPr>
          <p:nvPr>
            <p:ph type="subTitle" idx="1"/>
          </p:nvPr>
        </p:nvSpPr>
        <p:spPr/>
        <p:txBody>
          <a:bodyPr>
            <a:normAutofit/>
          </a:bodyPr>
          <a:lstStyle/>
          <a:p>
            <a:r>
              <a:rPr lang="en-US" dirty="0"/>
              <a:t>Ayan Sengupta</a:t>
            </a:r>
          </a:p>
        </p:txBody>
      </p:sp>
      <p:pic>
        <p:nvPicPr>
          <p:cNvPr id="4" name="Picture 3"/>
          <p:cNvPicPr>
            <a:picLocks noChangeAspect="1"/>
          </p:cNvPicPr>
          <p:nvPr/>
        </p:nvPicPr>
        <p:blipFill>
          <a:blip r:embed="rId2"/>
          <a:stretch>
            <a:fillRect/>
          </a:stretch>
        </p:blipFill>
        <p:spPr>
          <a:xfrm>
            <a:off x="5061857" y="987536"/>
            <a:ext cx="4644736" cy="2441464"/>
          </a:xfrm>
          <a:prstGeom prst="rect">
            <a:avLst/>
          </a:prstGeom>
        </p:spPr>
      </p:pic>
    </p:spTree>
    <p:extLst>
      <p:ext uri="{BB962C8B-B14F-4D97-AF65-F5344CB8AC3E}">
        <p14:creationId xmlns:p14="http://schemas.microsoft.com/office/powerpoint/2010/main" val="32370397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Overview</a:t>
            </a:r>
          </a:p>
        </p:txBody>
      </p:sp>
      <p:sp>
        <p:nvSpPr>
          <p:cNvPr id="5" name="Content Placeholder 4"/>
          <p:cNvSpPr>
            <a:spLocks noGrp="1"/>
          </p:cNvSpPr>
          <p:nvPr>
            <p:ph idx="1"/>
          </p:nvPr>
        </p:nvSpPr>
        <p:spPr>
          <a:xfrm>
            <a:off x="838200" y="1825625"/>
            <a:ext cx="10515600" cy="3247118"/>
          </a:xfrm>
        </p:spPr>
        <p:txBody>
          <a:bodyPr>
            <a:normAutofit/>
          </a:bodyPr>
          <a:lstStyle/>
          <a:p>
            <a:pPr marL="0" indent="0">
              <a:buNone/>
            </a:pPr>
            <a:r>
              <a:rPr lang="en-US" i="1" dirty="0">
                <a:solidFill>
                  <a:srgbClr val="333333"/>
                </a:solidFill>
                <a:latin typeface="Arial" panose="020B0604020202020204" pitchFamily="34" charset="0"/>
              </a:rPr>
              <a:t>“Apache Kafka is an open-source </a:t>
            </a:r>
            <a:r>
              <a:rPr lang="en-US" b="1" i="1" dirty="0">
                <a:solidFill>
                  <a:srgbClr val="333333"/>
                </a:solidFill>
                <a:latin typeface="Arial" panose="020B0604020202020204" pitchFamily="34" charset="0"/>
              </a:rPr>
              <a:t>distributed event streaming platform</a:t>
            </a:r>
            <a:r>
              <a:rPr lang="en-US" i="1" dirty="0">
                <a:solidFill>
                  <a:srgbClr val="333333"/>
                </a:solidFill>
                <a:latin typeface="Arial" panose="020B0604020202020204" pitchFamily="34" charset="0"/>
              </a:rPr>
              <a:t>”</a:t>
            </a:r>
          </a:p>
          <a:p>
            <a:pPr marL="0" indent="0">
              <a:buNone/>
            </a:pPr>
            <a:endParaRPr lang="en-US" b="1" dirty="0">
              <a:solidFill>
                <a:srgbClr val="000000"/>
              </a:solidFill>
              <a:latin typeface="Roboto" panose="02000000000000000000" pitchFamily="2" charset="0"/>
            </a:endParaRPr>
          </a:p>
          <a:p>
            <a:pPr marL="0" indent="0">
              <a:buNone/>
            </a:pPr>
            <a:r>
              <a:rPr lang="en-US" b="0" i="1" dirty="0">
                <a:solidFill>
                  <a:srgbClr val="333333"/>
                </a:solidFill>
                <a:effectLst/>
                <a:latin typeface="Arial" panose="020B0604020202020204" pitchFamily="34" charset="0"/>
              </a:rPr>
              <a:t>“Kafka is a </a:t>
            </a:r>
            <a:r>
              <a:rPr lang="en-US" b="1" i="1" dirty="0">
                <a:solidFill>
                  <a:srgbClr val="333333"/>
                </a:solidFill>
                <a:effectLst/>
                <a:latin typeface="Arial" panose="020B0604020202020204" pitchFamily="34" charset="0"/>
              </a:rPr>
              <a:t>distributed, partitioned, replicated commit log </a:t>
            </a:r>
            <a:r>
              <a:rPr lang="en-US" i="1" dirty="0">
                <a:solidFill>
                  <a:srgbClr val="333333"/>
                </a:solidFill>
                <a:effectLst/>
                <a:latin typeface="Arial" panose="020B0604020202020204" pitchFamily="34" charset="0"/>
              </a:rPr>
              <a:t>service</a:t>
            </a:r>
            <a:r>
              <a:rPr lang="en-US" b="0" i="1" dirty="0">
                <a:solidFill>
                  <a:srgbClr val="333333"/>
                </a:solidFill>
                <a:effectLst/>
                <a:latin typeface="Arial" panose="020B0604020202020204" pitchFamily="34" charset="0"/>
              </a:rPr>
              <a:t>. It provides the functionality of a messaging system, but with a unique design”</a:t>
            </a:r>
            <a:endParaRPr lang="en-US" b="1" dirty="0"/>
          </a:p>
        </p:txBody>
      </p:sp>
    </p:spTree>
    <p:extLst>
      <p:ext uri="{BB962C8B-B14F-4D97-AF65-F5344CB8AC3E}">
        <p14:creationId xmlns:p14="http://schemas.microsoft.com/office/powerpoint/2010/main" val="579019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3607717" y="3394863"/>
            <a:ext cx="4595629" cy="2626075"/>
          </a:xfrm>
          <a:prstGeom prst="rect">
            <a:avLst/>
          </a:prstGeom>
        </p:spPr>
      </p:pic>
      <p:sp>
        <p:nvSpPr>
          <p:cNvPr id="2" name="Title 1"/>
          <p:cNvSpPr>
            <a:spLocks noGrp="1"/>
          </p:cNvSpPr>
          <p:nvPr>
            <p:ph type="title"/>
          </p:nvPr>
        </p:nvSpPr>
        <p:spPr/>
        <p:txBody>
          <a:bodyPr/>
          <a:lstStyle/>
          <a:p>
            <a:r>
              <a:rPr lang="en-US" dirty="0"/>
              <a:t>How fast is Kafka?</a:t>
            </a:r>
          </a:p>
        </p:txBody>
      </p:sp>
      <p:sp>
        <p:nvSpPr>
          <p:cNvPr id="3" name="Content Placeholder 2"/>
          <p:cNvSpPr>
            <a:spLocks noGrp="1"/>
          </p:cNvSpPr>
          <p:nvPr>
            <p:ph idx="1"/>
          </p:nvPr>
        </p:nvSpPr>
        <p:spPr>
          <a:xfrm>
            <a:off x="1981200" y="1600201"/>
            <a:ext cx="8229600" cy="2150035"/>
          </a:xfrm>
        </p:spPr>
        <p:txBody>
          <a:bodyPr/>
          <a:lstStyle/>
          <a:p>
            <a:r>
              <a:rPr lang="en-US" sz="2000" b="1" dirty="0">
                <a:sym typeface="Wingdings"/>
              </a:rPr>
              <a:t>“Up to 2 million writes/sec on 3 cheap machines”</a:t>
            </a:r>
          </a:p>
          <a:p>
            <a:pPr lvl="1"/>
            <a:r>
              <a:rPr lang="en-US" sz="1800" dirty="0">
                <a:sym typeface="Wingdings"/>
              </a:rPr>
              <a:t>Using 3 producers on 3 different machines, 3x async replication</a:t>
            </a:r>
          </a:p>
          <a:p>
            <a:pPr lvl="2"/>
            <a:r>
              <a:rPr lang="en-US" sz="1600" dirty="0">
                <a:sym typeface="Wingdings"/>
              </a:rPr>
              <a:t>Only 1 producer/machine because NIC already saturated</a:t>
            </a:r>
          </a:p>
          <a:p>
            <a:r>
              <a:rPr lang="en-US" sz="2000" b="1" dirty="0">
                <a:sym typeface="Wingdings"/>
              </a:rPr>
              <a:t>Sustained throughput as stored data grows</a:t>
            </a:r>
          </a:p>
          <a:p>
            <a:pPr lvl="1"/>
            <a:r>
              <a:rPr lang="en-US" sz="1800" dirty="0">
                <a:sym typeface="Wingdings"/>
              </a:rPr>
              <a:t>Slightly different test config than 2M writes/sec above.</a:t>
            </a:r>
          </a:p>
          <a:p>
            <a:endParaRPr lang="en-US" sz="2000" dirty="0">
              <a:sym typeface="Wingdings"/>
            </a:endParaRPr>
          </a:p>
          <a:p>
            <a:endParaRPr lang="en-US" sz="2000" dirty="0">
              <a:sym typeface="Wingdings"/>
            </a:endParaRPr>
          </a:p>
          <a:p>
            <a:pPr marL="0" indent="0">
              <a:buNone/>
            </a:pPr>
            <a:endParaRPr lang="en-US" sz="2000" dirty="0">
              <a:sym typeface="Wingdings"/>
            </a:endParaRPr>
          </a:p>
        </p:txBody>
      </p:sp>
      <p:sp>
        <p:nvSpPr>
          <p:cNvPr id="5" name="Slide Number Placeholder 4"/>
          <p:cNvSpPr>
            <a:spLocks noGrp="1"/>
          </p:cNvSpPr>
          <p:nvPr>
            <p:ph type="sldNum" sz="quarter" idx="12"/>
          </p:nvPr>
        </p:nvSpPr>
        <p:spPr/>
        <p:txBody>
          <a:bodyPr/>
          <a:lstStyle/>
          <a:p>
            <a:fld id="{407C8B75-4858-41E6-BEC3-A0853FA4AC5B}" type="slidenum">
              <a:rPr lang="en-US" smtClean="0"/>
              <a:pPr/>
              <a:t>3</a:t>
            </a:fld>
            <a:endParaRPr lang="en-US" dirty="0"/>
          </a:p>
        </p:txBody>
      </p:sp>
    </p:spTree>
    <p:extLst>
      <p:ext uri="{BB962C8B-B14F-4D97-AF65-F5344CB8AC3E}">
        <p14:creationId xmlns:p14="http://schemas.microsoft.com/office/powerpoint/2010/main" val="3637512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Why is Kafka so fast?</a:t>
            </a:r>
          </a:p>
        </p:txBody>
      </p:sp>
      <p:sp>
        <p:nvSpPr>
          <p:cNvPr id="3" name="Content Placeholder 2"/>
          <p:cNvSpPr>
            <a:spLocks noGrp="1"/>
          </p:cNvSpPr>
          <p:nvPr>
            <p:ph idx="1"/>
          </p:nvPr>
        </p:nvSpPr>
        <p:spPr/>
        <p:txBody>
          <a:bodyPr/>
          <a:lstStyle/>
          <a:p>
            <a:r>
              <a:rPr lang="en-US" sz="2000" dirty="0">
                <a:sym typeface="Wingdings"/>
              </a:rPr>
              <a:t>Fast </a:t>
            </a:r>
            <a:r>
              <a:rPr lang="en-US" sz="2000" b="1" dirty="0">
                <a:sym typeface="Wingdings"/>
              </a:rPr>
              <a:t>writes</a:t>
            </a:r>
            <a:r>
              <a:rPr lang="en-US" sz="2000" dirty="0">
                <a:sym typeface="Wingdings"/>
              </a:rPr>
              <a:t>:</a:t>
            </a:r>
          </a:p>
          <a:p>
            <a:pPr lvl="1"/>
            <a:r>
              <a:rPr lang="en-US" sz="1800" dirty="0">
                <a:sym typeface="Wingdings"/>
              </a:rPr>
              <a:t>While Kafka persists all data to disk, essentially all writes go to the</a:t>
            </a:r>
            <a:br>
              <a:rPr lang="en-US" sz="1800" dirty="0">
                <a:sym typeface="Wingdings"/>
              </a:rPr>
            </a:br>
            <a:r>
              <a:rPr lang="en-US" sz="1800" b="1" dirty="0">
                <a:sym typeface="Wingdings"/>
              </a:rPr>
              <a:t>page cache </a:t>
            </a:r>
            <a:r>
              <a:rPr lang="en-US" sz="1800" dirty="0">
                <a:sym typeface="Wingdings"/>
              </a:rPr>
              <a:t>of OS, i.e. RAM.</a:t>
            </a:r>
          </a:p>
          <a:p>
            <a:pPr marL="0" indent="0">
              <a:buNone/>
            </a:pPr>
            <a:endParaRPr lang="en-US" sz="2000" dirty="0">
              <a:sym typeface="Wingdings"/>
            </a:endParaRPr>
          </a:p>
          <a:p>
            <a:r>
              <a:rPr lang="en-US" sz="2000" dirty="0">
                <a:sym typeface="Wingdings"/>
              </a:rPr>
              <a:t>Fast </a:t>
            </a:r>
            <a:r>
              <a:rPr lang="en-US" sz="2000" b="1" dirty="0">
                <a:sym typeface="Wingdings"/>
              </a:rPr>
              <a:t>reads</a:t>
            </a:r>
            <a:r>
              <a:rPr lang="en-US" sz="2000" dirty="0">
                <a:sym typeface="Wingdings"/>
              </a:rPr>
              <a:t>:</a:t>
            </a:r>
          </a:p>
          <a:p>
            <a:pPr lvl="1"/>
            <a:r>
              <a:rPr lang="en-US" sz="1800" dirty="0">
                <a:sym typeface="Wingdings"/>
              </a:rPr>
              <a:t>Very efficient to transfer data from page cache to a network </a:t>
            </a:r>
            <a:r>
              <a:rPr lang="en-US" sz="1800" b="1" dirty="0">
                <a:sym typeface="Wingdings"/>
              </a:rPr>
              <a:t>socket</a:t>
            </a:r>
          </a:p>
          <a:p>
            <a:pPr lvl="1"/>
            <a:r>
              <a:rPr lang="en-US" sz="1800" dirty="0">
                <a:sym typeface="Wingdings"/>
              </a:rPr>
              <a:t>Linux: </a:t>
            </a:r>
            <a:r>
              <a:rPr lang="en-US" sz="1800" b="1" dirty="0">
                <a:latin typeface="Consolas"/>
                <a:cs typeface="Consolas"/>
                <a:sym typeface="Wingdings"/>
              </a:rPr>
              <a:t>sendfile()</a:t>
            </a:r>
            <a:r>
              <a:rPr lang="en-US" sz="1800" dirty="0">
                <a:sym typeface="Wingdings"/>
              </a:rPr>
              <a:t> system call</a:t>
            </a:r>
          </a:p>
          <a:p>
            <a:endParaRPr lang="en-US" sz="2000" dirty="0"/>
          </a:p>
          <a:p>
            <a:r>
              <a:rPr lang="en-US" sz="2000" dirty="0"/>
              <a:t>Combination of the two = fast Kafka!</a:t>
            </a:r>
          </a:p>
          <a:p>
            <a:pPr lvl="1"/>
            <a:r>
              <a:rPr lang="en-US" sz="1800" dirty="0"/>
              <a:t>Example (Operations): On a Kafka cluster where the consumers are mostly caught up you will see no read activity on the disks as they will be serving data entirely from cache.</a:t>
            </a:r>
          </a:p>
        </p:txBody>
      </p:sp>
      <p:sp>
        <p:nvSpPr>
          <p:cNvPr id="5" name="Slide Number Placeholder 4"/>
          <p:cNvSpPr>
            <a:spLocks noGrp="1"/>
          </p:cNvSpPr>
          <p:nvPr>
            <p:ph type="sldNum" sz="quarter" idx="12"/>
          </p:nvPr>
        </p:nvSpPr>
        <p:spPr/>
        <p:txBody>
          <a:bodyPr/>
          <a:lstStyle/>
          <a:p>
            <a:fld id="{407C8B75-4858-41E6-BEC3-A0853FA4AC5B}" type="slidenum">
              <a:rPr lang="en-US" smtClean="0"/>
              <a:pPr/>
              <a:t>4</a:t>
            </a:fld>
            <a:endParaRPr lang="en-US" dirty="0"/>
          </a:p>
        </p:txBody>
      </p:sp>
    </p:spTree>
    <p:extLst>
      <p:ext uri="{BB962C8B-B14F-4D97-AF65-F5344CB8AC3E}">
        <p14:creationId xmlns:p14="http://schemas.microsoft.com/office/powerpoint/2010/main" val="14518956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76943" y="178027"/>
            <a:ext cx="8033657" cy="647246"/>
          </a:xfrm>
        </p:spPr>
        <p:txBody>
          <a:bodyPr>
            <a:normAutofit fontScale="90000"/>
          </a:bodyPr>
          <a:lstStyle/>
          <a:p>
            <a:r>
              <a:rPr lang="en-US" dirty="0"/>
              <a:t>Kafka Components</a:t>
            </a:r>
          </a:p>
        </p:txBody>
      </p:sp>
      <p:sp>
        <p:nvSpPr>
          <p:cNvPr id="3" name="Content Placeholder 2"/>
          <p:cNvSpPr>
            <a:spLocks noGrp="1"/>
          </p:cNvSpPr>
          <p:nvPr>
            <p:ph idx="1"/>
          </p:nvPr>
        </p:nvSpPr>
        <p:spPr>
          <a:xfrm>
            <a:off x="119743" y="1126220"/>
            <a:ext cx="5344886" cy="5230130"/>
          </a:xfrm>
        </p:spPr>
        <p:txBody>
          <a:bodyPr>
            <a:normAutofit fontScale="92500" lnSpcReduction="20000"/>
          </a:bodyPr>
          <a:lstStyle/>
          <a:p>
            <a:pPr lvl="1"/>
            <a:r>
              <a:rPr lang="en-US" b="1" dirty="0">
                <a:sym typeface="Wingdings"/>
              </a:rPr>
              <a:t>Producers</a:t>
            </a:r>
            <a:r>
              <a:rPr lang="en-US" dirty="0">
                <a:sym typeface="Wingdings"/>
              </a:rPr>
              <a:t> write data to </a:t>
            </a:r>
            <a:r>
              <a:rPr lang="en-US" b="1" dirty="0">
                <a:sym typeface="Wingdings"/>
              </a:rPr>
              <a:t>brokers</a:t>
            </a:r>
            <a:r>
              <a:rPr lang="en-US" dirty="0">
                <a:sym typeface="Wingdings"/>
              </a:rPr>
              <a:t>.</a:t>
            </a:r>
          </a:p>
          <a:p>
            <a:pPr lvl="1"/>
            <a:r>
              <a:rPr lang="en-US" b="1" dirty="0">
                <a:sym typeface="Wingdings"/>
              </a:rPr>
              <a:t>Consumers</a:t>
            </a:r>
            <a:r>
              <a:rPr lang="en-US" dirty="0">
                <a:sym typeface="Wingdings"/>
              </a:rPr>
              <a:t> read data from </a:t>
            </a:r>
            <a:r>
              <a:rPr lang="en-US" b="1" dirty="0">
                <a:sym typeface="Wingdings"/>
              </a:rPr>
              <a:t>brokers</a:t>
            </a:r>
            <a:r>
              <a:rPr lang="en-US" dirty="0">
                <a:sym typeface="Wingdings"/>
              </a:rPr>
              <a:t>.</a:t>
            </a:r>
          </a:p>
          <a:p>
            <a:pPr lvl="1"/>
            <a:r>
              <a:rPr lang="en-US" dirty="0">
                <a:sym typeface="Wingdings"/>
              </a:rPr>
              <a:t>All this is distributed.</a:t>
            </a:r>
          </a:p>
          <a:p>
            <a:pPr lvl="1"/>
            <a:r>
              <a:rPr lang="en-US" dirty="0">
                <a:sym typeface="Wingdings"/>
              </a:rPr>
              <a:t>Data is stored in </a:t>
            </a:r>
            <a:r>
              <a:rPr lang="en-US" b="1" dirty="0">
                <a:sym typeface="Wingdings"/>
              </a:rPr>
              <a:t>topics</a:t>
            </a:r>
            <a:r>
              <a:rPr lang="en-US" dirty="0">
                <a:sym typeface="Wingdings"/>
              </a:rPr>
              <a:t>.</a:t>
            </a:r>
          </a:p>
          <a:p>
            <a:pPr lvl="1"/>
            <a:r>
              <a:rPr lang="en-US" b="1" dirty="0">
                <a:sym typeface="Wingdings"/>
              </a:rPr>
              <a:t>Topics </a:t>
            </a:r>
            <a:r>
              <a:rPr lang="en-US" dirty="0">
                <a:sym typeface="Wingdings"/>
              </a:rPr>
              <a:t>are split into </a:t>
            </a:r>
            <a:r>
              <a:rPr lang="en-US" b="1" dirty="0">
                <a:sym typeface="Wingdings"/>
              </a:rPr>
              <a:t>partitions</a:t>
            </a:r>
            <a:r>
              <a:rPr lang="en-US" dirty="0">
                <a:sym typeface="Wingdings"/>
              </a:rPr>
              <a:t>,</a:t>
            </a:r>
            <a:r>
              <a:rPr lang="en-US" b="1" dirty="0">
                <a:sym typeface="Wingdings"/>
              </a:rPr>
              <a:t> </a:t>
            </a:r>
            <a:r>
              <a:rPr lang="en-US" dirty="0">
                <a:sym typeface="Wingdings"/>
              </a:rPr>
              <a:t>which are </a:t>
            </a:r>
            <a:r>
              <a:rPr lang="en-US" b="1" dirty="0">
                <a:sym typeface="Wingdings"/>
              </a:rPr>
              <a:t>replicated</a:t>
            </a:r>
            <a:r>
              <a:rPr lang="en-US" dirty="0">
                <a:sym typeface="Wingdings"/>
              </a:rPr>
              <a:t>.</a:t>
            </a:r>
          </a:p>
          <a:p>
            <a:pPr lvl="1"/>
            <a:r>
              <a:rPr lang="en-US" dirty="0">
                <a:sym typeface="Wingdings"/>
              </a:rPr>
              <a:t>Replicas are </a:t>
            </a:r>
            <a:r>
              <a:rPr lang="en-US" b="1" dirty="0">
                <a:sym typeface="Wingdings"/>
              </a:rPr>
              <a:t>backups</a:t>
            </a:r>
            <a:r>
              <a:rPr lang="en-US" dirty="0">
                <a:sym typeface="Wingdings"/>
              </a:rPr>
              <a:t> of a partition. They are never read or write data.</a:t>
            </a:r>
          </a:p>
          <a:p>
            <a:pPr lvl="1"/>
            <a:r>
              <a:rPr lang="en-US" dirty="0">
                <a:sym typeface="Wingdings"/>
              </a:rPr>
              <a:t>Each partitioned message has a unique sequence id called as </a:t>
            </a:r>
            <a:r>
              <a:rPr lang="en-US" b="1" dirty="0">
                <a:sym typeface="Wingdings"/>
              </a:rPr>
              <a:t>offset</a:t>
            </a:r>
          </a:p>
          <a:p>
            <a:pPr lvl="1"/>
            <a:r>
              <a:rPr lang="en-US" dirty="0">
                <a:sym typeface="Wingdings"/>
              </a:rPr>
              <a:t>Collection of brokers are called as Kafka </a:t>
            </a:r>
            <a:r>
              <a:rPr lang="en-US" b="1" dirty="0">
                <a:sym typeface="Wingdings"/>
              </a:rPr>
              <a:t>cluster</a:t>
            </a:r>
            <a:r>
              <a:rPr lang="en-US" dirty="0">
                <a:sym typeface="Wingdings"/>
              </a:rPr>
              <a:t>. 	</a:t>
            </a:r>
          </a:p>
          <a:p>
            <a:pPr lvl="1"/>
            <a:r>
              <a:rPr lang="en-US" b="1" dirty="0">
                <a:sym typeface="Wingdings"/>
              </a:rPr>
              <a:t>Leader</a:t>
            </a:r>
            <a:r>
              <a:rPr lang="en-US" dirty="0">
                <a:sym typeface="Wingdings"/>
              </a:rPr>
              <a:t> is the node responsible for all reads and writes for the given partition.</a:t>
            </a:r>
          </a:p>
          <a:p>
            <a:pPr lvl="1"/>
            <a:r>
              <a:rPr lang="en-US" dirty="0"/>
              <a:t>If the leader fails, one of the </a:t>
            </a:r>
            <a:r>
              <a:rPr lang="en-US" b="1" dirty="0"/>
              <a:t>follower</a:t>
            </a:r>
            <a:r>
              <a:rPr lang="en-US" dirty="0"/>
              <a:t> will automatically become the new leader. </a:t>
            </a:r>
            <a:endParaRPr lang="en-US" dirty="0">
              <a:sym typeface="Wingdings"/>
            </a:endParaRPr>
          </a:p>
          <a:p>
            <a:pPr lvl="1"/>
            <a:endParaRPr lang="en-US" dirty="0">
              <a:sym typeface="Wingdings"/>
            </a:endParaRPr>
          </a:p>
          <a:p>
            <a:pPr lvl="1"/>
            <a:endParaRPr lang="en-US" b="1" dirty="0">
              <a:sym typeface="Wingdings"/>
            </a:endParaRPr>
          </a:p>
          <a:p>
            <a:pPr marL="0" indent="0">
              <a:buNone/>
            </a:pPr>
            <a:endParaRPr lang="en-US" dirty="0">
              <a:sym typeface="Wingdings"/>
            </a:endParaRPr>
          </a:p>
        </p:txBody>
      </p:sp>
      <p:sp>
        <p:nvSpPr>
          <p:cNvPr id="5" name="Slide Number Placeholder 4"/>
          <p:cNvSpPr>
            <a:spLocks noGrp="1"/>
          </p:cNvSpPr>
          <p:nvPr>
            <p:ph type="sldNum" sz="quarter" idx="12"/>
          </p:nvPr>
        </p:nvSpPr>
        <p:spPr/>
        <p:txBody>
          <a:bodyPr/>
          <a:lstStyle/>
          <a:p>
            <a:fld id="{407C8B75-4858-41E6-BEC3-A0853FA4AC5B}" type="slidenum">
              <a:rPr lang="en-US" smtClean="0"/>
              <a:pPr/>
              <a:t>5</a:t>
            </a:fld>
            <a:endParaRPr lang="en-US" dirty="0"/>
          </a:p>
        </p:txBody>
      </p:sp>
      <p:pic>
        <p:nvPicPr>
          <p:cNvPr id="1026" name="Picture 2" descr="Fundamentals">
            <a:extLst>
              <a:ext uri="{FF2B5EF4-FFF2-40B4-BE49-F238E27FC236}">
                <a16:creationId xmlns:a16="http://schemas.microsoft.com/office/drawing/2014/main" id="{B9FE69D7-E4A1-87CD-0F4E-C65137BF9D1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47657" y="584880"/>
            <a:ext cx="6139542" cy="280851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a:extLst>
              <a:ext uri="{FF2B5EF4-FFF2-40B4-BE49-F238E27FC236}">
                <a16:creationId xmlns:a16="http://schemas.microsoft.com/office/drawing/2014/main" id="{9D8542BC-6AD4-3E6E-63C6-04AED7C99F83}"/>
              </a:ext>
            </a:extLst>
          </p:cNvPr>
          <p:cNvPicPr>
            <a:picLocks noChangeAspect="1"/>
          </p:cNvPicPr>
          <p:nvPr/>
        </p:nvPicPr>
        <p:blipFill>
          <a:blip r:embed="rId3"/>
          <a:stretch>
            <a:fillRect/>
          </a:stretch>
        </p:blipFill>
        <p:spPr>
          <a:xfrm>
            <a:off x="6434586" y="3788229"/>
            <a:ext cx="4352027" cy="2770286"/>
          </a:xfrm>
          <a:prstGeom prst="rect">
            <a:avLst/>
          </a:prstGeom>
        </p:spPr>
      </p:pic>
    </p:spTree>
    <p:extLst>
      <p:ext uri="{BB962C8B-B14F-4D97-AF65-F5344CB8AC3E}">
        <p14:creationId xmlns:p14="http://schemas.microsoft.com/office/powerpoint/2010/main" val="35191559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EA5FC-C2E5-1B32-3A90-1CD1EF38D9E8}"/>
              </a:ext>
            </a:extLst>
          </p:cNvPr>
          <p:cNvSpPr>
            <a:spLocks noGrp="1"/>
          </p:cNvSpPr>
          <p:nvPr>
            <p:ph type="title"/>
          </p:nvPr>
        </p:nvSpPr>
        <p:spPr>
          <a:xfrm>
            <a:off x="838200" y="365126"/>
            <a:ext cx="10515600" cy="298904"/>
          </a:xfrm>
        </p:spPr>
        <p:txBody>
          <a:bodyPr>
            <a:normAutofit fontScale="90000"/>
          </a:bodyPr>
          <a:lstStyle/>
          <a:p>
            <a:r>
              <a:rPr lang="en-IN" i="0" dirty="0">
                <a:solidFill>
                  <a:srgbClr val="1A2C47"/>
                </a:solidFill>
                <a:effectLst/>
                <a:latin typeface="__Source_Sans_Pro_2fe30b"/>
              </a:rPr>
              <a:t>Roles of ZooKeeper in Kafka</a:t>
            </a:r>
            <a:endParaRPr lang="en-IN" dirty="0"/>
          </a:p>
        </p:txBody>
      </p:sp>
      <p:sp>
        <p:nvSpPr>
          <p:cNvPr id="4" name="TextBox 3">
            <a:extLst>
              <a:ext uri="{FF2B5EF4-FFF2-40B4-BE49-F238E27FC236}">
                <a16:creationId xmlns:a16="http://schemas.microsoft.com/office/drawing/2014/main" id="{D0873046-5854-1465-1B49-C3A336B0C179}"/>
              </a:ext>
            </a:extLst>
          </p:cNvPr>
          <p:cNvSpPr txBox="1"/>
          <p:nvPr/>
        </p:nvSpPr>
        <p:spPr>
          <a:xfrm>
            <a:off x="391886" y="856518"/>
            <a:ext cx="5431971" cy="4801314"/>
          </a:xfrm>
          <a:prstGeom prst="rect">
            <a:avLst/>
          </a:prstGeom>
          <a:noFill/>
        </p:spPr>
        <p:txBody>
          <a:bodyPr wrap="square">
            <a:spAutoFit/>
          </a:bodyPr>
          <a:lstStyle/>
          <a:p>
            <a:r>
              <a:rPr lang="en-US" b="1" dirty="0"/>
              <a:t>In Kafka Brokers</a:t>
            </a:r>
          </a:p>
          <a:p>
            <a:endParaRPr lang="en-US" dirty="0"/>
          </a:p>
          <a:p>
            <a:pPr marL="285750" indent="-285750">
              <a:buFont typeface="Arial" panose="020B0604020202020204" pitchFamily="34" charset="0"/>
              <a:buChar char="•"/>
            </a:pPr>
            <a:r>
              <a:rPr lang="en-US" b="1" dirty="0"/>
              <a:t>Registration of Broker: </a:t>
            </a:r>
            <a:r>
              <a:rPr lang="en-US" dirty="0"/>
              <a:t>Kafka brokers register with ZooKeeper to enable other brokers and clients to find and contact them, and ZooKeeper keeps track of active brokers and their connection information.</a:t>
            </a:r>
          </a:p>
          <a:p>
            <a:pPr marL="285750" indent="-285750">
              <a:buFont typeface="Arial" panose="020B0604020202020204" pitchFamily="34" charset="0"/>
              <a:buChar char="•"/>
            </a:pPr>
            <a:r>
              <a:rPr lang="en-US" b="1" dirty="0"/>
              <a:t>Membership of Cluster: </a:t>
            </a:r>
            <a:r>
              <a:rPr lang="en-US" dirty="0"/>
              <a:t>ZooKeeper keeps track of the Kafka cluster's active brokers and stores membership information, allowing for dynamic cluster membership changes and a current view.</a:t>
            </a:r>
          </a:p>
          <a:p>
            <a:pPr marL="285750" indent="-285750">
              <a:buFont typeface="Arial" panose="020B0604020202020204" pitchFamily="34" charset="0"/>
              <a:buChar char="•"/>
            </a:pPr>
            <a:r>
              <a:rPr lang="en-US" b="1" dirty="0"/>
              <a:t>Controller Election: </a:t>
            </a:r>
            <a:r>
              <a:rPr lang="en-US" dirty="0"/>
              <a:t>ZooKeeper makes the controller election process easier by ensuring that only one broker is the controller at any given time.</a:t>
            </a:r>
          </a:p>
          <a:p>
            <a:pPr marL="285750" indent="-285750">
              <a:buFont typeface="Arial" panose="020B0604020202020204" pitchFamily="34" charset="0"/>
              <a:buChar char="•"/>
            </a:pPr>
            <a:r>
              <a:rPr lang="en-US" b="1" dirty="0"/>
              <a:t>Cluster Events and Alerts: </a:t>
            </a:r>
            <a:r>
              <a:rPr lang="en-US" dirty="0"/>
              <a:t>ZooKeeper sends alerts to Kafka brokers about cluster events and changes. For example, if a broker fails or quits the cluster, ZooKeeper can alert the other brokers.</a:t>
            </a:r>
            <a:endParaRPr lang="en-IN" dirty="0"/>
          </a:p>
        </p:txBody>
      </p:sp>
      <p:sp>
        <p:nvSpPr>
          <p:cNvPr id="8" name="TextBox 7">
            <a:extLst>
              <a:ext uri="{FF2B5EF4-FFF2-40B4-BE49-F238E27FC236}">
                <a16:creationId xmlns:a16="http://schemas.microsoft.com/office/drawing/2014/main" id="{94D90D0E-D483-0B81-BB55-13AA336B0713}"/>
              </a:ext>
            </a:extLst>
          </p:cNvPr>
          <p:cNvSpPr txBox="1"/>
          <p:nvPr/>
        </p:nvSpPr>
        <p:spPr>
          <a:xfrm>
            <a:off x="6085114" y="889843"/>
            <a:ext cx="5715000" cy="5078313"/>
          </a:xfrm>
          <a:prstGeom prst="rect">
            <a:avLst/>
          </a:prstGeom>
          <a:noFill/>
        </p:spPr>
        <p:txBody>
          <a:bodyPr wrap="square">
            <a:spAutoFit/>
          </a:bodyPr>
          <a:lstStyle/>
          <a:p>
            <a:pPr algn="l">
              <a:buNone/>
            </a:pPr>
            <a:r>
              <a:rPr lang="en-US" b="1" i="0" dirty="0">
                <a:solidFill>
                  <a:srgbClr val="1A2C47"/>
                </a:solidFill>
                <a:effectLst/>
                <a:latin typeface="__Source_Sans_Pro_2fe30b"/>
              </a:rPr>
              <a:t>In Kafka Consumers</a:t>
            </a:r>
          </a:p>
          <a:p>
            <a:pPr algn="l">
              <a:buFont typeface="Arial" panose="020B0604020202020204" pitchFamily="34" charset="0"/>
              <a:buChar char="•"/>
            </a:pPr>
            <a:r>
              <a:rPr lang="en-US" b="1" i="0" dirty="0">
                <a:solidFill>
                  <a:srgbClr val="61738E"/>
                </a:solidFill>
                <a:effectLst/>
                <a:latin typeface="__Source_Sans_Pro_2fe30b"/>
              </a:rPr>
              <a:t>Cluster Coordination: </a:t>
            </a:r>
            <a:r>
              <a:rPr lang="en-US" b="0" i="0" dirty="0">
                <a:solidFill>
                  <a:srgbClr val="61738E"/>
                </a:solidFill>
                <a:effectLst/>
                <a:latin typeface="__Source_Sans_Pro_2fe30b"/>
              </a:rPr>
              <a:t>ZooKeeper is responsible for arranging consumer groups in Kafka and keeping track of active groups and their members, as well as group membership information such as customers and partitions.</a:t>
            </a:r>
          </a:p>
          <a:p>
            <a:pPr algn="l">
              <a:buFont typeface="Arial" panose="020B0604020202020204" pitchFamily="34" charset="0"/>
              <a:buChar char="•"/>
            </a:pPr>
            <a:r>
              <a:rPr lang="en-US" b="1" i="0" dirty="0">
                <a:solidFill>
                  <a:srgbClr val="61738E"/>
                </a:solidFill>
                <a:effectLst/>
                <a:latin typeface="__Source_Sans_Pro_2fe30b"/>
              </a:rPr>
              <a:t>Group Membership and Rebalancing: </a:t>
            </a:r>
            <a:r>
              <a:rPr lang="en-US" b="0" i="0" dirty="0">
                <a:solidFill>
                  <a:srgbClr val="61738E"/>
                </a:solidFill>
                <a:effectLst/>
                <a:latin typeface="__Source_Sans_Pro_2fe30b"/>
              </a:rPr>
              <a:t>ZooKeeper simplifies group membership management by assigning partitions fairly among active consumers and coordinating the partition reassignment process when group membership changes.</a:t>
            </a:r>
          </a:p>
          <a:p>
            <a:pPr algn="l">
              <a:buFont typeface="Arial" panose="020B0604020202020204" pitchFamily="34" charset="0"/>
              <a:buChar char="•"/>
            </a:pPr>
            <a:r>
              <a:rPr lang="en-US" b="1" i="0" dirty="0">
                <a:solidFill>
                  <a:srgbClr val="61738E"/>
                </a:solidFill>
                <a:effectLst/>
                <a:latin typeface="__Source_Sans_Pro_2fe30b"/>
              </a:rPr>
              <a:t>Offset Commitment: </a:t>
            </a:r>
            <a:r>
              <a:rPr lang="en-US" b="0" i="0" dirty="0">
                <a:solidFill>
                  <a:srgbClr val="61738E"/>
                </a:solidFill>
                <a:effectLst/>
                <a:latin typeface="__Source_Sans_Pro_2fe30b"/>
              </a:rPr>
              <a:t>Kafka consumers store their current offset, which can be managed by ZooKeeper, which maintains committed offset information for each consumer group.</a:t>
            </a:r>
          </a:p>
          <a:p>
            <a:pPr algn="l">
              <a:buFont typeface="Arial" panose="020B0604020202020204" pitchFamily="34" charset="0"/>
              <a:buChar char="•"/>
            </a:pPr>
            <a:r>
              <a:rPr lang="en-US" b="1" i="0" dirty="0">
                <a:solidFill>
                  <a:srgbClr val="61738E"/>
                </a:solidFill>
                <a:effectLst/>
                <a:latin typeface="__Source_Sans_Pro_2fe30b"/>
              </a:rPr>
              <a:t>Consumer Metadata: </a:t>
            </a:r>
            <a:r>
              <a:rPr lang="en-US" b="0" i="0" dirty="0">
                <a:solidFill>
                  <a:srgbClr val="61738E"/>
                </a:solidFill>
                <a:effectLst/>
                <a:latin typeface="__Source_Sans_Pro_2fe30b"/>
              </a:rPr>
              <a:t>ZooKeeper saves consumer-related metadata, which other components or monitoring systems can utilize to track the progress and status of individual consumers or consumer groups.</a:t>
            </a:r>
          </a:p>
        </p:txBody>
      </p:sp>
      <p:sp>
        <p:nvSpPr>
          <p:cNvPr id="10" name="TextBox 9">
            <a:extLst>
              <a:ext uri="{FF2B5EF4-FFF2-40B4-BE49-F238E27FC236}">
                <a16:creationId xmlns:a16="http://schemas.microsoft.com/office/drawing/2014/main" id="{BEC2EC7C-4479-8F12-8611-660F1293DFEA}"/>
              </a:ext>
            </a:extLst>
          </p:cNvPr>
          <p:cNvSpPr txBox="1"/>
          <p:nvPr/>
        </p:nvSpPr>
        <p:spPr>
          <a:xfrm>
            <a:off x="1382485" y="6308208"/>
            <a:ext cx="10711543" cy="369332"/>
          </a:xfrm>
          <a:prstGeom prst="rect">
            <a:avLst/>
          </a:prstGeom>
          <a:noFill/>
        </p:spPr>
        <p:txBody>
          <a:bodyPr wrap="square">
            <a:spAutoFit/>
          </a:bodyPr>
          <a:lstStyle/>
          <a:p>
            <a:r>
              <a:rPr lang="en-IN" dirty="0">
                <a:hlinkClick r:id="rId2"/>
              </a:rPr>
              <a:t>https://www.scaler.com/topics/kafka-tutorial/the-role-of-zookeeper-in-the-kafka-cluster/</a:t>
            </a:r>
            <a:r>
              <a:rPr lang="en-IN" dirty="0"/>
              <a:t> </a:t>
            </a:r>
          </a:p>
        </p:txBody>
      </p:sp>
    </p:spTree>
    <p:extLst>
      <p:ext uri="{BB962C8B-B14F-4D97-AF65-F5344CB8AC3E}">
        <p14:creationId xmlns:p14="http://schemas.microsoft.com/office/powerpoint/2010/main" val="15881581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p:cNvGrpSpPr/>
          <p:nvPr/>
        </p:nvGrpSpPr>
        <p:grpSpPr>
          <a:xfrm>
            <a:off x="3095311" y="2475231"/>
            <a:ext cx="5208999" cy="3583701"/>
            <a:chOff x="1571310" y="2222500"/>
            <a:chExt cx="5208999" cy="3836431"/>
          </a:xfrm>
        </p:grpSpPr>
        <p:sp>
          <p:nvSpPr>
            <p:cNvPr id="33" name="Rectangle 32"/>
            <p:cNvSpPr/>
            <p:nvPr/>
          </p:nvSpPr>
          <p:spPr>
            <a:xfrm>
              <a:off x="1571310" y="2222500"/>
              <a:ext cx="5208999" cy="38364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34" name="TextBox 33"/>
            <p:cNvSpPr txBox="1"/>
            <p:nvPr/>
          </p:nvSpPr>
          <p:spPr>
            <a:xfrm>
              <a:off x="3831740" y="5660742"/>
              <a:ext cx="844462" cy="329482"/>
            </a:xfrm>
            <a:prstGeom prst="rect">
              <a:avLst/>
            </a:prstGeom>
            <a:noFill/>
          </p:spPr>
          <p:txBody>
            <a:bodyPr wrap="none" rtlCol="0">
              <a:spAutoFit/>
            </a:bodyPr>
            <a:lstStyle/>
            <a:p>
              <a:r>
                <a:rPr lang="en-US" sz="1400" dirty="0"/>
                <a:t>Broker(s)</a:t>
              </a:r>
            </a:p>
          </p:txBody>
        </p:sp>
      </p:grpSp>
      <p:sp>
        <p:nvSpPr>
          <p:cNvPr id="2" name="Title 1"/>
          <p:cNvSpPr>
            <a:spLocks noGrp="1"/>
          </p:cNvSpPr>
          <p:nvPr>
            <p:ph type="title"/>
          </p:nvPr>
        </p:nvSpPr>
        <p:spPr>
          <a:xfrm>
            <a:off x="838200" y="365126"/>
            <a:ext cx="10515600" cy="583256"/>
          </a:xfrm>
        </p:spPr>
        <p:txBody>
          <a:bodyPr>
            <a:normAutofit fontScale="90000"/>
          </a:bodyPr>
          <a:lstStyle/>
          <a:p>
            <a:r>
              <a:rPr lang="en-US" dirty="0"/>
              <a:t>Topics</a:t>
            </a:r>
          </a:p>
        </p:txBody>
      </p:sp>
      <p:sp>
        <p:nvSpPr>
          <p:cNvPr id="5" name="Slide Number Placeholder 4"/>
          <p:cNvSpPr>
            <a:spLocks noGrp="1"/>
          </p:cNvSpPr>
          <p:nvPr>
            <p:ph type="sldNum" sz="quarter" idx="12"/>
          </p:nvPr>
        </p:nvSpPr>
        <p:spPr/>
        <p:txBody>
          <a:bodyPr/>
          <a:lstStyle/>
          <a:p>
            <a:fld id="{407C8B75-4858-41E6-BEC3-A0853FA4AC5B}" type="slidenum">
              <a:rPr lang="en-US" smtClean="0"/>
              <a:pPr/>
              <a:t>7</a:t>
            </a:fld>
            <a:endParaRPr lang="en-US" dirty="0"/>
          </a:p>
        </p:txBody>
      </p:sp>
      <p:sp>
        <p:nvSpPr>
          <p:cNvPr id="17" name="Rectangle 16"/>
          <p:cNvSpPr/>
          <p:nvPr/>
        </p:nvSpPr>
        <p:spPr>
          <a:xfrm>
            <a:off x="41465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19" name="Rectangle 18"/>
          <p:cNvSpPr/>
          <p:nvPr/>
        </p:nvSpPr>
        <p:spPr>
          <a:xfrm>
            <a:off x="45212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0" name="Rectangle 19"/>
          <p:cNvSpPr/>
          <p:nvPr/>
        </p:nvSpPr>
        <p:spPr>
          <a:xfrm>
            <a:off x="52641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1" name="Rectangle 20"/>
          <p:cNvSpPr/>
          <p:nvPr/>
        </p:nvSpPr>
        <p:spPr>
          <a:xfrm>
            <a:off x="48895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2" name="Rectangle 21"/>
          <p:cNvSpPr/>
          <p:nvPr/>
        </p:nvSpPr>
        <p:spPr>
          <a:xfrm>
            <a:off x="56388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3" name="Rectangle 22"/>
          <p:cNvSpPr/>
          <p:nvPr/>
        </p:nvSpPr>
        <p:spPr>
          <a:xfrm>
            <a:off x="63817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4" name="Rectangle 23"/>
          <p:cNvSpPr/>
          <p:nvPr/>
        </p:nvSpPr>
        <p:spPr>
          <a:xfrm>
            <a:off x="60071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5" name="Rectangle 24"/>
          <p:cNvSpPr/>
          <p:nvPr/>
        </p:nvSpPr>
        <p:spPr>
          <a:xfrm>
            <a:off x="67564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nvGrpSpPr>
          <p:cNvPr id="45" name="Group 44"/>
          <p:cNvGrpSpPr/>
          <p:nvPr/>
        </p:nvGrpSpPr>
        <p:grpSpPr>
          <a:xfrm>
            <a:off x="6675341" y="2557957"/>
            <a:ext cx="3278735" cy="1959355"/>
            <a:chOff x="5151340" y="2557956"/>
            <a:chExt cx="3278735" cy="1959355"/>
          </a:xfrm>
        </p:grpSpPr>
        <p:sp>
          <p:nvSpPr>
            <p:cNvPr id="27" name="Rectangle 26"/>
            <p:cNvSpPr/>
            <p:nvPr/>
          </p:nvSpPr>
          <p:spPr>
            <a:xfrm>
              <a:off x="56007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rgbClr val="000000"/>
                  </a:solidFill>
                </a:rPr>
                <a:t>new</a:t>
              </a:r>
            </a:p>
          </p:txBody>
        </p:sp>
        <p:sp>
          <p:nvSpPr>
            <p:cNvPr id="11" name="TextBox 10"/>
            <p:cNvSpPr txBox="1"/>
            <p:nvPr/>
          </p:nvSpPr>
          <p:spPr>
            <a:xfrm>
              <a:off x="7213600" y="2557956"/>
              <a:ext cx="1084271" cy="307777"/>
            </a:xfrm>
            <a:prstGeom prst="rect">
              <a:avLst/>
            </a:prstGeom>
            <a:noFill/>
          </p:spPr>
          <p:txBody>
            <a:bodyPr wrap="none" rtlCol="0">
              <a:spAutoFit/>
            </a:bodyPr>
            <a:lstStyle/>
            <a:p>
              <a:r>
                <a:rPr lang="en-US" sz="1400" dirty="0"/>
                <a:t>Producer A1</a:t>
              </a:r>
            </a:p>
          </p:txBody>
        </p:sp>
        <p:sp>
          <p:nvSpPr>
            <p:cNvPr id="29" name="TextBox 28"/>
            <p:cNvSpPr txBox="1"/>
            <p:nvPr/>
          </p:nvSpPr>
          <p:spPr>
            <a:xfrm>
              <a:off x="7213600" y="2853428"/>
              <a:ext cx="1084271" cy="307777"/>
            </a:xfrm>
            <a:prstGeom prst="rect">
              <a:avLst/>
            </a:prstGeom>
            <a:noFill/>
          </p:spPr>
          <p:txBody>
            <a:bodyPr wrap="none" rtlCol="0">
              <a:spAutoFit/>
            </a:bodyPr>
            <a:lstStyle/>
            <a:p>
              <a:r>
                <a:rPr lang="en-US" sz="1400" dirty="0"/>
                <a:t>Producer A2</a:t>
              </a:r>
            </a:p>
          </p:txBody>
        </p:sp>
        <p:sp>
          <p:nvSpPr>
            <p:cNvPr id="30" name="TextBox 29"/>
            <p:cNvSpPr txBox="1"/>
            <p:nvPr/>
          </p:nvSpPr>
          <p:spPr>
            <a:xfrm>
              <a:off x="7213600" y="3263202"/>
              <a:ext cx="1085875" cy="307777"/>
            </a:xfrm>
            <a:prstGeom prst="rect">
              <a:avLst/>
            </a:prstGeom>
            <a:noFill/>
          </p:spPr>
          <p:txBody>
            <a:bodyPr wrap="none" rtlCol="0">
              <a:spAutoFit/>
            </a:bodyPr>
            <a:lstStyle/>
            <a:p>
              <a:r>
                <a:rPr lang="en-US" sz="1400" dirty="0"/>
                <a:t>Producer A</a:t>
              </a:r>
              <a:r>
                <a:rPr lang="en-US" sz="1400" i="1" dirty="0"/>
                <a:t>n</a:t>
              </a:r>
            </a:p>
          </p:txBody>
        </p:sp>
        <p:sp>
          <p:nvSpPr>
            <p:cNvPr id="31" name="TextBox 30"/>
            <p:cNvSpPr txBox="1"/>
            <p:nvPr/>
          </p:nvSpPr>
          <p:spPr>
            <a:xfrm>
              <a:off x="7548101" y="3007317"/>
              <a:ext cx="308098" cy="307777"/>
            </a:xfrm>
            <a:prstGeom prst="rect">
              <a:avLst/>
            </a:prstGeom>
            <a:noFill/>
          </p:spPr>
          <p:txBody>
            <a:bodyPr wrap="none" rtlCol="0">
              <a:spAutoFit/>
            </a:bodyPr>
            <a:lstStyle/>
            <a:p>
              <a:r>
                <a:rPr lang="en-US" sz="1400" dirty="0"/>
                <a:t>…</a:t>
              </a:r>
            </a:p>
          </p:txBody>
        </p:sp>
        <p:cxnSp>
          <p:nvCxnSpPr>
            <p:cNvPr id="36" name="Elbow Connector 35"/>
            <p:cNvCxnSpPr/>
            <p:nvPr/>
          </p:nvCxnSpPr>
          <p:spPr>
            <a:xfrm rot="10800000" flipV="1">
              <a:off x="6137822" y="2768600"/>
              <a:ext cx="897979" cy="596900"/>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151340" y="3932535"/>
              <a:ext cx="3278735" cy="584776"/>
            </a:xfrm>
            <a:prstGeom prst="rect">
              <a:avLst/>
            </a:prstGeom>
            <a:noFill/>
          </p:spPr>
          <p:txBody>
            <a:bodyPr wrap="none" rtlCol="0">
              <a:spAutoFit/>
            </a:bodyPr>
            <a:lstStyle/>
            <a:p>
              <a:pPr algn="ctr"/>
              <a:r>
                <a:rPr lang="en-US" sz="1600" i="1" dirty="0">
                  <a:latin typeface="Arial"/>
                  <a:cs typeface="Arial"/>
                </a:rPr>
                <a:t>Producers always append to “tail”</a:t>
              </a:r>
            </a:p>
            <a:p>
              <a:pPr algn="ctr"/>
              <a:r>
                <a:rPr lang="en-US" sz="1600" i="1" dirty="0">
                  <a:latin typeface="Arial"/>
                  <a:cs typeface="Arial"/>
                </a:rPr>
                <a:t>(think: append to a file)</a:t>
              </a:r>
            </a:p>
          </p:txBody>
        </p:sp>
      </p:grpSp>
      <p:sp>
        <p:nvSpPr>
          <p:cNvPr id="40" name="TextBox 39"/>
          <p:cNvSpPr txBox="1"/>
          <p:nvPr/>
        </p:nvSpPr>
        <p:spPr>
          <a:xfrm>
            <a:off x="3731751" y="3211612"/>
            <a:ext cx="308098" cy="307777"/>
          </a:xfrm>
          <a:prstGeom prst="rect">
            <a:avLst/>
          </a:prstGeom>
          <a:noFill/>
        </p:spPr>
        <p:txBody>
          <a:bodyPr wrap="none" rtlCol="0">
            <a:spAutoFit/>
          </a:bodyPr>
          <a:lstStyle/>
          <a:p>
            <a:r>
              <a:rPr lang="en-US" sz="1400" dirty="0"/>
              <a:t>…</a:t>
            </a:r>
          </a:p>
        </p:txBody>
      </p:sp>
      <p:grpSp>
        <p:nvGrpSpPr>
          <p:cNvPr id="44" name="Group 43"/>
          <p:cNvGrpSpPr/>
          <p:nvPr/>
        </p:nvGrpSpPr>
        <p:grpSpPr>
          <a:xfrm>
            <a:off x="2206074" y="2062755"/>
            <a:ext cx="5256340" cy="802979"/>
            <a:chOff x="682074" y="2062754"/>
            <a:chExt cx="5256340" cy="802979"/>
          </a:xfrm>
        </p:grpSpPr>
        <p:sp>
          <p:nvSpPr>
            <p:cNvPr id="42" name="Left Brace 41"/>
            <p:cNvSpPr/>
            <p:nvPr/>
          </p:nvSpPr>
          <p:spPr>
            <a:xfrm rot="5400000">
              <a:off x="1943303" y="2237083"/>
              <a:ext cx="419100" cy="838200"/>
            </a:xfrm>
            <a:prstGeom prst="leftBrace">
              <a:avLst/>
            </a:prstGeom>
            <a:ln>
              <a:solidFill>
                <a:srgbClr val="4F81BD"/>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dirty="0">
                <a:solidFill>
                  <a:srgbClr val="0061A3"/>
                </a:solidFill>
              </a:endParaRPr>
            </a:p>
          </p:txBody>
        </p:sp>
        <p:sp>
          <p:nvSpPr>
            <p:cNvPr id="43" name="TextBox 42"/>
            <p:cNvSpPr txBox="1"/>
            <p:nvPr/>
          </p:nvSpPr>
          <p:spPr>
            <a:xfrm>
              <a:off x="682074" y="2062754"/>
              <a:ext cx="5256340" cy="338554"/>
            </a:xfrm>
            <a:prstGeom prst="rect">
              <a:avLst/>
            </a:prstGeom>
            <a:noFill/>
          </p:spPr>
          <p:txBody>
            <a:bodyPr wrap="none" rtlCol="0">
              <a:spAutoFit/>
            </a:bodyPr>
            <a:lstStyle/>
            <a:p>
              <a:pPr algn="ctr"/>
              <a:r>
                <a:rPr lang="en-US" sz="1600" i="1" dirty="0">
                  <a:latin typeface="Arial"/>
                  <a:cs typeface="Arial"/>
                </a:rPr>
                <a:t>Kafka prunes “head” based on </a:t>
              </a:r>
              <a:r>
                <a:rPr lang="en-US" sz="1600" i="1" dirty="0">
                  <a:solidFill>
                    <a:srgbClr val="FF0000"/>
                  </a:solidFill>
                  <a:latin typeface="Arial"/>
                  <a:cs typeface="Arial"/>
                </a:rPr>
                <a:t>age</a:t>
              </a:r>
              <a:r>
                <a:rPr lang="en-US" sz="1600" i="1" dirty="0">
                  <a:latin typeface="Arial"/>
                  <a:cs typeface="Arial"/>
                </a:rPr>
                <a:t> or </a:t>
              </a:r>
              <a:r>
                <a:rPr lang="en-US" sz="1600" i="1" dirty="0">
                  <a:solidFill>
                    <a:srgbClr val="FF0000"/>
                  </a:solidFill>
                  <a:latin typeface="Arial"/>
                  <a:cs typeface="Arial"/>
                </a:rPr>
                <a:t>max size</a:t>
              </a:r>
              <a:r>
                <a:rPr lang="en-US" sz="1600" i="1" dirty="0">
                  <a:latin typeface="Arial"/>
                  <a:cs typeface="Arial"/>
                </a:rPr>
                <a:t> or </a:t>
              </a:r>
              <a:r>
                <a:rPr lang="en-US" sz="1600" i="1" dirty="0">
                  <a:solidFill>
                    <a:srgbClr val="FF0000"/>
                  </a:solidFill>
                  <a:latin typeface="Arial"/>
                  <a:cs typeface="Arial"/>
                </a:rPr>
                <a:t>“key”</a:t>
              </a:r>
            </a:p>
          </p:txBody>
        </p:sp>
      </p:grpSp>
      <p:sp>
        <p:nvSpPr>
          <p:cNvPr id="46" name="TextBox 45"/>
          <p:cNvSpPr txBox="1"/>
          <p:nvPr/>
        </p:nvSpPr>
        <p:spPr>
          <a:xfrm>
            <a:off x="3692737" y="3558977"/>
            <a:ext cx="1000595" cy="307777"/>
          </a:xfrm>
          <a:prstGeom prst="rect">
            <a:avLst/>
          </a:prstGeom>
          <a:noFill/>
        </p:spPr>
        <p:txBody>
          <a:bodyPr wrap="none" rtlCol="0">
            <a:spAutoFit/>
          </a:bodyPr>
          <a:lstStyle/>
          <a:p>
            <a:r>
              <a:rPr lang="en-US" sz="1400" dirty="0"/>
              <a:t>Older msgs</a:t>
            </a:r>
          </a:p>
        </p:txBody>
      </p:sp>
      <p:sp>
        <p:nvSpPr>
          <p:cNvPr id="47" name="TextBox 46"/>
          <p:cNvSpPr txBox="1"/>
          <p:nvPr/>
        </p:nvSpPr>
        <p:spPr>
          <a:xfrm>
            <a:off x="6026151" y="3558977"/>
            <a:ext cx="1076641" cy="307777"/>
          </a:xfrm>
          <a:prstGeom prst="rect">
            <a:avLst/>
          </a:prstGeom>
          <a:noFill/>
        </p:spPr>
        <p:txBody>
          <a:bodyPr wrap="none" rtlCol="0">
            <a:spAutoFit/>
          </a:bodyPr>
          <a:lstStyle/>
          <a:p>
            <a:r>
              <a:rPr lang="en-US" sz="1400" dirty="0"/>
              <a:t>Newer msgs</a:t>
            </a:r>
          </a:p>
        </p:txBody>
      </p:sp>
      <p:sp>
        <p:nvSpPr>
          <p:cNvPr id="48" name="TextBox 47"/>
          <p:cNvSpPr txBox="1"/>
          <p:nvPr/>
        </p:nvSpPr>
        <p:spPr>
          <a:xfrm>
            <a:off x="4902200" y="2761854"/>
            <a:ext cx="1009444" cy="307777"/>
          </a:xfrm>
          <a:prstGeom prst="rect">
            <a:avLst/>
          </a:prstGeom>
          <a:noFill/>
        </p:spPr>
        <p:txBody>
          <a:bodyPr wrap="none" rtlCol="0">
            <a:spAutoFit/>
          </a:bodyPr>
          <a:lstStyle/>
          <a:p>
            <a:r>
              <a:rPr lang="en-US" sz="1400" b="1" dirty="0"/>
              <a:t>Kafka topic</a:t>
            </a:r>
          </a:p>
        </p:txBody>
      </p:sp>
      <p:sp>
        <p:nvSpPr>
          <p:cNvPr id="35" name="Content Placeholder 2"/>
          <p:cNvSpPr>
            <a:spLocks noGrp="1"/>
          </p:cNvSpPr>
          <p:nvPr>
            <p:ph idx="1"/>
          </p:nvPr>
        </p:nvSpPr>
        <p:spPr>
          <a:xfrm>
            <a:off x="1981200" y="1078993"/>
            <a:ext cx="8229600" cy="1682861"/>
          </a:xfrm>
        </p:spPr>
        <p:txBody>
          <a:bodyPr>
            <a:normAutofit/>
          </a:bodyPr>
          <a:lstStyle/>
          <a:p>
            <a:r>
              <a:rPr lang="en-US" b="1" dirty="0"/>
              <a:t>Topic:  </a:t>
            </a:r>
            <a:r>
              <a:rPr lang="en-US" dirty="0"/>
              <a:t>feed name to which messages are published</a:t>
            </a:r>
          </a:p>
          <a:p>
            <a:pPr lvl="1"/>
            <a:r>
              <a:rPr lang="en-US" dirty="0">
                <a:sym typeface="Wingdings"/>
              </a:rPr>
              <a:t>Example: “zerg.hydra”</a:t>
            </a:r>
          </a:p>
        </p:txBody>
      </p:sp>
    </p:spTree>
    <p:extLst>
      <p:ext uri="{BB962C8B-B14F-4D97-AF65-F5344CB8AC3E}">
        <p14:creationId xmlns:p14="http://schemas.microsoft.com/office/powerpoint/2010/main" val="577028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2" name="Group 31"/>
          <p:cNvGrpSpPr/>
          <p:nvPr/>
        </p:nvGrpSpPr>
        <p:grpSpPr>
          <a:xfrm>
            <a:off x="3095311" y="2475231"/>
            <a:ext cx="5208999" cy="3583701"/>
            <a:chOff x="1571310" y="2222500"/>
            <a:chExt cx="5208999" cy="3836431"/>
          </a:xfrm>
        </p:grpSpPr>
        <p:sp>
          <p:nvSpPr>
            <p:cNvPr id="33" name="Rectangle 32"/>
            <p:cNvSpPr/>
            <p:nvPr/>
          </p:nvSpPr>
          <p:spPr>
            <a:xfrm>
              <a:off x="1571310" y="2222500"/>
              <a:ext cx="5208999" cy="383643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34" name="TextBox 33"/>
            <p:cNvSpPr txBox="1"/>
            <p:nvPr/>
          </p:nvSpPr>
          <p:spPr>
            <a:xfrm>
              <a:off x="3831740" y="5660742"/>
              <a:ext cx="844462" cy="329482"/>
            </a:xfrm>
            <a:prstGeom prst="rect">
              <a:avLst/>
            </a:prstGeom>
            <a:noFill/>
          </p:spPr>
          <p:txBody>
            <a:bodyPr wrap="none" rtlCol="0">
              <a:spAutoFit/>
            </a:bodyPr>
            <a:lstStyle/>
            <a:p>
              <a:r>
                <a:rPr lang="en-US" sz="1400" dirty="0"/>
                <a:t>Broker(s)</a:t>
              </a:r>
            </a:p>
          </p:txBody>
        </p:sp>
      </p:grpSp>
      <p:sp>
        <p:nvSpPr>
          <p:cNvPr id="2" name="Title 1"/>
          <p:cNvSpPr>
            <a:spLocks noGrp="1"/>
          </p:cNvSpPr>
          <p:nvPr>
            <p:ph type="title"/>
          </p:nvPr>
        </p:nvSpPr>
        <p:spPr/>
        <p:txBody>
          <a:bodyPr/>
          <a:lstStyle/>
          <a:p>
            <a:r>
              <a:rPr lang="en-US" dirty="0"/>
              <a:t>Topics</a:t>
            </a:r>
          </a:p>
        </p:txBody>
      </p:sp>
      <p:sp>
        <p:nvSpPr>
          <p:cNvPr id="5" name="Slide Number Placeholder 4"/>
          <p:cNvSpPr>
            <a:spLocks noGrp="1"/>
          </p:cNvSpPr>
          <p:nvPr>
            <p:ph type="sldNum" sz="quarter" idx="12"/>
          </p:nvPr>
        </p:nvSpPr>
        <p:spPr/>
        <p:txBody>
          <a:bodyPr/>
          <a:lstStyle/>
          <a:p>
            <a:fld id="{407C8B75-4858-41E6-BEC3-A0853FA4AC5B}" type="slidenum">
              <a:rPr lang="en-US" smtClean="0"/>
              <a:pPr/>
              <a:t>8</a:t>
            </a:fld>
            <a:endParaRPr lang="en-US" dirty="0"/>
          </a:p>
        </p:txBody>
      </p:sp>
      <p:sp>
        <p:nvSpPr>
          <p:cNvPr id="17" name="Rectangle 16"/>
          <p:cNvSpPr/>
          <p:nvPr/>
        </p:nvSpPr>
        <p:spPr>
          <a:xfrm>
            <a:off x="41465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19" name="Rectangle 18"/>
          <p:cNvSpPr/>
          <p:nvPr/>
        </p:nvSpPr>
        <p:spPr>
          <a:xfrm>
            <a:off x="45212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0" name="Rectangle 19"/>
          <p:cNvSpPr/>
          <p:nvPr/>
        </p:nvSpPr>
        <p:spPr>
          <a:xfrm>
            <a:off x="52641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1" name="Rectangle 20"/>
          <p:cNvSpPr/>
          <p:nvPr/>
        </p:nvSpPr>
        <p:spPr>
          <a:xfrm>
            <a:off x="48895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2" name="Rectangle 21"/>
          <p:cNvSpPr/>
          <p:nvPr/>
        </p:nvSpPr>
        <p:spPr>
          <a:xfrm>
            <a:off x="56388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3" name="Rectangle 22"/>
          <p:cNvSpPr/>
          <p:nvPr/>
        </p:nvSpPr>
        <p:spPr>
          <a:xfrm>
            <a:off x="638175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4" name="Rectangle 23"/>
          <p:cNvSpPr/>
          <p:nvPr/>
        </p:nvSpPr>
        <p:spPr>
          <a:xfrm>
            <a:off x="60071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25" name="Rectangle 24"/>
          <p:cNvSpPr/>
          <p:nvPr/>
        </p:nvSpPr>
        <p:spPr>
          <a:xfrm>
            <a:off x="67564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nvGrpSpPr>
          <p:cNvPr id="45" name="Group 44"/>
          <p:cNvGrpSpPr/>
          <p:nvPr/>
        </p:nvGrpSpPr>
        <p:grpSpPr>
          <a:xfrm>
            <a:off x="6675341" y="2557957"/>
            <a:ext cx="3278735" cy="1959355"/>
            <a:chOff x="5151340" y="2557956"/>
            <a:chExt cx="3278735" cy="1959355"/>
          </a:xfrm>
        </p:grpSpPr>
        <p:sp>
          <p:nvSpPr>
            <p:cNvPr id="27" name="Rectangle 26"/>
            <p:cNvSpPr/>
            <p:nvPr/>
          </p:nvSpPr>
          <p:spPr>
            <a:xfrm>
              <a:off x="5600700" y="3168650"/>
              <a:ext cx="368300" cy="36830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800" dirty="0">
                  <a:solidFill>
                    <a:srgbClr val="000000"/>
                  </a:solidFill>
                </a:rPr>
                <a:t>new</a:t>
              </a:r>
            </a:p>
          </p:txBody>
        </p:sp>
        <p:sp>
          <p:nvSpPr>
            <p:cNvPr id="11" name="TextBox 10"/>
            <p:cNvSpPr txBox="1"/>
            <p:nvPr/>
          </p:nvSpPr>
          <p:spPr>
            <a:xfrm>
              <a:off x="7213600" y="2557956"/>
              <a:ext cx="1084271" cy="307777"/>
            </a:xfrm>
            <a:prstGeom prst="rect">
              <a:avLst/>
            </a:prstGeom>
            <a:noFill/>
          </p:spPr>
          <p:txBody>
            <a:bodyPr wrap="none" rtlCol="0">
              <a:spAutoFit/>
            </a:bodyPr>
            <a:lstStyle/>
            <a:p>
              <a:r>
                <a:rPr lang="en-US" sz="1400" dirty="0"/>
                <a:t>Producer A1</a:t>
              </a:r>
            </a:p>
          </p:txBody>
        </p:sp>
        <p:sp>
          <p:nvSpPr>
            <p:cNvPr id="29" name="TextBox 28"/>
            <p:cNvSpPr txBox="1"/>
            <p:nvPr/>
          </p:nvSpPr>
          <p:spPr>
            <a:xfrm>
              <a:off x="7213600" y="2853428"/>
              <a:ext cx="1084271" cy="307777"/>
            </a:xfrm>
            <a:prstGeom prst="rect">
              <a:avLst/>
            </a:prstGeom>
            <a:noFill/>
          </p:spPr>
          <p:txBody>
            <a:bodyPr wrap="none" rtlCol="0">
              <a:spAutoFit/>
            </a:bodyPr>
            <a:lstStyle/>
            <a:p>
              <a:r>
                <a:rPr lang="en-US" sz="1400" dirty="0"/>
                <a:t>Producer A2</a:t>
              </a:r>
            </a:p>
          </p:txBody>
        </p:sp>
        <p:sp>
          <p:nvSpPr>
            <p:cNvPr id="30" name="TextBox 29"/>
            <p:cNvSpPr txBox="1"/>
            <p:nvPr/>
          </p:nvSpPr>
          <p:spPr>
            <a:xfrm>
              <a:off x="7213600" y="3263202"/>
              <a:ext cx="1085875" cy="307777"/>
            </a:xfrm>
            <a:prstGeom prst="rect">
              <a:avLst/>
            </a:prstGeom>
            <a:noFill/>
          </p:spPr>
          <p:txBody>
            <a:bodyPr wrap="none" rtlCol="0">
              <a:spAutoFit/>
            </a:bodyPr>
            <a:lstStyle/>
            <a:p>
              <a:r>
                <a:rPr lang="en-US" sz="1400" dirty="0"/>
                <a:t>Producer A</a:t>
              </a:r>
              <a:r>
                <a:rPr lang="en-US" sz="1400" i="1" dirty="0"/>
                <a:t>n</a:t>
              </a:r>
            </a:p>
          </p:txBody>
        </p:sp>
        <p:sp>
          <p:nvSpPr>
            <p:cNvPr id="31" name="TextBox 30"/>
            <p:cNvSpPr txBox="1"/>
            <p:nvPr/>
          </p:nvSpPr>
          <p:spPr>
            <a:xfrm>
              <a:off x="7548101" y="3007317"/>
              <a:ext cx="308098" cy="307777"/>
            </a:xfrm>
            <a:prstGeom prst="rect">
              <a:avLst/>
            </a:prstGeom>
            <a:noFill/>
          </p:spPr>
          <p:txBody>
            <a:bodyPr wrap="none" rtlCol="0">
              <a:spAutoFit/>
            </a:bodyPr>
            <a:lstStyle/>
            <a:p>
              <a:r>
                <a:rPr lang="en-US" sz="1400" dirty="0"/>
                <a:t>…</a:t>
              </a:r>
            </a:p>
          </p:txBody>
        </p:sp>
        <p:cxnSp>
          <p:nvCxnSpPr>
            <p:cNvPr id="36" name="Elbow Connector 35"/>
            <p:cNvCxnSpPr/>
            <p:nvPr/>
          </p:nvCxnSpPr>
          <p:spPr>
            <a:xfrm rot="10800000" flipV="1">
              <a:off x="6137822" y="2768600"/>
              <a:ext cx="897979" cy="596900"/>
            </a:xfrm>
            <a:prstGeom prst="bentConnector3">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5151340" y="3932535"/>
              <a:ext cx="3278735" cy="584776"/>
            </a:xfrm>
            <a:prstGeom prst="rect">
              <a:avLst/>
            </a:prstGeom>
            <a:noFill/>
          </p:spPr>
          <p:txBody>
            <a:bodyPr wrap="none" rtlCol="0">
              <a:spAutoFit/>
            </a:bodyPr>
            <a:lstStyle/>
            <a:p>
              <a:pPr algn="ctr"/>
              <a:r>
                <a:rPr lang="en-US" sz="1600" i="1" dirty="0">
                  <a:solidFill>
                    <a:srgbClr val="000000"/>
                  </a:solidFill>
                  <a:latin typeface="Arial"/>
                  <a:cs typeface="Arial"/>
                </a:rPr>
                <a:t>Producers always append to “tail”</a:t>
              </a:r>
            </a:p>
            <a:p>
              <a:pPr algn="ctr"/>
              <a:r>
                <a:rPr lang="en-US" sz="1600" i="1" dirty="0">
                  <a:solidFill>
                    <a:srgbClr val="000000"/>
                  </a:solidFill>
                  <a:latin typeface="Arial"/>
                  <a:cs typeface="Arial"/>
                </a:rPr>
                <a:t>(think: append to a file)</a:t>
              </a:r>
            </a:p>
          </p:txBody>
        </p:sp>
      </p:grpSp>
      <p:sp>
        <p:nvSpPr>
          <p:cNvPr id="40" name="TextBox 39"/>
          <p:cNvSpPr txBox="1"/>
          <p:nvPr/>
        </p:nvSpPr>
        <p:spPr>
          <a:xfrm>
            <a:off x="3731751" y="3211612"/>
            <a:ext cx="308098" cy="307777"/>
          </a:xfrm>
          <a:prstGeom prst="rect">
            <a:avLst/>
          </a:prstGeom>
          <a:noFill/>
        </p:spPr>
        <p:txBody>
          <a:bodyPr wrap="none" rtlCol="0">
            <a:spAutoFit/>
          </a:bodyPr>
          <a:lstStyle/>
          <a:p>
            <a:r>
              <a:rPr lang="en-US" sz="1400" dirty="0"/>
              <a:t>…</a:t>
            </a:r>
          </a:p>
        </p:txBody>
      </p:sp>
      <p:sp>
        <p:nvSpPr>
          <p:cNvPr id="46" name="TextBox 45"/>
          <p:cNvSpPr txBox="1"/>
          <p:nvPr/>
        </p:nvSpPr>
        <p:spPr>
          <a:xfrm>
            <a:off x="3692737" y="3558977"/>
            <a:ext cx="1000595" cy="307777"/>
          </a:xfrm>
          <a:prstGeom prst="rect">
            <a:avLst/>
          </a:prstGeom>
          <a:noFill/>
        </p:spPr>
        <p:txBody>
          <a:bodyPr wrap="none" rtlCol="0">
            <a:spAutoFit/>
          </a:bodyPr>
          <a:lstStyle/>
          <a:p>
            <a:r>
              <a:rPr lang="en-US" sz="1400" dirty="0"/>
              <a:t>Older msgs</a:t>
            </a:r>
          </a:p>
        </p:txBody>
      </p:sp>
      <p:sp>
        <p:nvSpPr>
          <p:cNvPr id="47" name="TextBox 46"/>
          <p:cNvSpPr txBox="1"/>
          <p:nvPr/>
        </p:nvSpPr>
        <p:spPr>
          <a:xfrm>
            <a:off x="6026151" y="3558977"/>
            <a:ext cx="1076641" cy="307777"/>
          </a:xfrm>
          <a:prstGeom prst="rect">
            <a:avLst/>
          </a:prstGeom>
          <a:noFill/>
        </p:spPr>
        <p:txBody>
          <a:bodyPr wrap="none" rtlCol="0">
            <a:spAutoFit/>
          </a:bodyPr>
          <a:lstStyle/>
          <a:p>
            <a:r>
              <a:rPr lang="en-US" sz="1400" dirty="0"/>
              <a:t>Newer msgs</a:t>
            </a:r>
          </a:p>
        </p:txBody>
      </p:sp>
      <p:grpSp>
        <p:nvGrpSpPr>
          <p:cNvPr id="13" name="Group 12"/>
          <p:cNvGrpSpPr/>
          <p:nvPr/>
        </p:nvGrpSpPr>
        <p:grpSpPr>
          <a:xfrm>
            <a:off x="2382270" y="1267677"/>
            <a:ext cx="6934555" cy="1739640"/>
            <a:chOff x="858269" y="1267677"/>
            <a:chExt cx="6934555" cy="1739640"/>
          </a:xfrm>
        </p:grpSpPr>
        <p:sp>
          <p:nvSpPr>
            <p:cNvPr id="3" name="TextBox 2"/>
            <p:cNvSpPr txBox="1"/>
            <p:nvPr/>
          </p:nvSpPr>
          <p:spPr>
            <a:xfrm>
              <a:off x="858269" y="1319311"/>
              <a:ext cx="1626086" cy="307777"/>
            </a:xfrm>
            <a:prstGeom prst="rect">
              <a:avLst/>
            </a:prstGeom>
            <a:noFill/>
          </p:spPr>
          <p:txBody>
            <a:bodyPr wrap="none" rtlCol="0">
              <a:spAutoFit/>
            </a:bodyPr>
            <a:lstStyle/>
            <a:p>
              <a:pPr algn="ctr"/>
              <a:r>
                <a:rPr lang="en-US" sz="1400" dirty="0"/>
                <a:t>Consumer group C1</a:t>
              </a:r>
            </a:p>
          </p:txBody>
        </p:sp>
        <p:cxnSp>
          <p:nvCxnSpPr>
            <p:cNvPr id="48" name="Elbow Connector 47"/>
            <p:cNvCxnSpPr>
              <a:stCxn id="3" idx="3"/>
            </p:cNvCxnSpPr>
            <p:nvPr/>
          </p:nvCxnSpPr>
          <p:spPr>
            <a:xfrm>
              <a:off x="2484355" y="1473200"/>
              <a:ext cx="1427245" cy="1534117"/>
            </a:xfrm>
            <a:prstGeom prst="bentConnector2">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4125862" y="1267677"/>
              <a:ext cx="3666962" cy="830997"/>
            </a:xfrm>
            <a:prstGeom prst="rect">
              <a:avLst/>
            </a:prstGeom>
            <a:noFill/>
          </p:spPr>
          <p:txBody>
            <a:bodyPr wrap="none" rtlCol="0">
              <a:spAutoFit/>
            </a:bodyPr>
            <a:lstStyle/>
            <a:p>
              <a:pPr algn="ctr"/>
              <a:r>
                <a:rPr lang="en-US" sz="1600" i="1" dirty="0">
                  <a:solidFill>
                    <a:srgbClr val="000000"/>
                  </a:solidFill>
                  <a:latin typeface="Arial"/>
                  <a:cs typeface="Arial"/>
                </a:rPr>
                <a:t>Consumers use an “offset pointer” to</a:t>
              </a:r>
            </a:p>
            <a:p>
              <a:pPr algn="ctr"/>
              <a:r>
                <a:rPr lang="en-US" sz="1600" i="1" dirty="0">
                  <a:solidFill>
                    <a:srgbClr val="000000"/>
                  </a:solidFill>
                  <a:latin typeface="Arial"/>
                  <a:cs typeface="Arial"/>
                </a:rPr>
                <a:t>track/control their read progress</a:t>
              </a:r>
            </a:p>
            <a:p>
              <a:pPr algn="ctr"/>
              <a:r>
                <a:rPr lang="en-US" sz="1600" i="1" dirty="0">
                  <a:solidFill>
                    <a:srgbClr val="000000"/>
                  </a:solidFill>
                  <a:latin typeface="Arial"/>
                  <a:cs typeface="Arial"/>
                </a:rPr>
                <a:t>(and decide the pace of consumption)</a:t>
              </a:r>
            </a:p>
          </p:txBody>
        </p:sp>
        <p:sp>
          <p:nvSpPr>
            <p:cNvPr id="50" name="TextBox 49"/>
            <p:cNvSpPr txBox="1"/>
            <p:nvPr/>
          </p:nvSpPr>
          <p:spPr>
            <a:xfrm>
              <a:off x="858269" y="1944785"/>
              <a:ext cx="1626086" cy="307777"/>
            </a:xfrm>
            <a:prstGeom prst="rect">
              <a:avLst/>
            </a:prstGeom>
            <a:noFill/>
          </p:spPr>
          <p:txBody>
            <a:bodyPr wrap="none" rtlCol="0">
              <a:spAutoFit/>
            </a:bodyPr>
            <a:lstStyle/>
            <a:p>
              <a:pPr algn="ctr"/>
              <a:r>
                <a:rPr lang="en-US" sz="1400" dirty="0"/>
                <a:t>Consumer group C2</a:t>
              </a:r>
            </a:p>
          </p:txBody>
        </p:sp>
        <p:cxnSp>
          <p:nvCxnSpPr>
            <p:cNvPr id="51" name="Elbow Connector 50"/>
            <p:cNvCxnSpPr>
              <a:stCxn id="50" idx="3"/>
            </p:cNvCxnSpPr>
            <p:nvPr/>
          </p:nvCxnSpPr>
          <p:spPr>
            <a:xfrm>
              <a:off x="2484355" y="2098674"/>
              <a:ext cx="690645" cy="908643"/>
            </a:xfrm>
            <a:prstGeom prst="bentConnector2">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491898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511026"/>
          </a:xfrm>
        </p:spPr>
        <p:txBody>
          <a:bodyPr>
            <a:normAutofit fontScale="90000"/>
          </a:bodyPr>
          <a:lstStyle/>
          <a:p>
            <a:r>
              <a:rPr lang="en-US" dirty="0"/>
              <a:t>Partitions</a:t>
            </a:r>
          </a:p>
        </p:txBody>
      </p:sp>
      <p:sp>
        <p:nvSpPr>
          <p:cNvPr id="5" name="Slide Number Placeholder 4"/>
          <p:cNvSpPr>
            <a:spLocks noGrp="1"/>
          </p:cNvSpPr>
          <p:nvPr>
            <p:ph type="sldNum" sz="quarter" idx="12"/>
          </p:nvPr>
        </p:nvSpPr>
        <p:spPr>
          <a:xfrm>
            <a:off x="10198100" y="6537323"/>
            <a:ext cx="355600" cy="152400"/>
          </a:xfrm>
        </p:spPr>
        <p:txBody>
          <a:bodyPr/>
          <a:lstStyle/>
          <a:p>
            <a:fld id="{407C8B75-4858-41E6-BEC3-A0853FA4AC5B}" type="slidenum">
              <a:rPr lang="en-US" smtClean="0"/>
              <a:pPr/>
              <a:t>9</a:t>
            </a:fld>
            <a:endParaRPr lang="en-US" dirty="0"/>
          </a:p>
        </p:txBody>
      </p:sp>
      <p:pic>
        <p:nvPicPr>
          <p:cNvPr id="4" name="Picture 3"/>
          <p:cNvPicPr>
            <a:picLocks noChangeAspect="1"/>
          </p:cNvPicPr>
          <p:nvPr/>
        </p:nvPicPr>
        <p:blipFill>
          <a:blip r:embed="rId2"/>
          <a:stretch>
            <a:fillRect/>
          </a:stretch>
        </p:blipFill>
        <p:spPr>
          <a:xfrm>
            <a:off x="3460287" y="2718625"/>
            <a:ext cx="4701628" cy="3017631"/>
          </a:xfrm>
          <a:prstGeom prst="rect">
            <a:avLst/>
          </a:prstGeom>
        </p:spPr>
      </p:pic>
      <p:sp>
        <p:nvSpPr>
          <p:cNvPr id="35" name="Content Placeholder 2"/>
          <p:cNvSpPr>
            <a:spLocks noGrp="1"/>
          </p:cNvSpPr>
          <p:nvPr>
            <p:ph idx="1"/>
          </p:nvPr>
        </p:nvSpPr>
        <p:spPr>
          <a:xfrm>
            <a:off x="653143" y="1011813"/>
            <a:ext cx="8229600" cy="5255490"/>
          </a:xfrm>
        </p:spPr>
        <p:txBody>
          <a:bodyPr>
            <a:normAutofit/>
          </a:bodyPr>
          <a:lstStyle/>
          <a:p>
            <a:r>
              <a:rPr lang="en-US" sz="2400" dirty="0"/>
              <a:t>A topic consists of </a:t>
            </a:r>
            <a:r>
              <a:rPr lang="en-US" sz="2400" b="1" dirty="0"/>
              <a:t>partitions.</a:t>
            </a:r>
          </a:p>
          <a:p>
            <a:r>
              <a:rPr lang="en-US" sz="2400" dirty="0"/>
              <a:t>Partition:  </a:t>
            </a:r>
            <a:r>
              <a:rPr lang="en-US" sz="2400" b="1" dirty="0"/>
              <a:t>ordered +</a:t>
            </a:r>
            <a:r>
              <a:rPr lang="en-US" sz="2400" dirty="0"/>
              <a:t> </a:t>
            </a:r>
            <a:r>
              <a:rPr lang="en-US" sz="2400" b="1" dirty="0"/>
              <a:t>immutable </a:t>
            </a:r>
            <a:r>
              <a:rPr lang="en-US" sz="2400" dirty="0"/>
              <a:t>sequence of messages </a:t>
            </a:r>
            <a:br>
              <a:rPr lang="en-US" sz="2400" dirty="0"/>
            </a:br>
            <a:r>
              <a:rPr lang="en-US" sz="2400" dirty="0"/>
              <a:t>                that is continually appended to</a:t>
            </a:r>
          </a:p>
          <a:p>
            <a:pPr lvl="1"/>
            <a:endParaRPr lang="en-US" sz="2000" dirty="0"/>
          </a:p>
          <a:p>
            <a:pPr lvl="1"/>
            <a:endParaRPr lang="en-US" sz="2000" dirty="0"/>
          </a:p>
          <a:p>
            <a:pPr lvl="1"/>
            <a:endParaRPr lang="en-US" sz="2000" dirty="0"/>
          </a:p>
          <a:p>
            <a:pPr lvl="1"/>
            <a:endParaRPr lang="en-US" sz="2000" dirty="0"/>
          </a:p>
          <a:p>
            <a:pPr lvl="1"/>
            <a:endParaRPr lang="en-US" sz="2000" dirty="0"/>
          </a:p>
          <a:p>
            <a:pPr lvl="1"/>
            <a:endParaRPr lang="en-US" sz="2000" dirty="0"/>
          </a:p>
          <a:p>
            <a:pPr lvl="1"/>
            <a:endParaRPr lang="en-US" sz="2000" dirty="0"/>
          </a:p>
        </p:txBody>
      </p:sp>
      <p:sp>
        <p:nvSpPr>
          <p:cNvPr id="6" name="TextBox 5">
            <a:extLst>
              <a:ext uri="{FF2B5EF4-FFF2-40B4-BE49-F238E27FC236}">
                <a16:creationId xmlns:a16="http://schemas.microsoft.com/office/drawing/2014/main" id="{CE92A281-7B86-1698-5BCB-7110E9CCC416}"/>
              </a:ext>
            </a:extLst>
          </p:cNvPr>
          <p:cNvSpPr txBox="1"/>
          <p:nvPr/>
        </p:nvSpPr>
        <p:spPr>
          <a:xfrm>
            <a:off x="8240486" y="1106521"/>
            <a:ext cx="3298372" cy="5309146"/>
          </a:xfrm>
          <a:prstGeom prst="rect">
            <a:avLst/>
          </a:prstGeom>
          <a:noFill/>
        </p:spPr>
        <p:txBody>
          <a:bodyPr wrap="square">
            <a:spAutoFit/>
          </a:bodyPr>
          <a:lstStyle/>
          <a:p>
            <a:pPr algn="l" fontAlgn="base">
              <a:spcBef>
                <a:spcPts val="1800"/>
              </a:spcBef>
              <a:spcAft>
                <a:spcPts val="1800"/>
              </a:spcAft>
              <a:buNone/>
            </a:pPr>
            <a:r>
              <a:rPr lang="en-US" b="1" i="0" dirty="0">
                <a:effectLst/>
                <a:latin typeface="Nunito" pitchFamily="2" charset="0"/>
              </a:rPr>
              <a:t>How does Kafka handle message ordering across multiple partitions?</a:t>
            </a:r>
          </a:p>
          <a:p>
            <a:pPr algn="l" rtl="0" fontAlgn="base">
              <a:spcAft>
                <a:spcPts val="750"/>
              </a:spcAft>
            </a:pPr>
            <a:r>
              <a:rPr lang="en-US" b="0" i="0" dirty="0">
                <a:effectLst/>
                <a:latin typeface="Nunito" pitchFamily="2" charset="0"/>
              </a:rPr>
              <a:t>Kafka only guarantees message ordering within a single partition. Across multiple partitions, there is no guarantee of message ordering. If global ordering is required, it's typically achieved by using a single partition for the topic, but this limits scalability. For use cases requiring ordering and scalability, it's common to use a partition key that ensures related messages go to the same partition.</a:t>
            </a:r>
          </a:p>
        </p:txBody>
      </p:sp>
    </p:spTree>
    <p:extLst>
      <p:ext uri="{BB962C8B-B14F-4D97-AF65-F5344CB8AC3E}">
        <p14:creationId xmlns:p14="http://schemas.microsoft.com/office/powerpoint/2010/main" val="7157609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511026"/>
          </a:xfrm>
        </p:spPr>
        <p:txBody>
          <a:bodyPr>
            <a:normAutofit fontScale="90000"/>
          </a:bodyPr>
          <a:lstStyle/>
          <a:p>
            <a:r>
              <a:rPr lang="en-US" dirty="0"/>
              <a:t>Partitions</a:t>
            </a:r>
          </a:p>
        </p:txBody>
      </p:sp>
      <p:sp>
        <p:nvSpPr>
          <p:cNvPr id="5" name="Slide Number Placeholder 4"/>
          <p:cNvSpPr>
            <a:spLocks noGrp="1"/>
          </p:cNvSpPr>
          <p:nvPr>
            <p:ph type="sldNum" sz="quarter" idx="12"/>
          </p:nvPr>
        </p:nvSpPr>
        <p:spPr>
          <a:xfrm>
            <a:off x="10198100" y="6537323"/>
            <a:ext cx="355600" cy="152400"/>
          </a:xfrm>
        </p:spPr>
        <p:txBody>
          <a:bodyPr/>
          <a:lstStyle/>
          <a:p>
            <a:fld id="{407C8B75-4858-41E6-BEC3-A0853FA4AC5B}" type="slidenum">
              <a:rPr lang="en-US" smtClean="0"/>
              <a:pPr/>
              <a:t>10</a:t>
            </a:fld>
            <a:endParaRPr lang="en-US" dirty="0"/>
          </a:p>
        </p:txBody>
      </p:sp>
      <p:sp>
        <p:nvSpPr>
          <p:cNvPr id="35" name="Content Placeholder 2"/>
          <p:cNvSpPr>
            <a:spLocks noGrp="1"/>
          </p:cNvSpPr>
          <p:nvPr>
            <p:ph idx="1"/>
          </p:nvPr>
        </p:nvSpPr>
        <p:spPr>
          <a:xfrm>
            <a:off x="1981200" y="1078992"/>
            <a:ext cx="8229600" cy="5255490"/>
          </a:xfrm>
        </p:spPr>
        <p:txBody>
          <a:bodyPr>
            <a:normAutofit/>
          </a:bodyPr>
          <a:lstStyle/>
          <a:p>
            <a:r>
              <a:rPr lang="en-US" sz="2400" dirty="0"/>
              <a:t>#partitions of a topic is configurable</a:t>
            </a:r>
          </a:p>
          <a:p>
            <a:r>
              <a:rPr lang="en-US" sz="2400" dirty="0"/>
              <a:t>#partitions determines </a:t>
            </a:r>
            <a:r>
              <a:rPr lang="en-US" sz="2400" b="1" dirty="0"/>
              <a:t>max</a:t>
            </a:r>
            <a:r>
              <a:rPr lang="en-US" sz="2400" dirty="0"/>
              <a:t> consumer (group) parallelism</a:t>
            </a:r>
          </a:p>
          <a:p>
            <a:pPr lvl="1"/>
            <a:r>
              <a:rPr lang="en-US" sz="2000" dirty="0"/>
              <a:t>cf. parallelism of Storm’s KafkaSpout via </a:t>
            </a:r>
            <a:r>
              <a:rPr lang="en-US" sz="1400" dirty="0">
                <a:latin typeface="Consolas"/>
                <a:cs typeface="Consolas"/>
              </a:rPr>
              <a:t>builder.setSpout(,,</a:t>
            </a:r>
            <a:r>
              <a:rPr lang="en-US" sz="1400" i="1" dirty="0">
                <a:latin typeface="Consolas"/>
                <a:cs typeface="Consolas"/>
              </a:rPr>
              <a:t>N</a:t>
            </a:r>
            <a:r>
              <a:rPr lang="en-US" sz="1400" dirty="0">
                <a:latin typeface="Consolas"/>
                <a:cs typeface="Consolas"/>
              </a:rPr>
              <a:t>)</a:t>
            </a: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endParaRPr lang="en-US" sz="1400" dirty="0">
              <a:latin typeface="Consolas"/>
              <a:cs typeface="Consolas"/>
            </a:endParaRPr>
          </a:p>
          <a:p>
            <a:pPr lvl="1"/>
            <a:r>
              <a:rPr lang="en-US" sz="1400" dirty="0">
                <a:latin typeface="Helvetica"/>
                <a:cs typeface="Helvetica"/>
              </a:rPr>
              <a:t>Consumer group A, with 2 consumers, reads from a 4-partition topic</a:t>
            </a:r>
          </a:p>
          <a:p>
            <a:pPr lvl="1"/>
            <a:r>
              <a:rPr lang="en-US" sz="1400" dirty="0">
                <a:latin typeface="Helvetica"/>
                <a:cs typeface="Helvetica"/>
              </a:rPr>
              <a:t>Consumer group B, with 4 consumers, reads from the same topic</a:t>
            </a:r>
            <a:endParaRPr lang="en-US" sz="1800" dirty="0">
              <a:latin typeface="Helvetica"/>
              <a:cs typeface="Helvetica"/>
            </a:endParaRPr>
          </a:p>
        </p:txBody>
      </p:sp>
      <p:pic>
        <p:nvPicPr>
          <p:cNvPr id="3" name="Picture 2"/>
          <p:cNvPicPr>
            <a:picLocks noChangeAspect="1"/>
          </p:cNvPicPr>
          <p:nvPr/>
        </p:nvPicPr>
        <p:blipFill>
          <a:blip r:embed="rId2"/>
          <a:stretch>
            <a:fillRect/>
          </a:stretch>
        </p:blipFill>
        <p:spPr>
          <a:xfrm>
            <a:off x="3366593" y="2648401"/>
            <a:ext cx="4948137" cy="2630655"/>
          </a:xfrm>
          <a:prstGeom prst="rect">
            <a:avLst/>
          </a:prstGeom>
        </p:spPr>
      </p:pic>
    </p:spTree>
    <p:extLst>
      <p:ext uri="{BB962C8B-B14F-4D97-AF65-F5344CB8AC3E}">
        <p14:creationId xmlns:p14="http://schemas.microsoft.com/office/powerpoint/2010/main" val="834664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365126"/>
          </a:xfrm>
        </p:spPr>
        <p:txBody>
          <a:bodyPr>
            <a:normAutofit fontScale="90000"/>
          </a:bodyPr>
          <a:lstStyle/>
          <a:p>
            <a:r>
              <a:rPr lang="en-US" dirty="0"/>
              <a:t>Partition offsets</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11</a:t>
            </a:fld>
            <a:endParaRPr lang="en-US" dirty="0"/>
          </a:p>
        </p:txBody>
      </p:sp>
      <p:sp>
        <p:nvSpPr>
          <p:cNvPr id="35" name="Content Placeholder 2"/>
          <p:cNvSpPr>
            <a:spLocks noGrp="1"/>
          </p:cNvSpPr>
          <p:nvPr>
            <p:ph idx="1"/>
          </p:nvPr>
        </p:nvSpPr>
        <p:spPr>
          <a:xfrm>
            <a:off x="1981200" y="1078992"/>
            <a:ext cx="8229600" cy="5255490"/>
          </a:xfrm>
        </p:spPr>
        <p:txBody>
          <a:bodyPr>
            <a:normAutofit/>
          </a:bodyPr>
          <a:lstStyle/>
          <a:p>
            <a:r>
              <a:rPr lang="en-US" sz="2400" b="1" dirty="0"/>
              <a:t>Offset</a:t>
            </a:r>
            <a:r>
              <a:rPr lang="en-US" sz="2400" dirty="0"/>
              <a:t>:  messages in the partitions are each assigned a unique (per partition) and sequential id called the </a:t>
            </a:r>
            <a:r>
              <a:rPr lang="en-US" sz="2400" i="1" dirty="0"/>
              <a:t>offset</a:t>
            </a:r>
            <a:endParaRPr lang="en-US" sz="2400" dirty="0"/>
          </a:p>
          <a:p>
            <a:pPr lvl="1"/>
            <a:r>
              <a:rPr lang="en-US" sz="2000" dirty="0"/>
              <a:t>Consumers track their pointers via </a:t>
            </a:r>
            <a:r>
              <a:rPr lang="en-US" sz="2000" i="1" dirty="0"/>
              <a:t>(offset, partition, topic)</a:t>
            </a:r>
            <a:r>
              <a:rPr lang="en-US" sz="2000" dirty="0"/>
              <a:t> tuples</a:t>
            </a:r>
            <a:endParaRPr lang="en-US" sz="2000" i="1" dirty="0">
              <a:sym typeface="Wingdings"/>
            </a:endParaRPr>
          </a:p>
        </p:txBody>
      </p:sp>
      <p:pic>
        <p:nvPicPr>
          <p:cNvPr id="38" name="Picture 37"/>
          <p:cNvPicPr>
            <a:picLocks noChangeAspect="1"/>
          </p:cNvPicPr>
          <p:nvPr/>
        </p:nvPicPr>
        <p:blipFill rotWithShape="1">
          <a:blip r:embed="rId2"/>
          <a:srcRect t="18031"/>
          <a:stretch/>
        </p:blipFill>
        <p:spPr>
          <a:xfrm>
            <a:off x="3647669" y="3495402"/>
            <a:ext cx="4642916" cy="2442611"/>
          </a:xfrm>
          <a:prstGeom prst="rect">
            <a:avLst/>
          </a:prstGeom>
        </p:spPr>
      </p:pic>
      <p:grpSp>
        <p:nvGrpSpPr>
          <p:cNvPr id="16" name="Group 15"/>
          <p:cNvGrpSpPr/>
          <p:nvPr/>
        </p:nvGrpSpPr>
        <p:grpSpPr>
          <a:xfrm>
            <a:off x="2486370" y="2483723"/>
            <a:ext cx="2837328" cy="2950185"/>
            <a:chOff x="962370" y="2483722"/>
            <a:chExt cx="2837328" cy="2950185"/>
          </a:xfrm>
        </p:grpSpPr>
        <p:sp>
          <p:nvSpPr>
            <p:cNvPr id="39" name="TextBox 38"/>
            <p:cNvSpPr txBox="1"/>
            <p:nvPr/>
          </p:nvSpPr>
          <p:spPr>
            <a:xfrm>
              <a:off x="962370" y="2483722"/>
              <a:ext cx="1626086" cy="307777"/>
            </a:xfrm>
            <a:prstGeom prst="rect">
              <a:avLst/>
            </a:prstGeom>
            <a:noFill/>
          </p:spPr>
          <p:txBody>
            <a:bodyPr wrap="none" rtlCol="0">
              <a:spAutoFit/>
            </a:bodyPr>
            <a:lstStyle/>
            <a:p>
              <a:pPr algn="ctr"/>
              <a:r>
                <a:rPr lang="en-US" sz="1400" dirty="0"/>
                <a:t>Consumer group C1</a:t>
              </a:r>
            </a:p>
          </p:txBody>
        </p:sp>
        <p:cxnSp>
          <p:nvCxnSpPr>
            <p:cNvPr id="41" name="Elbow Connector 40"/>
            <p:cNvCxnSpPr>
              <a:stCxn id="39" idx="3"/>
            </p:cNvCxnSpPr>
            <p:nvPr/>
          </p:nvCxnSpPr>
          <p:spPr>
            <a:xfrm>
              <a:off x="2588456" y="2637611"/>
              <a:ext cx="764344" cy="943789"/>
            </a:xfrm>
            <a:prstGeom prst="bentConnector2">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2" name="Elbow Connector 41"/>
            <p:cNvCxnSpPr/>
            <p:nvPr/>
          </p:nvCxnSpPr>
          <p:spPr>
            <a:xfrm rot="16200000" flipH="1">
              <a:off x="2089379" y="3224286"/>
              <a:ext cx="1630746" cy="457396"/>
            </a:xfrm>
            <a:prstGeom prst="bentConnector3">
              <a:avLst>
                <a:gd name="adj1" fmla="val 205"/>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cxnSp>
          <p:nvCxnSpPr>
            <p:cNvPr id="43" name="Elbow Connector 42"/>
            <p:cNvCxnSpPr/>
            <p:nvPr/>
          </p:nvCxnSpPr>
          <p:spPr>
            <a:xfrm rot="16200000" flipH="1">
              <a:off x="2030602" y="3269642"/>
              <a:ext cx="2320856" cy="1029953"/>
            </a:xfrm>
            <a:prstGeom prst="bentConnector3">
              <a:avLst>
                <a:gd name="adj1" fmla="val 475"/>
              </a:avLst>
            </a:prstGeom>
            <a:ln>
              <a:solidFill>
                <a:schemeClr val="tx1"/>
              </a:solidFill>
              <a:tailEnd type="arrow"/>
            </a:ln>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3060578" y="4320408"/>
              <a:ext cx="187383" cy="457923"/>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53" name="Rectangle 52"/>
            <p:cNvSpPr/>
            <p:nvPr/>
          </p:nvSpPr>
          <p:spPr>
            <a:xfrm>
              <a:off x="3612315" y="4975984"/>
              <a:ext cx="187383" cy="457923"/>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sp>
          <p:nvSpPr>
            <p:cNvPr id="54" name="Rectangle 53"/>
            <p:cNvSpPr/>
            <p:nvPr/>
          </p:nvSpPr>
          <p:spPr>
            <a:xfrm>
              <a:off x="3238288" y="3663952"/>
              <a:ext cx="187383" cy="457923"/>
            </a:xfrm>
            <a:prstGeom prst="rect">
              <a:avLst/>
            </a:prstGeom>
            <a:noFill/>
            <a:ln w="508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dirty="0"/>
            </a:p>
          </p:txBody>
        </p:sp>
      </p:grpSp>
    </p:spTree>
    <p:extLst>
      <p:ext uri="{BB962C8B-B14F-4D97-AF65-F5344CB8AC3E}">
        <p14:creationId xmlns:p14="http://schemas.microsoft.com/office/powerpoint/2010/main" val="5789548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Replicas of a partition</a:t>
            </a:r>
          </a:p>
        </p:txBody>
      </p:sp>
      <p:sp>
        <p:nvSpPr>
          <p:cNvPr id="35" name="Content Placeholder 2"/>
          <p:cNvSpPr>
            <a:spLocks noGrp="1"/>
          </p:cNvSpPr>
          <p:nvPr>
            <p:ph idx="1"/>
          </p:nvPr>
        </p:nvSpPr>
        <p:spPr/>
        <p:txBody>
          <a:bodyPr/>
          <a:lstStyle/>
          <a:p>
            <a:r>
              <a:rPr lang="en-US" b="1" dirty="0"/>
              <a:t>Replicas: </a:t>
            </a:r>
            <a:r>
              <a:rPr lang="en-US" dirty="0"/>
              <a:t>“backups” of a partition</a:t>
            </a:r>
          </a:p>
          <a:p>
            <a:pPr lvl="1"/>
            <a:r>
              <a:rPr lang="en-US" dirty="0">
                <a:sym typeface="Wingdings"/>
              </a:rPr>
              <a:t>They exist solely to prevent data loss.</a:t>
            </a:r>
          </a:p>
          <a:p>
            <a:pPr lvl="1"/>
            <a:r>
              <a:rPr lang="en-US" dirty="0">
                <a:sym typeface="Wingdings"/>
              </a:rPr>
              <a:t>Replicas are never read from, never written to.</a:t>
            </a:r>
          </a:p>
          <a:p>
            <a:pPr lvl="2"/>
            <a:r>
              <a:rPr lang="en-US" dirty="0">
                <a:sym typeface="Wingdings"/>
              </a:rPr>
              <a:t>They do NOT help to increase producer or consumer parallelism!</a:t>
            </a:r>
          </a:p>
          <a:p>
            <a:pPr lvl="1"/>
            <a:r>
              <a:rPr lang="en-US" dirty="0">
                <a:sym typeface="Wingdings"/>
              </a:rPr>
              <a:t>Kafka tolerates </a:t>
            </a:r>
            <a:r>
              <a:rPr lang="en-US" i="1" dirty="0">
                <a:sym typeface="Wingdings"/>
              </a:rPr>
              <a:t>(numReplicas - 1)</a:t>
            </a:r>
            <a:r>
              <a:rPr lang="en-US" dirty="0">
                <a:sym typeface="Wingdings"/>
              </a:rPr>
              <a:t> dead brokers before losing data</a:t>
            </a:r>
          </a:p>
          <a:p>
            <a:pPr lvl="2"/>
            <a:r>
              <a:rPr lang="en-US" dirty="0">
                <a:sym typeface="Wingdings"/>
              </a:rPr>
              <a:t>LinkedIn: numReplicas == 2  1 broker can die</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12</a:t>
            </a:fld>
            <a:endParaRPr lang="en-US" dirty="0"/>
          </a:p>
        </p:txBody>
      </p:sp>
    </p:spTree>
    <p:extLst>
      <p:ext uri="{BB962C8B-B14F-4D97-AF65-F5344CB8AC3E}">
        <p14:creationId xmlns:p14="http://schemas.microsoft.com/office/powerpoint/2010/main" val="40005040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DA45C-170E-407A-959B-EFE5D8529EAF}"/>
              </a:ext>
            </a:extLst>
          </p:cNvPr>
          <p:cNvSpPr>
            <a:spLocks noGrp="1"/>
          </p:cNvSpPr>
          <p:nvPr>
            <p:ph type="title"/>
          </p:nvPr>
        </p:nvSpPr>
        <p:spPr/>
        <p:txBody>
          <a:bodyPr/>
          <a:lstStyle/>
          <a:p>
            <a:r>
              <a:rPr lang="en-IN" dirty="0"/>
              <a:t>Acknowledgements in Kafka</a:t>
            </a:r>
          </a:p>
        </p:txBody>
      </p:sp>
      <p:sp>
        <p:nvSpPr>
          <p:cNvPr id="4" name="TextBox 3">
            <a:extLst>
              <a:ext uri="{FF2B5EF4-FFF2-40B4-BE49-F238E27FC236}">
                <a16:creationId xmlns:a16="http://schemas.microsoft.com/office/drawing/2014/main" id="{1AA156D9-BD74-1C71-9480-7315E4668DF4}"/>
              </a:ext>
            </a:extLst>
          </p:cNvPr>
          <p:cNvSpPr txBox="1"/>
          <p:nvPr/>
        </p:nvSpPr>
        <p:spPr>
          <a:xfrm>
            <a:off x="838200" y="1854210"/>
            <a:ext cx="4724400" cy="4154984"/>
          </a:xfrm>
          <a:prstGeom prst="rect">
            <a:avLst/>
          </a:prstGeom>
          <a:noFill/>
        </p:spPr>
        <p:txBody>
          <a:bodyPr wrap="square">
            <a:spAutoFit/>
          </a:bodyPr>
          <a:lstStyle/>
          <a:p>
            <a:r>
              <a:rPr lang="en-US" sz="2800" b="0" i="0" dirty="0">
                <a:effectLst/>
                <a:latin typeface="Nunito" pitchFamily="2" charset="0"/>
              </a:rPr>
              <a:t>Producer Acknowledgements in Kafka</a:t>
            </a:r>
          </a:p>
          <a:p>
            <a:endParaRPr lang="en-US" dirty="0">
              <a:latin typeface="Nunito" pitchFamily="2" charset="0"/>
            </a:endParaRPr>
          </a:p>
          <a:p>
            <a:r>
              <a:rPr lang="en-US" b="1" i="0" dirty="0">
                <a:effectLst/>
                <a:latin typeface="Nunito" pitchFamily="2" charset="0"/>
              </a:rPr>
              <a:t>acks=0: </a:t>
            </a:r>
            <a:r>
              <a:rPr lang="en-US" b="0" i="0" dirty="0">
                <a:effectLst/>
                <a:latin typeface="Nunito" pitchFamily="2" charset="0"/>
              </a:rPr>
              <a:t>No acknowledgment (fire and forget)</a:t>
            </a:r>
          </a:p>
          <a:p>
            <a:r>
              <a:rPr lang="en-US" b="1" i="0" dirty="0">
                <a:effectLst/>
                <a:latin typeface="Nunito" pitchFamily="2" charset="0"/>
              </a:rPr>
              <a:t>acks=1: </a:t>
            </a:r>
            <a:r>
              <a:rPr lang="en-US" b="0" i="0" dirty="0">
                <a:effectLst/>
                <a:latin typeface="Nunito" pitchFamily="2" charset="0"/>
              </a:rPr>
              <a:t>Leader acknowledgment only</a:t>
            </a:r>
          </a:p>
          <a:p>
            <a:r>
              <a:rPr lang="en-US" b="1" i="0" dirty="0">
                <a:effectLst/>
                <a:latin typeface="Nunito" pitchFamily="2" charset="0"/>
              </a:rPr>
              <a:t>acks=all: </a:t>
            </a:r>
            <a:r>
              <a:rPr lang="en-US" b="0" i="0" dirty="0">
                <a:effectLst/>
                <a:latin typeface="Nunito" pitchFamily="2" charset="0"/>
              </a:rPr>
              <a:t>Full ISR (In-Sync Replica) acknowledgment The choice affects the trade-off between latency and durability. Higher levels of acknowledgment provide stronger durability guarantees but increase latency.</a:t>
            </a:r>
            <a:endParaRPr lang="en-IN" dirty="0"/>
          </a:p>
        </p:txBody>
      </p:sp>
      <p:sp>
        <p:nvSpPr>
          <p:cNvPr id="6" name="TextBox 5">
            <a:extLst>
              <a:ext uri="{FF2B5EF4-FFF2-40B4-BE49-F238E27FC236}">
                <a16:creationId xmlns:a16="http://schemas.microsoft.com/office/drawing/2014/main" id="{1DCB2EC2-ED79-6EFA-64F1-F8DDAF2ACC18}"/>
              </a:ext>
            </a:extLst>
          </p:cNvPr>
          <p:cNvSpPr txBox="1"/>
          <p:nvPr/>
        </p:nvSpPr>
        <p:spPr>
          <a:xfrm>
            <a:off x="5889171" y="1716098"/>
            <a:ext cx="6096000" cy="3734356"/>
          </a:xfrm>
          <a:prstGeom prst="rect">
            <a:avLst/>
          </a:prstGeom>
          <a:noFill/>
        </p:spPr>
        <p:txBody>
          <a:bodyPr wrap="square">
            <a:spAutoFit/>
          </a:bodyPr>
          <a:lstStyle/>
          <a:p>
            <a:pPr algn="l" rtl="0" fontAlgn="base">
              <a:spcAft>
                <a:spcPts val="750"/>
              </a:spcAft>
              <a:buNone/>
            </a:pPr>
            <a:r>
              <a:rPr lang="en-US" sz="2800" b="0" i="0" dirty="0">
                <a:effectLst/>
                <a:latin typeface="Nunito" pitchFamily="2" charset="0"/>
              </a:rPr>
              <a:t>Message delivery semantics: (Consumer side)</a:t>
            </a:r>
          </a:p>
          <a:p>
            <a:pPr algn="l" fontAlgn="base">
              <a:spcAft>
                <a:spcPts val="1800"/>
              </a:spcAft>
              <a:buFont typeface="Arial" panose="020B0604020202020204" pitchFamily="34" charset="0"/>
              <a:buChar char="•"/>
            </a:pPr>
            <a:r>
              <a:rPr lang="en-US" b="1" i="0" dirty="0">
                <a:effectLst/>
                <a:latin typeface="Nunito" pitchFamily="2" charset="0"/>
              </a:rPr>
              <a:t>At most once:</a:t>
            </a:r>
            <a:r>
              <a:rPr lang="en-US" b="0" i="0" dirty="0">
                <a:effectLst/>
                <a:latin typeface="Nunito" pitchFamily="2" charset="0"/>
              </a:rPr>
              <a:t> Messages may be lost but are never redelivered.</a:t>
            </a:r>
          </a:p>
          <a:p>
            <a:pPr algn="l" fontAlgn="base">
              <a:spcAft>
                <a:spcPts val="1800"/>
              </a:spcAft>
              <a:buFont typeface="Arial" panose="020B0604020202020204" pitchFamily="34" charset="0"/>
              <a:buChar char="•"/>
            </a:pPr>
            <a:r>
              <a:rPr lang="en-US" b="1" i="0" dirty="0">
                <a:effectLst/>
                <a:latin typeface="Nunito" pitchFamily="2" charset="0"/>
              </a:rPr>
              <a:t>At least once:</a:t>
            </a:r>
            <a:r>
              <a:rPr lang="en-US" b="0" i="0" dirty="0">
                <a:effectLst/>
                <a:latin typeface="Nunito" pitchFamily="2" charset="0"/>
              </a:rPr>
              <a:t> Messages are never lost but may be redelivered.</a:t>
            </a:r>
          </a:p>
          <a:p>
            <a:pPr algn="l" fontAlgn="base">
              <a:spcAft>
                <a:spcPts val="1800"/>
              </a:spcAft>
              <a:buFont typeface="Arial" panose="020B0604020202020204" pitchFamily="34" charset="0"/>
              <a:buChar char="•"/>
            </a:pPr>
            <a:r>
              <a:rPr lang="en-US" b="1" i="0" dirty="0">
                <a:effectLst/>
                <a:latin typeface="Nunito" pitchFamily="2" charset="0"/>
              </a:rPr>
              <a:t>Exactly once:</a:t>
            </a:r>
            <a:r>
              <a:rPr lang="en-US" b="0" i="0" dirty="0">
                <a:effectLst/>
                <a:latin typeface="Nunito" pitchFamily="2" charset="0"/>
              </a:rPr>
              <a:t> Each message is delivered once and only once. The choice depends on the specific use case and can be configured through producer and consumer settings.</a:t>
            </a:r>
          </a:p>
        </p:txBody>
      </p:sp>
    </p:spTree>
    <p:extLst>
      <p:ext uri="{BB962C8B-B14F-4D97-AF65-F5344CB8AC3E}">
        <p14:creationId xmlns:p14="http://schemas.microsoft.com/office/powerpoint/2010/main" val="17683705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757" y="-5669"/>
            <a:ext cx="10880272" cy="346141"/>
          </a:xfrm>
        </p:spPr>
        <p:txBody>
          <a:bodyPr>
            <a:noAutofit/>
          </a:bodyPr>
          <a:lstStyle/>
          <a:p>
            <a:r>
              <a:rPr lang="en-US" sz="2000" dirty="0"/>
              <a:t>Sample implementation - </a:t>
            </a:r>
            <a:r>
              <a:rPr lang="en-US" sz="2000" dirty="0">
                <a:hlinkClick r:id="rId2"/>
              </a:rPr>
              <a:t>https://github.com/as6485/springkafka</a:t>
            </a:r>
            <a:r>
              <a:rPr lang="en-US" sz="2000" dirty="0"/>
              <a:t> </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14</a:t>
            </a:fld>
            <a:endParaRPr lang="en-US" dirty="0"/>
          </a:p>
        </p:txBody>
      </p:sp>
      <p:pic>
        <p:nvPicPr>
          <p:cNvPr id="11" name="Picture 10">
            <a:extLst>
              <a:ext uri="{FF2B5EF4-FFF2-40B4-BE49-F238E27FC236}">
                <a16:creationId xmlns:a16="http://schemas.microsoft.com/office/drawing/2014/main" id="{9397D17D-A685-1330-A624-106038726F45}"/>
              </a:ext>
            </a:extLst>
          </p:cNvPr>
          <p:cNvPicPr>
            <a:picLocks noChangeAspect="1"/>
          </p:cNvPicPr>
          <p:nvPr/>
        </p:nvPicPr>
        <p:blipFill>
          <a:blip r:embed="rId3"/>
          <a:stretch>
            <a:fillRect/>
          </a:stretch>
        </p:blipFill>
        <p:spPr>
          <a:xfrm>
            <a:off x="185058" y="523035"/>
            <a:ext cx="10765971" cy="6015877"/>
          </a:xfrm>
          <a:prstGeom prst="rect">
            <a:avLst/>
          </a:prstGeom>
        </p:spPr>
      </p:pic>
    </p:spTree>
    <p:extLst>
      <p:ext uri="{BB962C8B-B14F-4D97-AF65-F5344CB8AC3E}">
        <p14:creationId xmlns:p14="http://schemas.microsoft.com/office/powerpoint/2010/main" val="313532471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179161"/>
          </a:xfrm>
        </p:spPr>
        <p:txBody>
          <a:bodyPr>
            <a:normAutofit fontScale="90000"/>
          </a:bodyPr>
          <a:lstStyle/>
          <a:p>
            <a:pPr algn="l"/>
            <a:r>
              <a:rPr lang="en-IN" b="0" i="0" dirty="0">
                <a:solidFill>
                  <a:srgbClr val="272C37"/>
                </a:solidFill>
                <a:effectLst/>
                <a:latin typeface="Roboto" panose="02000000000000000000" pitchFamily="2" charset="0"/>
              </a:rPr>
              <a:t>RabbitMQ vs Kafka</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15</a:t>
            </a:fld>
            <a:endParaRPr lang="en-US" dirty="0"/>
          </a:p>
        </p:txBody>
      </p:sp>
      <p:graphicFrame>
        <p:nvGraphicFramePr>
          <p:cNvPr id="6" name="Table 5">
            <a:extLst>
              <a:ext uri="{FF2B5EF4-FFF2-40B4-BE49-F238E27FC236}">
                <a16:creationId xmlns:a16="http://schemas.microsoft.com/office/drawing/2014/main" id="{5B2A31A4-711A-A699-0352-8E234C6066E7}"/>
              </a:ext>
            </a:extLst>
          </p:cNvPr>
          <p:cNvGraphicFramePr>
            <a:graphicFrameLocks noGrp="1"/>
          </p:cNvGraphicFramePr>
          <p:nvPr>
            <p:extLst>
              <p:ext uri="{D42A27DB-BD31-4B8C-83A1-F6EECF244321}">
                <p14:modId xmlns:p14="http://schemas.microsoft.com/office/powerpoint/2010/main" val="3612233355"/>
              </p:ext>
            </p:extLst>
          </p:nvPr>
        </p:nvGraphicFramePr>
        <p:xfrm>
          <a:off x="932542" y="761999"/>
          <a:ext cx="10671630" cy="5699760"/>
        </p:xfrm>
        <a:graphic>
          <a:graphicData uri="http://schemas.openxmlformats.org/drawingml/2006/table">
            <a:tbl>
              <a:tblPr firstRow="1" bandRow="1">
                <a:tableStyleId>{5C22544A-7EE6-4342-B048-85BDC9FD1C3A}</a:tableStyleId>
              </a:tblPr>
              <a:tblGrid>
                <a:gridCol w="3557210">
                  <a:extLst>
                    <a:ext uri="{9D8B030D-6E8A-4147-A177-3AD203B41FA5}">
                      <a16:colId xmlns:a16="http://schemas.microsoft.com/office/drawing/2014/main" val="1774579816"/>
                    </a:ext>
                  </a:extLst>
                </a:gridCol>
                <a:gridCol w="3557210">
                  <a:extLst>
                    <a:ext uri="{9D8B030D-6E8A-4147-A177-3AD203B41FA5}">
                      <a16:colId xmlns:a16="http://schemas.microsoft.com/office/drawing/2014/main" val="876463231"/>
                    </a:ext>
                  </a:extLst>
                </a:gridCol>
                <a:gridCol w="3557210">
                  <a:extLst>
                    <a:ext uri="{9D8B030D-6E8A-4147-A177-3AD203B41FA5}">
                      <a16:colId xmlns:a16="http://schemas.microsoft.com/office/drawing/2014/main" val="2549872033"/>
                    </a:ext>
                  </a:extLst>
                </a:gridCol>
              </a:tblGrid>
              <a:tr h="165220">
                <a:tc>
                  <a:txBody>
                    <a:bodyPr/>
                    <a:lstStyle/>
                    <a:p>
                      <a:endParaRPr lang="en-IN" dirty="0"/>
                    </a:p>
                  </a:txBody>
                  <a:tcPr/>
                </a:tc>
                <a:tc>
                  <a:txBody>
                    <a:bodyPr/>
                    <a:lstStyle/>
                    <a:p>
                      <a:r>
                        <a:rPr lang="en-IN" dirty="0"/>
                        <a:t>RabbitMQ</a:t>
                      </a:r>
                    </a:p>
                  </a:txBody>
                  <a:tcPr/>
                </a:tc>
                <a:tc>
                  <a:txBody>
                    <a:bodyPr/>
                    <a:lstStyle/>
                    <a:p>
                      <a:r>
                        <a:rPr lang="en-IN" dirty="0"/>
                        <a:t>Kafka</a:t>
                      </a:r>
                    </a:p>
                  </a:txBody>
                  <a:tcPr/>
                </a:tc>
                <a:extLst>
                  <a:ext uri="{0D108BD9-81ED-4DB2-BD59-A6C34878D82A}">
                    <a16:rowId xmlns:a16="http://schemas.microsoft.com/office/drawing/2014/main" val="2316238321"/>
                  </a:ext>
                </a:extLst>
              </a:tr>
              <a:tr h="370840">
                <a:tc>
                  <a:txBody>
                    <a:bodyPr/>
                    <a:lstStyle/>
                    <a:p>
                      <a:pPr algn="ctr"/>
                      <a:r>
                        <a:rPr lang="en-IN" sz="1800" b="0" i="0" kern="1200" dirty="0">
                          <a:solidFill>
                            <a:schemeClr val="dk1"/>
                          </a:solidFill>
                          <a:effectLst/>
                          <a:latin typeface="+mn-lt"/>
                          <a:ea typeface="+mn-ea"/>
                          <a:cs typeface="+mn-cs"/>
                        </a:rPr>
                        <a:t>Architecture</a:t>
                      </a:r>
                      <a:endParaRPr lang="en-IN" b="0" i="0" dirty="0">
                        <a:solidFill>
                          <a:srgbClr val="51565E"/>
                        </a:solidFill>
                        <a:effectLst/>
                        <a:latin typeface="Roboto" panose="02000000000000000000" pitchFamily="2" charset="0"/>
                      </a:endParaRPr>
                    </a:p>
                  </a:txBody>
                  <a:tcPr marL="76200" marR="76200" marT="101600" marB="101600" anchor="ctr"/>
                </a:tc>
                <a:tc>
                  <a:txBody>
                    <a:bodyPr/>
                    <a:lstStyle/>
                    <a:p>
                      <a:pPr algn="ctr"/>
                      <a:r>
                        <a:rPr lang="en-US" b="0" i="0" dirty="0">
                          <a:solidFill>
                            <a:srgbClr val="51565E"/>
                          </a:solidFill>
                          <a:effectLst/>
                          <a:latin typeface="Roboto" panose="02000000000000000000" pitchFamily="2" charset="0"/>
                        </a:rPr>
                        <a:t>Supports complex architecture Exchange type: Direct, Fan out, Topic, Header-based</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Publish/subscribe based</a:t>
                      </a:r>
                    </a:p>
                  </a:txBody>
                  <a:tcPr marL="76200" marR="76200" marT="101600" marB="101600" anchor="ctr"/>
                </a:tc>
                <a:extLst>
                  <a:ext uri="{0D108BD9-81ED-4DB2-BD59-A6C34878D82A}">
                    <a16:rowId xmlns:a16="http://schemas.microsoft.com/office/drawing/2014/main" val="3086784717"/>
                  </a:ext>
                </a:extLst>
              </a:tr>
              <a:tr h="370840">
                <a:tc>
                  <a:txBody>
                    <a:bodyPr/>
                    <a:lstStyle/>
                    <a:p>
                      <a:pPr algn="ctr"/>
                      <a:r>
                        <a:rPr lang="en-IN" b="0" i="0" dirty="0">
                          <a:solidFill>
                            <a:srgbClr val="51565E"/>
                          </a:solidFill>
                          <a:effectLst/>
                          <a:latin typeface="Roboto" panose="02000000000000000000" pitchFamily="2" charset="0"/>
                        </a:rPr>
                        <a:t>Performance</a:t>
                      </a:r>
                    </a:p>
                  </a:txBody>
                  <a:tcPr marL="76200" marR="76200" marT="101600" marB="101600" anchor="ctr"/>
                </a:tc>
                <a:tc>
                  <a:txBody>
                    <a:bodyPr/>
                    <a:lstStyle/>
                    <a:p>
                      <a:pPr algn="ctr"/>
                      <a:r>
                        <a:rPr lang="en-IN" b="1" i="0" dirty="0">
                          <a:solidFill>
                            <a:srgbClr val="51565E"/>
                          </a:solidFill>
                          <a:effectLst/>
                          <a:latin typeface="Roboto" panose="02000000000000000000" pitchFamily="2" charset="0"/>
                        </a:rPr>
                        <a:t>4K-10K messages per second</a:t>
                      </a:r>
                    </a:p>
                  </a:txBody>
                  <a:tcPr marL="76200" marR="76200" marT="101600" marB="101600" anchor="ctr"/>
                </a:tc>
                <a:tc>
                  <a:txBody>
                    <a:bodyPr/>
                    <a:lstStyle/>
                    <a:p>
                      <a:pPr algn="ctr"/>
                      <a:r>
                        <a:rPr lang="fr-FR" b="1" i="0" dirty="0">
                          <a:solidFill>
                            <a:srgbClr val="51565E"/>
                          </a:solidFill>
                          <a:effectLst/>
                          <a:latin typeface="Roboto" panose="02000000000000000000" pitchFamily="2" charset="0"/>
                        </a:rPr>
                        <a:t>1 million messages per second</a:t>
                      </a:r>
                    </a:p>
                  </a:txBody>
                  <a:tcPr marL="76200" marR="76200" marT="101600" marB="101600" anchor="ctr"/>
                </a:tc>
                <a:extLst>
                  <a:ext uri="{0D108BD9-81ED-4DB2-BD59-A6C34878D82A}">
                    <a16:rowId xmlns:a16="http://schemas.microsoft.com/office/drawing/2014/main" val="737343747"/>
                  </a:ext>
                </a:extLst>
              </a:tr>
              <a:tr h="370840">
                <a:tc>
                  <a:txBody>
                    <a:bodyPr/>
                    <a:lstStyle/>
                    <a:p>
                      <a:pPr algn="ctr"/>
                      <a:r>
                        <a:rPr lang="en-IN" b="0" i="0" dirty="0">
                          <a:solidFill>
                            <a:srgbClr val="51565E"/>
                          </a:solidFill>
                          <a:effectLst/>
                          <a:latin typeface="Roboto" panose="02000000000000000000" pitchFamily="2" charset="0"/>
                        </a:rPr>
                        <a:t>Consumer Mode</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Smart broker/dumb consumer</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Dumb broker/smart consumer</a:t>
                      </a:r>
                    </a:p>
                  </a:txBody>
                  <a:tcPr marL="76200" marR="76200" marT="101600" marB="101600" anchor="ctr"/>
                </a:tc>
                <a:extLst>
                  <a:ext uri="{0D108BD9-81ED-4DB2-BD59-A6C34878D82A}">
                    <a16:rowId xmlns:a16="http://schemas.microsoft.com/office/drawing/2014/main" val="28767847"/>
                  </a:ext>
                </a:extLst>
              </a:tr>
              <a:tr h="370840">
                <a:tc>
                  <a:txBody>
                    <a:bodyPr/>
                    <a:lstStyle/>
                    <a:p>
                      <a:pPr algn="ctr"/>
                      <a:r>
                        <a:rPr lang="en-IN" b="0" i="0" dirty="0">
                          <a:solidFill>
                            <a:srgbClr val="51565E"/>
                          </a:solidFill>
                          <a:effectLst/>
                          <a:latin typeface="Roboto" panose="02000000000000000000" pitchFamily="2" charset="0"/>
                        </a:rPr>
                        <a:t>Message Retention</a:t>
                      </a:r>
                    </a:p>
                  </a:txBody>
                  <a:tcPr marL="76200" marR="76200" marT="101600" marB="101600" anchor="ctr"/>
                </a:tc>
                <a:tc>
                  <a:txBody>
                    <a:bodyPr/>
                    <a:lstStyle/>
                    <a:p>
                      <a:pPr algn="ctr"/>
                      <a:r>
                        <a:rPr lang="en-IN" sz="1800" b="0" i="0" kern="1200" dirty="0">
                          <a:solidFill>
                            <a:srgbClr val="51565E"/>
                          </a:solidFill>
                          <a:effectLst/>
                          <a:latin typeface="Roboto" panose="02000000000000000000" pitchFamily="2" charset="0"/>
                          <a:ea typeface="+mn-ea"/>
                          <a:cs typeface="+mn-cs"/>
                        </a:rPr>
                        <a:t>Acknowledgment based. </a:t>
                      </a:r>
                      <a:r>
                        <a:rPr lang="en-US" sz="1800" b="0" i="0" kern="1200" dirty="0">
                          <a:solidFill>
                            <a:srgbClr val="51565E"/>
                          </a:solidFill>
                          <a:effectLst/>
                          <a:latin typeface="Roboto" panose="02000000000000000000" pitchFamily="2" charset="0"/>
                          <a:ea typeface="+mn-ea"/>
                          <a:cs typeface="+mn-cs"/>
                        </a:rPr>
                        <a:t>It deletes messages after they’re consumed.</a:t>
                      </a:r>
                      <a:endParaRPr lang="en-IN" sz="1800" b="0" i="0" kern="1200" dirty="0">
                        <a:solidFill>
                          <a:srgbClr val="51565E"/>
                        </a:solidFill>
                        <a:effectLst/>
                        <a:latin typeface="Roboto" panose="02000000000000000000" pitchFamily="2" charset="0"/>
                        <a:ea typeface="+mn-ea"/>
                        <a:cs typeface="+mn-cs"/>
                      </a:endParaRPr>
                    </a:p>
                  </a:txBody>
                  <a:tcPr marL="76200" marR="76200" marT="101600" marB="101600" anchor="ctr"/>
                </a:tc>
                <a:tc>
                  <a:txBody>
                    <a:bodyPr/>
                    <a:lstStyle/>
                    <a:p>
                      <a:pPr algn="ctr"/>
                      <a:r>
                        <a:rPr lang="en-US" b="0" i="0" dirty="0">
                          <a:solidFill>
                            <a:srgbClr val="51565E"/>
                          </a:solidFill>
                          <a:effectLst/>
                          <a:latin typeface="Roboto" panose="02000000000000000000" pitchFamily="2" charset="0"/>
                        </a:rPr>
                        <a:t>Policy-based (e.g., 30 days)</a:t>
                      </a:r>
                    </a:p>
                  </a:txBody>
                  <a:tcPr marL="76200" marR="76200" marT="101600" marB="101600" anchor="ctr"/>
                </a:tc>
                <a:extLst>
                  <a:ext uri="{0D108BD9-81ED-4DB2-BD59-A6C34878D82A}">
                    <a16:rowId xmlns:a16="http://schemas.microsoft.com/office/drawing/2014/main" val="3803519331"/>
                  </a:ext>
                </a:extLst>
              </a:tr>
              <a:tr h="370840">
                <a:tc>
                  <a:txBody>
                    <a:bodyPr/>
                    <a:lstStyle/>
                    <a:p>
                      <a:pPr algn="ctr"/>
                      <a:r>
                        <a:rPr lang="en-IN" b="0" i="0" dirty="0">
                          <a:solidFill>
                            <a:srgbClr val="51565E"/>
                          </a:solidFill>
                          <a:effectLst/>
                          <a:latin typeface="Roboto" panose="02000000000000000000" pitchFamily="2" charset="0"/>
                        </a:rPr>
                        <a:t>Message ordering</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Unsupported.</a:t>
                      </a:r>
                    </a:p>
                  </a:txBody>
                  <a:tcPr marL="76200" marR="76200" marT="101600" marB="101600" anchor="ctr"/>
                </a:tc>
                <a:tc>
                  <a:txBody>
                    <a:bodyPr/>
                    <a:lstStyle/>
                    <a:p>
                      <a:pPr algn="ctr"/>
                      <a:r>
                        <a:rPr lang="en-US" b="0" i="0" dirty="0">
                          <a:solidFill>
                            <a:srgbClr val="51565E"/>
                          </a:solidFill>
                          <a:effectLst/>
                          <a:latin typeface="Roboto" panose="02000000000000000000" pitchFamily="2" charset="0"/>
                        </a:rPr>
                        <a:t>Message ordering is provided via its partitioning. By message key, messages are sent to topics.</a:t>
                      </a:r>
                    </a:p>
                  </a:txBody>
                  <a:tcPr marL="76200" marR="76200" marT="101600" marB="101600" anchor="ctr"/>
                </a:tc>
                <a:extLst>
                  <a:ext uri="{0D108BD9-81ED-4DB2-BD59-A6C34878D82A}">
                    <a16:rowId xmlns:a16="http://schemas.microsoft.com/office/drawing/2014/main" val="1328117714"/>
                  </a:ext>
                </a:extLst>
              </a:tr>
              <a:tr h="370840">
                <a:tc>
                  <a:txBody>
                    <a:bodyPr/>
                    <a:lstStyle/>
                    <a:p>
                      <a:pPr algn="ctr"/>
                      <a:r>
                        <a:rPr lang="en-IN" b="0" i="0" dirty="0">
                          <a:solidFill>
                            <a:srgbClr val="51565E"/>
                          </a:solidFill>
                          <a:effectLst/>
                          <a:latin typeface="Roboto" panose="02000000000000000000" pitchFamily="2" charset="0"/>
                        </a:rPr>
                        <a:t>Message priorities</a:t>
                      </a:r>
                    </a:p>
                  </a:txBody>
                  <a:tcPr marL="76200" marR="76200" marT="101600" marB="101600" anchor="ctr"/>
                </a:tc>
                <a:tc>
                  <a:txBody>
                    <a:bodyPr/>
                    <a:lstStyle/>
                    <a:p>
                      <a:pPr algn="ctr"/>
                      <a:r>
                        <a:rPr lang="en-US" b="0" i="0" dirty="0">
                          <a:solidFill>
                            <a:srgbClr val="51565E"/>
                          </a:solidFill>
                          <a:effectLst/>
                          <a:latin typeface="Roboto" panose="02000000000000000000" pitchFamily="2" charset="0"/>
                        </a:rPr>
                        <a:t>You can set message priorities in RabbitMQ and consume messages in the order of highest priority.</a:t>
                      </a:r>
                    </a:p>
                  </a:txBody>
                  <a:tcPr marL="76200" marR="76200" marT="101600" marB="101600" anchor="ctr"/>
                </a:tc>
                <a:tc>
                  <a:txBody>
                    <a:bodyPr/>
                    <a:lstStyle/>
                    <a:p>
                      <a:pPr algn="ctr"/>
                      <a:r>
                        <a:rPr lang="en-IN" b="0" i="0" dirty="0">
                          <a:solidFill>
                            <a:srgbClr val="51565E"/>
                          </a:solidFill>
                          <a:effectLst/>
                          <a:latin typeface="Roboto" panose="02000000000000000000" pitchFamily="2" charset="0"/>
                        </a:rPr>
                        <a:t>Unavailable</a:t>
                      </a:r>
                    </a:p>
                  </a:txBody>
                  <a:tcPr marL="76200" marR="76200" marT="101600" marB="101600" anchor="ctr"/>
                </a:tc>
                <a:extLst>
                  <a:ext uri="{0D108BD9-81ED-4DB2-BD59-A6C34878D82A}">
                    <a16:rowId xmlns:a16="http://schemas.microsoft.com/office/drawing/2014/main" val="3618579303"/>
                  </a:ext>
                </a:extLst>
              </a:tr>
            </a:tbl>
          </a:graphicData>
        </a:graphic>
      </p:graphicFrame>
    </p:spTree>
    <p:extLst>
      <p:ext uri="{BB962C8B-B14F-4D97-AF65-F5344CB8AC3E}">
        <p14:creationId xmlns:p14="http://schemas.microsoft.com/office/powerpoint/2010/main" val="1355065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When to use RabbitMQ vs Kafka</a:t>
            </a:r>
          </a:p>
        </p:txBody>
      </p:sp>
      <p:sp>
        <p:nvSpPr>
          <p:cNvPr id="35" name="Content Placeholder 2"/>
          <p:cNvSpPr>
            <a:spLocks noGrp="1"/>
          </p:cNvSpPr>
          <p:nvPr>
            <p:ph idx="1"/>
          </p:nvPr>
        </p:nvSpPr>
        <p:spPr/>
        <p:txBody>
          <a:bodyPr>
            <a:normAutofit fontScale="62500" lnSpcReduction="20000"/>
          </a:bodyPr>
          <a:lstStyle/>
          <a:p>
            <a:pPr algn="l"/>
            <a:r>
              <a:rPr lang="en-US" b="0" i="0" dirty="0">
                <a:solidFill>
                  <a:srgbClr val="333333"/>
                </a:solidFill>
                <a:effectLst/>
                <a:latin typeface="AmazonEmber"/>
              </a:rPr>
              <a:t>It's important to understand that RabbitMQ and Kafka are not competing message brokers. Both were designed to support data exchange in different use cases where one is more suitable than the other.</a:t>
            </a:r>
          </a:p>
          <a:p>
            <a:pPr algn="l"/>
            <a:r>
              <a:rPr lang="en-US" b="1" i="0" dirty="0">
                <a:solidFill>
                  <a:srgbClr val="333333"/>
                </a:solidFill>
                <a:effectLst/>
                <a:latin typeface="AmazonEmberBold"/>
              </a:rPr>
              <a:t>Event stream replays</a:t>
            </a:r>
            <a:endParaRPr lang="en-US" b="1" i="0" dirty="0">
              <a:solidFill>
                <a:srgbClr val="333333"/>
              </a:solidFill>
              <a:effectLst/>
              <a:latin typeface="AmazonEmber"/>
            </a:endParaRPr>
          </a:p>
          <a:p>
            <a:pPr lvl="1"/>
            <a:r>
              <a:rPr lang="en-US" b="1" i="0" dirty="0">
                <a:solidFill>
                  <a:srgbClr val="333333"/>
                </a:solidFill>
                <a:effectLst/>
                <a:latin typeface="AmazonEmber"/>
              </a:rPr>
              <a:t>Kafka</a:t>
            </a:r>
            <a:r>
              <a:rPr lang="en-US" b="0" i="0" dirty="0">
                <a:solidFill>
                  <a:srgbClr val="333333"/>
                </a:solidFill>
                <a:effectLst/>
                <a:latin typeface="AmazonEmber"/>
              </a:rPr>
              <a:t> is suitable for applications that need to reanalyze the received data. You can process streaming data multiple times within the retention period or collect log files for analysis.</a:t>
            </a:r>
          </a:p>
          <a:p>
            <a:pPr lvl="1"/>
            <a:r>
              <a:rPr lang="en-US" b="0" i="0" dirty="0">
                <a:solidFill>
                  <a:srgbClr val="333333"/>
                </a:solidFill>
                <a:effectLst/>
                <a:latin typeface="AmazonEmber"/>
              </a:rPr>
              <a:t>Log aggregation with RabbitMQ is more challenging, as messages are deleted once consumed. A workaround is to replay the stored messages from the producers.</a:t>
            </a:r>
          </a:p>
          <a:p>
            <a:pPr algn="l"/>
            <a:r>
              <a:rPr lang="en-US" b="1" i="0" dirty="0">
                <a:solidFill>
                  <a:srgbClr val="333333"/>
                </a:solidFill>
                <a:effectLst/>
                <a:latin typeface="AmazonEmberBold"/>
              </a:rPr>
              <a:t>Real-time data processing</a:t>
            </a:r>
            <a:endParaRPr lang="en-US" b="1" i="0" dirty="0">
              <a:solidFill>
                <a:srgbClr val="333333"/>
              </a:solidFill>
              <a:effectLst/>
              <a:latin typeface="AmazonEmber"/>
            </a:endParaRPr>
          </a:p>
          <a:p>
            <a:pPr lvl="1"/>
            <a:r>
              <a:rPr lang="en-US" b="1" i="0" dirty="0">
                <a:solidFill>
                  <a:srgbClr val="333333"/>
                </a:solidFill>
                <a:effectLst/>
                <a:latin typeface="AmazonEmber"/>
              </a:rPr>
              <a:t>Kafka</a:t>
            </a:r>
            <a:r>
              <a:rPr lang="en-US" b="0" i="0" dirty="0">
                <a:solidFill>
                  <a:srgbClr val="333333"/>
                </a:solidFill>
                <a:effectLst/>
                <a:latin typeface="AmazonEmber"/>
              </a:rPr>
              <a:t> streams messages with very low latency and is suitable to analyze streaming data in real time. For example, you can use Kafka as a distributed monitoring service to raise alerts for online transaction processing in real time.</a:t>
            </a:r>
          </a:p>
          <a:p>
            <a:pPr algn="l"/>
            <a:r>
              <a:rPr lang="en-US" b="1" i="0" dirty="0">
                <a:solidFill>
                  <a:srgbClr val="333333"/>
                </a:solidFill>
                <a:effectLst/>
                <a:latin typeface="AmazonEmberBold"/>
              </a:rPr>
              <a:t>Complex routing architecture</a:t>
            </a:r>
            <a:endParaRPr lang="en-US" b="1" i="0" dirty="0">
              <a:solidFill>
                <a:srgbClr val="333333"/>
              </a:solidFill>
              <a:effectLst/>
              <a:latin typeface="AmazonEmber"/>
            </a:endParaRPr>
          </a:p>
          <a:p>
            <a:pPr lvl="1"/>
            <a:r>
              <a:rPr lang="en-US" b="1" i="0" dirty="0">
                <a:solidFill>
                  <a:srgbClr val="333333"/>
                </a:solidFill>
                <a:effectLst/>
                <a:latin typeface="AmazonEmber"/>
              </a:rPr>
              <a:t>RabbitMQ</a:t>
            </a:r>
            <a:r>
              <a:rPr lang="en-US" b="0" i="0" dirty="0">
                <a:solidFill>
                  <a:srgbClr val="333333"/>
                </a:solidFill>
                <a:effectLst/>
                <a:latin typeface="AmazonEmber"/>
              </a:rPr>
              <a:t> provides flexibility for clients with vague requirements or </a:t>
            </a:r>
            <a:r>
              <a:rPr lang="en-US" b="1" i="0" dirty="0">
                <a:solidFill>
                  <a:srgbClr val="333333"/>
                </a:solidFill>
                <a:effectLst/>
                <a:latin typeface="AmazonEmber"/>
              </a:rPr>
              <a:t>complex routing scenarios</a:t>
            </a:r>
            <a:r>
              <a:rPr lang="en-US" b="0" i="0" dirty="0">
                <a:solidFill>
                  <a:srgbClr val="333333"/>
                </a:solidFill>
                <a:effectLst/>
                <a:latin typeface="AmazonEmber"/>
              </a:rPr>
              <a:t>. For example, you can set up RabbitMQ to route data to different applications with different bindings and exchanges.</a:t>
            </a:r>
          </a:p>
          <a:p>
            <a:pPr algn="l"/>
            <a:r>
              <a:rPr lang="en-US" b="1" i="0" dirty="0">
                <a:solidFill>
                  <a:srgbClr val="333333"/>
                </a:solidFill>
                <a:effectLst/>
                <a:latin typeface="AmazonEmberBold"/>
              </a:rPr>
              <a:t>Effective message delivery</a:t>
            </a:r>
            <a:endParaRPr lang="en-US" b="1" i="0" dirty="0">
              <a:solidFill>
                <a:srgbClr val="333333"/>
              </a:solidFill>
              <a:effectLst/>
              <a:latin typeface="AmazonEmber"/>
            </a:endParaRPr>
          </a:p>
          <a:p>
            <a:pPr lvl="1"/>
            <a:r>
              <a:rPr lang="en-US" b="1" i="0" dirty="0">
                <a:solidFill>
                  <a:srgbClr val="333333"/>
                </a:solidFill>
                <a:effectLst/>
                <a:latin typeface="AmazonEmber"/>
              </a:rPr>
              <a:t>RabbitMQ</a:t>
            </a:r>
            <a:r>
              <a:rPr lang="en-US" b="0" i="0" dirty="0">
                <a:solidFill>
                  <a:srgbClr val="333333"/>
                </a:solidFill>
                <a:effectLst/>
                <a:latin typeface="AmazonEmber"/>
              </a:rPr>
              <a:t> applies the push model, which means the producer knows whether the client application consumed the message. It suits applications that must adhere to specific sequences and </a:t>
            </a:r>
            <a:r>
              <a:rPr lang="en-US" b="1" i="0" dirty="0">
                <a:solidFill>
                  <a:srgbClr val="333333"/>
                </a:solidFill>
                <a:effectLst/>
                <a:latin typeface="AmazonEmber"/>
              </a:rPr>
              <a:t>delivery guarantees </a:t>
            </a:r>
            <a:r>
              <a:rPr lang="en-US" b="0" i="0" dirty="0">
                <a:solidFill>
                  <a:srgbClr val="333333"/>
                </a:solidFill>
                <a:effectLst/>
                <a:latin typeface="AmazonEmber"/>
              </a:rPr>
              <a:t>when exchanging and analyzing data. </a:t>
            </a:r>
          </a:p>
        </p:txBody>
      </p:sp>
      <p:sp>
        <p:nvSpPr>
          <p:cNvPr id="5" name="Slide Number Placeholder 4"/>
          <p:cNvSpPr>
            <a:spLocks noGrp="1"/>
          </p:cNvSpPr>
          <p:nvPr>
            <p:ph type="sldNum" sz="quarter" idx="12"/>
          </p:nvPr>
        </p:nvSpPr>
        <p:spPr/>
        <p:txBody>
          <a:bodyPr/>
          <a:lstStyle/>
          <a:p>
            <a:fld id="{407C8B75-4858-41E6-BEC3-A0853FA4AC5B}" type="slidenum">
              <a:rPr lang="en-US" smtClean="0"/>
              <a:pPr/>
              <a:t>16</a:t>
            </a:fld>
            <a:endParaRPr lang="en-US" dirty="0"/>
          </a:p>
        </p:txBody>
      </p:sp>
    </p:spTree>
    <p:extLst>
      <p:ext uri="{BB962C8B-B14F-4D97-AF65-F5344CB8AC3E}">
        <p14:creationId xmlns:p14="http://schemas.microsoft.com/office/powerpoint/2010/main" val="376064844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References</a:t>
            </a:r>
          </a:p>
        </p:txBody>
      </p:sp>
      <p:sp>
        <p:nvSpPr>
          <p:cNvPr id="3" name="Content Placeholder 2"/>
          <p:cNvSpPr>
            <a:spLocks noGrp="1"/>
          </p:cNvSpPr>
          <p:nvPr>
            <p:ph idx="1"/>
          </p:nvPr>
        </p:nvSpPr>
        <p:spPr/>
        <p:txBody>
          <a:bodyPr>
            <a:normAutofit fontScale="92500" lnSpcReduction="10000"/>
          </a:bodyPr>
          <a:lstStyle/>
          <a:p>
            <a:r>
              <a:rPr lang="en-US" dirty="0">
                <a:hlinkClick r:id="rId2"/>
              </a:rPr>
              <a:t>https://kafka.apache.org/intro</a:t>
            </a:r>
          </a:p>
          <a:p>
            <a:r>
              <a:rPr lang="en-US" dirty="0">
                <a:hlinkClick r:id="rId2"/>
              </a:rPr>
              <a:t>https://en.wikipedia.org/wiki/Apache_Kafka</a:t>
            </a:r>
            <a:endParaRPr lang="en-US" dirty="0"/>
          </a:p>
          <a:p>
            <a:r>
              <a:rPr lang="en-US" dirty="0">
                <a:hlinkClick r:id="rId3"/>
              </a:rPr>
              <a:t>https://medium.com/analytics-vidhya/introduction-to-apache-kafka-88ebd24eb962</a:t>
            </a:r>
            <a:endParaRPr lang="en-US" dirty="0"/>
          </a:p>
          <a:p>
            <a:r>
              <a:rPr lang="en-US" dirty="0">
                <a:hlinkClick r:id="rId4"/>
              </a:rPr>
              <a:t>https://docs.google.com/presentation/d/1jPU6soIDn7W1F4CtUADuB4r3ujrebwHmxIoDhOLb_ok/htmlpresent</a:t>
            </a:r>
            <a:endParaRPr lang="en-US" dirty="0"/>
          </a:p>
          <a:p>
            <a:r>
              <a:rPr lang="en-US" dirty="0">
                <a:hlinkClick r:id="rId5"/>
              </a:rPr>
              <a:t>https://www.csee.umbc.edu/~shadam1/491s16/lectures/04-Kafka.pptx</a:t>
            </a:r>
            <a:r>
              <a:rPr lang="en-US" dirty="0"/>
              <a:t> </a:t>
            </a:r>
          </a:p>
          <a:p>
            <a:r>
              <a:rPr lang="en-US" dirty="0">
                <a:hlinkClick r:id="rId6"/>
              </a:rPr>
              <a:t>https://www.simplilearn.com/kafka-vs-rabbitmq-article</a:t>
            </a:r>
            <a:r>
              <a:rPr lang="en-US" dirty="0"/>
              <a:t> </a:t>
            </a:r>
          </a:p>
          <a:p>
            <a:r>
              <a:rPr lang="en-US" dirty="0">
                <a:hlinkClick r:id="rId7"/>
              </a:rPr>
              <a:t>https://aws.amazon.com/compare/the-difference-between-rabbitmq-and-kafka/#:~:text=RabbitMQ%20sends%20and%20queues%20messages,a%20specific%20topic%20and%20partition</a:t>
            </a:r>
            <a:r>
              <a:rPr lang="en-US" dirty="0"/>
              <a:t>. </a:t>
            </a:r>
          </a:p>
        </p:txBody>
      </p:sp>
    </p:spTree>
    <p:extLst>
      <p:ext uri="{BB962C8B-B14F-4D97-AF65-F5344CB8AC3E}">
        <p14:creationId xmlns:p14="http://schemas.microsoft.com/office/powerpoint/2010/main" val="107455780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218</TotalTime>
  <Words>1535</Words>
  <Application>Microsoft Office PowerPoint</Application>
  <PresentationFormat>Widescreen</PresentationFormat>
  <Paragraphs>183</Paragraphs>
  <Slides>17</Slides>
  <Notes>0</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17</vt:i4>
      </vt:variant>
    </vt:vector>
  </HeadingPairs>
  <TitlesOfParts>
    <vt:vector size="29" baseType="lpstr">
      <vt:lpstr>__Source_Sans_Pro_2fe30b</vt:lpstr>
      <vt:lpstr>AmazonEmber</vt:lpstr>
      <vt:lpstr>AmazonEmberBold</vt:lpstr>
      <vt:lpstr>Arial</vt:lpstr>
      <vt:lpstr>Calibri</vt:lpstr>
      <vt:lpstr>Calibri Light</vt:lpstr>
      <vt:lpstr>Consolas</vt:lpstr>
      <vt:lpstr>Helvetica</vt:lpstr>
      <vt:lpstr>Nunito</vt:lpstr>
      <vt:lpstr>Roboto</vt:lpstr>
      <vt:lpstr>Wingdings</vt:lpstr>
      <vt:lpstr>Office Theme</vt:lpstr>
      <vt:lpstr>Apache</vt:lpstr>
      <vt:lpstr>Overview</vt:lpstr>
      <vt:lpstr>How fast is Kafka?</vt:lpstr>
      <vt:lpstr>Why is Kafka so fast?</vt:lpstr>
      <vt:lpstr>Kafka Components</vt:lpstr>
      <vt:lpstr>Roles of ZooKeeper in Kafka</vt:lpstr>
      <vt:lpstr>Topics</vt:lpstr>
      <vt:lpstr>Topics</vt:lpstr>
      <vt:lpstr>Partitions</vt:lpstr>
      <vt:lpstr>Partitions</vt:lpstr>
      <vt:lpstr>Partition offsets</vt:lpstr>
      <vt:lpstr>Replicas of a partition</vt:lpstr>
      <vt:lpstr>Acknowledgements in Kafka</vt:lpstr>
      <vt:lpstr>Sample implementation - https://github.com/as6485/springkafka </vt:lpstr>
      <vt:lpstr>RabbitMQ vs Kafka</vt:lpstr>
      <vt:lpstr>When to use RabbitMQ vs Kafka</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Apache Kafka</dc:title>
  <dc:creator>Urmisha Sengupta</dc:creator>
  <cp:lastModifiedBy>Urmisha Sengupta</cp:lastModifiedBy>
  <cp:revision>78</cp:revision>
  <dcterms:created xsi:type="dcterms:W3CDTF">2023-10-16T07:25:46Z</dcterms:created>
  <dcterms:modified xsi:type="dcterms:W3CDTF">2025-05-05T17:02:16Z</dcterms:modified>
</cp:coreProperties>
</file>