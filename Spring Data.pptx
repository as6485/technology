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72" r:id="rId4"/>
    <p:sldId id="273" r:id="rId5"/>
    <p:sldId id="274" r:id="rId6"/>
    <p:sldId id="278" r:id="rId7"/>
    <p:sldId id="275" r:id="rId8"/>
    <p:sldId id="276" r:id="rId9"/>
    <p:sldId id="277" r:id="rId10"/>
    <p:sldId id="271"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6ABA-6F6D-927E-2042-270BFC2AF6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A39615-52D3-D8DF-F786-7F1C5C6083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9DEBA5-5E29-540E-B6C3-6078B0554671}"/>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25D5B2BC-194A-3592-D3CA-DF748844E5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23F98B-D85C-5A3A-8BF3-9780A6F6CBF3}"/>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1774330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5A195-6309-BAC2-5023-18BDC2E5D1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BDAD3E-9A39-5979-330E-9A9B7A55C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EBD175-A628-F3CB-214C-7ED63684DD7E}"/>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7A494ADF-F5B3-8EC1-B113-6DE7F3A1FF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9318B7-6030-F5F0-695D-D88D18A11FBB}"/>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98465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41D0E-98A7-647C-33E1-97EE19CA72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833286-B873-D1BF-EA27-453EC0A72E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18B186-21AB-A638-0EE6-BC2CF5540F5A}"/>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F256C101-2E7E-85E5-60BA-8E02B6714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9298AD-86B5-C537-D293-D480FF089B7F}"/>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3014496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57548-DF17-EF58-9C41-429299DD8E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B1963B-4EAD-47BE-A086-99C9ACD611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ADC724-CEB7-5637-C985-54368D642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FF3BFC-F2B6-B4CB-C20E-D3F19FA5678E}"/>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6" name="Footer Placeholder 5">
            <a:extLst>
              <a:ext uri="{FF2B5EF4-FFF2-40B4-BE49-F238E27FC236}">
                <a16:creationId xmlns:a16="http://schemas.microsoft.com/office/drawing/2014/main" id="{65888FD4-DD12-7622-B3C1-BF007BC41D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5E541F-624D-C24C-347A-D4CAD86BE873}"/>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2210546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68C4-0A6E-9C1B-353F-75A589DA10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0E5C24-DE12-1278-BCE4-B2F9C315DA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721451-6747-07EE-91C0-3CC6832B61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5A2A45-AC51-DF93-970E-69C88F440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3DD5C-CC3B-9C66-2356-DBB56B2157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3F009D-F19A-9A6E-D054-C506843C2373}"/>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8" name="Footer Placeholder 7">
            <a:extLst>
              <a:ext uri="{FF2B5EF4-FFF2-40B4-BE49-F238E27FC236}">
                <a16:creationId xmlns:a16="http://schemas.microsoft.com/office/drawing/2014/main" id="{5A9FEB22-C07F-57DD-4981-AAF0C4E82A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C792D1-D55F-95CE-CDC1-1462251D76C4}"/>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291446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F6C91-2F3B-B3BC-FF04-E4149EF00A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6C7184B-352B-980D-1AB4-7D0F79E8137E}"/>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4" name="Footer Placeholder 3">
            <a:extLst>
              <a:ext uri="{FF2B5EF4-FFF2-40B4-BE49-F238E27FC236}">
                <a16:creationId xmlns:a16="http://schemas.microsoft.com/office/drawing/2014/main" id="{CA79564C-582B-7ABF-0B72-AE88EFE7CB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2D046C-A879-E101-4878-17A2FA1673A7}"/>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47865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649634-3F79-BE3A-0F41-B5641CB6603B}"/>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3" name="Footer Placeholder 2">
            <a:extLst>
              <a:ext uri="{FF2B5EF4-FFF2-40B4-BE49-F238E27FC236}">
                <a16:creationId xmlns:a16="http://schemas.microsoft.com/office/drawing/2014/main" id="{71893F30-6B03-CBCF-7849-D91D8610DB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1D999D-CCA2-B00E-70F1-1A265EE0080B}"/>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303593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1A9A-8A80-5917-6939-A29F3CF110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928348-D4EB-ACF5-2420-ECD60C6587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8CAA27-D066-4714-A1A8-26410E69C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01EEC2-17EC-ABBF-0FCB-36997D082224}"/>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6" name="Footer Placeholder 5">
            <a:extLst>
              <a:ext uri="{FF2B5EF4-FFF2-40B4-BE49-F238E27FC236}">
                <a16:creationId xmlns:a16="http://schemas.microsoft.com/office/drawing/2014/main" id="{70C294B6-00B0-0313-BAB8-03F4B1A444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2EFCC9-1569-85C4-B098-5B8A21A24A96}"/>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571215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66FF9-377E-ADFD-DD90-5856AE824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D8E8DB-90DE-BB83-3346-07748E2772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170EA9-07E4-D1B6-7E07-B27A6275C0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0BD1B3-8955-EA37-6893-F11218CC6EA5}"/>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6" name="Footer Placeholder 5">
            <a:extLst>
              <a:ext uri="{FF2B5EF4-FFF2-40B4-BE49-F238E27FC236}">
                <a16:creationId xmlns:a16="http://schemas.microsoft.com/office/drawing/2014/main" id="{643215C5-7E81-C7C2-7941-B9E354523D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D4ABF8-3279-988D-E885-3AFB85BD589D}"/>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2544188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113D-0C77-9D36-30FA-B3108C6970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296A8B-81A8-02C8-4815-5B85F66C0A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F45AFD-BE01-6818-A278-BFBF50F3D1EF}"/>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63CD2258-9EE3-8907-9217-E21B34C0B3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845033-B728-0567-91E0-023E2953FAD0}"/>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4169623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3C5F19-FD64-AD12-4D7A-5B0886D493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6EB0AB-0B8F-43E9-11EB-E911A15D5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A69D12-A18F-1823-5B1F-388A36595514}"/>
              </a:ext>
            </a:extLst>
          </p:cNvPr>
          <p:cNvSpPr>
            <a:spLocks noGrp="1"/>
          </p:cNvSpPr>
          <p:nvPr>
            <p:ph type="dt" sz="half" idx="10"/>
          </p:nvPr>
        </p:nvSpPr>
        <p:spPr/>
        <p:txBody>
          <a:body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4546DA0D-D84C-F9DE-CB37-B8B04FF267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A85A19-1B78-0EC8-04A1-109CD6C3DEBE}"/>
              </a:ext>
            </a:extLst>
          </p:cNvPr>
          <p:cNvSpPr>
            <a:spLocks noGrp="1"/>
          </p:cNvSpPr>
          <p:nvPr>
            <p:ph type="sldNum" sz="quarter" idx="12"/>
          </p:nvPr>
        </p:nvSpPr>
        <p:spPr/>
        <p:txBody>
          <a:bodyPr/>
          <a:lstStyle/>
          <a:p>
            <a:fld id="{7D895DC6-7EE2-4A65-940A-349CB2B921F5}" type="slidenum">
              <a:rPr lang="en-IN" smtClean="0"/>
              <a:t>‹#›</a:t>
            </a:fld>
            <a:endParaRPr lang="en-IN"/>
          </a:p>
        </p:txBody>
      </p:sp>
    </p:spTree>
    <p:extLst>
      <p:ext uri="{BB962C8B-B14F-4D97-AF65-F5344CB8AC3E}">
        <p14:creationId xmlns:p14="http://schemas.microsoft.com/office/powerpoint/2010/main" val="323202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A05627-88F8-A160-B336-415C581DE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57321B-9AB0-9914-5992-DCB11A87A2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8E3F62-31D6-0657-C803-5EA8F62ACC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E9F151-0E31-40BE-9AF9-0BF44950DB88}" type="datetimeFigureOut">
              <a:rPr lang="en-IN" smtClean="0"/>
              <a:t>25-10-2023</a:t>
            </a:fld>
            <a:endParaRPr lang="en-IN"/>
          </a:p>
        </p:txBody>
      </p:sp>
      <p:sp>
        <p:nvSpPr>
          <p:cNvPr id="5" name="Footer Placeholder 4">
            <a:extLst>
              <a:ext uri="{FF2B5EF4-FFF2-40B4-BE49-F238E27FC236}">
                <a16:creationId xmlns:a16="http://schemas.microsoft.com/office/drawing/2014/main" id="{7C42C108-5691-2613-4922-6C127E6C1E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02B2FA-D483-B91E-57B4-483EA14E53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95DC6-7EE2-4A65-940A-349CB2B921F5}" type="slidenum">
              <a:rPr lang="en-IN" smtClean="0"/>
              <a:t>‹#›</a:t>
            </a:fld>
            <a:endParaRPr lang="en-IN"/>
          </a:p>
        </p:txBody>
      </p:sp>
    </p:spTree>
    <p:extLst>
      <p:ext uri="{BB962C8B-B14F-4D97-AF65-F5344CB8AC3E}">
        <p14:creationId xmlns:p14="http://schemas.microsoft.com/office/powerpoint/2010/main" val="1625740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medium.com/@andhikayusup/spring-boot-guide-for-beginner-entity-relationship-65fd614f07c6"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stackoverflow.com/questions/17008947/whats-the-difference-between-spring-datas-mongotemplate-and-mongorepository#:~:text=Repositories%20are%20by%20far%20more,control%20over%20what%20to%20execute" TargetMode="External"/><Relationship Id="rId2" Type="http://schemas.openxmlformats.org/officeDocument/2006/relationships/hyperlink" Target="https://stackoverflow.com/questions/27462185/jpa-vs-orm-vs-hibernate" TargetMode="External"/><Relationship Id="rId1" Type="http://schemas.openxmlformats.org/officeDocument/2006/relationships/slideLayout" Target="../slideLayouts/slideLayout2.xml"/><Relationship Id="rId4" Type="http://schemas.openxmlformats.org/officeDocument/2006/relationships/hyperlink" Target="https://www.baeldung.com/spring-data-repositor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MongoDB logo">
            <a:extLst>
              <a:ext uri="{FF2B5EF4-FFF2-40B4-BE49-F238E27FC236}">
                <a16:creationId xmlns:a16="http://schemas.microsoft.com/office/drawing/2014/main" id="{4EDE54A6-7C3C-58B4-19C2-89FC338CD0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Subtitle 2">
            <a:extLst>
              <a:ext uri="{FF2B5EF4-FFF2-40B4-BE49-F238E27FC236}">
                <a16:creationId xmlns:a16="http://schemas.microsoft.com/office/drawing/2014/main" id="{3F7934F1-B10C-23F3-585B-F7800FE0E22B}"/>
              </a:ext>
            </a:extLst>
          </p:cNvPr>
          <p:cNvSpPr>
            <a:spLocks noGrp="1"/>
          </p:cNvSpPr>
          <p:nvPr>
            <p:ph type="subTitle" idx="1"/>
          </p:nvPr>
        </p:nvSpPr>
        <p:spPr>
          <a:xfrm>
            <a:off x="1524000" y="3602038"/>
            <a:ext cx="9144000" cy="1655762"/>
          </a:xfrm>
        </p:spPr>
        <p:txBody>
          <a:bodyPr>
            <a:normAutofit/>
          </a:bodyPr>
          <a:lstStyle/>
          <a:p>
            <a:r>
              <a:rPr lang="en-US" dirty="0"/>
              <a:t>Ayan Sengupta</a:t>
            </a:r>
          </a:p>
        </p:txBody>
      </p:sp>
      <p:sp>
        <p:nvSpPr>
          <p:cNvPr id="2" name="TextBox 1">
            <a:extLst>
              <a:ext uri="{FF2B5EF4-FFF2-40B4-BE49-F238E27FC236}">
                <a16:creationId xmlns:a16="http://schemas.microsoft.com/office/drawing/2014/main" id="{BD5BA396-D61B-E868-53E1-F7D01DB9EBF8}"/>
              </a:ext>
            </a:extLst>
          </p:cNvPr>
          <p:cNvSpPr txBox="1"/>
          <p:nvPr/>
        </p:nvSpPr>
        <p:spPr>
          <a:xfrm>
            <a:off x="2106385" y="1994635"/>
            <a:ext cx="7674429" cy="830997"/>
          </a:xfrm>
          <a:prstGeom prst="rect">
            <a:avLst/>
          </a:prstGeom>
          <a:noFill/>
        </p:spPr>
        <p:txBody>
          <a:bodyPr wrap="square" rtlCol="0">
            <a:spAutoFit/>
          </a:bodyPr>
          <a:lstStyle/>
          <a:p>
            <a:pPr algn="ctr"/>
            <a:r>
              <a:rPr lang="en-IN" sz="4800" dirty="0"/>
              <a:t>Spring Data</a:t>
            </a:r>
          </a:p>
        </p:txBody>
      </p:sp>
    </p:spTree>
    <p:extLst>
      <p:ext uri="{BB962C8B-B14F-4D97-AF65-F5344CB8AC3E}">
        <p14:creationId xmlns:p14="http://schemas.microsoft.com/office/powerpoint/2010/main" val="1807304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B3D19F-DAFF-0EEB-0879-40E43D883048}"/>
              </a:ext>
            </a:extLst>
          </p:cNvPr>
          <p:cNvSpPr txBox="1"/>
          <p:nvPr/>
        </p:nvSpPr>
        <p:spPr>
          <a:xfrm>
            <a:off x="990503" y="657087"/>
            <a:ext cx="10722429" cy="2585323"/>
          </a:xfrm>
          <a:prstGeom prst="rect">
            <a:avLst/>
          </a:prstGeom>
          <a:noFill/>
        </p:spPr>
        <p:txBody>
          <a:bodyPr wrap="square" rtlCol="0">
            <a:spAutoFit/>
          </a:bodyPr>
          <a:lstStyle/>
          <a:p>
            <a:r>
              <a:rPr lang="en-US" b="1" dirty="0"/>
              <a:t>ORM</a:t>
            </a:r>
            <a:r>
              <a:rPr lang="en-US" dirty="0"/>
              <a:t> is concept of converting the data from Object oriented language to relational DB and vice versa</a:t>
            </a:r>
          </a:p>
          <a:p>
            <a:r>
              <a:rPr lang="en-US" b="1" dirty="0"/>
              <a:t>JPA</a:t>
            </a:r>
            <a:r>
              <a:rPr lang="en-US" dirty="0"/>
              <a:t>: Its the one step above ORM. Its high level API and specification so that different ORM tools can implement so that it provides the flexibility to developer to change the implementation from one ORM to another</a:t>
            </a:r>
            <a:endParaRPr lang="en-IN" dirty="0"/>
          </a:p>
          <a:p>
            <a:r>
              <a:rPr lang="en-IN" b="1" dirty="0"/>
              <a:t>Hibernate</a:t>
            </a:r>
            <a:r>
              <a:rPr lang="en-IN" dirty="0"/>
              <a:t> is the most popular implementation of Java Persistence API (</a:t>
            </a:r>
            <a:r>
              <a:rPr lang="en-IN" b="1" dirty="0"/>
              <a:t>JPA</a:t>
            </a:r>
            <a:r>
              <a:rPr lang="en-IN" dirty="0"/>
              <a:t> provided by Java).  Others include Toplink and EclipseLink</a:t>
            </a:r>
          </a:p>
          <a:p>
            <a:r>
              <a:rPr lang="en-IN" b="1" dirty="0"/>
              <a:t>Spring Data (VMWare) </a:t>
            </a:r>
            <a:r>
              <a:rPr lang="en-IN" dirty="0"/>
              <a:t>is an umbrella that provides </a:t>
            </a:r>
          </a:p>
          <a:p>
            <a:pPr marL="285750" indent="-285750">
              <a:buFont typeface="Arial" panose="020B0604020202020204" pitchFamily="34" charset="0"/>
              <a:buChar char="•"/>
            </a:pPr>
            <a:r>
              <a:rPr lang="en-IN" dirty="0"/>
              <a:t>abstraction over JPA [Spring Data JPA]</a:t>
            </a:r>
          </a:p>
          <a:p>
            <a:pPr marL="285750" indent="-285750">
              <a:buFont typeface="Arial" panose="020B0604020202020204" pitchFamily="34" charset="0"/>
              <a:buChar char="•"/>
            </a:pPr>
            <a:r>
              <a:rPr lang="en-IN" dirty="0"/>
              <a:t>abstraction over other relational technologies [Spring Data JDBC] </a:t>
            </a:r>
          </a:p>
          <a:p>
            <a:pPr marL="285750" indent="-285750">
              <a:buFont typeface="Arial" panose="020B0604020202020204" pitchFamily="34" charset="0"/>
              <a:buChar char="•"/>
            </a:pPr>
            <a:r>
              <a:rPr lang="en-IN" dirty="0"/>
              <a:t>abstraction over non-relational technologies [Spring Data MongoDB, Spring Data Redis etc]</a:t>
            </a:r>
          </a:p>
        </p:txBody>
      </p:sp>
      <p:pic>
        <p:nvPicPr>
          <p:cNvPr id="8" name="Picture 7">
            <a:extLst>
              <a:ext uri="{FF2B5EF4-FFF2-40B4-BE49-F238E27FC236}">
                <a16:creationId xmlns:a16="http://schemas.microsoft.com/office/drawing/2014/main" id="{6B9EAEF9-CC68-91A7-2B31-95B9A174BEF5}"/>
              </a:ext>
            </a:extLst>
          </p:cNvPr>
          <p:cNvPicPr>
            <a:picLocks noChangeAspect="1"/>
          </p:cNvPicPr>
          <p:nvPr/>
        </p:nvPicPr>
        <p:blipFill>
          <a:blip r:embed="rId2"/>
          <a:stretch>
            <a:fillRect/>
          </a:stretch>
        </p:blipFill>
        <p:spPr>
          <a:xfrm>
            <a:off x="653144" y="3521691"/>
            <a:ext cx="4702628" cy="2493773"/>
          </a:xfrm>
          <a:prstGeom prst="rect">
            <a:avLst/>
          </a:prstGeom>
        </p:spPr>
      </p:pic>
      <p:pic>
        <p:nvPicPr>
          <p:cNvPr id="10" name="Picture 9">
            <a:extLst>
              <a:ext uri="{FF2B5EF4-FFF2-40B4-BE49-F238E27FC236}">
                <a16:creationId xmlns:a16="http://schemas.microsoft.com/office/drawing/2014/main" id="{1B039372-8481-0005-4498-540A5D091747}"/>
              </a:ext>
            </a:extLst>
          </p:cNvPr>
          <p:cNvPicPr>
            <a:picLocks noChangeAspect="1"/>
          </p:cNvPicPr>
          <p:nvPr/>
        </p:nvPicPr>
        <p:blipFill>
          <a:blip r:embed="rId3"/>
          <a:stretch>
            <a:fillRect/>
          </a:stretch>
        </p:blipFill>
        <p:spPr>
          <a:xfrm>
            <a:off x="6096000" y="3475915"/>
            <a:ext cx="5089740" cy="2585323"/>
          </a:xfrm>
          <a:prstGeom prst="rect">
            <a:avLst/>
          </a:prstGeom>
        </p:spPr>
      </p:pic>
    </p:spTree>
    <p:extLst>
      <p:ext uri="{BB962C8B-B14F-4D97-AF65-F5344CB8AC3E}">
        <p14:creationId xmlns:p14="http://schemas.microsoft.com/office/powerpoint/2010/main" val="4105220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43A33C-4208-0DEE-CCD4-63C35BE67EA5}"/>
              </a:ext>
            </a:extLst>
          </p:cNvPr>
          <p:cNvPicPr>
            <a:picLocks noChangeAspect="1"/>
          </p:cNvPicPr>
          <p:nvPr/>
        </p:nvPicPr>
        <p:blipFill>
          <a:blip r:embed="rId2"/>
          <a:stretch>
            <a:fillRect/>
          </a:stretch>
        </p:blipFill>
        <p:spPr>
          <a:xfrm>
            <a:off x="6438457" y="1125539"/>
            <a:ext cx="4910526" cy="3251880"/>
          </a:xfrm>
          <a:prstGeom prst="rect">
            <a:avLst/>
          </a:prstGeom>
        </p:spPr>
      </p:pic>
      <p:pic>
        <p:nvPicPr>
          <p:cNvPr id="6" name="Picture 5">
            <a:extLst>
              <a:ext uri="{FF2B5EF4-FFF2-40B4-BE49-F238E27FC236}">
                <a16:creationId xmlns:a16="http://schemas.microsoft.com/office/drawing/2014/main" id="{805D3FBF-6569-AA9B-5F77-4536B58178A6}"/>
              </a:ext>
            </a:extLst>
          </p:cNvPr>
          <p:cNvPicPr>
            <a:picLocks noChangeAspect="1"/>
          </p:cNvPicPr>
          <p:nvPr/>
        </p:nvPicPr>
        <p:blipFill>
          <a:blip r:embed="rId3"/>
          <a:stretch>
            <a:fillRect/>
          </a:stretch>
        </p:blipFill>
        <p:spPr>
          <a:xfrm>
            <a:off x="694616" y="1125539"/>
            <a:ext cx="5232213" cy="3483087"/>
          </a:xfrm>
          <a:prstGeom prst="rect">
            <a:avLst/>
          </a:prstGeom>
        </p:spPr>
      </p:pic>
      <p:sp>
        <p:nvSpPr>
          <p:cNvPr id="7" name="Title 1">
            <a:extLst>
              <a:ext uri="{FF2B5EF4-FFF2-40B4-BE49-F238E27FC236}">
                <a16:creationId xmlns:a16="http://schemas.microsoft.com/office/drawing/2014/main" id="{9011BE39-4493-D064-0DA9-401BED488FFD}"/>
              </a:ext>
            </a:extLst>
          </p:cNvPr>
          <p:cNvSpPr>
            <a:spLocks noGrp="1"/>
          </p:cNvSpPr>
          <p:nvPr>
            <p:ph type="title"/>
          </p:nvPr>
        </p:nvSpPr>
        <p:spPr>
          <a:xfrm>
            <a:off x="348343" y="155803"/>
            <a:ext cx="10515600" cy="418646"/>
          </a:xfrm>
        </p:spPr>
        <p:txBody>
          <a:bodyPr>
            <a:normAutofit fontScale="90000"/>
          </a:bodyPr>
          <a:lstStyle/>
          <a:p>
            <a:r>
              <a:rPr lang="en-IN" dirty="0"/>
              <a:t>Repository Hierarchy</a:t>
            </a:r>
          </a:p>
        </p:txBody>
      </p:sp>
    </p:spTree>
    <p:extLst>
      <p:ext uri="{BB962C8B-B14F-4D97-AF65-F5344CB8AC3E}">
        <p14:creationId xmlns:p14="http://schemas.microsoft.com/office/powerpoint/2010/main" val="1980535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44079-5002-D7E4-7FC3-DD8DF7A361C5}"/>
              </a:ext>
            </a:extLst>
          </p:cNvPr>
          <p:cNvSpPr>
            <a:spLocks noGrp="1"/>
          </p:cNvSpPr>
          <p:nvPr>
            <p:ph type="title"/>
          </p:nvPr>
        </p:nvSpPr>
        <p:spPr>
          <a:xfrm>
            <a:off x="76200" y="-59416"/>
            <a:ext cx="10515600" cy="1213302"/>
          </a:xfrm>
        </p:spPr>
        <p:txBody>
          <a:bodyPr>
            <a:normAutofit/>
          </a:bodyPr>
          <a:lstStyle/>
          <a:p>
            <a:r>
              <a:rPr lang="en-IN" b="1" dirty="0"/>
              <a:t>How to query using Repositories</a:t>
            </a:r>
          </a:p>
        </p:txBody>
      </p:sp>
      <p:sp>
        <p:nvSpPr>
          <p:cNvPr id="3" name="TextBox 2">
            <a:extLst>
              <a:ext uri="{FF2B5EF4-FFF2-40B4-BE49-F238E27FC236}">
                <a16:creationId xmlns:a16="http://schemas.microsoft.com/office/drawing/2014/main" id="{3C401B31-0EF6-3C6A-4660-A0CCAD80D403}"/>
              </a:ext>
            </a:extLst>
          </p:cNvPr>
          <p:cNvSpPr txBox="1"/>
          <p:nvPr/>
        </p:nvSpPr>
        <p:spPr>
          <a:xfrm>
            <a:off x="1023258" y="1534886"/>
            <a:ext cx="9067800" cy="2800767"/>
          </a:xfrm>
          <a:prstGeom prst="rect">
            <a:avLst/>
          </a:prstGeom>
          <a:noFill/>
        </p:spPr>
        <p:txBody>
          <a:bodyPr wrap="square" rtlCol="0">
            <a:spAutoFit/>
          </a:bodyPr>
          <a:lstStyle/>
          <a:p>
            <a:pPr marL="285750" indent="-285750">
              <a:buFont typeface="Arial" panose="020B0604020202020204" pitchFamily="34" charset="0"/>
              <a:buChar char="•"/>
            </a:pPr>
            <a:r>
              <a:rPr lang="en-IN" sz="4400" dirty="0"/>
              <a:t>Built in CRUD operations</a:t>
            </a:r>
          </a:p>
          <a:p>
            <a:pPr marL="285750" indent="-285750">
              <a:buFont typeface="Arial" panose="020B0604020202020204" pitchFamily="34" charset="0"/>
              <a:buChar char="•"/>
            </a:pPr>
            <a:r>
              <a:rPr lang="en-US" sz="4400" dirty="0"/>
              <a:t>Query Methods </a:t>
            </a:r>
          </a:p>
          <a:p>
            <a:pPr marL="285750" indent="-285750">
              <a:buFont typeface="Arial" panose="020B0604020202020204" pitchFamily="34" charset="0"/>
              <a:buChar char="•"/>
            </a:pPr>
            <a:r>
              <a:rPr lang="en-IN" sz="4400" dirty="0"/>
              <a:t>JPA Named Queries</a:t>
            </a:r>
          </a:p>
          <a:p>
            <a:pPr marL="285750" indent="-285750">
              <a:buFont typeface="Arial" panose="020B0604020202020204" pitchFamily="34" charset="0"/>
              <a:buChar char="•"/>
            </a:pPr>
            <a:r>
              <a:rPr lang="en-IN" sz="4400" dirty="0"/>
              <a:t>Using @Query</a:t>
            </a:r>
          </a:p>
        </p:txBody>
      </p:sp>
    </p:spTree>
    <p:extLst>
      <p:ext uri="{BB962C8B-B14F-4D97-AF65-F5344CB8AC3E}">
        <p14:creationId xmlns:p14="http://schemas.microsoft.com/office/powerpoint/2010/main" val="1122175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3FEB17-D2A5-4CB1-BD5E-D6F76B226A72}"/>
              </a:ext>
            </a:extLst>
          </p:cNvPr>
          <p:cNvPicPr>
            <a:picLocks noChangeAspect="1"/>
          </p:cNvPicPr>
          <p:nvPr/>
        </p:nvPicPr>
        <p:blipFill>
          <a:blip r:embed="rId2"/>
          <a:stretch>
            <a:fillRect/>
          </a:stretch>
        </p:blipFill>
        <p:spPr>
          <a:xfrm>
            <a:off x="483663" y="605361"/>
            <a:ext cx="5612337" cy="2894254"/>
          </a:xfrm>
          <a:prstGeom prst="rect">
            <a:avLst/>
          </a:prstGeom>
        </p:spPr>
      </p:pic>
      <p:pic>
        <p:nvPicPr>
          <p:cNvPr id="10" name="Picture 9">
            <a:extLst>
              <a:ext uri="{FF2B5EF4-FFF2-40B4-BE49-F238E27FC236}">
                <a16:creationId xmlns:a16="http://schemas.microsoft.com/office/drawing/2014/main" id="{E3B3560B-D7FD-C12E-BB05-450A73D1E8B3}"/>
              </a:ext>
            </a:extLst>
          </p:cNvPr>
          <p:cNvPicPr>
            <a:picLocks noChangeAspect="1"/>
          </p:cNvPicPr>
          <p:nvPr/>
        </p:nvPicPr>
        <p:blipFill>
          <a:blip r:embed="rId3"/>
          <a:stretch>
            <a:fillRect/>
          </a:stretch>
        </p:blipFill>
        <p:spPr>
          <a:xfrm>
            <a:off x="6902515" y="605360"/>
            <a:ext cx="3695477" cy="2627482"/>
          </a:xfrm>
          <a:prstGeom prst="rect">
            <a:avLst/>
          </a:prstGeom>
        </p:spPr>
      </p:pic>
      <p:pic>
        <p:nvPicPr>
          <p:cNvPr id="12" name="Picture 11">
            <a:extLst>
              <a:ext uri="{FF2B5EF4-FFF2-40B4-BE49-F238E27FC236}">
                <a16:creationId xmlns:a16="http://schemas.microsoft.com/office/drawing/2014/main" id="{B5815792-7EDE-7C76-A3D1-EDEE7DAD4782}"/>
              </a:ext>
            </a:extLst>
          </p:cNvPr>
          <p:cNvPicPr>
            <a:picLocks noChangeAspect="1"/>
          </p:cNvPicPr>
          <p:nvPr/>
        </p:nvPicPr>
        <p:blipFill>
          <a:blip r:embed="rId4"/>
          <a:stretch>
            <a:fillRect/>
          </a:stretch>
        </p:blipFill>
        <p:spPr>
          <a:xfrm>
            <a:off x="3919260" y="4061261"/>
            <a:ext cx="4730594" cy="2734041"/>
          </a:xfrm>
          <a:prstGeom prst="rect">
            <a:avLst/>
          </a:prstGeom>
        </p:spPr>
      </p:pic>
      <p:sp>
        <p:nvSpPr>
          <p:cNvPr id="13" name="TextBox 12">
            <a:extLst>
              <a:ext uri="{FF2B5EF4-FFF2-40B4-BE49-F238E27FC236}">
                <a16:creationId xmlns:a16="http://schemas.microsoft.com/office/drawing/2014/main" id="{9EC63D45-CE4F-F0F1-A284-06C0BF5EA6B7}"/>
              </a:ext>
            </a:extLst>
          </p:cNvPr>
          <p:cNvSpPr txBox="1"/>
          <p:nvPr/>
        </p:nvSpPr>
        <p:spPr>
          <a:xfrm>
            <a:off x="500742" y="61075"/>
            <a:ext cx="5783815" cy="369332"/>
          </a:xfrm>
          <a:prstGeom prst="rect">
            <a:avLst/>
          </a:prstGeom>
          <a:noFill/>
        </p:spPr>
        <p:txBody>
          <a:bodyPr wrap="square" rtlCol="0">
            <a:spAutoFit/>
          </a:bodyPr>
          <a:lstStyle/>
          <a:p>
            <a:r>
              <a:rPr lang="en-IN" dirty="0"/>
              <a:t>Built in CRUD operations provided out of the box </a:t>
            </a:r>
          </a:p>
        </p:txBody>
      </p:sp>
      <p:sp>
        <p:nvSpPr>
          <p:cNvPr id="14" name="TextBox 13">
            <a:extLst>
              <a:ext uri="{FF2B5EF4-FFF2-40B4-BE49-F238E27FC236}">
                <a16:creationId xmlns:a16="http://schemas.microsoft.com/office/drawing/2014/main" id="{23721DF8-928D-85D9-A2D3-1F3289B47BA3}"/>
              </a:ext>
            </a:extLst>
          </p:cNvPr>
          <p:cNvSpPr txBox="1"/>
          <p:nvPr/>
        </p:nvSpPr>
        <p:spPr>
          <a:xfrm>
            <a:off x="6999514" y="61074"/>
            <a:ext cx="3695477" cy="369332"/>
          </a:xfrm>
          <a:prstGeom prst="rect">
            <a:avLst/>
          </a:prstGeom>
          <a:noFill/>
        </p:spPr>
        <p:txBody>
          <a:bodyPr wrap="square" rtlCol="0">
            <a:spAutoFit/>
          </a:bodyPr>
          <a:lstStyle/>
          <a:p>
            <a:r>
              <a:rPr lang="en-IN" dirty="0"/>
              <a:t>Need to map the Entity to Table</a:t>
            </a:r>
          </a:p>
        </p:txBody>
      </p:sp>
      <p:sp>
        <p:nvSpPr>
          <p:cNvPr id="15" name="TextBox 14">
            <a:extLst>
              <a:ext uri="{FF2B5EF4-FFF2-40B4-BE49-F238E27FC236}">
                <a16:creationId xmlns:a16="http://schemas.microsoft.com/office/drawing/2014/main" id="{B61B0AF5-8ECF-423B-C657-D8E3A92CD411}"/>
              </a:ext>
            </a:extLst>
          </p:cNvPr>
          <p:cNvSpPr txBox="1"/>
          <p:nvPr/>
        </p:nvSpPr>
        <p:spPr>
          <a:xfrm>
            <a:off x="483663" y="3691929"/>
            <a:ext cx="11702143" cy="369332"/>
          </a:xfrm>
          <a:prstGeom prst="rect">
            <a:avLst/>
          </a:prstGeom>
          <a:noFill/>
        </p:spPr>
        <p:txBody>
          <a:bodyPr wrap="square" rtlCol="0">
            <a:spAutoFit/>
          </a:bodyPr>
          <a:lstStyle/>
          <a:p>
            <a:r>
              <a:rPr lang="en-IN" dirty="0"/>
              <a:t>Use the entity class to create a repository. We can add query methods on top of the built in CRUD operations  </a:t>
            </a:r>
          </a:p>
        </p:txBody>
      </p:sp>
    </p:spTree>
    <p:extLst>
      <p:ext uri="{BB962C8B-B14F-4D97-AF65-F5344CB8AC3E}">
        <p14:creationId xmlns:p14="http://schemas.microsoft.com/office/powerpoint/2010/main" val="102425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C78AC-DF37-0CAD-F75B-390A0D56286E}"/>
              </a:ext>
            </a:extLst>
          </p:cNvPr>
          <p:cNvSpPr>
            <a:spLocks noGrp="1"/>
          </p:cNvSpPr>
          <p:nvPr>
            <p:ph type="title"/>
          </p:nvPr>
        </p:nvSpPr>
        <p:spPr>
          <a:xfrm>
            <a:off x="261257" y="0"/>
            <a:ext cx="10515600" cy="816429"/>
          </a:xfrm>
        </p:spPr>
        <p:txBody>
          <a:bodyPr>
            <a:normAutofit/>
          </a:bodyPr>
          <a:lstStyle/>
          <a:p>
            <a:r>
              <a:rPr lang="en-IN" sz="1800" b="0" i="0" dirty="0" err="1">
                <a:solidFill>
                  <a:srgbClr val="333333"/>
                </a:solidFill>
                <a:effectLst/>
                <a:latin typeface="Raleway" pitchFamily="2" charset="0"/>
              </a:rPr>
              <a:t>CrudRepository</a:t>
            </a:r>
            <a:r>
              <a:rPr lang="en-IN" sz="1800" b="0" i="0" dirty="0">
                <a:solidFill>
                  <a:srgbClr val="333333"/>
                </a:solidFill>
                <a:effectLst/>
                <a:latin typeface="Raleway" pitchFamily="2" charset="0"/>
              </a:rPr>
              <a:t>, </a:t>
            </a:r>
            <a:r>
              <a:rPr lang="en-IN" sz="1800" b="0" i="0" dirty="0" err="1">
                <a:solidFill>
                  <a:srgbClr val="333333"/>
                </a:solidFill>
                <a:effectLst/>
                <a:latin typeface="Raleway" pitchFamily="2" charset="0"/>
              </a:rPr>
              <a:t>JpaRepository</a:t>
            </a:r>
            <a:r>
              <a:rPr lang="en-IN" sz="1800" b="0" i="0" dirty="0">
                <a:solidFill>
                  <a:srgbClr val="333333"/>
                </a:solidFill>
                <a:effectLst/>
                <a:latin typeface="Raleway" pitchFamily="2" charset="0"/>
              </a:rPr>
              <a:t>, and </a:t>
            </a:r>
            <a:r>
              <a:rPr lang="en-IN" sz="1800" b="0" i="0" dirty="0" err="1">
                <a:solidFill>
                  <a:srgbClr val="333333"/>
                </a:solidFill>
                <a:effectLst/>
                <a:latin typeface="Raleway" pitchFamily="2" charset="0"/>
              </a:rPr>
              <a:t>PagingAndSortingRepository</a:t>
            </a:r>
            <a:endParaRPr lang="en-IN" sz="1800" dirty="0"/>
          </a:p>
        </p:txBody>
      </p:sp>
      <p:pic>
        <p:nvPicPr>
          <p:cNvPr id="4" name="Picture 3">
            <a:extLst>
              <a:ext uri="{FF2B5EF4-FFF2-40B4-BE49-F238E27FC236}">
                <a16:creationId xmlns:a16="http://schemas.microsoft.com/office/drawing/2014/main" id="{1734F79F-94B6-C4C8-CBD1-946F725C143F}"/>
              </a:ext>
            </a:extLst>
          </p:cNvPr>
          <p:cNvPicPr>
            <a:picLocks noChangeAspect="1"/>
          </p:cNvPicPr>
          <p:nvPr/>
        </p:nvPicPr>
        <p:blipFill>
          <a:blip r:embed="rId2"/>
          <a:stretch>
            <a:fillRect/>
          </a:stretch>
        </p:blipFill>
        <p:spPr>
          <a:xfrm>
            <a:off x="261257" y="1088573"/>
            <a:ext cx="4735286" cy="3807816"/>
          </a:xfrm>
          <a:prstGeom prst="rect">
            <a:avLst/>
          </a:prstGeom>
        </p:spPr>
      </p:pic>
      <p:pic>
        <p:nvPicPr>
          <p:cNvPr id="6" name="Picture 5">
            <a:extLst>
              <a:ext uri="{FF2B5EF4-FFF2-40B4-BE49-F238E27FC236}">
                <a16:creationId xmlns:a16="http://schemas.microsoft.com/office/drawing/2014/main" id="{2D797382-E426-568F-F2A3-8A697D674B2A}"/>
              </a:ext>
            </a:extLst>
          </p:cNvPr>
          <p:cNvPicPr>
            <a:picLocks noChangeAspect="1"/>
          </p:cNvPicPr>
          <p:nvPr/>
        </p:nvPicPr>
        <p:blipFill>
          <a:blip r:embed="rId3"/>
          <a:stretch>
            <a:fillRect/>
          </a:stretch>
        </p:blipFill>
        <p:spPr>
          <a:xfrm>
            <a:off x="5608714" y="1088573"/>
            <a:ext cx="5829600" cy="3308520"/>
          </a:xfrm>
          <a:prstGeom prst="rect">
            <a:avLst/>
          </a:prstGeom>
        </p:spPr>
      </p:pic>
      <p:pic>
        <p:nvPicPr>
          <p:cNvPr id="8" name="Picture 7">
            <a:extLst>
              <a:ext uri="{FF2B5EF4-FFF2-40B4-BE49-F238E27FC236}">
                <a16:creationId xmlns:a16="http://schemas.microsoft.com/office/drawing/2014/main" id="{8BF4B4D3-9E1B-75C7-22FA-6198ACA61118}"/>
              </a:ext>
            </a:extLst>
          </p:cNvPr>
          <p:cNvPicPr>
            <a:picLocks noChangeAspect="1"/>
          </p:cNvPicPr>
          <p:nvPr/>
        </p:nvPicPr>
        <p:blipFill>
          <a:blip r:embed="rId4"/>
          <a:stretch>
            <a:fillRect/>
          </a:stretch>
        </p:blipFill>
        <p:spPr>
          <a:xfrm>
            <a:off x="2773434" y="4877206"/>
            <a:ext cx="6013759" cy="1784442"/>
          </a:xfrm>
          <a:prstGeom prst="rect">
            <a:avLst/>
          </a:prstGeom>
        </p:spPr>
      </p:pic>
    </p:spTree>
    <p:extLst>
      <p:ext uri="{BB962C8B-B14F-4D97-AF65-F5344CB8AC3E}">
        <p14:creationId xmlns:p14="http://schemas.microsoft.com/office/powerpoint/2010/main" val="383755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011BE39-4493-D064-0DA9-401BED488FFD}"/>
              </a:ext>
            </a:extLst>
          </p:cNvPr>
          <p:cNvSpPr>
            <a:spLocks noGrp="1"/>
          </p:cNvSpPr>
          <p:nvPr>
            <p:ph type="title"/>
          </p:nvPr>
        </p:nvSpPr>
        <p:spPr>
          <a:xfrm>
            <a:off x="348343" y="155803"/>
            <a:ext cx="10515600" cy="418646"/>
          </a:xfrm>
        </p:spPr>
        <p:txBody>
          <a:bodyPr>
            <a:normAutofit fontScale="90000"/>
          </a:bodyPr>
          <a:lstStyle/>
          <a:p>
            <a:r>
              <a:rPr lang="en-IN" sz="4400" dirty="0"/>
              <a:t>JPA Named Queries</a:t>
            </a:r>
          </a:p>
        </p:txBody>
      </p:sp>
      <p:pic>
        <p:nvPicPr>
          <p:cNvPr id="3" name="Picture 2">
            <a:extLst>
              <a:ext uri="{FF2B5EF4-FFF2-40B4-BE49-F238E27FC236}">
                <a16:creationId xmlns:a16="http://schemas.microsoft.com/office/drawing/2014/main" id="{C44256C2-322B-76C3-086A-BAD4327310DC}"/>
              </a:ext>
            </a:extLst>
          </p:cNvPr>
          <p:cNvPicPr>
            <a:picLocks noChangeAspect="1"/>
          </p:cNvPicPr>
          <p:nvPr/>
        </p:nvPicPr>
        <p:blipFill>
          <a:blip r:embed="rId2"/>
          <a:stretch>
            <a:fillRect/>
          </a:stretch>
        </p:blipFill>
        <p:spPr>
          <a:xfrm>
            <a:off x="348343" y="1372779"/>
            <a:ext cx="4140409" cy="2665821"/>
          </a:xfrm>
          <a:prstGeom prst="rect">
            <a:avLst/>
          </a:prstGeom>
        </p:spPr>
      </p:pic>
      <p:pic>
        <p:nvPicPr>
          <p:cNvPr id="8" name="Picture 7">
            <a:extLst>
              <a:ext uri="{FF2B5EF4-FFF2-40B4-BE49-F238E27FC236}">
                <a16:creationId xmlns:a16="http://schemas.microsoft.com/office/drawing/2014/main" id="{E3E8445C-FCE3-0B3F-73DD-A0C407681033}"/>
              </a:ext>
            </a:extLst>
          </p:cNvPr>
          <p:cNvPicPr>
            <a:picLocks noChangeAspect="1"/>
          </p:cNvPicPr>
          <p:nvPr/>
        </p:nvPicPr>
        <p:blipFill>
          <a:blip r:embed="rId3"/>
          <a:stretch>
            <a:fillRect/>
          </a:stretch>
        </p:blipFill>
        <p:spPr>
          <a:xfrm>
            <a:off x="2903427" y="4680476"/>
            <a:ext cx="4651260" cy="2071398"/>
          </a:xfrm>
          <a:prstGeom prst="rect">
            <a:avLst/>
          </a:prstGeom>
        </p:spPr>
      </p:pic>
      <p:pic>
        <p:nvPicPr>
          <p:cNvPr id="12" name="Picture 11">
            <a:extLst>
              <a:ext uri="{FF2B5EF4-FFF2-40B4-BE49-F238E27FC236}">
                <a16:creationId xmlns:a16="http://schemas.microsoft.com/office/drawing/2014/main" id="{2A8AEB3C-BD96-A05A-226E-E5D63BCF8347}"/>
              </a:ext>
            </a:extLst>
          </p:cNvPr>
          <p:cNvPicPr>
            <a:picLocks noChangeAspect="1"/>
          </p:cNvPicPr>
          <p:nvPr/>
        </p:nvPicPr>
        <p:blipFill>
          <a:blip r:embed="rId4"/>
          <a:stretch>
            <a:fillRect/>
          </a:stretch>
        </p:blipFill>
        <p:spPr>
          <a:xfrm>
            <a:off x="4836355" y="1372779"/>
            <a:ext cx="6521283" cy="2533306"/>
          </a:xfrm>
          <a:prstGeom prst="rect">
            <a:avLst/>
          </a:prstGeom>
        </p:spPr>
      </p:pic>
      <p:sp>
        <p:nvSpPr>
          <p:cNvPr id="13" name="TextBox 12">
            <a:extLst>
              <a:ext uri="{FF2B5EF4-FFF2-40B4-BE49-F238E27FC236}">
                <a16:creationId xmlns:a16="http://schemas.microsoft.com/office/drawing/2014/main" id="{9BB38CE3-E908-E012-781F-A8CD9125FCB1}"/>
              </a:ext>
            </a:extLst>
          </p:cNvPr>
          <p:cNvSpPr txBox="1"/>
          <p:nvPr/>
        </p:nvSpPr>
        <p:spPr>
          <a:xfrm>
            <a:off x="489857" y="900105"/>
            <a:ext cx="1850572" cy="369332"/>
          </a:xfrm>
          <a:prstGeom prst="rect">
            <a:avLst/>
          </a:prstGeom>
          <a:noFill/>
        </p:spPr>
        <p:txBody>
          <a:bodyPr wrap="square" rtlCol="0">
            <a:spAutoFit/>
          </a:bodyPr>
          <a:lstStyle/>
          <a:p>
            <a:r>
              <a:rPr lang="en-IN" dirty="0"/>
              <a:t>XML based</a:t>
            </a:r>
          </a:p>
        </p:txBody>
      </p:sp>
      <p:sp>
        <p:nvSpPr>
          <p:cNvPr id="14" name="TextBox 13">
            <a:extLst>
              <a:ext uri="{FF2B5EF4-FFF2-40B4-BE49-F238E27FC236}">
                <a16:creationId xmlns:a16="http://schemas.microsoft.com/office/drawing/2014/main" id="{5E0B9045-EE22-A24D-D73A-18638901783E}"/>
              </a:ext>
            </a:extLst>
          </p:cNvPr>
          <p:cNvSpPr txBox="1"/>
          <p:nvPr/>
        </p:nvSpPr>
        <p:spPr>
          <a:xfrm>
            <a:off x="4920343" y="907056"/>
            <a:ext cx="1850572" cy="369332"/>
          </a:xfrm>
          <a:prstGeom prst="rect">
            <a:avLst/>
          </a:prstGeom>
          <a:noFill/>
        </p:spPr>
        <p:txBody>
          <a:bodyPr wrap="square" rtlCol="0">
            <a:spAutoFit/>
          </a:bodyPr>
          <a:lstStyle/>
          <a:p>
            <a:r>
              <a:rPr lang="en-IN" dirty="0"/>
              <a:t>Annotation based</a:t>
            </a:r>
          </a:p>
        </p:txBody>
      </p:sp>
      <p:sp>
        <p:nvSpPr>
          <p:cNvPr id="15" name="TextBox 14">
            <a:extLst>
              <a:ext uri="{FF2B5EF4-FFF2-40B4-BE49-F238E27FC236}">
                <a16:creationId xmlns:a16="http://schemas.microsoft.com/office/drawing/2014/main" id="{6B24C687-CF7C-DD07-3349-A1DBF9330720}"/>
              </a:ext>
            </a:extLst>
          </p:cNvPr>
          <p:cNvSpPr txBox="1"/>
          <p:nvPr/>
        </p:nvSpPr>
        <p:spPr>
          <a:xfrm>
            <a:off x="2903426" y="4178629"/>
            <a:ext cx="3116373" cy="369332"/>
          </a:xfrm>
          <a:prstGeom prst="rect">
            <a:avLst/>
          </a:prstGeom>
          <a:noFill/>
        </p:spPr>
        <p:txBody>
          <a:bodyPr wrap="square" rtlCol="0">
            <a:spAutoFit/>
          </a:bodyPr>
          <a:lstStyle/>
          <a:p>
            <a:r>
              <a:rPr lang="en-IN" dirty="0"/>
              <a:t>Using these queries</a:t>
            </a:r>
          </a:p>
        </p:txBody>
      </p:sp>
    </p:spTree>
    <p:extLst>
      <p:ext uri="{BB962C8B-B14F-4D97-AF65-F5344CB8AC3E}">
        <p14:creationId xmlns:p14="http://schemas.microsoft.com/office/powerpoint/2010/main" val="2357587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D63C-129F-EC2D-DC7F-0F9EF8F7507A}"/>
              </a:ext>
            </a:extLst>
          </p:cNvPr>
          <p:cNvSpPr>
            <a:spLocks noGrp="1"/>
          </p:cNvSpPr>
          <p:nvPr>
            <p:ph type="title"/>
          </p:nvPr>
        </p:nvSpPr>
        <p:spPr>
          <a:xfrm>
            <a:off x="838200" y="365125"/>
            <a:ext cx="10515600" cy="81189"/>
          </a:xfrm>
        </p:spPr>
        <p:txBody>
          <a:bodyPr>
            <a:normAutofit fontScale="90000"/>
          </a:bodyPr>
          <a:lstStyle/>
          <a:p>
            <a:r>
              <a:rPr lang="en-IN" dirty="0"/>
              <a:t>@Query</a:t>
            </a:r>
          </a:p>
        </p:txBody>
      </p:sp>
      <p:pic>
        <p:nvPicPr>
          <p:cNvPr id="4" name="Picture 3">
            <a:extLst>
              <a:ext uri="{FF2B5EF4-FFF2-40B4-BE49-F238E27FC236}">
                <a16:creationId xmlns:a16="http://schemas.microsoft.com/office/drawing/2014/main" id="{7510EB14-E56A-192B-116B-E640EC92D948}"/>
              </a:ext>
            </a:extLst>
          </p:cNvPr>
          <p:cNvPicPr>
            <a:picLocks noChangeAspect="1"/>
          </p:cNvPicPr>
          <p:nvPr/>
        </p:nvPicPr>
        <p:blipFill>
          <a:blip r:embed="rId2"/>
          <a:stretch>
            <a:fillRect/>
          </a:stretch>
        </p:blipFill>
        <p:spPr>
          <a:xfrm>
            <a:off x="1295401" y="1138580"/>
            <a:ext cx="9010858" cy="5097692"/>
          </a:xfrm>
          <a:prstGeom prst="rect">
            <a:avLst/>
          </a:prstGeom>
        </p:spPr>
      </p:pic>
    </p:spTree>
    <p:extLst>
      <p:ext uri="{BB962C8B-B14F-4D97-AF65-F5344CB8AC3E}">
        <p14:creationId xmlns:p14="http://schemas.microsoft.com/office/powerpoint/2010/main" val="2124874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AB4A-40E6-2BCB-C011-E6CEA371CA92}"/>
              </a:ext>
            </a:extLst>
          </p:cNvPr>
          <p:cNvSpPr>
            <a:spLocks noGrp="1"/>
          </p:cNvSpPr>
          <p:nvPr>
            <p:ph type="title"/>
          </p:nvPr>
        </p:nvSpPr>
        <p:spPr>
          <a:xfrm>
            <a:off x="337458" y="376012"/>
            <a:ext cx="10515600" cy="375104"/>
          </a:xfrm>
        </p:spPr>
        <p:txBody>
          <a:bodyPr>
            <a:normAutofit fontScale="90000"/>
          </a:bodyPr>
          <a:lstStyle/>
          <a:p>
            <a:r>
              <a:rPr lang="en-IN" dirty="0"/>
              <a:t>Entity Relationship</a:t>
            </a:r>
          </a:p>
        </p:txBody>
      </p:sp>
      <p:sp>
        <p:nvSpPr>
          <p:cNvPr id="3" name="TextBox 2">
            <a:extLst>
              <a:ext uri="{FF2B5EF4-FFF2-40B4-BE49-F238E27FC236}">
                <a16:creationId xmlns:a16="http://schemas.microsoft.com/office/drawing/2014/main" id="{E5B0463C-2013-6C12-C98B-C16EA662C8C3}"/>
              </a:ext>
            </a:extLst>
          </p:cNvPr>
          <p:cNvSpPr txBox="1"/>
          <p:nvPr/>
        </p:nvSpPr>
        <p:spPr>
          <a:xfrm>
            <a:off x="609601" y="1189811"/>
            <a:ext cx="10319657" cy="1477328"/>
          </a:xfrm>
          <a:prstGeom prst="rect">
            <a:avLst/>
          </a:prstGeom>
          <a:noFill/>
        </p:spPr>
        <p:txBody>
          <a:bodyPr wrap="square" rtlCol="0">
            <a:spAutoFit/>
          </a:bodyPr>
          <a:lstStyle/>
          <a:p>
            <a:r>
              <a:rPr lang="en-IN" b="1" dirty="0"/>
              <a:t>Entity Relationships </a:t>
            </a:r>
            <a:r>
              <a:rPr lang="en-IN" dirty="0"/>
              <a:t>are concepts </a:t>
            </a:r>
            <a:r>
              <a:rPr lang="en-IN" b="1" dirty="0"/>
              <a:t>derived from JPA</a:t>
            </a:r>
            <a:r>
              <a:rPr lang="en-IN" dirty="0"/>
              <a:t> in Spring Data</a:t>
            </a:r>
            <a:r>
              <a:rPr lang="en-IN" b="1" dirty="0"/>
              <a:t> </a:t>
            </a:r>
          </a:p>
          <a:p>
            <a:pPr marL="285750" indent="-285750">
              <a:buFont typeface="Arial" panose="020B0604020202020204" pitchFamily="34" charset="0"/>
              <a:buChar char="•"/>
            </a:pPr>
            <a:r>
              <a:rPr lang="en-IN" dirty="0"/>
              <a:t>@OneToOne</a:t>
            </a:r>
          </a:p>
          <a:p>
            <a:pPr marL="285750" indent="-285750">
              <a:buFont typeface="Arial" panose="020B0604020202020204" pitchFamily="34" charset="0"/>
              <a:buChar char="•"/>
            </a:pPr>
            <a:r>
              <a:rPr lang="en-IN" dirty="0"/>
              <a:t>@OneToMany</a:t>
            </a:r>
          </a:p>
          <a:p>
            <a:pPr marL="285750" indent="-285750">
              <a:buFont typeface="Arial" panose="020B0604020202020204" pitchFamily="34" charset="0"/>
              <a:buChar char="•"/>
            </a:pPr>
            <a:r>
              <a:rPr lang="en-IN" dirty="0"/>
              <a:t>@ManyToOne </a:t>
            </a:r>
          </a:p>
          <a:p>
            <a:pPr marL="285750" indent="-285750">
              <a:buFont typeface="Arial" panose="020B0604020202020204" pitchFamily="34" charset="0"/>
              <a:buChar char="•"/>
            </a:pPr>
            <a:r>
              <a:rPr lang="en-IN" dirty="0"/>
              <a:t>@ManyToMany</a:t>
            </a:r>
          </a:p>
        </p:txBody>
      </p:sp>
      <p:sp>
        <p:nvSpPr>
          <p:cNvPr id="5" name="TextBox 4">
            <a:extLst>
              <a:ext uri="{FF2B5EF4-FFF2-40B4-BE49-F238E27FC236}">
                <a16:creationId xmlns:a16="http://schemas.microsoft.com/office/drawing/2014/main" id="{8B950276-0B59-673D-1B16-E43E180F696F}"/>
              </a:ext>
            </a:extLst>
          </p:cNvPr>
          <p:cNvSpPr txBox="1"/>
          <p:nvPr/>
        </p:nvSpPr>
        <p:spPr>
          <a:xfrm>
            <a:off x="3048000" y="3105835"/>
            <a:ext cx="6096000" cy="646331"/>
          </a:xfrm>
          <a:prstGeom prst="rect">
            <a:avLst/>
          </a:prstGeom>
          <a:noFill/>
        </p:spPr>
        <p:txBody>
          <a:bodyPr wrap="square">
            <a:spAutoFit/>
          </a:bodyPr>
          <a:lstStyle/>
          <a:p>
            <a:r>
              <a:rPr lang="en-IN" dirty="0">
                <a:hlinkClick r:id="rId2"/>
              </a:rPr>
              <a:t>https://medium.com/@andhikayusup/spring-boot-guide-for-beginner-entity-relationship-65fd614f07c6</a:t>
            </a:r>
            <a:r>
              <a:rPr lang="en-IN" dirty="0"/>
              <a:t> </a:t>
            </a:r>
          </a:p>
        </p:txBody>
      </p:sp>
    </p:spTree>
    <p:extLst>
      <p:ext uri="{BB962C8B-B14F-4D97-AF65-F5344CB8AC3E}">
        <p14:creationId xmlns:p14="http://schemas.microsoft.com/office/powerpoint/2010/main" val="329020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1383A-5A12-6087-88ED-7F42B6A923B4}"/>
              </a:ext>
            </a:extLst>
          </p:cNvPr>
          <p:cNvSpPr>
            <a:spLocks noGrp="1"/>
          </p:cNvSpPr>
          <p:nvPr>
            <p:ph type="title"/>
          </p:nvPr>
        </p:nvSpPr>
        <p:spPr>
          <a:xfrm>
            <a:off x="348343" y="155803"/>
            <a:ext cx="10515600" cy="418646"/>
          </a:xfrm>
        </p:spPr>
        <p:txBody>
          <a:bodyPr>
            <a:normAutofit fontScale="90000"/>
          </a:bodyPr>
          <a:lstStyle/>
          <a:p>
            <a:r>
              <a:rPr lang="en-IN" dirty="0"/>
              <a:t>Repository vs Template</a:t>
            </a:r>
          </a:p>
        </p:txBody>
      </p:sp>
      <p:sp>
        <p:nvSpPr>
          <p:cNvPr id="4" name="TextBox 3">
            <a:extLst>
              <a:ext uri="{FF2B5EF4-FFF2-40B4-BE49-F238E27FC236}">
                <a16:creationId xmlns:a16="http://schemas.microsoft.com/office/drawing/2014/main" id="{1180FD89-A7E0-EFF6-4D9D-3521F6A6D19C}"/>
              </a:ext>
            </a:extLst>
          </p:cNvPr>
          <p:cNvSpPr txBox="1"/>
          <p:nvPr/>
        </p:nvSpPr>
        <p:spPr>
          <a:xfrm>
            <a:off x="1153885" y="4100174"/>
            <a:ext cx="9884229" cy="2585323"/>
          </a:xfrm>
          <a:prstGeom prst="rect">
            <a:avLst/>
          </a:prstGeom>
          <a:noFill/>
        </p:spPr>
        <p:txBody>
          <a:bodyPr wrap="square" rtlCol="0">
            <a:spAutoFit/>
          </a:bodyPr>
          <a:lstStyle/>
          <a:p>
            <a:r>
              <a:rPr lang="en-US" b="1" dirty="0"/>
              <a:t>For example :</a:t>
            </a:r>
          </a:p>
          <a:p>
            <a:r>
              <a:rPr lang="en-US" b="1" dirty="0" err="1"/>
              <a:t>MongoTemplate</a:t>
            </a:r>
            <a:r>
              <a:rPr lang="en-US" dirty="0"/>
              <a:t> provides "atomic" out-of-the-box operations </a:t>
            </a:r>
            <a:r>
              <a:rPr lang="en-US" dirty="0" err="1"/>
              <a:t>updateFirst</a:t>
            </a:r>
            <a:r>
              <a:rPr lang="en-US" dirty="0"/>
              <a:t>, </a:t>
            </a:r>
            <a:r>
              <a:rPr lang="en-US" dirty="0" err="1"/>
              <a:t>updateMulti</a:t>
            </a:r>
            <a:r>
              <a:rPr lang="en-US" dirty="0"/>
              <a:t>, </a:t>
            </a:r>
            <a:r>
              <a:rPr lang="en-US" dirty="0" err="1"/>
              <a:t>findAndModify</a:t>
            </a:r>
            <a:r>
              <a:rPr lang="en-US" dirty="0"/>
              <a:t>, </a:t>
            </a:r>
            <a:r>
              <a:rPr lang="en-US" dirty="0" err="1"/>
              <a:t>upsert</a:t>
            </a:r>
            <a:r>
              <a:rPr lang="en-US" dirty="0"/>
              <a:t>... which allow you to modify a document in a single operation. The Update object used by these methods also allows you to target only the relevant fields.</a:t>
            </a:r>
          </a:p>
          <a:p>
            <a:r>
              <a:rPr lang="en-US" b="1" dirty="0" err="1"/>
              <a:t>MongoRepository</a:t>
            </a:r>
            <a:r>
              <a:rPr lang="en-US" dirty="0"/>
              <a:t> only gives you the basic CRUD operations find, insert, save, delete, which work with POJOs containing all the fields. This forces you to either update the documents in several steps (1. find the document to update, 2. modify the relevant fields from the returned POJO, and then 3. save it), or define your own update queries by hand using @Query.</a:t>
            </a:r>
            <a:endParaRPr lang="en-IN" dirty="0"/>
          </a:p>
          <a:p>
            <a:endParaRPr lang="en-IN" dirty="0"/>
          </a:p>
        </p:txBody>
      </p:sp>
      <p:pic>
        <p:nvPicPr>
          <p:cNvPr id="7" name="Picture 6">
            <a:extLst>
              <a:ext uri="{FF2B5EF4-FFF2-40B4-BE49-F238E27FC236}">
                <a16:creationId xmlns:a16="http://schemas.microsoft.com/office/drawing/2014/main" id="{714731DD-E538-10FA-D4ED-82E6B03C2ABD}"/>
              </a:ext>
            </a:extLst>
          </p:cNvPr>
          <p:cNvPicPr>
            <a:picLocks noChangeAspect="1"/>
          </p:cNvPicPr>
          <p:nvPr/>
        </p:nvPicPr>
        <p:blipFill>
          <a:blip r:embed="rId2"/>
          <a:stretch>
            <a:fillRect/>
          </a:stretch>
        </p:blipFill>
        <p:spPr>
          <a:xfrm>
            <a:off x="1415143" y="808943"/>
            <a:ext cx="4110946" cy="2980537"/>
          </a:xfrm>
          <a:prstGeom prst="rect">
            <a:avLst/>
          </a:prstGeom>
        </p:spPr>
      </p:pic>
      <p:pic>
        <p:nvPicPr>
          <p:cNvPr id="9" name="Picture 8">
            <a:extLst>
              <a:ext uri="{FF2B5EF4-FFF2-40B4-BE49-F238E27FC236}">
                <a16:creationId xmlns:a16="http://schemas.microsoft.com/office/drawing/2014/main" id="{62F202D0-ECE7-0AB4-A504-1C9FC511BE5C}"/>
              </a:ext>
            </a:extLst>
          </p:cNvPr>
          <p:cNvPicPr>
            <a:picLocks noChangeAspect="1"/>
          </p:cNvPicPr>
          <p:nvPr/>
        </p:nvPicPr>
        <p:blipFill>
          <a:blip r:embed="rId3"/>
          <a:stretch>
            <a:fillRect/>
          </a:stretch>
        </p:blipFill>
        <p:spPr>
          <a:xfrm>
            <a:off x="6096000" y="703284"/>
            <a:ext cx="4493160" cy="3044345"/>
          </a:xfrm>
          <a:prstGeom prst="rect">
            <a:avLst/>
          </a:prstGeom>
        </p:spPr>
      </p:pic>
    </p:spTree>
    <p:extLst>
      <p:ext uri="{BB962C8B-B14F-4D97-AF65-F5344CB8AC3E}">
        <p14:creationId xmlns:p14="http://schemas.microsoft.com/office/powerpoint/2010/main" val="1809104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US" dirty="0">
                <a:hlinkClick r:id="rId2"/>
              </a:rPr>
              <a:t>https://spring.io/projects/spring-data</a:t>
            </a:r>
          </a:p>
          <a:p>
            <a:r>
              <a:rPr lang="en-US" dirty="0">
                <a:hlinkClick r:id="rId2"/>
              </a:rPr>
              <a:t>https://stackoverflow.com/questions/27462185/jpa-vs-orm-vs-hibernate</a:t>
            </a:r>
            <a:endParaRPr lang="en-US" dirty="0"/>
          </a:p>
          <a:p>
            <a:r>
              <a:rPr lang="en-US" dirty="0">
                <a:hlinkClick r:id="rId3"/>
              </a:rPr>
              <a:t>https://stackoverflow.com/questions/17008947/whats-the-difference-between-spring-datas-mongotemplate-and-mongorepository#:~:text=Repositories%20are%20by%20far%20more,control%20over%20what%20to%20execute</a:t>
            </a:r>
            <a:r>
              <a:rPr lang="en-US" dirty="0"/>
              <a:t>. </a:t>
            </a:r>
          </a:p>
          <a:p>
            <a:r>
              <a:rPr lang="en-US">
                <a:hlinkClick r:id="rId4"/>
              </a:rPr>
              <a:t>https://www.baeldung.com/spring-data-repositories</a:t>
            </a:r>
            <a:r>
              <a:rPr lang="en-US"/>
              <a:t> </a:t>
            </a:r>
            <a:endParaRPr lang="en-US" dirty="0"/>
          </a:p>
          <a:p>
            <a:endParaRPr lang="en-US" dirty="0"/>
          </a:p>
        </p:txBody>
      </p:sp>
    </p:spTree>
    <p:extLst>
      <p:ext uri="{BB962C8B-B14F-4D97-AF65-F5344CB8AC3E}">
        <p14:creationId xmlns:p14="http://schemas.microsoft.com/office/powerpoint/2010/main" val="1074557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416</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Raleway</vt:lpstr>
      <vt:lpstr>Office Theme</vt:lpstr>
      <vt:lpstr>PowerPoint Presentation</vt:lpstr>
      <vt:lpstr>PowerPoint Presentation</vt:lpstr>
      <vt:lpstr>Repository Hierarchy</vt:lpstr>
      <vt:lpstr>How to query using Repositories</vt:lpstr>
      <vt:lpstr>PowerPoint Presentation</vt:lpstr>
      <vt:lpstr>CrudRepository, JpaRepository, and PagingAndSortingRepository</vt:lpstr>
      <vt:lpstr>JPA Named Queries</vt:lpstr>
      <vt:lpstr>@Query</vt:lpstr>
      <vt:lpstr>Entity Relationship</vt:lpstr>
      <vt:lpstr>Repository vs Template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Urmisha Sengupta</dc:creator>
  <cp:lastModifiedBy>Urmisha Sengupta</cp:lastModifiedBy>
  <cp:revision>67</cp:revision>
  <dcterms:created xsi:type="dcterms:W3CDTF">2023-10-25T04:28:33Z</dcterms:created>
  <dcterms:modified xsi:type="dcterms:W3CDTF">2023-10-25T08:52:06Z</dcterms:modified>
</cp:coreProperties>
</file>