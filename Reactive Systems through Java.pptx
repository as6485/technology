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Nunito"/>
      <p:regular r:id="rId14"/>
      <p:bold r:id="rId15"/>
      <p:italic r:id="rId16"/>
      <p:boldItalic r:id="rId17"/>
    </p:embeddedFont>
    <p:embeddedFont>
      <p:font typeface="Maven Pro"/>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fntdata"/><Relationship Id="rId14" Type="http://schemas.openxmlformats.org/officeDocument/2006/relationships/font" Target="fonts/Nunito-regular.fntdata"/><Relationship Id="rId17" Type="http://schemas.openxmlformats.org/officeDocument/2006/relationships/font" Target="fonts/Nunito-boldItalic.fntdata"/><Relationship Id="rId16" Type="http://schemas.openxmlformats.org/officeDocument/2006/relationships/font" Target="fonts/Nunito-italic.fntdata"/><Relationship Id="rId5" Type="http://schemas.openxmlformats.org/officeDocument/2006/relationships/notesMaster" Target="notesMasters/notesMaster1.xml"/><Relationship Id="rId19" Type="http://schemas.openxmlformats.org/officeDocument/2006/relationships/font" Target="fonts/MavenPro-bold.fntdata"/><Relationship Id="rId6" Type="http://schemas.openxmlformats.org/officeDocument/2006/relationships/slide" Target="slides/slide1.xml"/><Relationship Id="rId18" Type="http://schemas.openxmlformats.org/officeDocument/2006/relationships/font" Target="fonts/MavenPr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738f6ea58bf6d75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738f6ea58bf6d75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e5457130063868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e5457130063868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e54571300638687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e54571300638687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c373538a1e737f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cc373538a1e737f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0285e928367c3e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0285e928367c3e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0285e928367c3e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0285e928367c3e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cc373538a1e737f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cc373538a1e737f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lnSpcReduction="10000"/>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spring.io/reactive" TargetMode="External"/><Relationship Id="rId4" Type="http://schemas.openxmlformats.org/officeDocument/2006/relationships/hyperlink" Target="https://github.com/ReactiveX/RxJava" TargetMode="External"/><Relationship Id="rId5" Type="http://schemas.openxmlformats.org/officeDocument/2006/relationships/hyperlink" Target="https://www.philosophicalhacker.com/2015/06/12/an-introduction-to-rxjava-for-android/" TargetMode="External"/><Relationship Id="rId6" Type="http://schemas.openxmlformats.org/officeDocument/2006/relationships/hyperlink" Target="https://vertx.io/docs/vertx-core/java/" TargetMode="External"/><Relationship Id="rId7" Type="http://schemas.openxmlformats.org/officeDocument/2006/relationships/hyperlink" Target="https://akka.io/" TargetMode="External"/><Relationship Id="rId8" Type="http://schemas.openxmlformats.org/officeDocument/2006/relationships/hyperlink" Target="https://developer.lightbend.com/docs/akka-guide/index.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Condensed Summary of Reactive Systems through Java</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Ayan Sengupta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Reactive Manifesto</a:t>
            </a:r>
            <a:endParaRPr/>
          </a:p>
        </p:txBody>
      </p:sp>
      <p:sp>
        <p:nvSpPr>
          <p:cNvPr id="284" name="Google Shape;284;p14"/>
          <p:cNvSpPr txBox="1"/>
          <p:nvPr>
            <p:ph idx="1" type="body"/>
          </p:nvPr>
        </p:nvSpPr>
        <p:spPr>
          <a:xfrm>
            <a:off x="1303800" y="1597877"/>
            <a:ext cx="7030500" cy="32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accent1"/>
                </a:solidFill>
              </a:rPr>
              <a:t>Responsive</a:t>
            </a:r>
            <a:r>
              <a:rPr lang="en" sz="1700"/>
              <a:t>: The system responds in a timely manner if at all possible.</a:t>
            </a:r>
            <a:endParaRPr sz="1700"/>
          </a:p>
          <a:p>
            <a:pPr indent="0" lvl="0" marL="0" rtl="0" algn="l">
              <a:spcBef>
                <a:spcPts val="1200"/>
              </a:spcBef>
              <a:spcAft>
                <a:spcPts val="0"/>
              </a:spcAft>
              <a:buNone/>
            </a:pPr>
            <a:r>
              <a:rPr lang="en" sz="1700">
                <a:solidFill>
                  <a:schemeClr val="accent1"/>
                </a:solidFill>
              </a:rPr>
              <a:t>Resilient</a:t>
            </a:r>
            <a:r>
              <a:rPr lang="en" sz="1700"/>
              <a:t>: The system stays responsive in the face of failure. </a:t>
            </a:r>
            <a:endParaRPr sz="1700"/>
          </a:p>
          <a:p>
            <a:pPr indent="0" lvl="0" marL="0" rtl="0" algn="l">
              <a:spcBef>
                <a:spcPts val="1200"/>
              </a:spcBef>
              <a:spcAft>
                <a:spcPts val="0"/>
              </a:spcAft>
              <a:buNone/>
            </a:pPr>
            <a:r>
              <a:rPr lang="en" sz="1700">
                <a:solidFill>
                  <a:schemeClr val="accent1"/>
                </a:solidFill>
              </a:rPr>
              <a:t>Elastic</a:t>
            </a:r>
            <a:r>
              <a:rPr lang="en" sz="1700"/>
              <a:t>: The system stays responsive under varying workload. </a:t>
            </a:r>
            <a:endParaRPr sz="1700"/>
          </a:p>
          <a:p>
            <a:pPr indent="0" lvl="0" marL="0" rtl="0" algn="l">
              <a:spcBef>
                <a:spcPts val="1200"/>
              </a:spcBef>
              <a:spcAft>
                <a:spcPts val="0"/>
              </a:spcAft>
              <a:buNone/>
            </a:pPr>
            <a:r>
              <a:rPr lang="en" sz="1700">
                <a:solidFill>
                  <a:schemeClr val="accent1"/>
                </a:solidFill>
              </a:rPr>
              <a:t>Message Driven</a:t>
            </a:r>
            <a:r>
              <a:rPr lang="en" sz="1700"/>
              <a:t>: Reactive Systems rely on asynchronous message-passing to establish a boundary between components that ensures loose coupling, isolation and location transparency. </a:t>
            </a:r>
            <a:endParaRPr sz="1700"/>
          </a:p>
          <a:p>
            <a:pPr indent="0" lvl="0" marL="0" rtl="0" algn="l">
              <a:spcBef>
                <a:spcPts val="1200"/>
              </a:spcBef>
              <a:spcAft>
                <a:spcPts val="12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Reactive using Spring</a:t>
            </a:r>
            <a:endParaRPr/>
          </a:p>
        </p:txBody>
      </p:sp>
      <p:sp>
        <p:nvSpPr>
          <p:cNvPr id="290" name="Google Shape;290;p15"/>
          <p:cNvSpPr txBox="1"/>
          <p:nvPr>
            <p:ph idx="1" type="body"/>
          </p:nvPr>
        </p:nvSpPr>
        <p:spPr>
          <a:xfrm>
            <a:off x="4728700" y="1322025"/>
            <a:ext cx="3918000" cy="32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Project Reactor is a fully non-blocking foundation with back-pressure support included. It's the foundation of the reactive stack in the Spring ecosystem and is featured in projects such as Spring WebFlux, Spring Data, and Spring Cloud Gateway.</a:t>
            </a:r>
            <a:endParaRPr sz="1200"/>
          </a:p>
          <a:p>
            <a:pPr indent="0" lvl="0" marL="0" rtl="0" algn="l">
              <a:spcBef>
                <a:spcPts val="1200"/>
              </a:spcBef>
              <a:spcAft>
                <a:spcPts val="0"/>
              </a:spcAft>
              <a:buNone/>
            </a:pPr>
            <a:r>
              <a:rPr lang="en" sz="1200"/>
              <a:t>Project Reactor and Spring WebFlux let developers take advantage of multi-core, next-generation processors—handling potentially massive numbers of concurrent connections. With reactive processing, you can satisfy more concurrent users with fewer microservice instances.</a:t>
            </a:r>
            <a:endParaRPr sz="1200"/>
          </a:p>
          <a:p>
            <a:pPr indent="0" lvl="0" marL="0" rtl="0" algn="l">
              <a:spcBef>
                <a:spcPts val="1200"/>
              </a:spcBef>
              <a:spcAft>
                <a:spcPts val="1200"/>
              </a:spcAft>
              <a:buNone/>
            </a:pPr>
            <a:r>
              <a:t/>
            </a:r>
            <a:endParaRPr sz="1200"/>
          </a:p>
        </p:txBody>
      </p:sp>
      <p:pic>
        <p:nvPicPr>
          <p:cNvPr id="291" name="Google Shape;291;p15"/>
          <p:cNvPicPr preferRelativeResize="0"/>
          <p:nvPr/>
        </p:nvPicPr>
        <p:blipFill>
          <a:blip r:embed="rId3">
            <a:alphaModFix/>
          </a:blip>
          <a:stretch>
            <a:fillRect/>
          </a:stretch>
        </p:blipFill>
        <p:spPr>
          <a:xfrm>
            <a:off x="1303792" y="1322034"/>
            <a:ext cx="3424900" cy="3264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Reactive using ot</a:t>
            </a:r>
            <a:r>
              <a:rPr lang="en"/>
              <a:t>her libraries and toolkits</a:t>
            </a:r>
            <a:endParaRPr/>
          </a:p>
        </p:txBody>
      </p:sp>
      <p:sp>
        <p:nvSpPr>
          <p:cNvPr id="297" name="Google Shape;297;p16"/>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RxJava</a:t>
            </a:r>
            <a:endParaRPr sz="2000"/>
          </a:p>
          <a:p>
            <a:pPr indent="-355600" lvl="0" marL="457200" rtl="0" algn="l">
              <a:spcBef>
                <a:spcPts val="0"/>
              </a:spcBef>
              <a:spcAft>
                <a:spcPts val="0"/>
              </a:spcAft>
              <a:buSzPts val="2000"/>
              <a:buChar char="●"/>
            </a:pPr>
            <a:r>
              <a:rPr lang="en" sz="2000"/>
              <a:t>Vert.x</a:t>
            </a:r>
            <a:endParaRPr sz="2000"/>
          </a:p>
          <a:p>
            <a:pPr indent="-355600" lvl="0" marL="457200" rtl="0" algn="l">
              <a:spcBef>
                <a:spcPts val="0"/>
              </a:spcBef>
              <a:spcAft>
                <a:spcPts val="0"/>
              </a:spcAft>
              <a:buSzPts val="2000"/>
              <a:buChar char="●"/>
            </a:pPr>
            <a:r>
              <a:rPr lang="en" sz="2000"/>
              <a:t>Akka</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RxJava</a:t>
            </a:r>
            <a:endParaRPr/>
          </a:p>
        </p:txBody>
      </p:sp>
      <p:sp>
        <p:nvSpPr>
          <p:cNvPr id="303" name="Google Shape;303;p17"/>
          <p:cNvSpPr txBox="1"/>
          <p:nvPr>
            <p:ph idx="1" type="body"/>
          </p:nvPr>
        </p:nvSpPr>
        <p:spPr>
          <a:xfrm>
            <a:off x="4572000" y="1098199"/>
            <a:ext cx="3762300" cy="3740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RxJava is a Java VM implementation of Reactive Extensions: a library for composing asynchronous and event-based programs by using observable sequences.</a:t>
            </a:r>
            <a:endParaRPr/>
          </a:p>
          <a:p>
            <a:pPr indent="0" lvl="0" marL="0" rtl="0" algn="l">
              <a:spcBef>
                <a:spcPts val="1200"/>
              </a:spcBef>
              <a:spcAft>
                <a:spcPts val="0"/>
              </a:spcAft>
              <a:buNone/>
            </a:pPr>
            <a:r>
              <a:rPr lang="en"/>
              <a:t>It extends the observer pattern to support sequences of data/events and adds operators that allow you to compose sequences together declaratively while abstracting away concerns about things like low-level threading, synchronization, thread-safety and concurrent data structures.</a:t>
            </a:r>
            <a:endParaRPr/>
          </a:p>
          <a:p>
            <a:pPr indent="0" lvl="0" marL="0" rtl="0" algn="l">
              <a:spcBef>
                <a:spcPts val="1200"/>
              </a:spcBef>
              <a:spcAft>
                <a:spcPts val="0"/>
              </a:spcAft>
              <a:buNone/>
            </a:pPr>
            <a:r>
              <a:rPr lang="en"/>
              <a:t>RxJava  features several base classes you can discover operators on:</a:t>
            </a:r>
            <a:endParaRPr/>
          </a:p>
          <a:p>
            <a:pPr indent="0" lvl="0" marL="0" rtl="0" algn="l">
              <a:spcBef>
                <a:spcPts val="1200"/>
              </a:spcBef>
              <a:spcAft>
                <a:spcPts val="0"/>
              </a:spcAft>
              <a:buNone/>
            </a:pPr>
            <a:r>
              <a:rPr lang="en">
                <a:solidFill>
                  <a:schemeClr val="accent5"/>
                </a:solidFill>
              </a:rPr>
              <a:t>Flowable</a:t>
            </a:r>
            <a:r>
              <a:rPr lang="en"/>
              <a:t>: 0..N flows, supporting Reactive-Streams and backpressure</a:t>
            </a:r>
            <a:endParaRPr/>
          </a:p>
          <a:p>
            <a:pPr indent="0" lvl="0" marL="0" rtl="0" algn="l">
              <a:spcBef>
                <a:spcPts val="1200"/>
              </a:spcBef>
              <a:spcAft>
                <a:spcPts val="0"/>
              </a:spcAft>
              <a:buNone/>
            </a:pPr>
            <a:r>
              <a:rPr lang="en">
                <a:solidFill>
                  <a:schemeClr val="accent5"/>
                </a:solidFill>
              </a:rPr>
              <a:t>Observable</a:t>
            </a:r>
            <a:r>
              <a:rPr lang="en"/>
              <a:t>: 0..N flows, no backpressure,</a:t>
            </a:r>
            <a:endParaRPr/>
          </a:p>
          <a:p>
            <a:pPr indent="0" lvl="0" marL="0" rtl="0" algn="l">
              <a:spcBef>
                <a:spcPts val="1200"/>
              </a:spcBef>
              <a:spcAft>
                <a:spcPts val="0"/>
              </a:spcAft>
              <a:buNone/>
            </a:pPr>
            <a:r>
              <a:rPr lang="en">
                <a:solidFill>
                  <a:schemeClr val="accent5"/>
                </a:solidFill>
              </a:rPr>
              <a:t>Single</a:t>
            </a:r>
            <a:r>
              <a:rPr lang="en"/>
              <a:t>: a flow of exactly 1 item or an error,</a:t>
            </a:r>
            <a:endParaRPr/>
          </a:p>
          <a:p>
            <a:pPr indent="0" lvl="0" marL="0" rtl="0" algn="l">
              <a:spcBef>
                <a:spcPts val="1200"/>
              </a:spcBef>
              <a:spcAft>
                <a:spcPts val="0"/>
              </a:spcAft>
              <a:buNone/>
            </a:pPr>
            <a:r>
              <a:rPr lang="en">
                <a:solidFill>
                  <a:schemeClr val="accent5"/>
                </a:solidFill>
              </a:rPr>
              <a:t>Completable:</a:t>
            </a:r>
            <a:r>
              <a:rPr lang="en"/>
              <a:t> a flow without items but only a completion or error signal,</a:t>
            </a:r>
            <a:endParaRPr/>
          </a:p>
          <a:p>
            <a:pPr indent="0" lvl="0" marL="0" rtl="0" algn="l">
              <a:spcBef>
                <a:spcPts val="1200"/>
              </a:spcBef>
              <a:spcAft>
                <a:spcPts val="1200"/>
              </a:spcAft>
              <a:buNone/>
            </a:pPr>
            <a:r>
              <a:rPr lang="en">
                <a:solidFill>
                  <a:schemeClr val="accent5"/>
                </a:solidFill>
              </a:rPr>
              <a:t>Maybe</a:t>
            </a:r>
            <a:r>
              <a:rPr lang="en"/>
              <a:t>: a flow with no items, exactly one item or an error.</a:t>
            </a:r>
            <a:endParaRPr/>
          </a:p>
        </p:txBody>
      </p:sp>
      <p:pic>
        <p:nvPicPr>
          <p:cNvPr id="304" name="Google Shape;304;p17"/>
          <p:cNvPicPr preferRelativeResize="0"/>
          <p:nvPr/>
        </p:nvPicPr>
        <p:blipFill>
          <a:blip r:embed="rId3">
            <a:alphaModFix/>
          </a:blip>
          <a:stretch>
            <a:fillRect/>
          </a:stretch>
        </p:blipFill>
        <p:spPr>
          <a:xfrm>
            <a:off x="675701" y="1597875"/>
            <a:ext cx="3529074" cy="3240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Vert.x</a:t>
            </a:r>
            <a:endParaRPr/>
          </a:p>
        </p:txBody>
      </p:sp>
      <p:sp>
        <p:nvSpPr>
          <p:cNvPr id="310" name="Google Shape;310;p18"/>
          <p:cNvSpPr txBox="1"/>
          <p:nvPr>
            <p:ph idx="1" type="body"/>
          </p:nvPr>
        </p:nvSpPr>
        <p:spPr>
          <a:xfrm>
            <a:off x="4186400" y="814930"/>
            <a:ext cx="3762300" cy="37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Vert.x comes with a simple, scalable, actor-like deployment and concurrency model out of the box that you can use to save you writing your own. To use this model, you write your code as set of verticles.</a:t>
            </a:r>
            <a:endParaRPr/>
          </a:p>
          <a:p>
            <a:pPr indent="0" lvl="0" marL="0" rtl="0" algn="l">
              <a:spcBef>
                <a:spcPts val="1200"/>
              </a:spcBef>
              <a:spcAft>
                <a:spcPts val="0"/>
              </a:spcAft>
              <a:buNone/>
            </a:pPr>
            <a:r>
              <a:rPr lang="en"/>
              <a:t>The Vert.x APIs are largely event driven. This means that when things happen in Vert.x that you are interested in, Vert.x will call you by sending you events.</a:t>
            </a:r>
            <a:endParaRPr/>
          </a:p>
          <a:p>
            <a:pPr indent="0" lvl="0" marL="0" rtl="0" algn="l">
              <a:spcBef>
                <a:spcPts val="1200"/>
              </a:spcBef>
              <a:spcAft>
                <a:spcPts val="0"/>
              </a:spcAft>
              <a:buNone/>
            </a:pPr>
            <a:r>
              <a:rPr lang="en"/>
              <a:t>None of the APIs in Vert.x block the calling thread.</a:t>
            </a:r>
            <a:endParaRPr/>
          </a:p>
          <a:p>
            <a:pPr indent="0" lvl="0" marL="0" rtl="0" algn="l">
              <a:spcBef>
                <a:spcPts val="1200"/>
              </a:spcBef>
              <a:spcAft>
                <a:spcPts val="1200"/>
              </a:spcAft>
              <a:buNone/>
            </a:pPr>
            <a:r>
              <a:rPr lang="en"/>
              <a:t>Vert.x  use futures to represent asynchronous results.</a:t>
            </a:r>
            <a:endParaRPr/>
          </a:p>
        </p:txBody>
      </p:sp>
      <p:pic>
        <p:nvPicPr>
          <p:cNvPr id="311" name="Google Shape;311;p18"/>
          <p:cNvPicPr preferRelativeResize="0"/>
          <p:nvPr/>
        </p:nvPicPr>
        <p:blipFill>
          <a:blip r:embed="rId3">
            <a:alphaModFix/>
          </a:blip>
          <a:stretch>
            <a:fillRect/>
          </a:stretch>
        </p:blipFill>
        <p:spPr>
          <a:xfrm>
            <a:off x="1303800" y="1290825"/>
            <a:ext cx="2471815" cy="32408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Akka</a:t>
            </a:r>
            <a:endParaRPr/>
          </a:p>
        </p:txBody>
      </p:sp>
      <p:sp>
        <p:nvSpPr>
          <p:cNvPr id="317" name="Google Shape;317;p19"/>
          <p:cNvSpPr txBox="1"/>
          <p:nvPr>
            <p:ph idx="1" type="body"/>
          </p:nvPr>
        </p:nvSpPr>
        <p:spPr>
          <a:xfrm>
            <a:off x="4572000" y="598575"/>
            <a:ext cx="3762300" cy="4257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Akka is a toolkit for building highly concurrent, distributed, and resilient message-driven applications for Java and Scala.</a:t>
            </a:r>
            <a:endParaRPr/>
          </a:p>
          <a:p>
            <a:pPr indent="0" lvl="0" marL="0" rtl="0" algn="l">
              <a:spcBef>
                <a:spcPts val="1200"/>
              </a:spcBef>
              <a:spcAft>
                <a:spcPts val="0"/>
              </a:spcAft>
              <a:buNone/>
            </a:pPr>
            <a:r>
              <a:rPr lang="en"/>
              <a:t>Akka’s use of the actor model provides a level of abstraction that makes it easier to write correct concurrent, parallel and distributed systems. The actor model spans the full set of Akka libraries, providing you with a consistent way of understanding and using them.</a:t>
            </a:r>
            <a:endParaRPr/>
          </a:p>
          <a:p>
            <a:pPr indent="0" lvl="0" marL="0" rtl="0" algn="l">
              <a:spcBef>
                <a:spcPts val="1200"/>
              </a:spcBef>
              <a:spcAft>
                <a:spcPts val="0"/>
              </a:spcAft>
              <a:buNone/>
            </a:pPr>
            <a:r>
              <a:rPr b="1" lang="en"/>
              <a:t>Akka provides:</a:t>
            </a:r>
            <a:endParaRPr b="1"/>
          </a:p>
          <a:p>
            <a:pPr indent="0" lvl="0" marL="0" rtl="0" algn="l">
              <a:spcBef>
                <a:spcPts val="1200"/>
              </a:spcBef>
              <a:spcAft>
                <a:spcPts val="0"/>
              </a:spcAft>
              <a:buNone/>
            </a:pPr>
            <a:r>
              <a:rPr lang="en"/>
              <a:t>Multi-threaded behavior — witho</a:t>
            </a:r>
            <a:r>
              <a:rPr lang="en"/>
              <a:t>ut the use of low-level concurrency constructs like atomics or locks.</a:t>
            </a:r>
            <a:endParaRPr/>
          </a:p>
          <a:p>
            <a:pPr indent="0" lvl="0" marL="0" rtl="0" algn="l">
              <a:spcBef>
                <a:spcPts val="1200"/>
              </a:spcBef>
              <a:spcAft>
                <a:spcPts val="0"/>
              </a:spcAft>
              <a:buNone/>
            </a:pPr>
            <a:r>
              <a:rPr lang="en"/>
              <a:t>Transparent remote communication between systems and their components</a:t>
            </a:r>
            <a:endParaRPr/>
          </a:p>
          <a:p>
            <a:pPr indent="0" lvl="0" marL="0" rtl="0" algn="l">
              <a:spcBef>
                <a:spcPts val="1200"/>
              </a:spcBef>
              <a:spcAft>
                <a:spcPts val="1200"/>
              </a:spcAft>
              <a:buNone/>
            </a:pPr>
            <a:r>
              <a:rPr lang="en"/>
              <a:t>Clustered, high-availability, elastic architecture, that scales on demand</a:t>
            </a:r>
            <a:endParaRPr/>
          </a:p>
        </p:txBody>
      </p:sp>
      <p:pic>
        <p:nvPicPr>
          <p:cNvPr id="318" name="Google Shape;318;p19"/>
          <p:cNvPicPr preferRelativeResize="0"/>
          <p:nvPr/>
        </p:nvPicPr>
        <p:blipFill>
          <a:blip r:embed="rId3">
            <a:alphaModFix/>
          </a:blip>
          <a:stretch>
            <a:fillRect/>
          </a:stretch>
        </p:blipFill>
        <p:spPr>
          <a:xfrm>
            <a:off x="1303800" y="1162127"/>
            <a:ext cx="2747410" cy="33694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324" name="Google Shape;324;p20"/>
          <p:cNvSpPr txBox="1"/>
          <p:nvPr>
            <p:ph idx="1" type="body"/>
          </p:nvPr>
        </p:nvSpPr>
        <p:spPr>
          <a:xfrm>
            <a:off x="1303800" y="1165950"/>
            <a:ext cx="7030500" cy="336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https://spring.io/reactive</a:t>
            </a:r>
            <a:r>
              <a:rPr lang="en"/>
              <a:t> </a:t>
            </a:r>
            <a:endParaRPr/>
          </a:p>
          <a:p>
            <a:pPr indent="0" lvl="0" marL="0" rtl="0" algn="l">
              <a:spcBef>
                <a:spcPts val="1200"/>
              </a:spcBef>
              <a:spcAft>
                <a:spcPts val="0"/>
              </a:spcAft>
              <a:buNone/>
            </a:pPr>
            <a:r>
              <a:rPr lang="en" u="sng">
                <a:solidFill>
                  <a:schemeClr val="hlink"/>
                </a:solidFill>
                <a:hlinkClick r:id="rId4"/>
              </a:rPr>
              <a:t>https://github.com/ReactiveX/RxJava</a:t>
            </a:r>
            <a:r>
              <a:rPr lang="en"/>
              <a:t> </a:t>
            </a:r>
            <a:endParaRPr/>
          </a:p>
          <a:p>
            <a:pPr indent="0" lvl="0" marL="0" rtl="0" algn="l">
              <a:spcBef>
                <a:spcPts val="1200"/>
              </a:spcBef>
              <a:spcAft>
                <a:spcPts val="0"/>
              </a:spcAft>
              <a:buNone/>
            </a:pPr>
            <a:r>
              <a:rPr lang="en" u="sng">
                <a:solidFill>
                  <a:schemeClr val="hlink"/>
                </a:solidFill>
                <a:hlinkClick r:id="rId5"/>
              </a:rPr>
              <a:t>https://www.philosophicalhacker.com/2015/06/12/an-introduction-to-rxjava-for-android/</a:t>
            </a:r>
            <a:r>
              <a:rPr lang="en"/>
              <a:t> </a:t>
            </a:r>
            <a:endParaRPr/>
          </a:p>
          <a:p>
            <a:pPr indent="0" lvl="0" marL="0" rtl="0" algn="l">
              <a:spcBef>
                <a:spcPts val="1200"/>
              </a:spcBef>
              <a:spcAft>
                <a:spcPts val="0"/>
              </a:spcAft>
              <a:buNone/>
            </a:pPr>
            <a:r>
              <a:rPr lang="en" u="sng">
                <a:solidFill>
                  <a:schemeClr val="hlink"/>
                </a:solidFill>
                <a:hlinkClick r:id="rId6"/>
              </a:rPr>
              <a:t>https://vertx.io/docs/vertx-core/java/</a:t>
            </a:r>
            <a:r>
              <a:rPr lang="en"/>
              <a:t> </a:t>
            </a:r>
            <a:endParaRPr/>
          </a:p>
          <a:p>
            <a:pPr indent="0" lvl="0" marL="0" rtl="0" algn="l">
              <a:spcBef>
                <a:spcPts val="1200"/>
              </a:spcBef>
              <a:spcAft>
                <a:spcPts val="0"/>
              </a:spcAft>
              <a:buNone/>
            </a:pPr>
            <a:r>
              <a:rPr lang="en" u="sng">
                <a:solidFill>
                  <a:schemeClr val="hlink"/>
                </a:solidFill>
                <a:hlinkClick r:id="rId7"/>
              </a:rPr>
              <a:t>https://akka.io/</a:t>
            </a:r>
            <a:r>
              <a:rPr lang="en"/>
              <a:t> </a:t>
            </a:r>
            <a:endParaRPr/>
          </a:p>
          <a:p>
            <a:pPr indent="0" lvl="0" marL="0" rtl="0" algn="l">
              <a:spcBef>
                <a:spcPts val="1200"/>
              </a:spcBef>
              <a:spcAft>
                <a:spcPts val="1200"/>
              </a:spcAft>
              <a:buNone/>
            </a:pPr>
            <a:r>
              <a:rPr lang="en" u="sng">
                <a:solidFill>
                  <a:schemeClr val="hlink"/>
                </a:solidFill>
                <a:hlinkClick r:id="rId8"/>
              </a:rPr>
              <a:t>https://developer.lightbend.com/docs/akka-guide/index.html</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