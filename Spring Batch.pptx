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3" r:id="rId5"/>
    <p:sldId id="264" r:id="rId6"/>
    <p:sldId id="262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88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7EB58-1AC2-A584-A1F0-ADC62EED2E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5DBAF-8B39-82A3-8C7A-B6CC37F10C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84B17-0525-DDD0-CFFA-73680CE94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2D92-A3A3-49B3-A7CD-405694FD1DEE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AC3DB-C85D-900C-016A-B1DC3DB27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C1357-A4D8-7F8E-F4CE-BB2A14A8D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E3BB-8EC8-4321-A3FE-62BA42926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677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742D2-C947-56B2-7FB1-D5995070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58AC4-38C5-6E68-B66F-E108292D0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E2405-1F0B-7542-B265-AD9D6FF96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2D92-A3A3-49B3-A7CD-405694FD1DEE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6C2DF-1022-428B-D931-CFD3BF654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058D5-DC4E-F92E-104B-0E18DAF57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E3BB-8EC8-4321-A3FE-62BA42926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46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CBED5-70C2-4A64-8C43-5B826A890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8D9BC-0DBB-C7B3-FCC2-5C68D7701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10911-56BC-6926-D570-7152E9874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2D92-A3A3-49B3-A7CD-405694FD1DEE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32D0C-83DA-6F8E-94E5-772795AC9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2C3D6-7A45-AE91-5D04-24DC88BB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E3BB-8EC8-4321-A3FE-62BA42926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147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67FCB-A755-C183-99F0-5A536D314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6EB49-5E50-1803-50E9-A3D612645F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08828-9967-FE9C-5B53-BAAA8FF46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FC686-2AD6-B1F7-8CF8-070AC7DCF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2D92-A3A3-49B3-A7CD-405694FD1DEE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DE90E-5CDA-1475-4DFC-ED8F5ECD9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F8151-48F5-31BB-E070-84EDB5BA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E3BB-8EC8-4321-A3FE-62BA42926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714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494E6-3B77-E78C-785B-0AC495F07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E8090-F986-897D-AA2A-81285C5BF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57BD4E-EC4D-8EE3-2608-0C53778C1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523CB2-E01E-36F3-113A-336538E743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8F2445-91A1-C56E-7DEE-21DBF327A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D9F222-DE05-5E25-DA63-F056CB1C8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2D92-A3A3-49B3-A7CD-405694FD1DEE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75DFA7-F8E8-782A-9BF0-AB7890069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7CBEC4-9C51-21DA-96FA-8F4A5BC40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E3BB-8EC8-4321-A3FE-62BA42926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559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8268E-EE85-C85E-9852-1ECB2A917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1B6639-D905-E7FD-A4FC-91720F087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2D92-A3A3-49B3-A7CD-405694FD1DEE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3E9E8-A30A-7764-E306-22E6D8D07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6D16E-6A3E-CFAF-3DFD-5DB21471C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E3BB-8EC8-4321-A3FE-62BA42926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40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80E822-F509-E7E8-4827-0A25CDCC7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2D92-A3A3-49B3-A7CD-405694FD1DEE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B4FBFE-E81A-0AB2-2519-3BE4E2614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EAE96-B3A1-D873-83A0-C40E9A40D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E3BB-8EC8-4321-A3FE-62BA42926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647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B3862-6655-56B5-C673-F9F71C3AE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7B084-B210-5A9F-6790-20D6DB8FD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86893-FB2B-2D10-A439-517003CA8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12506-BAD9-0D11-B7E3-E5A86861F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2D92-A3A3-49B3-A7CD-405694FD1DEE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6780D-E1D4-64F5-DF9E-F12988E10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FA6C5-6567-E21D-76A2-4AB1A0CA4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E3BB-8EC8-4321-A3FE-62BA42926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521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969E7-455C-4A1A-B51C-EBF07C3F5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17046A-A314-646A-A44E-891C745CDC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19147-B432-339C-213E-5D1F5C33D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B5788-1EAE-5166-D48D-C2E40F06E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2D92-A3A3-49B3-A7CD-405694FD1DEE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4E13B6-74C9-991A-0CA4-B6FC8311F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61C8B-1759-3DB2-1ED5-2E37DC51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E3BB-8EC8-4321-A3FE-62BA42926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209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765A4-9386-2AA4-4493-4DF482DE9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ADBD12-31D9-FF81-C715-EABCDB14D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B4955-9F12-E69C-E8C1-838379B9E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2D92-A3A3-49B3-A7CD-405694FD1DEE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24F39-795B-FDA7-D8D4-A50B616F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E9244-8566-21FE-A24E-1F1089240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E3BB-8EC8-4321-A3FE-62BA42926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234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E3F6F5-3CAF-25DE-7F20-D963CDB1A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D5D88C-3296-43C8-71FA-FD2E82D00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01142-F2CD-46A5-738B-0A705C988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2D92-A3A3-49B3-A7CD-405694FD1DEE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82E00-A822-EE75-98EF-E3504907C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433D9-7A5C-9BBE-9C15-FB32864B1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E3BB-8EC8-4321-A3FE-62BA42926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493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3A6B12-9882-9E3D-B407-CE0856FFD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155D2-C100-006A-5B6B-37EC02C41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BA444-6C31-AEBE-78A4-E9F4AFE2E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62D92-A3A3-49B3-A7CD-405694FD1DEE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92C33-5130-5BF6-5A5B-D765CA5887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E8F3F-55B1-30C2-B948-07F425675A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4E3BB-8EC8-4321-A3FE-62BA42926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430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eldung.com/introduction-to-spring-batch" TargetMode="External"/><Relationship Id="rId2" Type="http://schemas.openxmlformats.org/officeDocument/2006/relationships/hyperlink" Target="https://spring.io/projects/spring-batch#overview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7658-E015-FBDC-676B-0124326B05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Spring Batch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9081B-947B-17C8-5FF6-8A6DFAAA79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Ayan Sengupta</a:t>
            </a:r>
          </a:p>
        </p:txBody>
      </p:sp>
    </p:spTree>
    <p:extLst>
      <p:ext uri="{BB962C8B-B14F-4D97-AF65-F5344CB8AC3E}">
        <p14:creationId xmlns:p14="http://schemas.microsoft.com/office/powerpoint/2010/main" val="2782414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DBC18-44D6-5943-E731-73C35C111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Batch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78843-6B8C-76EC-54B4-EEDEC0D662C8}"/>
              </a:ext>
            </a:extLst>
          </p:cNvPr>
          <p:cNvSpPr txBox="1"/>
          <p:nvPr/>
        </p:nvSpPr>
        <p:spPr>
          <a:xfrm>
            <a:off x="838200" y="1817914"/>
            <a:ext cx="8305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Computerized batch processing is a method of running software programs called </a:t>
            </a:r>
            <a:r>
              <a:rPr lang="en-US" b="1" dirty="0"/>
              <a:t>jobs</a:t>
            </a:r>
            <a:r>
              <a:rPr lang="en-US" dirty="0"/>
              <a:t> in batches automatically. </a:t>
            </a:r>
          </a:p>
          <a:p>
            <a:endParaRPr lang="en-US" dirty="0"/>
          </a:p>
          <a:p>
            <a:r>
              <a:rPr lang="en-US" dirty="0"/>
              <a:t>While users are required to submit the jobs</a:t>
            </a:r>
            <a:r>
              <a:rPr lang="en-US" b="1" dirty="0"/>
              <a:t>, no user interaction </a:t>
            </a:r>
            <a:r>
              <a:rPr lang="en-US" dirty="0"/>
              <a:t>is required to process the batch. </a:t>
            </a:r>
          </a:p>
          <a:p>
            <a:endParaRPr lang="en-US" dirty="0"/>
          </a:p>
          <a:p>
            <a:r>
              <a:rPr lang="en-US" dirty="0"/>
              <a:t>Batches may automatically be run at </a:t>
            </a:r>
            <a:r>
              <a:rPr lang="en-US" b="1" dirty="0"/>
              <a:t>scheduled times </a:t>
            </a:r>
            <a:r>
              <a:rPr lang="en-US" dirty="0"/>
              <a:t>as well as being run contingent on the availability of computer resources.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4217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F9D2F-2931-742C-684E-82A4F2B92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9161"/>
          </a:xfrm>
        </p:spPr>
        <p:txBody>
          <a:bodyPr>
            <a:normAutofit fontScale="90000"/>
          </a:bodyPr>
          <a:lstStyle/>
          <a:p>
            <a:r>
              <a:rPr lang="en-IN" dirty="0"/>
              <a:t>Spring Batch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243E1D-8741-C647-672E-9EDD7AFFFE18}"/>
              </a:ext>
            </a:extLst>
          </p:cNvPr>
          <p:cNvSpPr txBox="1"/>
          <p:nvPr/>
        </p:nvSpPr>
        <p:spPr>
          <a:xfrm>
            <a:off x="838200" y="1028343"/>
            <a:ext cx="1024345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lightweight, comprehensive batch framework designed to enable the development of robust batch applications vital for the daily operations of enterprise systems.</a:t>
            </a:r>
          </a:p>
          <a:p>
            <a:endParaRPr lang="en-US" dirty="0"/>
          </a:p>
          <a:p>
            <a:r>
              <a:rPr lang="en-US" dirty="0"/>
              <a:t>Spring Batch provides reusable functions that are essential in processing large volumes of records, including logging/tracing, transaction management, job processing statistics, job restart, skip, and resource management. It also provides more advanced technical services and features that will enable extremely high-volume and high performance batch jobs through optimization and partitioning techniques. Simple as well as complex, high-volume batch jobs can leverage the framework in a highly scalable manner to process significant volumes of information.</a:t>
            </a:r>
          </a:p>
          <a:p>
            <a:endParaRPr lang="en-US" dirty="0"/>
          </a:p>
          <a:p>
            <a:r>
              <a:rPr lang="en-US" b="1" dirty="0"/>
              <a:t>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Transaction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Chunk based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Declarative I/O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Start/Stop/Restart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Retry/Skip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 based administration interface (Spring Cloud Data Flow)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1508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B3516-1FAE-C4FB-23D5-DB095995E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86" y="267155"/>
            <a:ext cx="10515600" cy="146504"/>
          </a:xfrm>
        </p:spPr>
        <p:txBody>
          <a:bodyPr>
            <a:normAutofit fontScale="90000"/>
          </a:bodyPr>
          <a:lstStyle/>
          <a:p>
            <a:r>
              <a:rPr lang="en-IN" dirty="0"/>
              <a:t>Spring Batch Components</a:t>
            </a:r>
          </a:p>
        </p:txBody>
      </p:sp>
      <p:pic>
        <p:nvPicPr>
          <p:cNvPr id="1026" name="Picture 2" descr="Figure 2.1: Batch Stereotypes">
            <a:extLst>
              <a:ext uri="{FF2B5EF4-FFF2-40B4-BE49-F238E27FC236}">
                <a16:creationId xmlns:a16="http://schemas.microsoft.com/office/drawing/2014/main" id="{59627263-3DBC-EFFE-B4D9-AE82D2102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57" y="721859"/>
            <a:ext cx="4049486" cy="2380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BA7B6B-75A9-4517-3892-E0B115EB2B85}"/>
              </a:ext>
            </a:extLst>
          </p:cNvPr>
          <p:cNvSpPr txBox="1"/>
          <p:nvPr/>
        </p:nvSpPr>
        <p:spPr>
          <a:xfrm>
            <a:off x="5739492" y="216102"/>
            <a:ext cx="6144984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Job</a:t>
            </a:r>
            <a:r>
              <a:rPr lang="en-US" sz="1600" dirty="0"/>
              <a:t> is an entity that encapsulates an entire batch process.</a:t>
            </a:r>
          </a:p>
          <a:p>
            <a:endParaRPr lang="en-US" sz="1600" dirty="0"/>
          </a:p>
          <a:p>
            <a:r>
              <a:rPr lang="en-US" sz="1600" b="1" dirty="0"/>
              <a:t>Step</a:t>
            </a:r>
            <a:r>
              <a:rPr lang="en-US" sz="1600" dirty="0"/>
              <a:t> is a domain object that encapsulates an independent, sequential phase of a batch job. Therefore, every Job is composed entirely of one or more steps. </a:t>
            </a:r>
          </a:p>
          <a:p>
            <a:endParaRPr lang="en-US" sz="1600" dirty="0"/>
          </a:p>
          <a:p>
            <a:r>
              <a:rPr lang="en-US" sz="1600" b="1" dirty="0" err="1"/>
              <a:t>ItemReader</a:t>
            </a:r>
            <a:r>
              <a:rPr lang="en-US" sz="1600" dirty="0"/>
              <a:t> is an abstraction that represents the retrieval of input for a Step, one item at a time. </a:t>
            </a:r>
          </a:p>
          <a:p>
            <a:r>
              <a:rPr lang="en-US" sz="1600" b="1" dirty="0" err="1"/>
              <a:t>ItemProcessor</a:t>
            </a:r>
            <a:r>
              <a:rPr lang="en-US" sz="1600" dirty="0"/>
              <a:t> is an abstraction that represents the business processing of an item.</a:t>
            </a:r>
          </a:p>
          <a:p>
            <a:r>
              <a:rPr lang="en-US" sz="1600" b="1" dirty="0" err="1"/>
              <a:t>ItemWriter</a:t>
            </a:r>
            <a:r>
              <a:rPr lang="en-US" sz="1600" dirty="0"/>
              <a:t> is an abstraction that represents the output of a Step, one batch or chunk of items at a time.</a:t>
            </a:r>
          </a:p>
          <a:p>
            <a:endParaRPr lang="en-US" sz="1600" dirty="0"/>
          </a:p>
          <a:p>
            <a:r>
              <a:rPr lang="en-US" sz="1600" b="1" dirty="0" err="1"/>
              <a:t>JobRepository</a:t>
            </a:r>
            <a:r>
              <a:rPr lang="en-US" sz="1600" dirty="0"/>
              <a:t> provides CRUD operations for </a:t>
            </a:r>
            <a:r>
              <a:rPr lang="en-US" sz="1600" dirty="0" err="1"/>
              <a:t>JobLauncher</a:t>
            </a:r>
            <a:r>
              <a:rPr lang="en-US" sz="1600" dirty="0"/>
              <a:t>, Job, and Step implementations. </a:t>
            </a:r>
          </a:p>
          <a:p>
            <a:endParaRPr lang="en-US" sz="1600" dirty="0"/>
          </a:p>
          <a:p>
            <a:r>
              <a:rPr lang="en-US" sz="1600" b="1" dirty="0" err="1"/>
              <a:t>JobLauncher</a:t>
            </a:r>
            <a:r>
              <a:rPr lang="en-US" sz="1600" dirty="0"/>
              <a:t> represents a simple interface for launching a Job with a given set of </a:t>
            </a:r>
            <a:r>
              <a:rPr lang="en-US" sz="1600" dirty="0" err="1"/>
              <a:t>JobParameters</a:t>
            </a:r>
            <a:endParaRPr lang="en-US" sz="1600" dirty="0"/>
          </a:p>
          <a:p>
            <a:endParaRPr lang="en-US" sz="1600" dirty="0"/>
          </a:p>
          <a:p>
            <a:r>
              <a:rPr lang="en-US" sz="1600" b="1" dirty="0" err="1"/>
              <a:t>JobInstance</a:t>
            </a:r>
            <a:r>
              <a:rPr lang="en-US" sz="1600" dirty="0"/>
              <a:t> refers to the concept of a logical job run.</a:t>
            </a:r>
          </a:p>
          <a:p>
            <a:endParaRPr lang="en-US" sz="1600" dirty="0"/>
          </a:p>
          <a:p>
            <a:r>
              <a:rPr lang="en-US" sz="1600" b="1" dirty="0" err="1"/>
              <a:t>JobExecution</a:t>
            </a:r>
            <a:r>
              <a:rPr lang="en-US" sz="1600" dirty="0"/>
              <a:t> refers to the technical concept of a single attempt to run a Job.</a:t>
            </a:r>
          </a:p>
          <a:p>
            <a:endParaRPr lang="en-US" sz="1600" dirty="0"/>
          </a:p>
          <a:p>
            <a:r>
              <a:rPr lang="en-US" sz="1600" b="1" dirty="0" err="1"/>
              <a:t>StepExecution</a:t>
            </a:r>
            <a:r>
              <a:rPr lang="en-US" sz="1600" dirty="0"/>
              <a:t> represents a single attempt to execute a Step. </a:t>
            </a:r>
          </a:p>
          <a:p>
            <a:endParaRPr lang="en-IN" sz="1600" dirty="0"/>
          </a:p>
        </p:txBody>
      </p:sp>
      <p:pic>
        <p:nvPicPr>
          <p:cNvPr id="1028" name="Picture 4" descr="Figure 2.1: Job Hierarchy With Steps">
            <a:extLst>
              <a:ext uri="{FF2B5EF4-FFF2-40B4-BE49-F238E27FC236}">
                <a16:creationId xmlns:a16="http://schemas.microsoft.com/office/drawing/2014/main" id="{1BA28ADF-3C0C-E419-CDC9-A8B4B494F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3" y="3429000"/>
            <a:ext cx="4562475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C816663-C18F-0182-5365-71A9A2C3FF34}"/>
              </a:ext>
            </a:extLst>
          </p:cNvPr>
          <p:cNvCxnSpPr/>
          <p:nvPr/>
        </p:nvCxnSpPr>
        <p:spPr>
          <a:xfrm>
            <a:off x="544286" y="3309257"/>
            <a:ext cx="440871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663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A8198-200E-47E0-FDF8-0286EDF2B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43" y="256269"/>
            <a:ext cx="10515600" cy="505732"/>
          </a:xfrm>
        </p:spPr>
        <p:txBody>
          <a:bodyPr>
            <a:normAutofit fontScale="90000"/>
          </a:bodyPr>
          <a:lstStyle/>
          <a:p>
            <a:r>
              <a:rPr lang="en-IN" i="0" dirty="0">
                <a:effectLst/>
                <a:latin typeface="-apple-system"/>
              </a:rPr>
              <a:t>Scaling and Parallel Processing in Spring Batch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77F6AA-4CE4-9998-9F4F-9CA27876202B}"/>
              </a:ext>
            </a:extLst>
          </p:cNvPr>
          <p:cNvSpPr txBox="1"/>
          <p:nvPr/>
        </p:nvSpPr>
        <p:spPr>
          <a:xfrm>
            <a:off x="544286" y="1176049"/>
            <a:ext cx="460465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Multi-threaded Step (single-process)</a:t>
            </a:r>
          </a:p>
          <a:p>
            <a:endParaRPr lang="en-IN" dirty="0"/>
          </a:p>
          <a:p>
            <a:r>
              <a:rPr lang="en-US" sz="1400" dirty="0"/>
              <a:t>Add a </a:t>
            </a:r>
            <a:r>
              <a:rPr lang="en-US" sz="1400" b="1" dirty="0" err="1"/>
              <a:t>TaskExecutor</a:t>
            </a:r>
            <a:r>
              <a:rPr lang="en-US" sz="1400" dirty="0"/>
              <a:t> to your Step configuration. </a:t>
            </a:r>
            <a:r>
              <a:rPr lang="en-US" sz="1400" dirty="0" err="1"/>
              <a:t>TaskExecutor</a:t>
            </a:r>
            <a:r>
              <a:rPr lang="en-US" sz="1400" dirty="0"/>
              <a:t> is a standard Spring interface. The simplest multi-threaded </a:t>
            </a:r>
            <a:r>
              <a:rPr lang="en-US" sz="1400" dirty="0" err="1"/>
              <a:t>TaskExecutor</a:t>
            </a:r>
            <a:r>
              <a:rPr lang="en-US" sz="1400" dirty="0"/>
              <a:t> is a </a:t>
            </a:r>
            <a:r>
              <a:rPr lang="en-US" sz="1400" dirty="0" err="1"/>
              <a:t>SimpleAsyncTaskExecutor</a:t>
            </a:r>
            <a:r>
              <a:rPr lang="en-US" sz="1400" dirty="0"/>
              <a:t>. The result of the preceding configuration is that the Step executes by reading, processing, and writing each chunk of items (each commit interval) in a separate thread of execution</a:t>
            </a:r>
            <a:endParaRPr lang="en-IN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4E18BE-7ABF-8CC1-D4F1-A02C6DE668CF}"/>
              </a:ext>
            </a:extLst>
          </p:cNvPr>
          <p:cNvSpPr txBox="1"/>
          <p:nvPr/>
        </p:nvSpPr>
        <p:spPr>
          <a:xfrm>
            <a:off x="544286" y="3647105"/>
            <a:ext cx="504008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Parallel Steps (single-process)</a:t>
            </a:r>
          </a:p>
          <a:p>
            <a:endParaRPr lang="en-IN" dirty="0"/>
          </a:p>
          <a:p>
            <a:r>
              <a:rPr lang="en-IN" sz="1200" dirty="0"/>
              <a:t>Use </a:t>
            </a:r>
            <a:r>
              <a:rPr lang="en-IN" sz="1200" b="1" dirty="0"/>
              <a:t>Flow</a:t>
            </a:r>
            <a:r>
              <a:rPr lang="en-IN" sz="1200" dirty="0"/>
              <a:t> to create of group step(s) that need to run sequentially</a:t>
            </a:r>
          </a:p>
          <a:p>
            <a:endParaRPr lang="en-IN" sz="1200" dirty="0"/>
          </a:p>
          <a:p>
            <a:r>
              <a:rPr lang="en-IN" sz="1200" dirty="0"/>
              <a:t>Since each Flow can run parallelly use a </a:t>
            </a:r>
            <a:r>
              <a:rPr lang="en-IN" sz="1200" b="1" dirty="0" err="1"/>
              <a:t>FlowBuilder</a:t>
            </a:r>
            <a:r>
              <a:rPr lang="en-IN" sz="1200" dirty="0"/>
              <a:t> to create parallel execution </a:t>
            </a:r>
          </a:p>
          <a:p>
            <a:endParaRPr lang="en-IN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85C7BB-F05B-D523-92DA-C66398688E0B}"/>
              </a:ext>
            </a:extLst>
          </p:cNvPr>
          <p:cNvSpPr txBox="1"/>
          <p:nvPr/>
        </p:nvSpPr>
        <p:spPr>
          <a:xfrm>
            <a:off x="5791200" y="1164773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Remote Chunking of Step (multi-process)</a:t>
            </a:r>
          </a:p>
          <a:p>
            <a:endParaRPr lang="en-US" b="1" dirty="0"/>
          </a:p>
          <a:p>
            <a:r>
              <a:rPr lang="en-US" sz="1200" dirty="0"/>
              <a:t>In remote chunking, the Step processing is split across multiple processes, communicating with each other through some </a:t>
            </a:r>
            <a:r>
              <a:rPr lang="en-US" sz="1200" b="1" dirty="0"/>
              <a:t>middleware</a:t>
            </a:r>
            <a:r>
              <a:rPr lang="en-US" sz="1200" dirty="0"/>
              <a:t>. </a:t>
            </a:r>
            <a:endParaRPr lang="en-IN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807B8A-E8C9-3B1D-2246-13F8C16CFE5B}"/>
              </a:ext>
            </a:extLst>
          </p:cNvPr>
          <p:cNvSpPr txBox="1"/>
          <p:nvPr/>
        </p:nvSpPr>
        <p:spPr>
          <a:xfrm>
            <a:off x="5791200" y="364710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Partitioning a Step (single or multi-process)</a:t>
            </a:r>
          </a:p>
          <a:p>
            <a:endParaRPr lang="en-US" dirty="0"/>
          </a:p>
          <a:p>
            <a:r>
              <a:rPr lang="en-US" sz="1200" dirty="0"/>
              <a:t>Spring Batch consists of a special implementation of Step (called the </a:t>
            </a:r>
            <a:r>
              <a:rPr lang="en-US" sz="1200" dirty="0" err="1"/>
              <a:t>PartitionStep</a:t>
            </a:r>
            <a:r>
              <a:rPr lang="en-US" sz="1200" dirty="0"/>
              <a:t>) and two strategy interfaces that need to be implemented for the specific environment. The strategy interfaces are </a:t>
            </a:r>
            <a:r>
              <a:rPr lang="en-US" sz="1200" b="1" dirty="0" err="1"/>
              <a:t>PartitionHandler</a:t>
            </a:r>
            <a:r>
              <a:rPr lang="en-US" sz="1200" dirty="0"/>
              <a:t> and </a:t>
            </a:r>
            <a:r>
              <a:rPr lang="en-US" sz="1200" b="1" dirty="0" err="1"/>
              <a:t>StepExecutionSplitter</a:t>
            </a: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2805297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4EACC-CF1F-6791-E733-FF8A2A0FB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79" y="1"/>
            <a:ext cx="10515600" cy="542260"/>
          </a:xfrm>
        </p:spPr>
        <p:txBody>
          <a:bodyPr>
            <a:normAutofit fontScale="90000"/>
          </a:bodyPr>
          <a:lstStyle/>
          <a:p>
            <a:r>
              <a:rPr lang="en-IN" dirty="0"/>
              <a:t>Chunk vs Tasklet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AE1C7-4931-2ECC-7EBA-675774820D3F}"/>
              </a:ext>
            </a:extLst>
          </p:cNvPr>
          <p:cNvSpPr txBox="1"/>
          <p:nvPr/>
        </p:nvSpPr>
        <p:spPr>
          <a:xfrm>
            <a:off x="210879" y="806289"/>
            <a:ext cx="517982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Tasklets</a:t>
            </a:r>
            <a:r>
              <a:rPr lang="en-US" dirty="0"/>
              <a:t> are meant to perform a single task within a step. Each step should perform only one defined task.</a:t>
            </a:r>
          </a:p>
          <a:p>
            <a:endParaRPr lang="en-US" dirty="0"/>
          </a:p>
          <a:p>
            <a:endParaRPr lang="en-US" dirty="0"/>
          </a:p>
          <a:p>
            <a:r>
              <a:rPr lang="en-IN" sz="1200" dirty="0"/>
              <a:t>@Configuration</a:t>
            </a:r>
          </a:p>
          <a:p>
            <a:r>
              <a:rPr lang="en-IN" sz="1200" dirty="0"/>
              <a:t>public class </a:t>
            </a:r>
            <a:r>
              <a:rPr lang="en-IN" sz="1200" dirty="0" err="1"/>
              <a:t>TaskletsConfig</a:t>
            </a:r>
            <a:r>
              <a:rPr lang="en-IN" sz="1200" dirty="0"/>
              <a:t> {</a:t>
            </a:r>
          </a:p>
          <a:p>
            <a:endParaRPr lang="en-IN" sz="1200" dirty="0"/>
          </a:p>
          <a:p>
            <a:r>
              <a:rPr lang="en-IN" sz="1200" dirty="0"/>
              <a:t>    @Bean</a:t>
            </a:r>
          </a:p>
          <a:p>
            <a:r>
              <a:rPr lang="en-IN" sz="1200" dirty="0"/>
              <a:t>    protected Step </a:t>
            </a:r>
            <a:r>
              <a:rPr lang="en-IN" sz="1200" b="1" dirty="0" err="1"/>
              <a:t>readLines</a:t>
            </a:r>
            <a:r>
              <a:rPr lang="en-IN" sz="1200" dirty="0"/>
              <a:t>(</a:t>
            </a:r>
            <a:r>
              <a:rPr lang="en-IN" sz="1200" dirty="0" err="1"/>
              <a:t>JobRepository</a:t>
            </a:r>
            <a:r>
              <a:rPr lang="en-IN" sz="1200" dirty="0"/>
              <a:t> </a:t>
            </a:r>
            <a:r>
              <a:rPr lang="en-IN" sz="1200" dirty="0" err="1"/>
              <a:t>jobRepository</a:t>
            </a:r>
            <a:r>
              <a:rPr lang="en-IN" sz="1200" dirty="0"/>
              <a:t>, </a:t>
            </a:r>
            <a:r>
              <a:rPr lang="en-IN" sz="1200" dirty="0" err="1"/>
              <a:t>PlatformTransactionManager</a:t>
            </a:r>
            <a:r>
              <a:rPr lang="en-IN" sz="1200" dirty="0"/>
              <a:t> </a:t>
            </a:r>
            <a:r>
              <a:rPr lang="en-IN" sz="1200" dirty="0" err="1"/>
              <a:t>transactionManager</a:t>
            </a:r>
            <a:r>
              <a:rPr lang="en-IN" sz="1200" dirty="0"/>
              <a:t>) {</a:t>
            </a:r>
          </a:p>
          <a:p>
            <a:r>
              <a:rPr lang="en-IN" sz="1200" dirty="0"/>
              <a:t>        return new </a:t>
            </a:r>
            <a:r>
              <a:rPr lang="en-IN" sz="1200" dirty="0" err="1"/>
              <a:t>StepBuilder</a:t>
            </a:r>
            <a:r>
              <a:rPr lang="en-IN" sz="1200" dirty="0"/>
              <a:t>("</a:t>
            </a:r>
            <a:r>
              <a:rPr lang="en-IN" sz="1200" dirty="0" err="1"/>
              <a:t>readLines</a:t>
            </a:r>
            <a:r>
              <a:rPr lang="en-IN" sz="1200" dirty="0"/>
              <a:t>", </a:t>
            </a:r>
            <a:r>
              <a:rPr lang="en-IN" sz="1200" dirty="0" err="1"/>
              <a:t>jobRepository</a:t>
            </a:r>
            <a:r>
              <a:rPr lang="en-IN" sz="1200" dirty="0"/>
              <a:t>)</a:t>
            </a:r>
          </a:p>
          <a:p>
            <a:r>
              <a:rPr lang="en-IN" sz="1200" dirty="0"/>
              <a:t>          .</a:t>
            </a:r>
            <a:r>
              <a:rPr lang="en-IN" sz="1200" dirty="0" err="1">
                <a:highlight>
                  <a:srgbClr val="FFFF00"/>
                </a:highlight>
              </a:rPr>
              <a:t>tasklet</a:t>
            </a:r>
            <a:r>
              <a:rPr lang="en-IN" sz="1200" dirty="0"/>
              <a:t>(</a:t>
            </a:r>
            <a:r>
              <a:rPr lang="en-IN" sz="1200" dirty="0" err="1"/>
              <a:t>linesReader</a:t>
            </a:r>
            <a:r>
              <a:rPr lang="en-IN" sz="1200" dirty="0"/>
              <a:t>(), </a:t>
            </a:r>
            <a:r>
              <a:rPr lang="en-IN" sz="1200" dirty="0" err="1"/>
              <a:t>transactionManager</a:t>
            </a:r>
            <a:r>
              <a:rPr lang="en-IN" sz="1200" dirty="0"/>
              <a:t>)</a:t>
            </a:r>
          </a:p>
          <a:p>
            <a:r>
              <a:rPr lang="en-IN" sz="1200" dirty="0"/>
              <a:t>          .build();</a:t>
            </a:r>
          </a:p>
          <a:p>
            <a:r>
              <a:rPr lang="en-IN" sz="1200" dirty="0"/>
              <a:t>    }</a:t>
            </a:r>
          </a:p>
          <a:p>
            <a:endParaRPr lang="en-IN" sz="1200" dirty="0"/>
          </a:p>
          <a:p>
            <a:r>
              <a:rPr lang="en-IN" sz="1200" dirty="0"/>
              <a:t>@Bean</a:t>
            </a:r>
          </a:p>
          <a:p>
            <a:r>
              <a:rPr lang="en-IN" sz="1200" dirty="0"/>
              <a:t>    public Job job(</a:t>
            </a:r>
            <a:r>
              <a:rPr lang="en-IN" sz="1200" dirty="0" err="1"/>
              <a:t>JobRepository</a:t>
            </a:r>
            <a:r>
              <a:rPr lang="en-IN" sz="1200" dirty="0"/>
              <a:t> </a:t>
            </a:r>
            <a:r>
              <a:rPr lang="en-IN" sz="1200" dirty="0" err="1"/>
              <a:t>jobRepository</a:t>
            </a:r>
            <a:r>
              <a:rPr lang="en-IN" sz="1200" dirty="0"/>
              <a:t>, </a:t>
            </a:r>
            <a:r>
              <a:rPr lang="en-IN" sz="1200" dirty="0" err="1"/>
              <a:t>PlatformTransactionManager</a:t>
            </a:r>
            <a:r>
              <a:rPr lang="en-IN" sz="1200" dirty="0"/>
              <a:t> </a:t>
            </a:r>
            <a:r>
              <a:rPr lang="en-IN" sz="1200" dirty="0" err="1"/>
              <a:t>transactionManager</a:t>
            </a:r>
            <a:r>
              <a:rPr lang="en-IN" sz="1200" dirty="0"/>
              <a:t>) {</a:t>
            </a:r>
          </a:p>
          <a:p>
            <a:r>
              <a:rPr lang="en-IN" sz="1200" dirty="0"/>
              <a:t>        return new </a:t>
            </a:r>
            <a:r>
              <a:rPr lang="en-IN" sz="1200" dirty="0" err="1"/>
              <a:t>JobBuilder</a:t>
            </a:r>
            <a:r>
              <a:rPr lang="en-IN" sz="1200" dirty="0"/>
              <a:t>("</a:t>
            </a:r>
            <a:r>
              <a:rPr lang="en-IN" sz="1200" dirty="0" err="1"/>
              <a:t>taskletsJob</a:t>
            </a:r>
            <a:r>
              <a:rPr lang="en-IN" sz="1200" dirty="0"/>
              <a:t>", </a:t>
            </a:r>
            <a:r>
              <a:rPr lang="en-IN" sz="1200" dirty="0" err="1"/>
              <a:t>jobRepository</a:t>
            </a:r>
            <a:r>
              <a:rPr lang="en-IN" sz="1200" dirty="0"/>
              <a:t>)</a:t>
            </a:r>
          </a:p>
          <a:p>
            <a:r>
              <a:rPr lang="en-IN" sz="1200" dirty="0"/>
              <a:t>          .start(</a:t>
            </a:r>
            <a:r>
              <a:rPr lang="en-IN" sz="1200" b="1" dirty="0" err="1"/>
              <a:t>readLines</a:t>
            </a:r>
            <a:r>
              <a:rPr lang="en-IN" sz="1200" dirty="0"/>
              <a:t>(</a:t>
            </a:r>
            <a:r>
              <a:rPr lang="en-IN" sz="1200" dirty="0" err="1"/>
              <a:t>jobRepository</a:t>
            </a:r>
            <a:r>
              <a:rPr lang="en-IN" sz="1200" dirty="0"/>
              <a:t>, </a:t>
            </a:r>
            <a:r>
              <a:rPr lang="en-IN" sz="1200" dirty="0" err="1"/>
              <a:t>transactionManager</a:t>
            </a:r>
            <a:r>
              <a:rPr lang="en-IN" sz="1200" dirty="0"/>
              <a:t>))</a:t>
            </a:r>
          </a:p>
          <a:p>
            <a:r>
              <a:rPr lang="en-IN" sz="1200" dirty="0"/>
              <a:t>          .next(</a:t>
            </a:r>
            <a:r>
              <a:rPr lang="en-IN" sz="1200" dirty="0" err="1"/>
              <a:t>processLines</a:t>
            </a:r>
            <a:r>
              <a:rPr lang="en-IN" sz="1200" dirty="0"/>
              <a:t>(</a:t>
            </a:r>
            <a:r>
              <a:rPr lang="en-IN" sz="1200" dirty="0" err="1"/>
              <a:t>jobRepository</a:t>
            </a:r>
            <a:r>
              <a:rPr lang="en-IN" sz="1200" dirty="0"/>
              <a:t>, </a:t>
            </a:r>
            <a:r>
              <a:rPr lang="en-IN" sz="1200" dirty="0" err="1"/>
              <a:t>transactionManager</a:t>
            </a:r>
            <a:r>
              <a:rPr lang="en-IN" sz="1200" dirty="0"/>
              <a:t>))</a:t>
            </a:r>
          </a:p>
          <a:p>
            <a:r>
              <a:rPr lang="en-IN" sz="1200" dirty="0"/>
              <a:t>          .next(</a:t>
            </a:r>
            <a:r>
              <a:rPr lang="en-IN" sz="1200" dirty="0" err="1"/>
              <a:t>writeLines</a:t>
            </a:r>
            <a:r>
              <a:rPr lang="en-IN" sz="1200" dirty="0"/>
              <a:t>(</a:t>
            </a:r>
            <a:r>
              <a:rPr lang="en-IN" sz="1200" dirty="0" err="1"/>
              <a:t>jobRepository</a:t>
            </a:r>
            <a:r>
              <a:rPr lang="en-IN" sz="1200" dirty="0"/>
              <a:t>, </a:t>
            </a:r>
            <a:r>
              <a:rPr lang="en-IN" sz="1200" dirty="0" err="1"/>
              <a:t>transactionManager</a:t>
            </a:r>
            <a:r>
              <a:rPr lang="en-IN" sz="1200" dirty="0"/>
              <a:t>))</a:t>
            </a:r>
          </a:p>
          <a:p>
            <a:r>
              <a:rPr lang="en-IN" sz="1200" dirty="0"/>
              <a:t>          .build();</a:t>
            </a:r>
          </a:p>
          <a:p>
            <a:r>
              <a:rPr lang="en-IN" sz="1200" dirty="0"/>
              <a:t>    }</a:t>
            </a:r>
          </a:p>
          <a:p>
            <a:endParaRPr lang="en-IN" sz="1200" dirty="0"/>
          </a:p>
          <a:p>
            <a:r>
              <a:rPr lang="en-IN" sz="1200" dirty="0"/>
              <a:t>    // ...</a:t>
            </a:r>
          </a:p>
          <a:p>
            <a:endParaRPr lang="en-IN" sz="1200" dirty="0"/>
          </a:p>
          <a:p>
            <a:r>
              <a:rPr lang="en-IN" sz="1200" dirty="0"/>
              <a:t>}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C7F364-6F3D-8478-AF53-4DC53E8D8143}"/>
              </a:ext>
            </a:extLst>
          </p:cNvPr>
          <p:cNvSpPr txBox="1"/>
          <p:nvPr/>
        </p:nvSpPr>
        <p:spPr>
          <a:xfrm>
            <a:off x="6096000" y="721229"/>
            <a:ext cx="478465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Chunks</a:t>
            </a:r>
            <a:r>
              <a:rPr lang="en-US" dirty="0"/>
              <a:t> performs actions over portion of data</a:t>
            </a:r>
          </a:p>
          <a:p>
            <a:endParaRPr lang="en-US" dirty="0"/>
          </a:p>
          <a:p>
            <a:endParaRPr lang="en-US" dirty="0"/>
          </a:p>
          <a:p>
            <a:r>
              <a:rPr lang="en-IN" sz="1200" dirty="0"/>
              <a:t>@Configuration</a:t>
            </a:r>
          </a:p>
          <a:p>
            <a:r>
              <a:rPr lang="en-IN" sz="1200" dirty="0"/>
              <a:t>public class </a:t>
            </a:r>
            <a:r>
              <a:rPr lang="en-IN" sz="1200" dirty="0" err="1"/>
              <a:t>ChunksConfig</a:t>
            </a:r>
            <a:r>
              <a:rPr lang="en-IN" sz="1200" dirty="0"/>
              <a:t> {</a:t>
            </a:r>
          </a:p>
          <a:p>
            <a:endParaRPr lang="en-IN" sz="1200" dirty="0"/>
          </a:p>
          <a:p>
            <a:r>
              <a:rPr lang="en-IN" sz="1200" dirty="0"/>
              <a:t>@Bean</a:t>
            </a:r>
          </a:p>
          <a:p>
            <a:r>
              <a:rPr lang="en-IN" sz="1200" dirty="0"/>
              <a:t>protected Step </a:t>
            </a:r>
            <a:r>
              <a:rPr lang="en-IN" sz="1200" b="1" dirty="0" err="1"/>
              <a:t>processLines</a:t>
            </a:r>
            <a:r>
              <a:rPr lang="en-IN" sz="1200" dirty="0"/>
              <a:t>(</a:t>
            </a:r>
            <a:r>
              <a:rPr lang="en-IN" sz="1200" dirty="0" err="1"/>
              <a:t>JobRepository</a:t>
            </a:r>
            <a:r>
              <a:rPr lang="en-IN" sz="1200" dirty="0"/>
              <a:t> </a:t>
            </a:r>
            <a:r>
              <a:rPr lang="en-IN" sz="1200" dirty="0" err="1"/>
              <a:t>jobRepository</a:t>
            </a:r>
            <a:r>
              <a:rPr lang="en-IN" sz="1200" dirty="0"/>
              <a:t>, </a:t>
            </a:r>
            <a:r>
              <a:rPr lang="en-IN" sz="1200" dirty="0" err="1"/>
              <a:t>PlatformTransactionManager</a:t>
            </a:r>
            <a:r>
              <a:rPr lang="en-IN" sz="1200" dirty="0"/>
              <a:t> </a:t>
            </a:r>
            <a:r>
              <a:rPr lang="en-IN" sz="1200" dirty="0" err="1"/>
              <a:t>transactionManager</a:t>
            </a:r>
            <a:r>
              <a:rPr lang="en-IN" sz="1200" dirty="0"/>
              <a:t>, </a:t>
            </a:r>
          </a:p>
          <a:p>
            <a:r>
              <a:rPr lang="en-IN" sz="1200" dirty="0" err="1"/>
              <a:t>ItemReader</a:t>
            </a:r>
            <a:r>
              <a:rPr lang="en-IN" sz="1200" dirty="0"/>
              <a:t>&lt;Line&gt; reader,</a:t>
            </a:r>
          </a:p>
          <a:p>
            <a:r>
              <a:rPr lang="en-IN" sz="1200" dirty="0" err="1"/>
              <a:t>ItemProcessor</a:t>
            </a:r>
            <a:r>
              <a:rPr lang="en-IN" sz="1200" dirty="0"/>
              <a:t>&lt;Line, Line&gt; processor, </a:t>
            </a:r>
            <a:r>
              <a:rPr lang="en-IN" sz="1200" dirty="0" err="1"/>
              <a:t>ItemWriter</a:t>
            </a:r>
            <a:r>
              <a:rPr lang="en-IN" sz="1200" dirty="0"/>
              <a:t>&lt;Line&gt; writer)</a:t>
            </a:r>
          </a:p>
          <a:p>
            <a:r>
              <a:rPr lang="en-IN" sz="1200" dirty="0"/>
              <a:t>{</a:t>
            </a:r>
          </a:p>
          <a:p>
            <a:r>
              <a:rPr lang="en-IN" sz="1200" dirty="0"/>
              <a:t>        return new </a:t>
            </a:r>
            <a:r>
              <a:rPr lang="en-IN" sz="1200" dirty="0" err="1"/>
              <a:t>StepBuilder</a:t>
            </a:r>
            <a:r>
              <a:rPr lang="en-IN" sz="1200" dirty="0"/>
              <a:t>("</a:t>
            </a:r>
            <a:r>
              <a:rPr lang="en-IN" sz="1200" dirty="0" err="1"/>
              <a:t>processLines</a:t>
            </a:r>
            <a:r>
              <a:rPr lang="en-IN" sz="1200" dirty="0"/>
              <a:t>", </a:t>
            </a:r>
            <a:r>
              <a:rPr lang="en-IN" sz="1200" dirty="0" err="1"/>
              <a:t>jobRepository</a:t>
            </a:r>
            <a:r>
              <a:rPr lang="en-IN" sz="1200" dirty="0"/>
              <a:t>).&lt;Line, Line&gt;   </a:t>
            </a:r>
            <a:r>
              <a:rPr lang="en-IN" sz="1200" dirty="0">
                <a:highlight>
                  <a:srgbClr val="FFFF00"/>
                </a:highlight>
              </a:rPr>
              <a:t>chunk(2</a:t>
            </a:r>
            <a:r>
              <a:rPr lang="en-IN" sz="1200" dirty="0"/>
              <a:t>, </a:t>
            </a:r>
            <a:r>
              <a:rPr lang="en-IN" sz="1200" dirty="0" err="1"/>
              <a:t>transactionManager</a:t>
            </a:r>
            <a:r>
              <a:rPr lang="en-IN" sz="1200" dirty="0"/>
              <a:t>)</a:t>
            </a:r>
          </a:p>
          <a:p>
            <a:r>
              <a:rPr lang="en-IN" sz="1200" dirty="0"/>
              <a:t>          .reader(reader)</a:t>
            </a:r>
          </a:p>
          <a:p>
            <a:r>
              <a:rPr lang="en-IN" sz="1200" dirty="0"/>
              <a:t>          .processor(processor)</a:t>
            </a:r>
          </a:p>
          <a:p>
            <a:r>
              <a:rPr lang="en-IN" sz="1200" dirty="0"/>
              <a:t>          .writer(writer)</a:t>
            </a:r>
          </a:p>
          <a:p>
            <a:r>
              <a:rPr lang="en-IN" sz="1200" dirty="0"/>
              <a:t>          .build();</a:t>
            </a:r>
          </a:p>
          <a:p>
            <a:r>
              <a:rPr lang="en-IN" sz="1200" dirty="0"/>
              <a:t>    }</a:t>
            </a:r>
          </a:p>
          <a:p>
            <a:endParaRPr lang="en-IN" sz="1200" dirty="0"/>
          </a:p>
          <a:p>
            <a:r>
              <a:rPr lang="en-IN" sz="1200" dirty="0"/>
              <a:t>    @Bean</a:t>
            </a:r>
          </a:p>
          <a:p>
            <a:r>
              <a:rPr lang="en-IN" sz="1200" dirty="0"/>
              <a:t>    public Job job(</a:t>
            </a:r>
            <a:r>
              <a:rPr lang="en-IN" sz="1200" dirty="0" err="1"/>
              <a:t>JobRepository</a:t>
            </a:r>
            <a:r>
              <a:rPr lang="en-IN" sz="1200" dirty="0"/>
              <a:t> </a:t>
            </a:r>
            <a:r>
              <a:rPr lang="en-IN" sz="1200" dirty="0" err="1"/>
              <a:t>jobRepository</a:t>
            </a:r>
            <a:r>
              <a:rPr lang="en-IN" sz="1200" dirty="0"/>
              <a:t>, </a:t>
            </a:r>
            <a:r>
              <a:rPr lang="en-IN" sz="1200" dirty="0" err="1"/>
              <a:t>PlatformTransactionManager</a:t>
            </a:r>
            <a:r>
              <a:rPr lang="en-IN" sz="1200" dirty="0"/>
              <a:t> </a:t>
            </a:r>
            <a:r>
              <a:rPr lang="en-IN" sz="1200" dirty="0" err="1"/>
              <a:t>transactionManager</a:t>
            </a:r>
            <a:r>
              <a:rPr lang="en-IN" sz="1200" dirty="0"/>
              <a:t>) {</a:t>
            </a:r>
          </a:p>
          <a:p>
            <a:r>
              <a:rPr lang="en-IN" sz="1200" dirty="0"/>
              <a:t>        return new </a:t>
            </a:r>
            <a:r>
              <a:rPr lang="en-IN" sz="1200" dirty="0" err="1"/>
              <a:t>JobBuilder</a:t>
            </a:r>
            <a:r>
              <a:rPr lang="en-IN" sz="1200" dirty="0"/>
              <a:t>("</a:t>
            </a:r>
            <a:r>
              <a:rPr lang="en-IN" sz="1200" dirty="0" err="1"/>
              <a:t>chunksJob</a:t>
            </a:r>
            <a:r>
              <a:rPr lang="en-IN" sz="1200" dirty="0"/>
              <a:t>", </a:t>
            </a:r>
            <a:r>
              <a:rPr lang="en-IN" sz="1200" dirty="0" err="1"/>
              <a:t>jobRepository</a:t>
            </a:r>
            <a:r>
              <a:rPr lang="en-IN" sz="1200" dirty="0"/>
              <a:t>)</a:t>
            </a:r>
          </a:p>
          <a:p>
            <a:r>
              <a:rPr lang="en-IN" sz="1200" dirty="0"/>
              <a:t>          .start(</a:t>
            </a:r>
            <a:r>
              <a:rPr lang="en-IN" sz="1200" b="1" dirty="0" err="1"/>
              <a:t>processLines</a:t>
            </a:r>
            <a:r>
              <a:rPr lang="en-IN" sz="1200" dirty="0"/>
              <a:t>(</a:t>
            </a:r>
            <a:r>
              <a:rPr lang="en-IN" sz="1200" dirty="0" err="1"/>
              <a:t>jobRepository</a:t>
            </a:r>
            <a:r>
              <a:rPr lang="en-IN" sz="1200" dirty="0"/>
              <a:t>, </a:t>
            </a:r>
            <a:r>
              <a:rPr lang="en-IN" sz="1200" dirty="0" err="1"/>
              <a:t>transactionManager</a:t>
            </a:r>
            <a:r>
              <a:rPr lang="en-IN" sz="1200" dirty="0"/>
              <a:t>, </a:t>
            </a:r>
            <a:r>
              <a:rPr lang="en-IN" sz="1200" dirty="0" err="1"/>
              <a:t>itemReader</a:t>
            </a:r>
            <a:r>
              <a:rPr lang="en-IN" sz="1200" dirty="0"/>
              <a:t>(), </a:t>
            </a:r>
            <a:r>
              <a:rPr lang="en-IN" sz="1200" dirty="0" err="1"/>
              <a:t>itemProcessor</a:t>
            </a:r>
            <a:r>
              <a:rPr lang="en-IN" sz="1200" dirty="0"/>
              <a:t>(), </a:t>
            </a:r>
            <a:r>
              <a:rPr lang="en-IN" sz="1200" dirty="0" err="1"/>
              <a:t>itemWriter</a:t>
            </a:r>
            <a:r>
              <a:rPr lang="en-IN" sz="1200" dirty="0"/>
              <a:t>()))</a:t>
            </a:r>
          </a:p>
          <a:p>
            <a:r>
              <a:rPr lang="en-IN" sz="1200" dirty="0"/>
              <a:t>          .build();</a:t>
            </a:r>
          </a:p>
          <a:p>
            <a:r>
              <a:rPr lang="en-IN" sz="1200" dirty="0"/>
              <a:t>    }</a:t>
            </a:r>
          </a:p>
          <a:p>
            <a:endParaRPr lang="en-IN" sz="1200" dirty="0"/>
          </a:p>
          <a:p>
            <a:r>
              <a:rPr lang="en-IN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7003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4E1D2-CE29-0DB7-979E-83FB2AF68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74D227-2918-9160-F593-154346083C9B}"/>
              </a:ext>
            </a:extLst>
          </p:cNvPr>
          <p:cNvSpPr txBox="1"/>
          <p:nvPr/>
        </p:nvSpPr>
        <p:spPr>
          <a:xfrm>
            <a:off x="968828" y="1587864"/>
            <a:ext cx="88936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https://spring.io/projects/spring-batch#overview</a:t>
            </a:r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dirty="0">
                <a:hlinkClick r:id="rId3"/>
              </a:rPr>
              <a:t>https://www.baeldung.com/introduction-to-spring-batch</a:t>
            </a:r>
            <a:r>
              <a:rPr lang="en-IN" dirty="0"/>
              <a:t>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2507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827</Words>
  <Application>Microsoft Office PowerPoint</Application>
  <PresentationFormat>Widescreen</PresentationFormat>
  <Paragraphs>110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-apple-system</vt:lpstr>
      <vt:lpstr>Arial</vt:lpstr>
      <vt:lpstr>Calibri</vt:lpstr>
      <vt:lpstr>Calibri Light</vt:lpstr>
      <vt:lpstr>Office Theme</vt:lpstr>
      <vt:lpstr>Spring Batch</vt:lpstr>
      <vt:lpstr>What is Batch Processing</vt:lpstr>
      <vt:lpstr>Spring Batch</vt:lpstr>
      <vt:lpstr>Spring Batch Components</vt:lpstr>
      <vt:lpstr>Scaling and Parallel Processing in Spring Batch</vt:lpstr>
      <vt:lpstr>Chunk vs Tasklet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Batch</dc:title>
  <dc:creator>Urmisha Sengupta</dc:creator>
  <cp:lastModifiedBy>Urmisha Sengupta</cp:lastModifiedBy>
  <cp:revision>44</cp:revision>
  <dcterms:created xsi:type="dcterms:W3CDTF">2023-11-08T08:16:57Z</dcterms:created>
  <dcterms:modified xsi:type="dcterms:W3CDTF">2023-11-08T09:34:00Z</dcterms:modified>
</cp:coreProperties>
</file>