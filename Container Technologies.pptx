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60" r:id="rId3"/>
    <p:sldId id="261" r:id="rId4"/>
    <p:sldId id="262" r:id="rId5"/>
    <p:sldId id="263" r:id="rId6"/>
    <p:sldId id="264" r:id="rId7"/>
    <p:sldId id="268" r:id="rId8"/>
    <p:sldId id="270" r:id="rId9"/>
    <p:sldId id="269" r:id="rId10"/>
    <p:sldId id="271" r:id="rId11"/>
    <p:sldId id="272" r:id="rId12"/>
    <p:sldId id="273" r:id="rId13"/>
    <p:sldId id="274" r:id="rId14"/>
    <p:sldId id="275" r:id="rId15"/>
    <p:sldId id="276" r:id="rId16"/>
    <p:sldId id="265" r:id="rId17"/>
    <p:sldId id="266" r:id="rId18"/>
    <p:sldId id="267" r:id="rId19"/>
    <p:sldId id="259"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9" d="100"/>
          <a:sy n="59" d="100"/>
        </p:scale>
        <p:origin x="940"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89E4-2104-1921-823D-AC3026ACEE5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46F11176-2C5D-24A9-8EBF-54F98896FBA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D3E4D1D0-5818-9CC2-663A-0CE907F42E9D}"/>
              </a:ext>
            </a:extLst>
          </p:cNvPr>
          <p:cNvSpPr>
            <a:spLocks noGrp="1"/>
          </p:cNvSpPr>
          <p:nvPr>
            <p:ph type="dt" sz="half" idx="10"/>
          </p:nvPr>
        </p:nvSpPr>
        <p:spPr/>
        <p:txBody>
          <a:bodyPr/>
          <a:lstStyle/>
          <a:p>
            <a:fld id="{0E34E9A3-28F9-49BC-BC4E-5AF907695DF0}" type="datetimeFigureOut">
              <a:rPr lang="en-IN" smtClean="0"/>
              <a:t>07-08-2025</a:t>
            </a:fld>
            <a:endParaRPr lang="en-IN"/>
          </a:p>
        </p:txBody>
      </p:sp>
      <p:sp>
        <p:nvSpPr>
          <p:cNvPr id="5" name="Footer Placeholder 4">
            <a:extLst>
              <a:ext uri="{FF2B5EF4-FFF2-40B4-BE49-F238E27FC236}">
                <a16:creationId xmlns:a16="http://schemas.microsoft.com/office/drawing/2014/main" id="{4E853B84-F1C3-5C6A-F606-9E69C80D8A2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583230B-AD00-5384-C238-B04DA8A3FFA2}"/>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14769204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F12B62-4EDF-9B6F-8599-1CB0491DE3AD}"/>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F2CC2ED8-47B1-87C3-802F-E80DBFC6F25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25A469B-D573-F066-2FDA-96AF6515357F}"/>
              </a:ext>
            </a:extLst>
          </p:cNvPr>
          <p:cNvSpPr>
            <a:spLocks noGrp="1"/>
          </p:cNvSpPr>
          <p:nvPr>
            <p:ph type="dt" sz="half" idx="10"/>
          </p:nvPr>
        </p:nvSpPr>
        <p:spPr/>
        <p:txBody>
          <a:bodyPr/>
          <a:lstStyle/>
          <a:p>
            <a:fld id="{0E34E9A3-28F9-49BC-BC4E-5AF907695DF0}" type="datetimeFigureOut">
              <a:rPr lang="en-IN" smtClean="0"/>
              <a:t>07-08-2025</a:t>
            </a:fld>
            <a:endParaRPr lang="en-IN"/>
          </a:p>
        </p:txBody>
      </p:sp>
      <p:sp>
        <p:nvSpPr>
          <p:cNvPr id="5" name="Footer Placeholder 4">
            <a:extLst>
              <a:ext uri="{FF2B5EF4-FFF2-40B4-BE49-F238E27FC236}">
                <a16:creationId xmlns:a16="http://schemas.microsoft.com/office/drawing/2014/main" id="{18A745E2-D6EB-363D-C94B-887ECCF3B76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98BD52D-E346-8703-087C-A25D3C3B51D6}"/>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1209741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41046B-7B2A-A54A-CBC0-1DD7DB68924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95F30C1-9140-CAD6-AF64-0C8996A9E6B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DCD5ADB-38D0-875D-FB2D-2DEA8558E88B}"/>
              </a:ext>
            </a:extLst>
          </p:cNvPr>
          <p:cNvSpPr>
            <a:spLocks noGrp="1"/>
          </p:cNvSpPr>
          <p:nvPr>
            <p:ph type="dt" sz="half" idx="10"/>
          </p:nvPr>
        </p:nvSpPr>
        <p:spPr/>
        <p:txBody>
          <a:bodyPr/>
          <a:lstStyle/>
          <a:p>
            <a:fld id="{0E34E9A3-28F9-49BC-BC4E-5AF907695DF0}" type="datetimeFigureOut">
              <a:rPr lang="en-IN" smtClean="0"/>
              <a:t>07-08-2025</a:t>
            </a:fld>
            <a:endParaRPr lang="en-IN"/>
          </a:p>
        </p:txBody>
      </p:sp>
      <p:sp>
        <p:nvSpPr>
          <p:cNvPr id="5" name="Footer Placeholder 4">
            <a:extLst>
              <a:ext uri="{FF2B5EF4-FFF2-40B4-BE49-F238E27FC236}">
                <a16:creationId xmlns:a16="http://schemas.microsoft.com/office/drawing/2014/main" id="{67FD8D49-6B3A-99A1-7E23-35DD8FE5CA3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1DC6997-C32F-E5B9-9487-013D031AFFCD}"/>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2515971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4B12E9-B73D-D42C-2CF5-307C3B39CF1C}"/>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0167D77A-AF8C-5685-F72D-9D8A6FBA83B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7DF870A8-A9F9-3C3B-54D6-0639DBBC0A0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FF5ADDAE-D00E-8691-AFA6-C50721F961AC}"/>
              </a:ext>
            </a:extLst>
          </p:cNvPr>
          <p:cNvSpPr>
            <a:spLocks noGrp="1"/>
          </p:cNvSpPr>
          <p:nvPr>
            <p:ph type="dt" sz="half" idx="10"/>
          </p:nvPr>
        </p:nvSpPr>
        <p:spPr/>
        <p:txBody>
          <a:bodyPr/>
          <a:lstStyle/>
          <a:p>
            <a:fld id="{0E34E9A3-28F9-49BC-BC4E-5AF907695DF0}" type="datetimeFigureOut">
              <a:rPr lang="en-IN" smtClean="0"/>
              <a:t>07-08-2025</a:t>
            </a:fld>
            <a:endParaRPr lang="en-IN"/>
          </a:p>
        </p:txBody>
      </p:sp>
      <p:sp>
        <p:nvSpPr>
          <p:cNvPr id="6" name="Footer Placeholder 5">
            <a:extLst>
              <a:ext uri="{FF2B5EF4-FFF2-40B4-BE49-F238E27FC236}">
                <a16:creationId xmlns:a16="http://schemas.microsoft.com/office/drawing/2014/main" id="{F730869E-C2B1-9595-2500-BB18B269F5F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BCA5D246-1E7D-9AA8-2650-96F595FD3FC1}"/>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41224609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E7750-C92C-9044-C4E4-604F5F37787A}"/>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699D49FC-8621-7B61-3C74-47CEF8BC9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E41761C-E951-F7A4-6F01-9BD3DE0F274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F0B8CF62-B3FF-FCB5-E59B-AFFBB4C4E96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D1D4F31-3169-0D3E-625C-F37F8076146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EDFF619-E153-B389-7608-AD2FEAAF10AB}"/>
              </a:ext>
            </a:extLst>
          </p:cNvPr>
          <p:cNvSpPr>
            <a:spLocks noGrp="1"/>
          </p:cNvSpPr>
          <p:nvPr>
            <p:ph type="dt" sz="half" idx="10"/>
          </p:nvPr>
        </p:nvSpPr>
        <p:spPr/>
        <p:txBody>
          <a:bodyPr/>
          <a:lstStyle/>
          <a:p>
            <a:fld id="{0E34E9A3-28F9-49BC-BC4E-5AF907695DF0}" type="datetimeFigureOut">
              <a:rPr lang="en-IN" smtClean="0"/>
              <a:t>07-08-2025</a:t>
            </a:fld>
            <a:endParaRPr lang="en-IN"/>
          </a:p>
        </p:txBody>
      </p:sp>
      <p:sp>
        <p:nvSpPr>
          <p:cNvPr id="8" name="Footer Placeholder 7">
            <a:extLst>
              <a:ext uri="{FF2B5EF4-FFF2-40B4-BE49-F238E27FC236}">
                <a16:creationId xmlns:a16="http://schemas.microsoft.com/office/drawing/2014/main" id="{EC42CF25-73D3-86C6-9357-559841B582B6}"/>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28244963-CB20-2ADC-8EAE-DC52D008E569}"/>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9753510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651BF2-B346-373B-053F-62F9A0BA93B7}"/>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3712B2F7-E0A9-3230-E08B-D53837E42079}"/>
              </a:ext>
            </a:extLst>
          </p:cNvPr>
          <p:cNvSpPr>
            <a:spLocks noGrp="1"/>
          </p:cNvSpPr>
          <p:nvPr>
            <p:ph type="dt" sz="half" idx="10"/>
          </p:nvPr>
        </p:nvSpPr>
        <p:spPr/>
        <p:txBody>
          <a:bodyPr/>
          <a:lstStyle/>
          <a:p>
            <a:fld id="{0E34E9A3-28F9-49BC-BC4E-5AF907695DF0}" type="datetimeFigureOut">
              <a:rPr lang="en-IN" smtClean="0"/>
              <a:t>07-08-2025</a:t>
            </a:fld>
            <a:endParaRPr lang="en-IN"/>
          </a:p>
        </p:txBody>
      </p:sp>
      <p:sp>
        <p:nvSpPr>
          <p:cNvPr id="4" name="Footer Placeholder 3">
            <a:extLst>
              <a:ext uri="{FF2B5EF4-FFF2-40B4-BE49-F238E27FC236}">
                <a16:creationId xmlns:a16="http://schemas.microsoft.com/office/drawing/2014/main" id="{BE2A8423-6007-5AE8-9779-BFBB799792A9}"/>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B1B42251-C7D2-5236-48F3-0B8A8FB96290}"/>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27149338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91746B6-1CA6-262A-2E86-91D256CBA7FD}"/>
              </a:ext>
            </a:extLst>
          </p:cNvPr>
          <p:cNvSpPr>
            <a:spLocks noGrp="1"/>
          </p:cNvSpPr>
          <p:nvPr>
            <p:ph type="dt" sz="half" idx="10"/>
          </p:nvPr>
        </p:nvSpPr>
        <p:spPr/>
        <p:txBody>
          <a:bodyPr/>
          <a:lstStyle/>
          <a:p>
            <a:fld id="{0E34E9A3-28F9-49BC-BC4E-5AF907695DF0}" type="datetimeFigureOut">
              <a:rPr lang="en-IN" smtClean="0"/>
              <a:t>07-08-2025</a:t>
            </a:fld>
            <a:endParaRPr lang="en-IN"/>
          </a:p>
        </p:txBody>
      </p:sp>
      <p:sp>
        <p:nvSpPr>
          <p:cNvPr id="3" name="Footer Placeholder 2">
            <a:extLst>
              <a:ext uri="{FF2B5EF4-FFF2-40B4-BE49-F238E27FC236}">
                <a16:creationId xmlns:a16="http://schemas.microsoft.com/office/drawing/2014/main" id="{EB5301E5-9CE9-0B19-E34B-E8DDEC43181E}"/>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53BA50AB-112D-907F-4EBD-AD2E4E807835}"/>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7254661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21F315-A33B-A1F4-4BC5-B26A25BD60C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CADE3386-A512-A7FA-C9A0-7257B2C9557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B540B035-CD14-41E0-7559-E10D0D647E5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3B9915F-AB45-451C-5932-1C50FC74316F}"/>
              </a:ext>
            </a:extLst>
          </p:cNvPr>
          <p:cNvSpPr>
            <a:spLocks noGrp="1"/>
          </p:cNvSpPr>
          <p:nvPr>
            <p:ph type="dt" sz="half" idx="10"/>
          </p:nvPr>
        </p:nvSpPr>
        <p:spPr/>
        <p:txBody>
          <a:bodyPr/>
          <a:lstStyle/>
          <a:p>
            <a:fld id="{0E34E9A3-28F9-49BC-BC4E-5AF907695DF0}" type="datetimeFigureOut">
              <a:rPr lang="en-IN" smtClean="0"/>
              <a:t>07-08-2025</a:t>
            </a:fld>
            <a:endParaRPr lang="en-IN"/>
          </a:p>
        </p:txBody>
      </p:sp>
      <p:sp>
        <p:nvSpPr>
          <p:cNvPr id="6" name="Footer Placeholder 5">
            <a:extLst>
              <a:ext uri="{FF2B5EF4-FFF2-40B4-BE49-F238E27FC236}">
                <a16:creationId xmlns:a16="http://schemas.microsoft.com/office/drawing/2014/main" id="{E484608B-D5E3-1D9F-411F-0C49FD5A24B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FEEBE781-78C8-099C-F319-74B20A7C473F}"/>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25994425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198403-1E03-B531-C0A1-4573443A923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9AEE27AA-15F8-57DC-B14F-34DE3B847C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15D1E71E-6108-7040-E786-E5CEDCFAA12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26E27A-9574-1814-DDBC-5FF76105C565}"/>
              </a:ext>
            </a:extLst>
          </p:cNvPr>
          <p:cNvSpPr>
            <a:spLocks noGrp="1"/>
          </p:cNvSpPr>
          <p:nvPr>
            <p:ph type="dt" sz="half" idx="10"/>
          </p:nvPr>
        </p:nvSpPr>
        <p:spPr/>
        <p:txBody>
          <a:bodyPr/>
          <a:lstStyle/>
          <a:p>
            <a:fld id="{0E34E9A3-28F9-49BC-BC4E-5AF907695DF0}" type="datetimeFigureOut">
              <a:rPr lang="en-IN" smtClean="0"/>
              <a:t>07-08-2025</a:t>
            </a:fld>
            <a:endParaRPr lang="en-IN"/>
          </a:p>
        </p:txBody>
      </p:sp>
      <p:sp>
        <p:nvSpPr>
          <p:cNvPr id="6" name="Footer Placeholder 5">
            <a:extLst>
              <a:ext uri="{FF2B5EF4-FFF2-40B4-BE49-F238E27FC236}">
                <a16:creationId xmlns:a16="http://schemas.microsoft.com/office/drawing/2014/main" id="{F332A4C6-C89C-9D9B-FE9C-9CC24F96C60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B2E488C-3239-B881-D243-DAF33B43BBB6}"/>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21123056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807181-81A9-F27C-ED69-F85C0158F6DB}"/>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009DB9C2-6209-5684-EDC0-B385AB7CC34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6A4407A-4D72-3859-4176-C26504057A7F}"/>
              </a:ext>
            </a:extLst>
          </p:cNvPr>
          <p:cNvSpPr>
            <a:spLocks noGrp="1"/>
          </p:cNvSpPr>
          <p:nvPr>
            <p:ph type="dt" sz="half" idx="10"/>
          </p:nvPr>
        </p:nvSpPr>
        <p:spPr/>
        <p:txBody>
          <a:bodyPr/>
          <a:lstStyle/>
          <a:p>
            <a:fld id="{0E34E9A3-28F9-49BC-BC4E-5AF907695DF0}" type="datetimeFigureOut">
              <a:rPr lang="en-IN" smtClean="0"/>
              <a:t>07-08-2025</a:t>
            </a:fld>
            <a:endParaRPr lang="en-IN"/>
          </a:p>
        </p:txBody>
      </p:sp>
      <p:sp>
        <p:nvSpPr>
          <p:cNvPr id="5" name="Footer Placeholder 4">
            <a:extLst>
              <a:ext uri="{FF2B5EF4-FFF2-40B4-BE49-F238E27FC236}">
                <a16:creationId xmlns:a16="http://schemas.microsoft.com/office/drawing/2014/main" id="{D7F65E7B-8ABA-CC93-6A88-F75E084A5FE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CE27826-A6CC-213C-A211-6198EEF95958}"/>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26196849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4C8B64E-EDC8-48DF-094E-9788DA62597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EB717F2E-BFF1-3DF8-F442-A0C9ECCD922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71D1607-07BD-4C30-26D3-DC7C67DB6900}"/>
              </a:ext>
            </a:extLst>
          </p:cNvPr>
          <p:cNvSpPr>
            <a:spLocks noGrp="1"/>
          </p:cNvSpPr>
          <p:nvPr>
            <p:ph type="dt" sz="half" idx="10"/>
          </p:nvPr>
        </p:nvSpPr>
        <p:spPr/>
        <p:txBody>
          <a:bodyPr/>
          <a:lstStyle/>
          <a:p>
            <a:fld id="{0E34E9A3-28F9-49BC-BC4E-5AF907695DF0}" type="datetimeFigureOut">
              <a:rPr lang="en-IN" smtClean="0"/>
              <a:t>07-08-2025</a:t>
            </a:fld>
            <a:endParaRPr lang="en-IN"/>
          </a:p>
        </p:txBody>
      </p:sp>
      <p:sp>
        <p:nvSpPr>
          <p:cNvPr id="5" name="Footer Placeholder 4">
            <a:extLst>
              <a:ext uri="{FF2B5EF4-FFF2-40B4-BE49-F238E27FC236}">
                <a16:creationId xmlns:a16="http://schemas.microsoft.com/office/drawing/2014/main" id="{A6146BFE-F767-CE2E-7626-39E94066C77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FFC155C-7B53-3B2B-F6F5-2DD0FD9BD1E6}"/>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22784564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E3A877B-AFF5-240D-E470-0EFAD09EDC9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86735AC-794F-678D-E9E1-794B856C2D5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5798563-6726-1218-0DA4-07366339C2C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E34E9A3-28F9-49BC-BC4E-5AF907695DF0}" type="datetimeFigureOut">
              <a:rPr lang="en-IN" smtClean="0"/>
              <a:t>07-08-2025</a:t>
            </a:fld>
            <a:endParaRPr lang="en-IN"/>
          </a:p>
        </p:txBody>
      </p:sp>
      <p:sp>
        <p:nvSpPr>
          <p:cNvPr id="5" name="Footer Placeholder 4">
            <a:extLst>
              <a:ext uri="{FF2B5EF4-FFF2-40B4-BE49-F238E27FC236}">
                <a16:creationId xmlns:a16="http://schemas.microsoft.com/office/drawing/2014/main" id="{E58D7A5E-6DC1-5E4C-0CDA-55A945AC778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97BE6E00-F775-3604-A730-ED158FF22B5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9301A43-696E-4BD5-A180-5DD26F3899E1}" type="slidenum">
              <a:rPr lang="en-IN" smtClean="0"/>
              <a:t>‹#›</a:t>
            </a:fld>
            <a:endParaRPr lang="en-IN"/>
          </a:p>
        </p:txBody>
      </p:sp>
    </p:spTree>
    <p:extLst>
      <p:ext uri="{BB962C8B-B14F-4D97-AF65-F5344CB8AC3E}">
        <p14:creationId xmlns:p14="http://schemas.microsoft.com/office/powerpoint/2010/main" val="323454551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6.xml"/><Relationship Id="rId4" Type="http://schemas.openxmlformats.org/officeDocument/2006/relationships/hyperlink" Target="https://www.youtube.com/watch?v=DQk8HOVlumI"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en.wikipedia.org/wiki/Service-oriented_architecture" TargetMode="External"/><Relationship Id="rId2" Type="http://schemas.openxmlformats.org/officeDocument/2006/relationships/hyperlink" Target="https://en.wikipedia.org/wiki/Software_architecture" TargetMode="External"/><Relationship Id="rId1" Type="http://schemas.openxmlformats.org/officeDocument/2006/relationships/slideLayout" Target="../slideLayouts/slideLayout6.xml"/><Relationship Id="rId6" Type="http://schemas.openxmlformats.org/officeDocument/2006/relationships/hyperlink" Target="https://aws.amazon.com/what-is/service-mesh/" TargetMode="External"/><Relationship Id="rId5" Type="http://schemas.openxmlformats.org/officeDocument/2006/relationships/hyperlink" Target="https://en.wikipedia.org/wiki/Proxy_pattern" TargetMode="External"/><Relationship Id="rId4" Type="http://schemas.openxmlformats.org/officeDocument/2006/relationships/hyperlink" Target="https://en.wikipedia.org/wiki/Microservices"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www.youtube.com/watch?v=voAyroDb6xk" TargetMode="External"/><Relationship Id="rId2" Type="http://schemas.openxmlformats.org/officeDocument/2006/relationships/hyperlink" Target="https://www.youtube.com/watch?v=16fgzklcF7Y" TargetMode="Externa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hyperlink" Target="https://www.google.com/search?rlz=1C1CHBF_enIN1028IN1028&amp;cs=1&amp;sca_esv=d5e847b1dc31b2cb&amp;sxsrf=AE3TifNsvPTdrcCB1h9Y62nPh7HZLyftpQ%3A1754410079331&amp;q=VirtualService&amp;sa=X&amp;ved=2ahUKEwiIk7rshvSOAxUVVmwGHVWKIfMQxccNegQIDBAB&amp;mstk=AUtExfATrlDP3YUX9feZ3WrZdo_oCG6iOFXSfBEg1_2Lx-zjwX54eO27pppAqJOCeovgk5WXTcNlCGvdLE5GMt8l7vCJXI39WeOozdeYcNnwOjBP1NOvEKnpxtWMiLBcHxTM0k3vt0JoVx1g8jR9WdpnPHVwninvJFo5LLE7jHj_LqU6hbw&amp;csui=3" TargetMode="External"/><Relationship Id="rId2" Type="http://schemas.openxmlformats.org/officeDocument/2006/relationships/image" Target="../media/image12.png"/><Relationship Id="rId1" Type="http://schemas.openxmlformats.org/officeDocument/2006/relationships/slideLayout" Target="../slideLayouts/slideLayout6.xml"/><Relationship Id="rId4" Type="http://schemas.openxmlformats.org/officeDocument/2006/relationships/hyperlink" Target="https://www.google.com/search?rlz=1C1CHBF_enIN1028IN1028&amp;cs=1&amp;sca_esv=d5e847b1dc31b2cb&amp;sxsrf=AE3TifNsvPTdrcCB1h9Y62nPh7HZLyftpQ%3A1754410079331&amp;q=DestinationRule&amp;sa=X&amp;ved=2ahUKEwiIk7rshvSOAxUVVmwGHVWKIfMQxccNegQIHhAB&amp;mstk=AUtExfATrlDP3YUX9feZ3WrZdo_oCG6iOFXSfBEg1_2Lx-zjwX54eO27pppAqJOCeovgk5WXTcNlCGvdLE5GMt8l7vCJXI39WeOozdeYcNnwOjBP1NOvEKnpxtWMiLBcHxTM0k3vt0JoVx1g8jR9WdpnPHVwninvJFo5LLE7jHj_LqU6hbw&amp;csui=3"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hyperlink" Target="https://www.devopsschool.com/blog/amazon-elastic-kubernetes-service-amazon-eks-architecture-explained-with-diagram/" TargetMode="External"/><Relationship Id="rId2" Type="http://schemas.openxmlformats.org/officeDocument/2006/relationships/hyperlink" Target="https://katharharshal1.medium.com/kubernetes-objects-pods-replicasets-and-deployments-44f16b38d9f7" TargetMode="External"/><Relationship Id="rId1" Type="http://schemas.openxmlformats.org/officeDocument/2006/relationships/slideLayout" Target="../slideLayouts/slideLayout6.xml"/><Relationship Id="rId4" Type="http://schemas.openxmlformats.org/officeDocument/2006/relationships/hyperlink" Target="https://bluexp.netapp.com/blog/aws-cvo-blg-aws-ecs-in-depth-architecture-and-deployment-option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5B7658-E015-FBDC-676B-0124326B05E1}"/>
              </a:ext>
            </a:extLst>
          </p:cNvPr>
          <p:cNvSpPr>
            <a:spLocks noGrp="1"/>
          </p:cNvSpPr>
          <p:nvPr>
            <p:ph type="ctrTitle"/>
          </p:nvPr>
        </p:nvSpPr>
        <p:spPr/>
        <p:txBody>
          <a:bodyPr/>
          <a:lstStyle/>
          <a:p>
            <a:r>
              <a:rPr lang="en-IN" dirty="0"/>
              <a:t>Container Technologies</a:t>
            </a:r>
          </a:p>
        </p:txBody>
      </p:sp>
      <p:sp>
        <p:nvSpPr>
          <p:cNvPr id="3" name="Subtitle 2">
            <a:extLst>
              <a:ext uri="{FF2B5EF4-FFF2-40B4-BE49-F238E27FC236}">
                <a16:creationId xmlns:a16="http://schemas.microsoft.com/office/drawing/2014/main" id="{9D39081B-947B-17C8-5FF6-8A6DFAAA790A}"/>
              </a:ext>
            </a:extLst>
          </p:cNvPr>
          <p:cNvSpPr>
            <a:spLocks noGrp="1"/>
          </p:cNvSpPr>
          <p:nvPr>
            <p:ph type="subTitle" idx="1"/>
          </p:nvPr>
        </p:nvSpPr>
        <p:spPr/>
        <p:txBody>
          <a:bodyPr/>
          <a:lstStyle/>
          <a:p>
            <a:r>
              <a:rPr lang="en-IN" dirty="0"/>
              <a:t>Ayan Sengupta</a:t>
            </a:r>
          </a:p>
        </p:txBody>
      </p:sp>
    </p:spTree>
    <p:extLst>
      <p:ext uri="{BB962C8B-B14F-4D97-AF65-F5344CB8AC3E}">
        <p14:creationId xmlns:p14="http://schemas.microsoft.com/office/powerpoint/2010/main" val="27824149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7C87B6-CF93-6231-2742-57821D96E859}"/>
              </a:ext>
            </a:extLst>
          </p:cNvPr>
          <p:cNvSpPr>
            <a:spLocks noGrp="1"/>
          </p:cNvSpPr>
          <p:nvPr>
            <p:ph type="title"/>
          </p:nvPr>
        </p:nvSpPr>
        <p:spPr>
          <a:xfrm>
            <a:off x="402771" y="245383"/>
            <a:ext cx="10515600" cy="375104"/>
          </a:xfrm>
        </p:spPr>
        <p:txBody>
          <a:bodyPr>
            <a:normAutofit fontScale="90000"/>
          </a:bodyPr>
          <a:lstStyle/>
          <a:p>
            <a:r>
              <a:rPr lang="en-IN" dirty="0"/>
              <a:t>What is a container</a:t>
            </a:r>
          </a:p>
        </p:txBody>
      </p:sp>
      <p:sp>
        <p:nvSpPr>
          <p:cNvPr id="4" name="TextBox 3">
            <a:extLst>
              <a:ext uri="{FF2B5EF4-FFF2-40B4-BE49-F238E27FC236}">
                <a16:creationId xmlns:a16="http://schemas.microsoft.com/office/drawing/2014/main" id="{1C5CC9F4-F89F-F5DA-15A4-D7B3C3AD1D1B}"/>
              </a:ext>
            </a:extLst>
          </p:cNvPr>
          <p:cNvSpPr txBox="1"/>
          <p:nvPr/>
        </p:nvSpPr>
        <p:spPr>
          <a:xfrm>
            <a:off x="914400" y="859970"/>
            <a:ext cx="10744200" cy="5632311"/>
          </a:xfrm>
          <a:prstGeom prst="rect">
            <a:avLst/>
          </a:prstGeom>
          <a:noFill/>
        </p:spPr>
        <p:txBody>
          <a:bodyPr wrap="square">
            <a:spAutoFit/>
          </a:bodyPr>
          <a:lstStyle/>
          <a:p>
            <a:r>
              <a:rPr lang="en-US" sz="2400" dirty="0"/>
              <a:t>A </a:t>
            </a:r>
            <a:r>
              <a:rPr lang="en-US" sz="2400" b="1" dirty="0"/>
              <a:t>container</a:t>
            </a:r>
            <a:r>
              <a:rPr lang="en-US" sz="2400" dirty="0"/>
              <a:t> is a standard unit of software that packages up code and all its dependencies so the application runs quickly and reliably from one computing environment to another. </a:t>
            </a:r>
          </a:p>
          <a:p>
            <a:endParaRPr lang="en-US" sz="2400" dirty="0"/>
          </a:p>
          <a:p>
            <a:r>
              <a:rPr lang="en-US" sz="2400" dirty="0"/>
              <a:t>A </a:t>
            </a:r>
            <a:r>
              <a:rPr lang="en-US" sz="2400" b="1" dirty="0"/>
              <a:t>Docker container </a:t>
            </a:r>
            <a:r>
              <a:rPr lang="en-US" sz="2400" dirty="0"/>
              <a:t>image is a lightweight, standalone, executable package of software that includes everything needed to run an application: code, runtime, system tools, system libraries and settings.</a:t>
            </a:r>
          </a:p>
          <a:p>
            <a:endParaRPr lang="en-US" sz="2400" dirty="0"/>
          </a:p>
          <a:p>
            <a:r>
              <a:rPr lang="en-US" sz="2400" dirty="0"/>
              <a:t>Container </a:t>
            </a:r>
            <a:r>
              <a:rPr lang="en-US" sz="2400" b="1" dirty="0"/>
              <a:t>images become containers at runtime </a:t>
            </a:r>
            <a:r>
              <a:rPr lang="en-US" sz="2400" dirty="0"/>
              <a:t>and in the case of Docker containers – images become containers when they run on Docker Engine. Available for both Linux and Windows-based applications, containerized software will always run the same, regardless of the infrastructure. Containers isolate software from its environment and ensure that it works uniformly despite differences for instance between development and staging.</a:t>
            </a:r>
          </a:p>
          <a:p>
            <a:endParaRPr lang="en-US" sz="2400" dirty="0"/>
          </a:p>
        </p:txBody>
      </p:sp>
    </p:spTree>
    <p:extLst>
      <p:ext uri="{BB962C8B-B14F-4D97-AF65-F5344CB8AC3E}">
        <p14:creationId xmlns:p14="http://schemas.microsoft.com/office/powerpoint/2010/main" val="42410236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B69E0-6AF3-E8AA-0782-BAB9BDB9DEEE}"/>
              </a:ext>
            </a:extLst>
          </p:cNvPr>
          <p:cNvSpPr>
            <a:spLocks noGrp="1"/>
          </p:cNvSpPr>
          <p:nvPr>
            <p:ph type="title"/>
          </p:nvPr>
        </p:nvSpPr>
        <p:spPr>
          <a:xfrm>
            <a:off x="152400" y="395837"/>
            <a:ext cx="7173686" cy="233589"/>
          </a:xfrm>
        </p:spPr>
        <p:txBody>
          <a:bodyPr>
            <a:normAutofit fontScale="90000"/>
          </a:bodyPr>
          <a:lstStyle/>
          <a:p>
            <a:r>
              <a:rPr lang="en-IN" dirty="0"/>
              <a:t>Containers vs Virtual Machine</a:t>
            </a:r>
          </a:p>
        </p:txBody>
      </p:sp>
      <p:pic>
        <p:nvPicPr>
          <p:cNvPr id="4" name="Picture 3">
            <a:extLst>
              <a:ext uri="{FF2B5EF4-FFF2-40B4-BE49-F238E27FC236}">
                <a16:creationId xmlns:a16="http://schemas.microsoft.com/office/drawing/2014/main" id="{C240C8C9-4CAC-8AB3-D7A8-58AEE19409FA}"/>
              </a:ext>
            </a:extLst>
          </p:cNvPr>
          <p:cNvPicPr>
            <a:picLocks noChangeAspect="1"/>
          </p:cNvPicPr>
          <p:nvPr/>
        </p:nvPicPr>
        <p:blipFill>
          <a:blip r:embed="rId2"/>
          <a:stretch>
            <a:fillRect/>
          </a:stretch>
        </p:blipFill>
        <p:spPr>
          <a:xfrm>
            <a:off x="979714" y="765615"/>
            <a:ext cx="9669771" cy="5696548"/>
          </a:xfrm>
          <a:prstGeom prst="rect">
            <a:avLst/>
          </a:prstGeom>
        </p:spPr>
      </p:pic>
    </p:spTree>
    <p:extLst>
      <p:ext uri="{BB962C8B-B14F-4D97-AF65-F5344CB8AC3E}">
        <p14:creationId xmlns:p14="http://schemas.microsoft.com/office/powerpoint/2010/main" val="12209269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7F82037-85D2-19FA-5A88-BF2D8897809A}"/>
              </a:ext>
            </a:extLst>
          </p:cNvPr>
          <p:cNvPicPr>
            <a:picLocks noChangeAspect="1"/>
          </p:cNvPicPr>
          <p:nvPr/>
        </p:nvPicPr>
        <p:blipFill>
          <a:blip r:embed="rId2"/>
          <a:stretch>
            <a:fillRect/>
          </a:stretch>
        </p:blipFill>
        <p:spPr>
          <a:xfrm>
            <a:off x="1856014" y="247921"/>
            <a:ext cx="8479972" cy="6362157"/>
          </a:xfrm>
          <a:prstGeom prst="rect">
            <a:avLst/>
          </a:prstGeom>
        </p:spPr>
      </p:pic>
    </p:spTree>
    <p:extLst>
      <p:ext uri="{BB962C8B-B14F-4D97-AF65-F5344CB8AC3E}">
        <p14:creationId xmlns:p14="http://schemas.microsoft.com/office/powerpoint/2010/main" val="20248685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D2913-0F23-89F3-44E6-D31492E157EF}"/>
              </a:ext>
            </a:extLst>
          </p:cNvPr>
          <p:cNvSpPr>
            <a:spLocks noGrp="1"/>
          </p:cNvSpPr>
          <p:nvPr>
            <p:ph type="title"/>
          </p:nvPr>
        </p:nvSpPr>
        <p:spPr>
          <a:xfrm>
            <a:off x="97971" y="125640"/>
            <a:ext cx="10515600" cy="364218"/>
          </a:xfrm>
        </p:spPr>
        <p:txBody>
          <a:bodyPr>
            <a:normAutofit fontScale="90000"/>
          </a:bodyPr>
          <a:lstStyle/>
          <a:p>
            <a:r>
              <a:rPr lang="en-IN" dirty="0"/>
              <a:t>Kubernetes Features</a:t>
            </a:r>
          </a:p>
        </p:txBody>
      </p:sp>
      <p:pic>
        <p:nvPicPr>
          <p:cNvPr id="4" name="Picture 3">
            <a:extLst>
              <a:ext uri="{FF2B5EF4-FFF2-40B4-BE49-F238E27FC236}">
                <a16:creationId xmlns:a16="http://schemas.microsoft.com/office/drawing/2014/main" id="{8585E4E9-AE45-F8D9-5301-174DFB652AA9}"/>
              </a:ext>
            </a:extLst>
          </p:cNvPr>
          <p:cNvPicPr>
            <a:picLocks noChangeAspect="1"/>
          </p:cNvPicPr>
          <p:nvPr/>
        </p:nvPicPr>
        <p:blipFill>
          <a:blip r:embed="rId2"/>
          <a:stretch>
            <a:fillRect/>
          </a:stretch>
        </p:blipFill>
        <p:spPr>
          <a:xfrm>
            <a:off x="293914" y="431828"/>
            <a:ext cx="5061857" cy="6222737"/>
          </a:xfrm>
          <a:prstGeom prst="rect">
            <a:avLst/>
          </a:prstGeom>
        </p:spPr>
      </p:pic>
      <p:sp>
        <p:nvSpPr>
          <p:cNvPr id="5" name="TextBox 4">
            <a:extLst>
              <a:ext uri="{FF2B5EF4-FFF2-40B4-BE49-F238E27FC236}">
                <a16:creationId xmlns:a16="http://schemas.microsoft.com/office/drawing/2014/main" id="{92D6D72E-A2CC-B744-8D39-E161FF5D4CD5}"/>
              </a:ext>
            </a:extLst>
          </p:cNvPr>
          <p:cNvSpPr txBox="1"/>
          <p:nvPr/>
        </p:nvSpPr>
        <p:spPr>
          <a:xfrm>
            <a:off x="5682344" y="261466"/>
            <a:ext cx="6155870" cy="6335068"/>
          </a:xfrm>
          <a:prstGeom prst="rect">
            <a:avLst/>
          </a:prstGeom>
          <a:noFill/>
        </p:spPr>
        <p:txBody>
          <a:bodyPr wrap="square">
            <a:spAutoFit/>
          </a:bodyPr>
          <a:lstStyle/>
          <a:p>
            <a:pPr algn="l" rtl="0" fontAlgn="base">
              <a:spcAft>
                <a:spcPts val="750"/>
              </a:spcAft>
              <a:buNone/>
            </a:pPr>
            <a:r>
              <a:rPr lang="en-US" b="0" i="0" dirty="0">
                <a:effectLst/>
                <a:latin typeface="Nunito" pitchFamily="2" charset="0"/>
              </a:rPr>
              <a:t>Kubernetes has the following advantages:</a:t>
            </a:r>
          </a:p>
          <a:p>
            <a:pPr algn="l" fontAlgn="base">
              <a:spcAft>
                <a:spcPts val="1800"/>
              </a:spcAft>
              <a:buFont typeface="Arial" panose="020B0604020202020204" pitchFamily="34" charset="0"/>
              <a:buChar char="•"/>
            </a:pPr>
            <a:r>
              <a:rPr lang="en-US" b="0" i="0" dirty="0">
                <a:effectLst/>
                <a:latin typeface="Nunito" pitchFamily="2" charset="0"/>
              </a:rPr>
              <a:t>Container Orchestration</a:t>
            </a:r>
          </a:p>
          <a:p>
            <a:pPr algn="l" fontAlgn="base">
              <a:spcAft>
                <a:spcPts val="1800"/>
              </a:spcAft>
              <a:buFont typeface="Arial" panose="020B0604020202020204" pitchFamily="34" charset="0"/>
              <a:buChar char="•"/>
            </a:pPr>
            <a:r>
              <a:rPr lang="en-US" b="0" i="0" dirty="0">
                <a:effectLst/>
                <a:latin typeface="Nunito" pitchFamily="2" charset="0"/>
              </a:rPr>
              <a:t>Automated Load Balancing</a:t>
            </a:r>
          </a:p>
          <a:p>
            <a:pPr algn="l" fontAlgn="base">
              <a:spcAft>
                <a:spcPts val="1800"/>
              </a:spcAft>
              <a:buFont typeface="Arial" panose="020B0604020202020204" pitchFamily="34" charset="0"/>
              <a:buChar char="•"/>
            </a:pPr>
            <a:r>
              <a:rPr lang="en-US" b="0" i="0" dirty="0">
                <a:effectLst/>
                <a:latin typeface="Nunito" pitchFamily="2" charset="0"/>
              </a:rPr>
              <a:t>Auto Scaling</a:t>
            </a:r>
          </a:p>
          <a:p>
            <a:pPr algn="l" fontAlgn="base">
              <a:spcAft>
                <a:spcPts val="1800"/>
              </a:spcAft>
              <a:buFont typeface="Arial" panose="020B0604020202020204" pitchFamily="34" charset="0"/>
              <a:buChar char="•"/>
            </a:pPr>
            <a:r>
              <a:rPr lang="en-US" b="0" i="0" dirty="0">
                <a:effectLst/>
                <a:latin typeface="Nunito" pitchFamily="2" charset="0"/>
              </a:rPr>
              <a:t>Rolling Update &amp; Rollbacks</a:t>
            </a:r>
          </a:p>
          <a:p>
            <a:pPr algn="l" fontAlgn="base">
              <a:spcAft>
                <a:spcPts val="1800"/>
              </a:spcAft>
              <a:buFont typeface="Arial" panose="020B0604020202020204" pitchFamily="34" charset="0"/>
              <a:buChar char="•"/>
            </a:pPr>
            <a:r>
              <a:rPr lang="en-US" b="0" i="0" dirty="0">
                <a:effectLst/>
                <a:latin typeface="Nunito" pitchFamily="2" charset="0"/>
              </a:rPr>
              <a:t>Service Discovery and Load Balancing</a:t>
            </a:r>
          </a:p>
          <a:p>
            <a:pPr algn="l" fontAlgn="base">
              <a:spcAft>
                <a:spcPts val="1800"/>
              </a:spcAft>
              <a:buFont typeface="Arial" panose="020B0604020202020204" pitchFamily="34" charset="0"/>
              <a:buChar char="•"/>
            </a:pPr>
            <a:r>
              <a:rPr lang="en-US" b="0" i="0" dirty="0">
                <a:effectLst/>
                <a:latin typeface="Nunito" pitchFamily="2" charset="0"/>
              </a:rPr>
              <a:t>Storage Orchestration</a:t>
            </a:r>
          </a:p>
          <a:p>
            <a:pPr algn="l" fontAlgn="base">
              <a:spcAft>
                <a:spcPts val="1800"/>
              </a:spcAft>
              <a:buFont typeface="Arial" panose="020B0604020202020204" pitchFamily="34" charset="0"/>
              <a:buChar char="•"/>
            </a:pPr>
            <a:r>
              <a:rPr lang="en-US" b="0" i="0" dirty="0">
                <a:effectLst/>
                <a:latin typeface="Nunito" pitchFamily="2" charset="0"/>
              </a:rPr>
              <a:t>Self-Healing</a:t>
            </a:r>
          </a:p>
          <a:p>
            <a:pPr algn="l" fontAlgn="base">
              <a:spcAft>
                <a:spcPts val="1800"/>
              </a:spcAft>
              <a:buFont typeface="Arial" panose="020B0604020202020204" pitchFamily="34" charset="0"/>
              <a:buChar char="•"/>
            </a:pPr>
            <a:r>
              <a:rPr lang="en-US" b="0" i="0" dirty="0">
                <a:effectLst/>
                <a:latin typeface="Nunito" pitchFamily="2" charset="0"/>
              </a:rPr>
              <a:t>Secrets and Configuration Management</a:t>
            </a:r>
          </a:p>
          <a:p>
            <a:pPr algn="l" fontAlgn="base">
              <a:spcAft>
                <a:spcPts val="1800"/>
              </a:spcAft>
              <a:buFont typeface="Arial" panose="020B0604020202020204" pitchFamily="34" charset="0"/>
              <a:buChar char="•"/>
            </a:pPr>
            <a:r>
              <a:rPr lang="en-US" b="0" i="0" dirty="0">
                <a:effectLst/>
                <a:latin typeface="Nunito" pitchFamily="2" charset="0"/>
              </a:rPr>
              <a:t>Multi-Cloud and Hybrid Cloud Support</a:t>
            </a:r>
          </a:p>
          <a:p>
            <a:pPr algn="l" fontAlgn="base">
              <a:spcAft>
                <a:spcPts val="1800"/>
              </a:spcAft>
              <a:buFont typeface="Arial" panose="020B0604020202020204" pitchFamily="34" charset="0"/>
              <a:buChar char="•"/>
            </a:pPr>
            <a:r>
              <a:rPr lang="en-US" b="0" i="0" dirty="0">
                <a:effectLst/>
                <a:latin typeface="Nunito" pitchFamily="2" charset="0"/>
              </a:rPr>
              <a:t>Role-Based Access Control (RBAC)</a:t>
            </a:r>
          </a:p>
          <a:p>
            <a:pPr algn="l" fontAlgn="base">
              <a:spcAft>
                <a:spcPts val="1800"/>
              </a:spcAft>
              <a:buFont typeface="Arial" panose="020B0604020202020204" pitchFamily="34" charset="0"/>
              <a:buChar char="•"/>
            </a:pPr>
            <a:r>
              <a:rPr lang="en-US" b="0" i="0" dirty="0">
                <a:effectLst/>
                <a:latin typeface="Nunito" pitchFamily="2" charset="0"/>
              </a:rPr>
              <a:t>Pods and Multi-Container Support</a:t>
            </a:r>
          </a:p>
          <a:p>
            <a:pPr algn="l" fontAlgn="base">
              <a:spcAft>
                <a:spcPts val="1800"/>
              </a:spcAft>
              <a:buFont typeface="Arial" panose="020B0604020202020204" pitchFamily="34" charset="0"/>
              <a:buChar char="•"/>
            </a:pPr>
            <a:r>
              <a:rPr lang="en-US" b="0" i="0" dirty="0">
                <a:effectLst/>
                <a:latin typeface="Nunito" pitchFamily="2" charset="0"/>
              </a:rPr>
              <a:t>Monitoring and Logging</a:t>
            </a:r>
          </a:p>
        </p:txBody>
      </p:sp>
    </p:spTree>
    <p:extLst>
      <p:ext uri="{BB962C8B-B14F-4D97-AF65-F5344CB8AC3E}">
        <p14:creationId xmlns:p14="http://schemas.microsoft.com/office/powerpoint/2010/main" val="27228761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30B4D-D6F3-F5C3-8D5B-53590CEF27B2}"/>
              </a:ext>
            </a:extLst>
          </p:cNvPr>
          <p:cNvSpPr>
            <a:spLocks noGrp="1"/>
          </p:cNvSpPr>
          <p:nvPr>
            <p:ph type="title"/>
          </p:nvPr>
        </p:nvSpPr>
        <p:spPr>
          <a:xfrm>
            <a:off x="191406" y="223612"/>
            <a:ext cx="10515600" cy="266246"/>
          </a:xfrm>
        </p:spPr>
        <p:txBody>
          <a:bodyPr>
            <a:normAutofit fontScale="90000"/>
          </a:bodyPr>
          <a:lstStyle/>
          <a:p>
            <a:r>
              <a:rPr lang="en-IN" dirty="0"/>
              <a:t>Kubernetes Architecture</a:t>
            </a:r>
          </a:p>
        </p:txBody>
      </p:sp>
      <p:pic>
        <p:nvPicPr>
          <p:cNvPr id="1026" name="Picture 2" descr="Deployment">
            <a:extLst>
              <a:ext uri="{FF2B5EF4-FFF2-40B4-BE49-F238E27FC236}">
                <a16:creationId xmlns:a16="http://schemas.microsoft.com/office/drawing/2014/main" id="{482404FF-4F37-3711-3812-8236BBA8772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0466" y="762001"/>
            <a:ext cx="4687207" cy="560614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D5783E7-DEF6-C3C0-1E5D-72F30DB7C40D}"/>
              </a:ext>
            </a:extLst>
          </p:cNvPr>
          <p:cNvSpPr txBox="1"/>
          <p:nvPr/>
        </p:nvSpPr>
        <p:spPr>
          <a:xfrm>
            <a:off x="5449206" y="762001"/>
            <a:ext cx="6112328" cy="5909310"/>
          </a:xfrm>
          <a:prstGeom prst="rect">
            <a:avLst/>
          </a:prstGeom>
          <a:noFill/>
        </p:spPr>
        <p:txBody>
          <a:bodyPr wrap="square">
            <a:spAutoFit/>
          </a:bodyPr>
          <a:lstStyle/>
          <a:p>
            <a:r>
              <a:rPr lang="en-US" b="1" dirty="0"/>
              <a:t>Node</a:t>
            </a:r>
            <a:r>
              <a:rPr lang="en-US" dirty="0"/>
              <a:t> is a </a:t>
            </a:r>
            <a:r>
              <a:rPr lang="en-US" u="sng" dirty="0"/>
              <a:t>worker machine </a:t>
            </a:r>
            <a:r>
              <a:rPr lang="en-US" dirty="0"/>
              <a:t>in Kubernetes and may be either a virtual or a physical machine, depending on the cluster. Each Node is managed by the control plane. A Node can have multiple pods</a:t>
            </a:r>
          </a:p>
          <a:p>
            <a:endParaRPr lang="en-US" b="1" dirty="0"/>
          </a:p>
          <a:p>
            <a:r>
              <a:rPr lang="en-US" b="1" dirty="0"/>
              <a:t>Pod</a:t>
            </a:r>
            <a:r>
              <a:rPr lang="en-US" dirty="0"/>
              <a:t> is a </a:t>
            </a:r>
            <a:r>
              <a:rPr lang="en-US" u="sng" dirty="0"/>
              <a:t>collection of containers </a:t>
            </a:r>
            <a:r>
              <a:rPr lang="en-US" dirty="0"/>
              <a:t>and its storage inside a node of a Kubernetes cluster. It allows to </a:t>
            </a:r>
            <a:r>
              <a:rPr lang="en-US" b="1" dirty="0"/>
              <a:t>abstract the container technology if required</a:t>
            </a:r>
            <a:r>
              <a:rPr lang="en-US" dirty="0"/>
              <a:t>. Docker is the most common container runtime used in a Kubernetes Pod.</a:t>
            </a:r>
          </a:p>
          <a:p>
            <a:endParaRPr lang="en-US" dirty="0"/>
          </a:p>
          <a:p>
            <a:r>
              <a:rPr lang="en-US" b="1" dirty="0"/>
              <a:t>ReplicaSet</a:t>
            </a:r>
            <a:r>
              <a:rPr lang="en-US" dirty="0"/>
              <a:t> maintains a </a:t>
            </a:r>
            <a:r>
              <a:rPr lang="en-US" u="sng" dirty="0"/>
              <a:t>stable set of replicated pods </a:t>
            </a:r>
            <a:r>
              <a:rPr lang="en-US" dirty="0"/>
              <a:t>running within a cluster at any given time. Features: </a:t>
            </a:r>
          </a:p>
          <a:p>
            <a:pPr marL="285750" indent="-285750">
              <a:buFont typeface="Arial" panose="020B0604020202020204" pitchFamily="34" charset="0"/>
              <a:buChar char="•"/>
            </a:pPr>
            <a:r>
              <a:rPr lang="en-US" dirty="0"/>
              <a:t>a pod template for creating new pods whenever existing ones fail </a:t>
            </a:r>
          </a:p>
          <a:p>
            <a:pPr marL="285750" indent="-285750">
              <a:buFont typeface="Arial" panose="020B0604020202020204" pitchFamily="34" charset="0"/>
              <a:buChar char="•"/>
            </a:pPr>
            <a:r>
              <a:rPr lang="en-US" dirty="0"/>
              <a:t>replica count for maintaining the desired number of replicas</a:t>
            </a:r>
          </a:p>
          <a:p>
            <a:pPr marL="285750" indent="-285750">
              <a:buFont typeface="Arial" panose="020B0604020202020204" pitchFamily="34" charset="0"/>
              <a:buChar char="•"/>
            </a:pPr>
            <a:endParaRPr lang="en-US" dirty="0"/>
          </a:p>
          <a:p>
            <a:r>
              <a:rPr lang="en-US" b="1" dirty="0"/>
              <a:t>Deployment</a:t>
            </a:r>
            <a:r>
              <a:rPr lang="en-US" dirty="0"/>
              <a:t> tells Kubernetes how to create or modify instances of the pods that hold a containerized application. Deployments can help to efficiently scale the number of replica pods, enable the rollout of updated code in a controlled manner, or roll back to an earlier deployment version if necessary.</a:t>
            </a:r>
            <a:endParaRPr lang="en-IN" dirty="0"/>
          </a:p>
        </p:txBody>
      </p:sp>
      <p:sp>
        <p:nvSpPr>
          <p:cNvPr id="7" name="TextBox 6">
            <a:extLst>
              <a:ext uri="{FF2B5EF4-FFF2-40B4-BE49-F238E27FC236}">
                <a16:creationId xmlns:a16="http://schemas.microsoft.com/office/drawing/2014/main" id="{84DFD02E-7B91-FDB0-97F0-A9353454FC57}"/>
              </a:ext>
            </a:extLst>
          </p:cNvPr>
          <p:cNvSpPr txBox="1"/>
          <p:nvPr/>
        </p:nvSpPr>
        <p:spPr>
          <a:xfrm rot="16200000">
            <a:off x="-1792901" y="3193436"/>
            <a:ext cx="4953000" cy="769441"/>
          </a:xfrm>
          <a:prstGeom prst="rect">
            <a:avLst/>
          </a:prstGeom>
          <a:noFill/>
        </p:spPr>
        <p:txBody>
          <a:bodyPr wrap="square" rtlCol="0">
            <a:spAutoFit/>
          </a:bodyPr>
          <a:lstStyle/>
          <a:p>
            <a:pPr algn="ctr"/>
            <a:r>
              <a:rPr lang="en-IN" sz="4400" dirty="0"/>
              <a:t>Kubernetes Cluster</a:t>
            </a:r>
          </a:p>
        </p:txBody>
      </p:sp>
    </p:spTree>
    <p:extLst>
      <p:ext uri="{BB962C8B-B14F-4D97-AF65-F5344CB8AC3E}">
        <p14:creationId xmlns:p14="http://schemas.microsoft.com/office/powerpoint/2010/main" val="12590382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77A06803-9C79-67E8-336D-4247E58A7F9E}"/>
              </a:ext>
            </a:extLst>
          </p:cNvPr>
          <p:cNvSpPr txBox="1"/>
          <p:nvPr/>
        </p:nvSpPr>
        <p:spPr>
          <a:xfrm>
            <a:off x="7108371" y="500062"/>
            <a:ext cx="4887686" cy="4741041"/>
          </a:xfrm>
          <a:prstGeom prst="rect">
            <a:avLst/>
          </a:prstGeom>
          <a:noFill/>
        </p:spPr>
        <p:txBody>
          <a:bodyPr wrap="square">
            <a:spAutoFit/>
          </a:bodyPr>
          <a:lstStyle/>
          <a:p>
            <a:pPr algn="l">
              <a:lnSpc>
                <a:spcPts val="1650"/>
              </a:lnSpc>
              <a:spcBef>
                <a:spcPts val="750"/>
              </a:spcBef>
              <a:spcAft>
                <a:spcPts val="600"/>
              </a:spcAft>
              <a:buFont typeface="Arial" panose="020B0604020202020204" pitchFamily="34" charset="0"/>
              <a:buChar char="•"/>
            </a:pPr>
            <a:r>
              <a:rPr lang="en-US" dirty="0">
                <a:latin typeface="Google Sans"/>
              </a:rPr>
              <a:t> </a:t>
            </a:r>
            <a:r>
              <a:rPr lang="en-US" b="1" i="0" dirty="0">
                <a:effectLst/>
                <a:latin typeface="Google Sans"/>
              </a:rPr>
              <a:t>Pod</a:t>
            </a:r>
            <a:r>
              <a:rPr lang="en-US" b="0" i="0" dirty="0">
                <a:effectLst/>
                <a:latin typeface="Google Sans"/>
              </a:rPr>
              <a:t> is the smallest deployable unit in Kubernetes, containing one or more containers.</a:t>
            </a:r>
          </a:p>
          <a:p>
            <a:pPr algn="l">
              <a:lnSpc>
                <a:spcPts val="1650"/>
              </a:lnSpc>
              <a:spcBef>
                <a:spcPts val="750"/>
              </a:spcBef>
              <a:spcAft>
                <a:spcPts val="600"/>
              </a:spcAft>
              <a:buFont typeface="Arial" panose="020B0604020202020204" pitchFamily="34" charset="0"/>
              <a:buChar char="•"/>
            </a:pPr>
            <a:r>
              <a:rPr lang="en-US" b="0" i="0" dirty="0">
                <a:effectLst/>
                <a:latin typeface="Google Sans"/>
              </a:rPr>
              <a:t> </a:t>
            </a:r>
            <a:r>
              <a:rPr lang="en-US" b="1" i="0" dirty="0">
                <a:effectLst/>
                <a:latin typeface="Google Sans"/>
              </a:rPr>
              <a:t>Services</a:t>
            </a:r>
            <a:r>
              <a:rPr lang="en-US" b="0" i="0" dirty="0">
                <a:effectLst/>
                <a:latin typeface="Google Sans"/>
              </a:rPr>
              <a:t> provide </a:t>
            </a:r>
            <a:r>
              <a:rPr lang="en-US" b="1" i="0" dirty="0">
                <a:effectLst/>
                <a:latin typeface="Google Sans"/>
              </a:rPr>
              <a:t>stable IP </a:t>
            </a:r>
            <a:r>
              <a:rPr lang="en-US" b="0" i="0" dirty="0">
                <a:effectLst/>
                <a:latin typeface="Google Sans"/>
              </a:rPr>
              <a:t>addresses and DNS names for a group of pods. They act as a load balancer, distributing traffic across multiple pods. Services can be configured to expose ports to the external world or within the cluster.</a:t>
            </a:r>
          </a:p>
          <a:p>
            <a:pPr algn="l">
              <a:lnSpc>
                <a:spcPts val="1650"/>
              </a:lnSpc>
              <a:spcBef>
                <a:spcPts val="750"/>
              </a:spcBef>
              <a:spcAft>
                <a:spcPts val="600"/>
              </a:spcAft>
              <a:buFont typeface="Arial" panose="020B0604020202020204" pitchFamily="34" charset="0"/>
              <a:buChar char="•"/>
            </a:pPr>
            <a:r>
              <a:rPr lang="en-US" b="0" i="0" dirty="0">
                <a:effectLst/>
                <a:latin typeface="Google Sans"/>
              </a:rPr>
              <a:t> </a:t>
            </a:r>
            <a:r>
              <a:rPr lang="en-US" b="1" i="0" dirty="0">
                <a:effectLst/>
                <a:latin typeface="Google Sans"/>
              </a:rPr>
              <a:t>Ingress</a:t>
            </a:r>
            <a:r>
              <a:rPr lang="en-US" b="0" i="0" dirty="0">
                <a:effectLst/>
                <a:latin typeface="Google Sans"/>
              </a:rPr>
              <a:t> manages external access to services within the cluster, typically via HTTP. It acts as an entry point for traffic, routing it to the appropriate service based on rules. Ingress allows for features like SSL termination, name-based routing, and request rewriting.</a:t>
            </a:r>
          </a:p>
          <a:p>
            <a:pPr algn="l">
              <a:lnSpc>
                <a:spcPts val="1650"/>
              </a:lnSpc>
              <a:spcBef>
                <a:spcPts val="750"/>
              </a:spcBef>
              <a:spcAft>
                <a:spcPts val="600"/>
              </a:spcAft>
              <a:buFont typeface="Arial" panose="020B0604020202020204" pitchFamily="34" charset="0"/>
              <a:buChar char="•"/>
            </a:pPr>
            <a:r>
              <a:rPr lang="en-US" b="0" i="0" dirty="0">
                <a:effectLst/>
                <a:latin typeface="Google Sans"/>
              </a:rPr>
              <a:t> </a:t>
            </a:r>
            <a:r>
              <a:rPr lang="en-US" b="1" i="0" dirty="0">
                <a:effectLst/>
                <a:latin typeface="Google Sans"/>
              </a:rPr>
              <a:t>ConfigMaps</a:t>
            </a:r>
            <a:r>
              <a:rPr lang="en-US" b="0" i="0" dirty="0">
                <a:effectLst/>
                <a:latin typeface="Google Sans"/>
              </a:rPr>
              <a:t>: store non-sensitive configuration data, such as environment variables or configuration files. </a:t>
            </a:r>
          </a:p>
          <a:p>
            <a:pPr algn="l">
              <a:lnSpc>
                <a:spcPts val="1650"/>
              </a:lnSpc>
              <a:spcBef>
                <a:spcPts val="750"/>
              </a:spcBef>
              <a:spcAft>
                <a:spcPts val="600"/>
              </a:spcAft>
              <a:buFont typeface="Arial" panose="020B0604020202020204" pitchFamily="34" charset="0"/>
              <a:buChar char="•"/>
            </a:pPr>
            <a:r>
              <a:rPr lang="en-US" b="0" i="0" dirty="0">
                <a:effectLst/>
                <a:latin typeface="Google Sans"/>
              </a:rPr>
              <a:t> </a:t>
            </a:r>
            <a:r>
              <a:rPr lang="en-US" b="1" i="0" dirty="0">
                <a:effectLst/>
                <a:latin typeface="Google Sans"/>
              </a:rPr>
              <a:t>Secrets</a:t>
            </a:r>
            <a:r>
              <a:rPr lang="en-US" b="0" i="0" dirty="0">
                <a:effectLst/>
                <a:latin typeface="Google Sans"/>
              </a:rPr>
              <a:t>: store sensitive information, like passwords, API keys, or TLS certificates. </a:t>
            </a:r>
          </a:p>
        </p:txBody>
      </p:sp>
      <p:sp>
        <p:nvSpPr>
          <p:cNvPr id="9" name="TextBox 8">
            <a:extLst>
              <a:ext uri="{FF2B5EF4-FFF2-40B4-BE49-F238E27FC236}">
                <a16:creationId xmlns:a16="http://schemas.microsoft.com/office/drawing/2014/main" id="{119E12B7-07F8-24A8-C9DE-122655E912BB}"/>
              </a:ext>
            </a:extLst>
          </p:cNvPr>
          <p:cNvSpPr txBox="1"/>
          <p:nvPr/>
        </p:nvSpPr>
        <p:spPr>
          <a:xfrm>
            <a:off x="195943" y="3568755"/>
            <a:ext cx="6770915" cy="2637902"/>
          </a:xfrm>
          <a:prstGeom prst="rect">
            <a:avLst/>
          </a:prstGeom>
          <a:noFill/>
        </p:spPr>
        <p:txBody>
          <a:bodyPr wrap="square">
            <a:spAutoFit/>
          </a:bodyPr>
          <a:lstStyle/>
          <a:p>
            <a:pPr algn="l">
              <a:lnSpc>
                <a:spcPts val="1650"/>
              </a:lnSpc>
              <a:spcBef>
                <a:spcPts val="750"/>
              </a:spcBef>
              <a:spcAft>
                <a:spcPts val="600"/>
              </a:spcAft>
              <a:buFont typeface="Arial" panose="020B0604020202020204" pitchFamily="34" charset="0"/>
              <a:buChar char="•"/>
            </a:pPr>
            <a:r>
              <a:rPr lang="en-US" b="0" i="0" dirty="0">
                <a:effectLst/>
                <a:latin typeface="Google Sans"/>
              </a:rPr>
              <a:t> </a:t>
            </a:r>
            <a:r>
              <a:rPr lang="en-US" b="1" i="0" dirty="0">
                <a:effectLst/>
                <a:latin typeface="Google Sans"/>
              </a:rPr>
              <a:t>Deployments</a:t>
            </a:r>
            <a:r>
              <a:rPr lang="en-US" b="0" i="0" dirty="0">
                <a:effectLst/>
                <a:latin typeface="Google Sans"/>
              </a:rPr>
              <a:t> are used to manage the lifecycle of pods, including creation, deletion, scaling, and rolling updates. They ensure that a desired number of pods are running at all times, automatically scaling up or down as needed. Deployments are ideal for </a:t>
            </a:r>
            <a:r>
              <a:rPr lang="en-US" b="1" i="0" dirty="0">
                <a:effectLst/>
                <a:latin typeface="Google Sans"/>
              </a:rPr>
              <a:t>stateless</a:t>
            </a:r>
            <a:r>
              <a:rPr lang="en-US" b="0" i="0" dirty="0">
                <a:effectLst/>
                <a:latin typeface="Google Sans"/>
              </a:rPr>
              <a:t> applications where each instance is interchangeable like an </a:t>
            </a:r>
            <a:r>
              <a:rPr lang="en-US" b="1" i="0" dirty="0">
                <a:effectLst/>
                <a:latin typeface="Google Sans"/>
              </a:rPr>
              <a:t>app</a:t>
            </a:r>
            <a:r>
              <a:rPr lang="en-US" b="0" i="0" dirty="0">
                <a:effectLst/>
                <a:latin typeface="Google Sans"/>
              </a:rPr>
              <a:t>.</a:t>
            </a:r>
          </a:p>
          <a:p>
            <a:pPr algn="l">
              <a:lnSpc>
                <a:spcPts val="1650"/>
              </a:lnSpc>
              <a:spcBef>
                <a:spcPts val="750"/>
              </a:spcBef>
              <a:spcAft>
                <a:spcPts val="600"/>
              </a:spcAft>
              <a:buFont typeface="Arial" panose="020B0604020202020204" pitchFamily="34" charset="0"/>
              <a:buChar char="•"/>
            </a:pPr>
            <a:endParaRPr lang="en-US" dirty="0">
              <a:latin typeface="Google Sans"/>
            </a:endParaRPr>
          </a:p>
          <a:p>
            <a:pPr algn="l">
              <a:lnSpc>
                <a:spcPts val="1650"/>
              </a:lnSpc>
              <a:spcBef>
                <a:spcPts val="750"/>
              </a:spcBef>
              <a:spcAft>
                <a:spcPts val="600"/>
              </a:spcAft>
              <a:buFont typeface="Arial" panose="020B0604020202020204" pitchFamily="34" charset="0"/>
              <a:buChar char="•"/>
            </a:pPr>
            <a:r>
              <a:rPr lang="en-US" b="0" i="0" dirty="0">
                <a:effectLst/>
                <a:latin typeface="Google Sans"/>
              </a:rPr>
              <a:t> </a:t>
            </a:r>
            <a:r>
              <a:rPr lang="en-US" b="1" i="0" dirty="0">
                <a:effectLst/>
                <a:latin typeface="Google Sans"/>
              </a:rPr>
              <a:t>StatefulSets</a:t>
            </a:r>
            <a:r>
              <a:rPr lang="en-US" b="0" i="0" dirty="0">
                <a:effectLst/>
                <a:latin typeface="Google Sans"/>
              </a:rPr>
              <a:t> are used for managing stateful applications that require unique identities and persistent storage. They guarantee a stable network identity and data storage for each pod. Examples of </a:t>
            </a:r>
            <a:r>
              <a:rPr lang="en-US" b="1" i="0" dirty="0">
                <a:effectLst/>
                <a:latin typeface="Google Sans"/>
              </a:rPr>
              <a:t>stateful</a:t>
            </a:r>
            <a:r>
              <a:rPr lang="en-US" b="0" i="0" dirty="0">
                <a:effectLst/>
                <a:latin typeface="Google Sans"/>
              </a:rPr>
              <a:t> applications include </a:t>
            </a:r>
            <a:r>
              <a:rPr lang="en-US" b="1" i="0" dirty="0">
                <a:effectLst/>
                <a:latin typeface="Google Sans"/>
              </a:rPr>
              <a:t>databases</a:t>
            </a:r>
            <a:r>
              <a:rPr lang="en-US" b="0" i="0" dirty="0">
                <a:effectLst/>
                <a:latin typeface="Google Sans"/>
              </a:rPr>
              <a:t>, message queues, and file servers.</a:t>
            </a:r>
          </a:p>
        </p:txBody>
      </p:sp>
      <p:pic>
        <p:nvPicPr>
          <p:cNvPr id="13" name="Picture 12">
            <a:extLst>
              <a:ext uri="{FF2B5EF4-FFF2-40B4-BE49-F238E27FC236}">
                <a16:creationId xmlns:a16="http://schemas.microsoft.com/office/drawing/2014/main" id="{56B965FF-F22D-3581-26D6-51E61D088DE7}"/>
              </a:ext>
            </a:extLst>
          </p:cNvPr>
          <p:cNvPicPr>
            <a:picLocks noChangeAspect="1"/>
          </p:cNvPicPr>
          <p:nvPr/>
        </p:nvPicPr>
        <p:blipFill>
          <a:blip r:embed="rId2"/>
          <a:stretch>
            <a:fillRect/>
          </a:stretch>
        </p:blipFill>
        <p:spPr>
          <a:xfrm>
            <a:off x="1513588" y="117983"/>
            <a:ext cx="4582412" cy="3311017"/>
          </a:xfrm>
          <a:prstGeom prst="rect">
            <a:avLst/>
          </a:prstGeom>
        </p:spPr>
      </p:pic>
    </p:spTree>
    <p:extLst>
      <p:ext uri="{BB962C8B-B14F-4D97-AF65-F5344CB8AC3E}">
        <p14:creationId xmlns:p14="http://schemas.microsoft.com/office/powerpoint/2010/main" val="16296797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Image">
            <a:extLst>
              <a:ext uri="{FF2B5EF4-FFF2-40B4-BE49-F238E27FC236}">
                <a16:creationId xmlns:a16="http://schemas.microsoft.com/office/drawing/2014/main" id="{DEDFA636-926B-F27A-3F56-27180159C30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2488" y="0"/>
            <a:ext cx="5275263" cy="6858000"/>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890D4A3B-FF64-5506-A52A-93E86815D56B}"/>
              </a:ext>
            </a:extLst>
          </p:cNvPr>
          <p:cNvSpPr txBox="1"/>
          <p:nvPr/>
        </p:nvSpPr>
        <p:spPr>
          <a:xfrm>
            <a:off x="5856515" y="181957"/>
            <a:ext cx="6096000" cy="6494085"/>
          </a:xfrm>
          <a:prstGeom prst="rect">
            <a:avLst/>
          </a:prstGeom>
          <a:noFill/>
        </p:spPr>
        <p:txBody>
          <a:bodyPr wrap="square">
            <a:spAutoFit/>
          </a:bodyPr>
          <a:lstStyle/>
          <a:p>
            <a:r>
              <a:rPr lang="en-US" sz="1600" dirty="0"/>
              <a:t>🔹 </a:t>
            </a:r>
            <a:r>
              <a:rPr lang="en-US" sz="1600" b="1" dirty="0"/>
              <a:t>ClusterIP</a:t>
            </a:r>
            <a:r>
              <a:rPr lang="en-US" sz="1600" dirty="0"/>
              <a:t> is the default. Kubernetes will assign a cluster-internal IP address to ClusterIP service. This makes the service only reachable within the cluster. </a:t>
            </a:r>
          </a:p>
          <a:p>
            <a:pPr marL="285750" indent="-285750">
              <a:buFont typeface="Arial" panose="020B0604020202020204" pitchFamily="34" charset="0"/>
              <a:buChar char="•"/>
            </a:pPr>
            <a:r>
              <a:rPr lang="en-US" sz="1600" dirty="0" err="1"/>
              <a:t>targetPort</a:t>
            </a:r>
            <a:r>
              <a:rPr lang="en-US" sz="1600" dirty="0"/>
              <a:t> : port of the Pod(s)</a:t>
            </a:r>
          </a:p>
          <a:p>
            <a:pPr marL="285750" indent="-285750">
              <a:buFont typeface="Arial" panose="020B0604020202020204" pitchFamily="34" charset="0"/>
              <a:buChar char="•"/>
            </a:pPr>
            <a:r>
              <a:rPr lang="en-US" sz="1600" dirty="0"/>
              <a:t>port : port where the service is available</a:t>
            </a:r>
          </a:p>
          <a:p>
            <a:endParaRPr lang="en-US" sz="1600" dirty="0"/>
          </a:p>
          <a:p>
            <a:r>
              <a:rPr lang="en-US" sz="1600" dirty="0"/>
              <a:t>🔹 </a:t>
            </a:r>
            <a:r>
              <a:rPr lang="en-US" sz="1600" b="1" dirty="0"/>
              <a:t>NodePort</a:t>
            </a:r>
          </a:p>
          <a:p>
            <a:r>
              <a:rPr lang="en-US" sz="1600" dirty="0"/>
              <a:t>This exposes the service outside of the cluster by adding a cluster-wide port on top of ClusterIP. We can request the service by </a:t>
            </a:r>
            <a:r>
              <a:rPr lang="en-US" sz="1600" dirty="0" err="1"/>
              <a:t>NodeIP:NodePort</a:t>
            </a:r>
            <a:r>
              <a:rPr lang="en-US" sz="1600" dirty="0"/>
              <a:t>.</a:t>
            </a:r>
          </a:p>
          <a:p>
            <a:pPr marL="285750" indent="-285750">
              <a:buFont typeface="Arial" panose="020B0604020202020204" pitchFamily="34" charset="0"/>
              <a:buChar char="•"/>
            </a:pPr>
            <a:r>
              <a:rPr lang="en-US" sz="1600" dirty="0" err="1"/>
              <a:t>targetPort</a:t>
            </a:r>
            <a:r>
              <a:rPr lang="en-US" sz="1600" dirty="0"/>
              <a:t> : port of the Pod(s)</a:t>
            </a:r>
          </a:p>
          <a:p>
            <a:pPr marL="285750" indent="-285750">
              <a:buFont typeface="Arial" panose="020B0604020202020204" pitchFamily="34" charset="0"/>
              <a:buChar char="•"/>
            </a:pPr>
            <a:r>
              <a:rPr lang="en-US" sz="1600" dirty="0"/>
              <a:t>port : port where the service is available</a:t>
            </a:r>
          </a:p>
          <a:p>
            <a:pPr marL="285750" indent="-285750">
              <a:buFont typeface="Arial" panose="020B0604020202020204" pitchFamily="34" charset="0"/>
              <a:buChar char="•"/>
            </a:pPr>
            <a:r>
              <a:rPr lang="fr-FR" sz="1600" dirty="0" err="1"/>
              <a:t>nodePort</a:t>
            </a:r>
            <a:r>
              <a:rPr lang="fr-FR" sz="1600" dirty="0"/>
              <a:t>: port of the </a:t>
            </a:r>
            <a:r>
              <a:rPr lang="fr-FR" sz="1600" dirty="0" err="1"/>
              <a:t>node</a:t>
            </a:r>
            <a:r>
              <a:rPr lang="fr-FR" sz="1600" dirty="0"/>
              <a:t> machine </a:t>
            </a:r>
            <a:r>
              <a:rPr lang="fr-FR" sz="1600" dirty="0" err="1"/>
              <a:t>where</a:t>
            </a:r>
            <a:r>
              <a:rPr lang="fr-FR" sz="1600" dirty="0"/>
              <a:t> the service can </a:t>
            </a:r>
            <a:r>
              <a:rPr lang="fr-FR" sz="1600" dirty="0" err="1"/>
              <a:t>be</a:t>
            </a:r>
            <a:r>
              <a:rPr lang="fr-FR" sz="1600" dirty="0"/>
              <a:t> </a:t>
            </a:r>
            <a:r>
              <a:rPr lang="fr-FR" sz="1600" dirty="0" err="1"/>
              <a:t>accessed</a:t>
            </a:r>
            <a:r>
              <a:rPr lang="fr-FR" sz="1600" dirty="0"/>
              <a:t>.</a:t>
            </a:r>
            <a:endParaRPr lang="en-US" sz="1600" dirty="0"/>
          </a:p>
          <a:p>
            <a:endParaRPr lang="en-US" sz="1600" dirty="0"/>
          </a:p>
          <a:p>
            <a:r>
              <a:rPr lang="en-US" sz="1600" dirty="0"/>
              <a:t>🔹 </a:t>
            </a:r>
            <a:r>
              <a:rPr lang="en-US" sz="1600" b="1" dirty="0"/>
              <a:t>LoadBalancer</a:t>
            </a:r>
          </a:p>
          <a:p>
            <a:r>
              <a:rPr lang="en-US" sz="1600" dirty="0"/>
              <a:t>This exposes the Service externally using a cloud provider’s load balancer.</a:t>
            </a:r>
          </a:p>
          <a:p>
            <a:pPr marL="285750" indent="-285750">
              <a:buFont typeface="Arial" panose="020B0604020202020204" pitchFamily="34" charset="0"/>
              <a:buChar char="•"/>
            </a:pPr>
            <a:r>
              <a:rPr lang="en-US" sz="1600" dirty="0" err="1"/>
              <a:t>targetPort</a:t>
            </a:r>
            <a:r>
              <a:rPr lang="en-US" sz="1600" dirty="0"/>
              <a:t> : port of the Pod(s)</a:t>
            </a:r>
          </a:p>
          <a:p>
            <a:pPr marL="285750" indent="-285750">
              <a:buFont typeface="Arial" panose="020B0604020202020204" pitchFamily="34" charset="0"/>
              <a:buChar char="•"/>
            </a:pPr>
            <a:r>
              <a:rPr lang="en-US" sz="1600" dirty="0"/>
              <a:t>port : port where the load balanced service is available</a:t>
            </a:r>
          </a:p>
          <a:p>
            <a:endParaRPr lang="en-US" sz="1600" dirty="0"/>
          </a:p>
          <a:p>
            <a:r>
              <a:rPr lang="en-US" sz="1600" dirty="0"/>
              <a:t>🔹 </a:t>
            </a:r>
            <a:r>
              <a:rPr lang="en-US" sz="1600" b="1" dirty="0" err="1"/>
              <a:t>ExternalName</a:t>
            </a:r>
            <a:endParaRPr lang="en-US" sz="1600" b="1" dirty="0"/>
          </a:p>
          <a:p>
            <a:r>
              <a:rPr lang="en-US" sz="1600" dirty="0"/>
              <a:t>This maps a Service to a domain name. This is commonly used to create a service within Kubernetes to represent an external database.</a:t>
            </a:r>
          </a:p>
          <a:p>
            <a:pPr marL="285750" indent="-285750">
              <a:buFont typeface="Arial" panose="020B0604020202020204" pitchFamily="34" charset="0"/>
              <a:buChar char="•"/>
            </a:pPr>
            <a:r>
              <a:rPr lang="en-US" sz="1600" dirty="0" err="1"/>
              <a:t>externalName</a:t>
            </a:r>
            <a:r>
              <a:rPr lang="en-US" sz="1600" dirty="0"/>
              <a:t>: external domain name</a:t>
            </a:r>
            <a:endParaRPr lang="en-IN" sz="1600" dirty="0"/>
          </a:p>
        </p:txBody>
      </p:sp>
      <p:cxnSp>
        <p:nvCxnSpPr>
          <p:cNvPr id="17" name="Straight Arrow Connector 16">
            <a:extLst>
              <a:ext uri="{FF2B5EF4-FFF2-40B4-BE49-F238E27FC236}">
                <a16:creationId xmlns:a16="http://schemas.microsoft.com/office/drawing/2014/main" id="{A7C29629-CF84-F7D8-730A-3780F01EC641}"/>
              </a:ext>
            </a:extLst>
          </p:cNvPr>
          <p:cNvCxnSpPr/>
          <p:nvPr/>
        </p:nvCxnSpPr>
        <p:spPr>
          <a:xfrm flipH="1">
            <a:off x="4865914" y="2819400"/>
            <a:ext cx="1066800" cy="2177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50E69B34-C2F1-C3F3-0B32-C2D05FB435CD}"/>
              </a:ext>
            </a:extLst>
          </p:cNvPr>
          <p:cNvCxnSpPr/>
          <p:nvPr/>
        </p:nvCxnSpPr>
        <p:spPr>
          <a:xfrm flipH="1" flipV="1">
            <a:off x="4365171" y="2416629"/>
            <a:ext cx="1491344" cy="664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1F4DE21C-854D-7D3E-49E5-7BB23FC631B7}"/>
              </a:ext>
            </a:extLst>
          </p:cNvPr>
          <p:cNvCxnSpPr/>
          <p:nvPr/>
        </p:nvCxnSpPr>
        <p:spPr>
          <a:xfrm flipH="1" flipV="1">
            <a:off x="4789714" y="1654629"/>
            <a:ext cx="1143000" cy="162197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58630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2836D8-96DC-AA00-A9EB-6B501513FDE6}"/>
              </a:ext>
            </a:extLst>
          </p:cNvPr>
          <p:cNvSpPr>
            <a:spLocks noGrp="1"/>
          </p:cNvSpPr>
          <p:nvPr>
            <p:ph type="title"/>
          </p:nvPr>
        </p:nvSpPr>
        <p:spPr>
          <a:xfrm>
            <a:off x="838200" y="365125"/>
            <a:ext cx="10515600" cy="396875"/>
          </a:xfrm>
        </p:spPr>
        <p:txBody>
          <a:bodyPr>
            <a:normAutofit fontScale="90000"/>
          </a:bodyPr>
          <a:lstStyle/>
          <a:p>
            <a:r>
              <a:rPr lang="en-IN" dirty="0"/>
              <a:t>Helm Charts</a:t>
            </a:r>
          </a:p>
        </p:txBody>
      </p:sp>
      <p:sp>
        <p:nvSpPr>
          <p:cNvPr id="4" name="TextBox 3">
            <a:extLst>
              <a:ext uri="{FF2B5EF4-FFF2-40B4-BE49-F238E27FC236}">
                <a16:creationId xmlns:a16="http://schemas.microsoft.com/office/drawing/2014/main" id="{6A8C2BA9-F29D-CA93-DEE8-7DAA74E5CAC6}"/>
              </a:ext>
            </a:extLst>
          </p:cNvPr>
          <p:cNvSpPr txBox="1"/>
          <p:nvPr/>
        </p:nvSpPr>
        <p:spPr>
          <a:xfrm>
            <a:off x="879387" y="4284505"/>
            <a:ext cx="4876800" cy="1754326"/>
          </a:xfrm>
          <a:prstGeom prst="rect">
            <a:avLst/>
          </a:prstGeom>
          <a:noFill/>
        </p:spPr>
        <p:txBody>
          <a:bodyPr wrap="square">
            <a:spAutoFit/>
          </a:bodyPr>
          <a:lstStyle/>
          <a:p>
            <a:r>
              <a:rPr lang="en-IN" dirty="0"/>
              <a:t>The </a:t>
            </a:r>
            <a:r>
              <a:rPr lang="en-IN" b="1" dirty="0"/>
              <a:t>package manager for Kubernetes </a:t>
            </a:r>
            <a:r>
              <a:rPr lang="en-IN" dirty="0"/>
              <a:t>– you can find common helm charts from publicly availed registries</a:t>
            </a:r>
          </a:p>
          <a:p>
            <a:endParaRPr lang="en-IN" dirty="0"/>
          </a:p>
          <a:p>
            <a:endParaRPr lang="en-IN" dirty="0"/>
          </a:p>
          <a:p>
            <a:endParaRPr lang="en-IN" dirty="0"/>
          </a:p>
        </p:txBody>
      </p:sp>
      <p:pic>
        <p:nvPicPr>
          <p:cNvPr id="6" name="Picture 5">
            <a:extLst>
              <a:ext uri="{FF2B5EF4-FFF2-40B4-BE49-F238E27FC236}">
                <a16:creationId xmlns:a16="http://schemas.microsoft.com/office/drawing/2014/main" id="{1B693121-E3A6-4DC8-5192-CC1160670BF0}"/>
              </a:ext>
            </a:extLst>
          </p:cNvPr>
          <p:cNvPicPr>
            <a:picLocks noChangeAspect="1"/>
          </p:cNvPicPr>
          <p:nvPr/>
        </p:nvPicPr>
        <p:blipFill>
          <a:blip r:embed="rId2"/>
          <a:stretch>
            <a:fillRect/>
          </a:stretch>
        </p:blipFill>
        <p:spPr>
          <a:xfrm>
            <a:off x="539574" y="1036613"/>
            <a:ext cx="5556426" cy="2784273"/>
          </a:xfrm>
          <a:prstGeom prst="rect">
            <a:avLst/>
          </a:prstGeom>
        </p:spPr>
      </p:pic>
      <p:pic>
        <p:nvPicPr>
          <p:cNvPr id="8" name="Picture 7">
            <a:extLst>
              <a:ext uri="{FF2B5EF4-FFF2-40B4-BE49-F238E27FC236}">
                <a16:creationId xmlns:a16="http://schemas.microsoft.com/office/drawing/2014/main" id="{A69B900B-3EE6-A941-DADD-FF6D682C3CC5}"/>
              </a:ext>
            </a:extLst>
          </p:cNvPr>
          <p:cNvPicPr>
            <a:picLocks noChangeAspect="1"/>
          </p:cNvPicPr>
          <p:nvPr/>
        </p:nvPicPr>
        <p:blipFill>
          <a:blip r:embed="rId3"/>
          <a:stretch>
            <a:fillRect/>
          </a:stretch>
        </p:blipFill>
        <p:spPr>
          <a:xfrm>
            <a:off x="6241930" y="1040078"/>
            <a:ext cx="5830327" cy="2388922"/>
          </a:xfrm>
          <a:prstGeom prst="rect">
            <a:avLst/>
          </a:prstGeom>
        </p:spPr>
      </p:pic>
      <p:sp>
        <p:nvSpPr>
          <p:cNvPr id="10" name="TextBox 9">
            <a:extLst>
              <a:ext uri="{FF2B5EF4-FFF2-40B4-BE49-F238E27FC236}">
                <a16:creationId xmlns:a16="http://schemas.microsoft.com/office/drawing/2014/main" id="{40DD7D14-B69F-4FE3-5FAE-6726B6CBDB31}"/>
              </a:ext>
            </a:extLst>
          </p:cNvPr>
          <p:cNvSpPr txBox="1"/>
          <p:nvPr/>
        </p:nvSpPr>
        <p:spPr>
          <a:xfrm>
            <a:off x="6241930" y="3957935"/>
            <a:ext cx="6096000" cy="646331"/>
          </a:xfrm>
          <a:prstGeom prst="rect">
            <a:avLst/>
          </a:prstGeom>
          <a:noFill/>
        </p:spPr>
        <p:txBody>
          <a:bodyPr wrap="square">
            <a:spAutoFit/>
          </a:bodyPr>
          <a:lstStyle/>
          <a:p>
            <a:r>
              <a:rPr lang="en-US" b="0" i="0" dirty="0">
                <a:effectLst/>
                <a:latin typeface="Google Sans"/>
              </a:rPr>
              <a:t>Template can be used to create different configurations by varying the input values</a:t>
            </a:r>
            <a:endParaRPr lang="en-IN" dirty="0"/>
          </a:p>
        </p:txBody>
      </p:sp>
    </p:spTree>
    <p:extLst>
      <p:ext uri="{BB962C8B-B14F-4D97-AF65-F5344CB8AC3E}">
        <p14:creationId xmlns:p14="http://schemas.microsoft.com/office/powerpoint/2010/main" val="41619053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4C68C2-0AAC-DF0A-B8C0-C88DD6D5AF98}"/>
              </a:ext>
            </a:extLst>
          </p:cNvPr>
          <p:cNvSpPr>
            <a:spLocks noGrp="1"/>
          </p:cNvSpPr>
          <p:nvPr>
            <p:ph type="title"/>
          </p:nvPr>
        </p:nvSpPr>
        <p:spPr>
          <a:xfrm>
            <a:off x="838200" y="365126"/>
            <a:ext cx="10515600" cy="418646"/>
          </a:xfrm>
        </p:spPr>
        <p:txBody>
          <a:bodyPr>
            <a:normAutofit fontScale="90000"/>
          </a:bodyPr>
          <a:lstStyle/>
          <a:p>
            <a:r>
              <a:rPr lang="en-IN" dirty="0"/>
              <a:t>Helm vs k8s</a:t>
            </a:r>
          </a:p>
        </p:txBody>
      </p:sp>
      <p:pic>
        <p:nvPicPr>
          <p:cNvPr id="4" name="Picture 3">
            <a:extLst>
              <a:ext uri="{FF2B5EF4-FFF2-40B4-BE49-F238E27FC236}">
                <a16:creationId xmlns:a16="http://schemas.microsoft.com/office/drawing/2014/main" id="{754ED314-FB77-06FC-1E87-9EB316C16501}"/>
              </a:ext>
            </a:extLst>
          </p:cNvPr>
          <p:cNvPicPr>
            <a:picLocks noChangeAspect="1"/>
          </p:cNvPicPr>
          <p:nvPr/>
        </p:nvPicPr>
        <p:blipFill>
          <a:blip r:embed="rId2"/>
          <a:stretch>
            <a:fillRect/>
          </a:stretch>
        </p:blipFill>
        <p:spPr>
          <a:xfrm>
            <a:off x="228601" y="1479840"/>
            <a:ext cx="5405078" cy="2765589"/>
          </a:xfrm>
          <a:prstGeom prst="rect">
            <a:avLst/>
          </a:prstGeom>
        </p:spPr>
      </p:pic>
      <p:pic>
        <p:nvPicPr>
          <p:cNvPr id="6" name="Picture 5">
            <a:extLst>
              <a:ext uri="{FF2B5EF4-FFF2-40B4-BE49-F238E27FC236}">
                <a16:creationId xmlns:a16="http://schemas.microsoft.com/office/drawing/2014/main" id="{DE80D423-2BC5-6AEA-B923-16F0B8E54475}"/>
              </a:ext>
            </a:extLst>
          </p:cNvPr>
          <p:cNvPicPr>
            <a:picLocks noChangeAspect="1"/>
          </p:cNvPicPr>
          <p:nvPr/>
        </p:nvPicPr>
        <p:blipFill>
          <a:blip r:embed="rId3"/>
          <a:stretch>
            <a:fillRect/>
          </a:stretch>
        </p:blipFill>
        <p:spPr>
          <a:xfrm>
            <a:off x="6259286" y="1479840"/>
            <a:ext cx="5704113" cy="2721571"/>
          </a:xfrm>
          <a:prstGeom prst="rect">
            <a:avLst/>
          </a:prstGeom>
        </p:spPr>
      </p:pic>
      <p:sp>
        <p:nvSpPr>
          <p:cNvPr id="8" name="TextBox 7">
            <a:extLst>
              <a:ext uri="{FF2B5EF4-FFF2-40B4-BE49-F238E27FC236}">
                <a16:creationId xmlns:a16="http://schemas.microsoft.com/office/drawing/2014/main" id="{38CC545B-103C-DE3C-CED6-742BB239E021}"/>
              </a:ext>
            </a:extLst>
          </p:cNvPr>
          <p:cNvSpPr txBox="1"/>
          <p:nvPr/>
        </p:nvSpPr>
        <p:spPr>
          <a:xfrm>
            <a:off x="2585679" y="5193494"/>
            <a:ext cx="6096000" cy="369332"/>
          </a:xfrm>
          <a:prstGeom prst="rect">
            <a:avLst/>
          </a:prstGeom>
          <a:noFill/>
        </p:spPr>
        <p:txBody>
          <a:bodyPr wrap="square">
            <a:spAutoFit/>
          </a:bodyPr>
          <a:lstStyle/>
          <a:p>
            <a:r>
              <a:rPr lang="en-IN" dirty="0">
                <a:hlinkClick r:id="rId4"/>
              </a:rPr>
              <a:t>https://www.youtube.com/watch?v=DQk8HOVlumI</a:t>
            </a:r>
            <a:r>
              <a:rPr lang="en-IN" dirty="0"/>
              <a:t> </a:t>
            </a:r>
          </a:p>
        </p:txBody>
      </p:sp>
    </p:spTree>
    <p:extLst>
      <p:ext uri="{BB962C8B-B14F-4D97-AF65-F5344CB8AC3E}">
        <p14:creationId xmlns:p14="http://schemas.microsoft.com/office/powerpoint/2010/main" val="5565208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95AD2CA-8F9B-D80D-2FFC-355CADA19344}"/>
              </a:ext>
            </a:extLst>
          </p:cNvPr>
          <p:cNvSpPr txBox="1"/>
          <p:nvPr/>
        </p:nvSpPr>
        <p:spPr>
          <a:xfrm>
            <a:off x="821872" y="158607"/>
            <a:ext cx="9481457" cy="1107996"/>
          </a:xfrm>
          <a:prstGeom prst="rect">
            <a:avLst/>
          </a:prstGeom>
          <a:noFill/>
        </p:spPr>
        <p:txBody>
          <a:bodyPr wrap="square" rtlCol="0">
            <a:spAutoFit/>
          </a:bodyPr>
          <a:lstStyle/>
          <a:p>
            <a:r>
              <a:rPr lang="en-US" dirty="0"/>
              <a:t>In </a:t>
            </a:r>
            <a:r>
              <a:rPr lang="en-US" dirty="0">
                <a:hlinkClick r:id="rId2" tooltip="Software architecture"/>
              </a:rPr>
              <a:t>software architecture</a:t>
            </a:r>
            <a:r>
              <a:rPr lang="en-US" dirty="0"/>
              <a:t>, a </a:t>
            </a:r>
            <a:r>
              <a:rPr lang="en-US" b="1" dirty="0"/>
              <a:t>service mesh</a:t>
            </a:r>
            <a:r>
              <a:rPr lang="en-US" dirty="0"/>
              <a:t> is a dedicated infrastructure layer for facilitating service-to-service communications between </a:t>
            </a:r>
            <a:r>
              <a:rPr lang="en-US" dirty="0">
                <a:hlinkClick r:id="rId3" tooltip="Service-oriented architecture"/>
              </a:rPr>
              <a:t>services</a:t>
            </a:r>
            <a:r>
              <a:rPr lang="en-US" dirty="0"/>
              <a:t> or </a:t>
            </a:r>
            <a:r>
              <a:rPr lang="en-US" dirty="0">
                <a:hlinkClick r:id="rId4" tooltip="Microservices"/>
              </a:rPr>
              <a:t>microservices</a:t>
            </a:r>
            <a:r>
              <a:rPr lang="en-US" dirty="0"/>
              <a:t> using a </a:t>
            </a:r>
            <a:r>
              <a:rPr lang="en-US" dirty="0">
                <a:hlinkClick r:id="rId5" tooltip="Proxy pattern"/>
              </a:rPr>
              <a:t>proxy</a:t>
            </a:r>
            <a:r>
              <a:rPr lang="en-US" dirty="0"/>
              <a:t>.</a:t>
            </a:r>
            <a:endParaRPr lang="en-US" baseline="30000" dirty="0"/>
          </a:p>
          <a:p>
            <a:endParaRPr lang="en-US" baseline="30000" dirty="0"/>
          </a:p>
          <a:p>
            <a:endParaRPr lang="en-IN" dirty="0"/>
          </a:p>
        </p:txBody>
      </p:sp>
      <p:sp>
        <p:nvSpPr>
          <p:cNvPr id="4" name="TextBox 3">
            <a:extLst>
              <a:ext uri="{FF2B5EF4-FFF2-40B4-BE49-F238E27FC236}">
                <a16:creationId xmlns:a16="http://schemas.microsoft.com/office/drawing/2014/main" id="{5E6FBF4F-D878-D93A-7C5C-07EDD56B91BE}"/>
              </a:ext>
            </a:extLst>
          </p:cNvPr>
          <p:cNvSpPr txBox="1"/>
          <p:nvPr/>
        </p:nvSpPr>
        <p:spPr>
          <a:xfrm>
            <a:off x="419101" y="1057694"/>
            <a:ext cx="6047014" cy="4555093"/>
          </a:xfrm>
          <a:prstGeom prst="rect">
            <a:avLst/>
          </a:prstGeom>
          <a:noFill/>
        </p:spPr>
        <p:txBody>
          <a:bodyPr wrap="square" rtlCol="0">
            <a:spAutoFit/>
          </a:bodyPr>
          <a:lstStyle/>
          <a:p>
            <a:r>
              <a:rPr lang="en-IN" b="1" u="sng" dirty="0"/>
              <a:t>Why use Service Mesh?</a:t>
            </a:r>
          </a:p>
          <a:p>
            <a:pPr marL="285750" indent="-285750">
              <a:buFont typeface="Arial" panose="020B0604020202020204" pitchFamily="34" charset="0"/>
              <a:buChar char="•"/>
            </a:pPr>
            <a:r>
              <a:rPr lang="en-US" sz="1600" dirty="0"/>
              <a:t>Manages Inter-Service Communication: In complex microservices architectures, services need to communicate with each other to fulfill a request. A service mesh acts as an intermediary, managing this communication, </a:t>
            </a:r>
            <a:r>
              <a:rPr lang="en-US" sz="1600" dirty="0">
                <a:hlinkClick r:id="rId6"/>
              </a:rPr>
              <a:t>according to Amazon.com</a:t>
            </a:r>
            <a:r>
              <a:rPr lang="en-US" sz="1600" dirty="0"/>
              <a:t>. Instead of services communicating directly, they send requests through the service mesh's proxies.</a:t>
            </a:r>
          </a:p>
          <a:p>
            <a:pPr marL="285750" indent="-285750">
              <a:buFont typeface="Arial" panose="020B0604020202020204" pitchFamily="34" charset="0"/>
              <a:buChar char="•"/>
            </a:pPr>
            <a:r>
              <a:rPr lang="en-US" sz="1600" dirty="0"/>
              <a:t>Decouples Business Logic from Network Concerns: Before service meshes, developers would often embed logic for tasks like load balancing, retries, and security into the code of each individual service. This led to duplicated effort and increased complexity within the application code. A service mesh abstracts these network-related functions into a separate infrastructure layer, allowing developers to focus on the core business logic of their services.</a:t>
            </a:r>
          </a:p>
          <a:p>
            <a:pPr marL="285750" indent="-285750">
              <a:buFont typeface="Arial" panose="020B0604020202020204" pitchFamily="34" charset="0"/>
              <a:buChar char="•"/>
            </a:pPr>
            <a:r>
              <a:rPr lang="en-US" sz="1600" dirty="0"/>
              <a:t>Enhances Manageability, Observability, and Security: A service mesh provides features that make it easier to manage, monitor, and secure microservices-based applications. </a:t>
            </a:r>
          </a:p>
        </p:txBody>
      </p:sp>
      <p:sp>
        <p:nvSpPr>
          <p:cNvPr id="5" name="TextBox 4">
            <a:extLst>
              <a:ext uri="{FF2B5EF4-FFF2-40B4-BE49-F238E27FC236}">
                <a16:creationId xmlns:a16="http://schemas.microsoft.com/office/drawing/2014/main" id="{AF4B5C58-D2F2-0C53-950A-42E1B945597C}"/>
              </a:ext>
            </a:extLst>
          </p:cNvPr>
          <p:cNvSpPr txBox="1"/>
          <p:nvPr/>
        </p:nvSpPr>
        <p:spPr>
          <a:xfrm>
            <a:off x="6466115" y="1057694"/>
            <a:ext cx="5562599" cy="5755422"/>
          </a:xfrm>
          <a:prstGeom prst="rect">
            <a:avLst/>
          </a:prstGeom>
          <a:noFill/>
        </p:spPr>
        <p:txBody>
          <a:bodyPr wrap="square" rtlCol="0">
            <a:spAutoFit/>
          </a:bodyPr>
          <a:lstStyle/>
          <a:p>
            <a:r>
              <a:rPr lang="en-US" sz="1600" b="1" u="sng" dirty="0"/>
              <a:t>Benefits</a:t>
            </a:r>
          </a:p>
          <a:p>
            <a:pPr marL="285750" indent="-285750">
              <a:buFont typeface="Arial" panose="020B0604020202020204" pitchFamily="34" charset="0"/>
              <a:buChar char="•"/>
            </a:pPr>
            <a:r>
              <a:rPr lang="en-US" sz="1600" dirty="0"/>
              <a:t>Improved Observability: Service meshes offer built-in observability features like distributed tracing, metrics collection, and logging, giving insights into service behavior and performance. This helps identify bottlenecks and troubleshoot issues in complex microservices environments.</a:t>
            </a:r>
          </a:p>
          <a:p>
            <a:pPr marL="285750" indent="-285750">
              <a:buFont typeface="Arial" panose="020B0604020202020204" pitchFamily="34" charset="0"/>
              <a:buChar char="•"/>
            </a:pPr>
            <a:r>
              <a:rPr lang="en-US" sz="1600" dirty="0"/>
              <a:t>Enhanced Security: Service meshes provide security features such as mutual TLS (</a:t>
            </a:r>
            <a:r>
              <a:rPr lang="en-US" sz="1600" dirty="0" err="1"/>
              <a:t>mTLS</a:t>
            </a:r>
            <a:r>
              <a:rPr lang="en-US" sz="1600" dirty="0"/>
              <a:t>) encryption, ensuring secure communication between services. They can also enforce fine-grained access control policies.</a:t>
            </a:r>
          </a:p>
          <a:p>
            <a:pPr marL="285750" indent="-285750">
              <a:buFont typeface="Arial" panose="020B0604020202020204" pitchFamily="34" charset="0"/>
              <a:buChar char="•"/>
            </a:pPr>
            <a:r>
              <a:rPr lang="en-US" sz="1600" dirty="0"/>
              <a:t>Centralized Traffic Management: Service meshes enable fine-grained control over traffic flow between services, supporting features like load balancing, traffic splitting (for A/B testing or canary deployments), retries, and circuit breaking. This enhances reliability and resilience.</a:t>
            </a:r>
          </a:p>
          <a:p>
            <a:pPr marL="285750" indent="-285750">
              <a:buFont typeface="Arial" panose="020B0604020202020204" pitchFamily="34" charset="0"/>
              <a:buChar char="•"/>
            </a:pPr>
            <a:r>
              <a:rPr lang="en-US" sz="1600" dirty="0"/>
              <a:t>Increased Resilience and Reliability: By implementing features like circuit breaking, retries, and timeouts, service meshes help mitigate the impact of failures and network issues, improving the overall fault tolerance of the system.</a:t>
            </a:r>
          </a:p>
          <a:p>
            <a:pPr marL="285750" indent="-285750">
              <a:buFont typeface="Arial" panose="020B0604020202020204" pitchFamily="34" charset="0"/>
              <a:buChar char="•"/>
            </a:pPr>
            <a:r>
              <a:rPr lang="en-US" sz="1600" dirty="0"/>
              <a:t>Faster Development and Deployment: By abstracting network-related complexities, developers can focus on writing and deploying their core business logic more quickly. </a:t>
            </a:r>
          </a:p>
          <a:p>
            <a:endParaRPr lang="en-IN" sz="1600" dirty="0"/>
          </a:p>
        </p:txBody>
      </p:sp>
    </p:spTree>
    <p:extLst>
      <p:ext uri="{BB962C8B-B14F-4D97-AF65-F5344CB8AC3E}">
        <p14:creationId xmlns:p14="http://schemas.microsoft.com/office/powerpoint/2010/main" val="33548365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A653D36-6DF3-05E5-F23D-555B26BB5569}"/>
              </a:ext>
            </a:extLst>
          </p:cNvPr>
          <p:cNvSpPr txBox="1"/>
          <p:nvPr/>
        </p:nvSpPr>
        <p:spPr>
          <a:xfrm>
            <a:off x="446314" y="300315"/>
            <a:ext cx="5475515" cy="4272965"/>
          </a:xfrm>
          <a:prstGeom prst="rect">
            <a:avLst/>
          </a:prstGeom>
          <a:noFill/>
        </p:spPr>
        <p:txBody>
          <a:bodyPr wrap="square">
            <a:spAutoFit/>
          </a:bodyPr>
          <a:lstStyle/>
          <a:p>
            <a:pPr algn="l">
              <a:lnSpc>
                <a:spcPts val="2100"/>
              </a:lnSpc>
              <a:spcBef>
                <a:spcPts val="2250"/>
              </a:spcBef>
              <a:spcAft>
                <a:spcPts val="2250"/>
              </a:spcAft>
              <a:buNone/>
            </a:pPr>
            <a:r>
              <a:rPr lang="en-US" sz="1600" b="1" i="0" u="sng" dirty="0">
                <a:effectLst/>
                <a:latin typeface="Google Sans"/>
              </a:rPr>
              <a:t>Challenges</a:t>
            </a:r>
          </a:p>
          <a:p>
            <a:pPr algn="l">
              <a:lnSpc>
                <a:spcPts val="1800"/>
              </a:lnSpc>
              <a:spcBef>
                <a:spcPts val="1200"/>
              </a:spcBef>
              <a:spcAft>
                <a:spcPts val="600"/>
              </a:spcAft>
              <a:buFont typeface="Arial" panose="020B0604020202020204" pitchFamily="34" charset="0"/>
              <a:buChar char="•"/>
            </a:pPr>
            <a:r>
              <a:rPr lang="en-US" sz="1600" b="0" i="0" dirty="0">
                <a:effectLst/>
                <a:latin typeface="Google Sans"/>
              </a:rPr>
              <a:t>Increased Complexity: Implementing and managing a service mesh introduces additional components and overhead to the infrastructure.</a:t>
            </a:r>
          </a:p>
          <a:p>
            <a:pPr algn="l">
              <a:lnSpc>
                <a:spcPts val="1800"/>
              </a:lnSpc>
              <a:spcBef>
                <a:spcPts val="1200"/>
              </a:spcBef>
              <a:spcAft>
                <a:spcPts val="600"/>
              </a:spcAft>
              <a:buFont typeface="Arial" panose="020B0604020202020204" pitchFamily="34" charset="0"/>
              <a:buChar char="•"/>
            </a:pPr>
            <a:r>
              <a:rPr lang="en-US" sz="1600" b="0" i="0" dirty="0">
                <a:effectLst/>
                <a:latin typeface="Google Sans"/>
              </a:rPr>
              <a:t>Resource Consumption: Sidecar proxies consume additional CPU and memory, which can impact performance, particularly in large-scale deployments.</a:t>
            </a:r>
          </a:p>
          <a:p>
            <a:pPr algn="l">
              <a:lnSpc>
                <a:spcPts val="1800"/>
              </a:lnSpc>
              <a:spcBef>
                <a:spcPts val="1200"/>
              </a:spcBef>
              <a:spcAft>
                <a:spcPts val="600"/>
              </a:spcAft>
              <a:buFont typeface="Arial" panose="020B0604020202020204" pitchFamily="34" charset="0"/>
              <a:buChar char="•"/>
            </a:pPr>
            <a:r>
              <a:rPr lang="en-US" sz="1600" b="0" i="0" dirty="0">
                <a:effectLst/>
                <a:latin typeface="Google Sans"/>
              </a:rPr>
              <a:t>Learning Curve: Teams need to acquire expertise in service mesh technologies to effectively configure and troubleshoot them.</a:t>
            </a:r>
          </a:p>
          <a:p>
            <a:pPr algn="l">
              <a:lnSpc>
                <a:spcPts val="1800"/>
              </a:lnSpc>
              <a:spcBef>
                <a:spcPts val="1200"/>
              </a:spcBef>
              <a:spcAft>
                <a:spcPts val="600"/>
              </a:spcAft>
              <a:buFont typeface="Arial" panose="020B0604020202020204" pitchFamily="34" charset="0"/>
              <a:buChar char="•"/>
            </a:pPr>
            <a:r>
              <a:rPr lang="en-US" sz="1600" b="0" i="0" dirty="0">
                <a:effectLst/>
                <a:latin typeface="Google Sans"/>
              </a:rPr>
              <a:t>Potential Vendor Lock-in: Some service mesh solutions are tightly integrated with specific platforms, which could limit flexibility and portability. </a:t>
            </a:r>
          </a:p>
        </p:txBody>
      </p:sp>
      <p:sp>
        <p:nvSpPr>
          <p:cNvPr id="5" name="TextBox 4">
            <a:extLst>
              <a:ext uri="{FF2B5EF4-FFF2-40B4-BE49-F238E27FC236}">
                <a16:creationId xmlns:a16="http://schemas.microsoft.com/office/drawing/2014/main" id="{0C3FA19D-3476-BFA9-26BB-343559976ADC}"/>
              </a:ext>
            </a:extLst>
          </p:cNvPr>
          <p:cNvSpPr txBox="1"/>
          <p:nvPr/>
        </p:nvSpPr>
        <p:spPr>
          <a:xfrm>
            <a:off x="6542314" y="300315"/>
            <a:ext cx="4724400" cy="3580467"/>
          </a:xfrm>
          <a:prstGeom prst="rect">
            <a:avLst/>
          </a:prstGeom>
          <a:noFill/>
        </p:spPr>
        <p:txBody>
          <a:bodyPr wrap="square">
            <a:spAutoFit/>
          </a:bodyPr>
          <a:lstStyle/>
          <a:p>
            <a:pPr algn="l">
              <a:lnSpc>
                <a:spcPts val="2100"/>
              </a:lnSpc>
              <a:spcBef>
                <a:spcPts val="2250"/>
              </a:spcBef>
              <a:spcAft>
                <a:spcPts val="2250"/>
              </a:spcAft>
              <a:buNone/>
            </a:pPr>
            <a:r>
              <a:rPr lang="en-US" sz="1600" b="1" i="0" u="sng" dirty="0">
                <a:effectLst/>
                <a:latin typeface="Google Sans"/>
              </a:rPr>
              <a:t>Popular Service Mesh Implementations</a:t>
            </a:r>
          </a:p>
          <a:p>
            <a:pPr algn="l">
              <a:lnSpc>
                <a:spcPts val="1800"/>
              </a:lnSpc>
              <a:spcBef>
                <a:spcPts val="1200"/>
              </a:spcBef>
              <a:spcAft>
                <a:spcPts val="600"/>
              </a:spcAft>
              <a:buFont typeface="Arial" panose="020B0604020202020204" pitchFamily="34" charset="0"/>
              <a:buChar char="•"/>
            </a:pPr>
            <a:r>
              <a:rPr lang="en-US" sz="1600" b="0" i="0" dirty="0">
                <a:effectLst/>
                <a:latin typeface="Google Sans"/>
              </a:rPr>
              <a:t>Istio: A widely adopted, feature-rich service mesh, often used with Kubernetes.</a:t>
            </a:r>
          </a:p>
          <a:p>
            <a:pPr algn="l">
              <a:lnSpc>
                <a:spcPts val="1800"/>
              </a:lnSpc>
              <a:spcBef>
                <a:spcPts val="1200"/>
              </a:spcBef>
              <a:spcAft>
                <a:spcPts val="600"/>
              </a:spcAft>
              <a:buFont typeface="Arial" panose="020B0604020202020204" pitchFamily="34" charset="0"/>
              <a:buChar char="•"/>
            </a:pPr>
            <a:r>
              <a:rPr lang="en-US" sz="1600" b="0" i="0" dirty="0" err="1">
                <a:effectLst/>
                <a:latin typeface="Google Sans"/>
              </a:rPr>
              <a:t>Linkerd</a:t>
            </a:r>
            <a:r>
              <a:rPr lang="en-US" sz="1600" b="0" i="0" dirty="0">
                <a:effectLst/>
                <a:latin typeface="Google Sans"/>
              </a:rPr>
              <a:t>: A lightweight and easy-to-use service mesh focused on simplicity and performance.</a:t>
            </a:r>
          </a:p>
          <a:p>
            <a:pPr algn="l">
              <a:lnSpc>
                <a:spcPts val="1800"/>
              </a:lnSpc>
              <a:spcBef>
                <a:spcPts val="1200"/>
              </a:spcBef>
              <a:spcAft>
                <a:spcPts val="600"/>
              </a:spcAft>
              <a:buFont typeface="Arial" panose="020B0604020202020204" pitchFamily="34" charset="0"/>
              <a:buChar char="•"/>
            </a:pPr>
            <a:r>
              <a:rPr lang="en-US" sz="1600" b="0" i="0" dirty="0">
                <a:effectLst/>
                <a:latin typeface="Google Sans"/>
              </a:rPr>
              <a:t>Consul Connect: Offered by </a:t>
            </a:r>
            <a:r>
              <a:rPr lang="en-US" sz="1600" b="0" i="0" dirty="0" err="1">
                <a:effectLst/>
                <a:latin typeface="Google Sans"/>
              </a:rPr>
              <a:t>HashiCorp</a:t>
            </a:r>
            <a:r>
              <a:rPr lang="en-US" sz="1600" b="0" i="0" dirty="0">
                <a:effectLst/>
                <a:latin typeface="Google Sans"/>
              </a:rPr>
              <a:t>, it provides service mesh features as part of its service discovery and configuration platform.</a:t>
            </a:r>
          </a:p>
          <a:p>
            <a:pPr algn="l">
              <a:lnSpc>
                <a:spcPts val="1800"/>
              </a:lnSpc>
              <a:spcBef>
                <a:spcPts val="1200"/>
              </a:spcBef>
              <a:spcAft>
                <a:spcPts val="600"/>
              </a:spcAft>
              <a:buFont typeface="Arial" panose="020B0604020202020204" pitchFamily="34" charset="0"/>
              <a:buChar char="•"/>
            </a:pPr>
            <a:r>
              <a:rPr lang="en-US" sz="1600" b="0" i="0" dirty="0">
                <a:effectLst/>
                <a:latin typeface="Google Sans"/>
              </a:rPr>
              <a:t>AWS App Mesh: Amazon's fully managed service mesh, tightly integrated with AWS services. </a:t>
            </a:r>
          </a:p>
        </p:txBody>
      </p:sp>
      <p:sp>
        <p:nvSpPr>
          <p:cNvPr id="4" name="TextBox 3">
            <a:extLst>
              <a:ext uri="{FF2B5EF4-FFF2-40B4-BE49-F238E27FC236}">
                <a16:creationId xmlns:a16="http://schemas.microsoft.com/office/drawing/2014/main" id="{E1E669F3-7F01-D789-6932-FFEA5E8D2435}"/>
              </a:ext>
            </a:extLst>
          </p:cNvPr>
          <p:cNvSpPr txBox="1"/>
          <p:nvPr/>
        </p:nvSpPr>
        <p:spPr>
          <a:xfrm>
            <a:off x="3799114" y="5584762"/>
            <a:ext cx="6096000" cy="923330"/>
          </a:xfrm>
          <a:prstGeom prst="rect">
            <a:avLst/>
          </a:prstGeom>
          <a:noFill/>
        </p:spPr>
        <p:txBody>
          <a:bodyPr wrap="square">
            <a:spAutoFit/>
          </a:bodyPr>
          <a:lstStyle/>
          <a:p>
            <a:r>
              <a:rPr lang="en-IN" dirty="0">
                <a:hlinkClick r:id="rId2"/>
              </a:rPr>
              <a:t>https://www.youtube.com/watch?v=16fgzklcF7Y</a:t>
            </a:r>
            <a:r>
              <a:rPr lang="en-IN" dirty="0"/>
              <a:t> </a:t>
            </a:r>
          </a:p>
          <a:p>
            <a:endParaRPr lang="en-IN" dirty="0"/>
          </a:p>
          <a:p>
            <a:r>
              <a:rPr lang="en-IN" dirty="0">
                <a:hlinkClick r:id="rId3"/>
              </a:rPr>
              <a:t>https://www.youtube.com/watch?v=voAyroDb6xk</a:t>
            </a:r>
            <a:r>
              <a:rPr lang="en-IN" dirty="0"/>
              <a:t> </a:t>
            </a:r>
          </a:p>
        </p:txBody>
      </p:sp>
    </p:spTree>
    <p:extLst>
      <p:ext uri="{BB962C8B-B14F-4D97-AF65-F5344CB8AC3E}">
        <p14:creationId xmlns:p14="http://schemas.microsoft.com/office/powerpoint/2010/main" val="34161457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0CCEFB9-90A9-A3C6-5C17-0B5044C49B32}"/>
              </a:ext>
            </a:extLst>
          </p:cNvPr>
          <p:cNvPicPr>
            <a:picLocks noChangeAspect="1"/>
          </p:cNvPicPr>
          <p:nvPr/>
        </p:nvPicPr>
        <p:blipFill>
          <a:blip r:embed="rId2"/>
          <a:stretch>
            <a:fillRect/>
          </a:stretch>
        </p:blipFill>
        <p:spPr>
          <a:xfrm>
            <a:off x="2002971" y="720789"/>
            <a:ext cx="8186057" cy="3736226"/>
          </a:xfrm>
          <a:prstGeom prst="rect">
            <a:avLst/>
          </a:prstGeom>
        </p:spPr>
      </p:pic>
      <p:sp>
        <p:nvSpPr>
          <p:cNvPr id="7" name="TextBox 6">
            <a:extLst>
              <a:ext uri="{FF2B5EF4-FFF2-40B4-BE49-F238E27FC236}">
                <a16:creationId xmlns:a16="http://schemas.microsoft.com/office/drawing/2014/main" id="{DAADB940-FF6B-1419-53A5-FAF3EB42B243}"/>
              </a:ext>
            </a:extLst>
          </p:cNvPr>
          <p:cNvSpPr txBox="1"/>
          <p:nvPr/>
        </p:nvSpPr>
        <p:spPr>
          <a:xfrm>
            <a:off x="195943" y="4791633"/>
            <a:ext cx="6096000" cy="1480534"/>
          </a:xfrm>
          <a:prstGeom prst="rect">
            <a:avLst/>
          </a:prstGeom>
          <a:noFill/>
        </p:spPr>
        <p:txBody>
          <a:bodyPr wrap="square">
            <a:spAutoFit/>
          </a:bodyPr>
          <a:lstStyle/>
          <a:p>
            <a:pPr algn="l">
              <a:lnSpc>
                <a:spcPts val="1800"/>
              </a:lnSpc>
              <a:spcBef>
                <a:spcPts val="1200"/>
              </a:spcBef>
              <a:spcAft>
                <a:spcPts val="600"/>
              </a:spcAft>
            </a:pPr>
            <a:r>
              <a:rPr lang="en-US" b="1" i="0" dirty="0">
                <a:effectLst/>
                <a:latin typeface="Google Sans"/>
              </a:rPr>
              <a:t>Data Plane</a:t>
            </a:r>
            <a:r>
              <a:rPr lang="en-US" b="0" i="0" dirty="0">
                <a:effectLst/>
                <a:latin typeface="Google Sans"/>
              </a:rPr>
              <a:t>: This consists of lightweight proxies, often referred to as sidecars, deployed alongside each service instance. These sidecars intercept and manage all incoming and outgoing traffic for the service. They handle tasks such as traffic routing, load balancing, enforcing security policies, and collecting telemetry data.</a:t>
            </a:r>
          </a:p>
        </p:txBody>
      </p:sp>
      <p:sp>
        <p:nvSpPr>
          <p:cNvPr id="9" name="TextBox 8">
            <a:extLst>
              <a:ext uri="{FF2B5EF4-FFF2-40B4-BE49-F238E27FC236}">
                <a16:creationId xmlns:a16="http://schemas.microsoft.com/office/drawing/2014/main" id="{AC786DCD-A686-EA34-D499-7B1106A09B2B}"/>
              </a:ext>
            </a:extLst>
          </p:cNvPr>
          <p:cNvSpPr txBox="1"/>
          <p:nvPr/>
        </p:nvSpPr>
        <p:spPr>
          <a:xfrm>
            <a:off x="6400800" y="4676217"/>
            <a:ext cx="6096000" cy="1711366"/>
          </a:xfrm>
          <a:prstGeom prst="rect">
            <a:avLst/>
          </a:prstGeom>
          <a:noFill/>
        </p:spPr>
        <p:txBody>
          <a:bodyPr wrap="square">
            <a:spAutoFit/>
          </a:bodyPr>
          <a:lstStyle/>
          <a:p>
            <a:pPr algn="l">
              <a:lnSpc>
                <a:spcPts val="1800"/>
              </a:lnSpc>
              <a:spcBef>
                <a:spcPts val="1200"/>
              </a:spcBef>
              <a:spcAft>
                <a:spcPts val="600"/>
              </a:spcAft>
            </a:pPr>
            <a:r>
              <a:rPr lang="en-US" b="1" i="0" dirty="0">
                <a:effectLst/>
                <a:latin typeface="Google Sans"/>
              </a:rPr>
              <a:t>Control Plane</a:t>
            </a:r>
            <a:r>
              <a:rPr lang="en-US" b="0" i="0" dirty="0">
                <a:effectLst/>
                <a:latin typeface="Google Sans"/>
              </a:rPr>
              <a:t>: This acts as the central management layer, configuring and monitoring the data plane. It allows administrators to define and distribute policies, security settings, and traffic rules to the sidecar proxies. The control plane also collects and aggregates telemetry data (metrics, logs, traces) from the sidecars, providing insights into the microservices' communication. </a:t>
            </a:r>
          </a:p>
        </p:txBody>
      </p:sp>
      <p:sp>
        <p:nvSpPr>
          <p:cNvPr id="10" name="Title 1">
            <a:extLst>
              <a:ext uri="{FF2B5EF4-FFF2-40B4-BE49-F238E27FC236}">
                <a16:creationId xmlns:a16="http://schemas.microsoft.com/office/drawing/2014/main" id="{2E09396C-2230-9183-37CE-A4D0AE7F61C8}"/>
              </a:ext>
            </a:extLst>
          </p:cNvPr>
          <p:cNvSpPr txBox="1">
            <a:spLocks/>
          </p:cNvSpPr>
          <p:nvPr/>
        </p:nvSpPr>
        <p:spPr>
          <a:xfrm>
            <a:off x="195943" y="156301"/>
            <a:ext cx="10515600" cy="429532"/>
          </a:xfrm>
          <a:prstGeom prst="rect">
            <a:avLst/>
          </a:prstGeom>
        </p:spPr>
        <p:txBody>
          <a:bodyPr>
            <a:normAutofit fontScale="60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dirty="0"/>
              <a:t>Istio Architecture</a:t>
            </a:r>
          </a:p>
        </p:txBody>
      </p:sp>
    </p:spTree>
    <p:extLst>
      <p:ext uri="{BB962C8B-B14F-4D97-AF65-F5344CB8AC3E}">
        <p14:creationId xmlns:p14="http://schemas.microsoft.com/office/powerpoint/2010/main" val="37844439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3EB3B-2390-8E94-6F42-AA0B385FB3E7}"/>
              </a:ext>
            </a:extLst>
          </p:cNvPr>
          <p:cNvSpPr>
            <a:spLocks noGrp="1"/>
          </p:cNvSpPr>
          <p:nvPr>
            <p:ph type="title"/>
          </p:nvPr>
        </p:nvSpPr>
        <p:spPr>
          <a:xfrm>
            <a:off x="838200" y="365126"/>
            <a:ext cx="10515600" cy="505732"/>
          </a:xfrm>
        </p:spPr>
        <p:txBody>
          <a:bodyPr>
            <a:normAutofit fontScale="90000"/>
          </a:bodyPr>
          <a:lstStyle/>
          <a:p>
            <a:r>
              <a:rPr lang="en-IN" dirty="0"/>
              <a:t>Virtual Service and Destination Rule</a:t>
            </a:r>
          </a:p>
        </p:txBody>
      </p:sp>
      <p:pic>
        <p:nvPicPr>
          <p:cNvPr id="4" name="Picture 3">
            <a:extLst>
              <a:ext uri="{FF2B5EF4-FFF2-40B4-BE49-F238E27FC236}">
                <a16:creationId xmlns:a16="http://schemas.microsoft.com/office/drawing/2014/main" id="{4EFEBBD6-7820-A001-6ADF-C476F538FA22}"/>
              </a:ext>
            </a:extLst>
          </p:cNvPr>
          <p:cNvPicPr>
            <a:picLocks noChangeAspect="1"/>
          </p:cNvPicPr>
          <p:nvPr/>
        </p:nvPicPr>
        <p:blipFill>
          <a:blip r:embed="rId2"/>
          <a:stretch>
            <a:fillRect/>
          </a:stretch>
        </p:blipFill>
        <p:spPr>
          <a:xfrm>
            <a:off x="838200" y="1132112"/>
            <a:ext cx="5000322" cy="5497287"/>
          </a:xfrm>
          <a:prstGeom prst="rect">
            <a:avLst/>
          </a:prstGeom>
        </p:spPr>
      </p:pic>
      <p:sp>
        <p:nvSpPr>
          <p:cNvPr id="6" name="TextBox 5">
            <a:extLst>
              <a:ext uri="{FF2B5EF4-FFF2-40B4-BE49-F238E27FC236}">
                <a16:creationId xmlns:a16="http://schemas.microsoft.com/office/drawing/2014/main" id="{2140ED62-484E-F38D-19B9-854BB6A9A6B3}"/>
              </a:ext>
            </a:extLst>
          </p:cNvPr>
          <p:cNvSpPr txBox="1"/>
          <p:nvPr/>
        </p:nvSpPr>
        <p:spPr>
          <a:xfrm>
            <a:off x="6096000" y="942771"/>
            <a:ext cx="5758544" cy="5875968"/>
          </a:xfrm>
          <a:prstGeom prst="rect">
            <a:avLst/>
          </a:prstGeom>
          <a:noFill/>
        </p:spPr>
        <p:txBody>
          <a:bodyPr wrap="square">
            <a:spAutoFit/>
          </a:bodyPr>
          <a:lstStyle/>
          <a:p>
            <a:pPr algn="l">
              <a:lnSpc>
                <a:spcPts val="1650"/>
              </a:lnSpc>
              <a:spcBef>
                <a:spcPts val="750"/>
              </a:spcBef>
              <a:spcAft>
                <a:spcPts val="600"/>
              </a:spcAft>
              <a:buFont typeface="Arial" panose="020B0604020202020204" pitchFamily="34" charset="0"/>
              <a:buChar char="•"/>
            </a:pPr>
            <a:r>
              <a:rPr lang="en-US" sz="1600" b="1" i="0" dirty="0" err="1">
                <a:solidFill>
                  <a:srgbClr val="EEF0FF"/>
                </a:solidFill>
                <a:effectLst/>
                <a:latin typeface="Google Sans"/>
                <a:hlinkClick r:id="rId3"/>
              </a:rPr>
              <a:t>VirtualService</a:t>
            </a:r>
            <a:r>
              <a:rPr lang="en-US" sz="1600" b="1" i="0" dirty="0">
                <a:solidFill>
                  <a:srgbClr val="EEF0FF"/>
                </a:solidFill>
                <a:effectLst/>
                <a:latin typeface="Google Sans"/>
              </a:rPr>
              <a:t>:</a:t>
            </a:r>
            <a:endParaRPr lang="en-US" sz="1600" b="0" i="0" dirty="0">
              <a:solidFill>
                <a:srgbClr val="EEF0FF"/>
              </a:solidFill>
              <a:effectLst/>
              <a:latin typeface="Google Sans"/>
            </a:endParaRPr>
          </a:p>
          <a:p>
            <a:pPr algn="l">
              <a:lnSpc>
                <a:spcPts val="1650"/>
              </a:lnSpc>
              <a:spcBef>
                <a:spcPts val="600"/>
              </a:spcBef>
              <a:spcAft>
                <a:spcPts val="600"/>
              </a:spcAft>
              <a:buFont typeface="Arial" panose="020B0604020202020204" pitchFamily="34" charset="0"/>
              <a:buChar char="•"/>
            </a:pPr>
            <a:r>
              <a:rPr lang="en-US" sz="1600" b="0" i="0" dirty="0">
                <a:effectLst/>
                <a:latin typeface="Google Sans"/>
              </a:rPr>
              <a:t>Defines a set of traffic routing rules for a given host or set of hosts.</a:t>
            </a:r>
          </a:p>
          <a:p>
            <a:pPr algn="l">
              <a:lnSpc>
                <a:spcPts val="1650"/>
              </a:lnSpc>
              <a:spcBef>
                <a:spcPts val="600"/>
              </a:spcBef>
              <a:spcAft>
                <a:spcPts val="600"/>
              </a:spcAft>
              <a:buFont typeface="Arial" panose="020B0604020202020204" pitchFamily="34" charset="0"/>
              <a:buChar char="•"/>
            </a:pPr>
            <a:r>
              <a:rPr lang="en-US" sz="1600" b="0" i="0" dirty="0">
                <a:effectLst/>
                <a:latin typeface="Google Sans"/>
              </a:rPr>
              <a:t>Specifies how traffic should be directed based on criteria like HTTP paths, headers, or other conditions.</a:t>
            </a:r>
          </a:p>
          <a:p>
            <a:pPr algn="l">
              <a:lnSpc>
                <a:spcPts val="1650"/>
              </a:lnSpc>
              <a:spcBef>
                <a:spcPts val="600"/>
              </a:spcBef>
              <a:spcAft>
                <a:spcPts val="600"/>
              </a:spcAft>
              <a:buFont typeface="Arial" panose="020B0604020202020204" pitchFamily="34" charset="0"/>
              <a:buChar char="•"/>
            </a:pPr>
            <a:r>
              <a:rPr lang="en-US" sz="1600" b="0" i="0" dirty="0">
                <a:effectLst/>
                <a:latin typeface="Google Sans"/>
              </a:rPr>
              <a:t>Uses routes to forward traffic to specific destinations, which can include hostnames, subsets (defined in </a:t>
            </a:r>
            <a:r>
              <a:rPr lang="en-US" sz="1600" b="0" i="0" dirty="0" err="1">
                <a:effectLst/>
                <a:latin typeface="Google Sans"/>
              </a:rPr>
              <a:t>DestinationRules</a:t>
            </a:r>
            <a:r>
              <a:rPr lang="en-US" sz="1600" b="0" i="0" dirty="0">
                <a:effectLst/>
                <a:latin typeface="Google Sans"/>
              </a:rPr>
              <a:t>), and ports.</a:t>
            </a:r>
          </a:p>
          <a:p>
            <a:pPr algn="l">
              <a:lnSpc>
                <a:spcPts val="1650"/>
              </a:lnSpc>
              <a:spcBef>
                <a:spcPts val="600"/>
              </a:spcBef>
              <a:spcAft>
                <a:spcPts val="1500"/>
              </a:spcAft>
              <a:buFont typeface="Arial" panose="020B0604020202020204" pitchFamily="34" charset="0"/>
              <a:buChar char="•"/>
            </a:pPr>
            <a:r>
              <a:rPr lang="en-US" sz="1600" b="0" i="0" dirty="0">
                <a:effectLst/>
                <a:latin typeface="Google Sans"/>
              </a:rPr>
              <a:t>Can be used for tasks like A/B testing, canary deployments, and traffic shifting.</a:t>
            </a:r>
          </a:p>
          <a:p>
            <a:pPr algn="l">
              <a:lnSpc>
                <a:spcPts val="1650"/>
              </a:lnSpc>
              <a:spcBef>
                <a:spcPts val="750"/>
              </a:spcBef>
              <a:spcAft>
                <a:spcPts val="1500"/>
              </a:spcAft>
              <a:buFont typeface="Arial" panose="020B0604020202020204" pitchFamily="34" charset="0"/>
              <a:buChar char="•"/>
            </a:pPr>
            <a:r>
              <a:rPr lang="en-US" sz="1600" b="1" i="0" dirty="0" err="1">
                <a:solidFill>
                  <a:srgbClr val="EEF0FF"/>
                </a:solidFill>
                <a:effectLst/>
                <a:latin typeface="Google Sans"/>
                <a:hlinkClick r:id="rId4"/>
              </a:rPr>
              <a:t>DestinationRule</a:t>
            </a:r>
            <a:r>
              <a:rPr lang="en-US" sz="1600" b="1" i="0" dirty="0">
                <a:solidFill>
                  <a:srgbClr val="EEF0FF"/>
                </a:solidFill>
                <a:effectLst/>
                <a:latin typeface="Google Sans"/>
              </a:rPr>
              <a:t>:</a:t>
            </a:r>
            <a:endParaRPr lang="en-US" sz="1600" b="0" i="0" dirty="0">
              <a:solidFill>
                <a:srgbClr val="EEF0FF"/>
              </a:solidFill>
              <a:effectLst/>
              <a:latin typeface="Google Sans"/>
            </a:endParaRPr>
          </a:p>
          <a:p>
            <a:pPr algn="l">
              <a:lnSpc>
                <a:spcPts val="1650"/>
              </a:lnSpc>
              <a:spcBef>
                <a:spcPts val="600"/>
              </a:spcBef>
              <a:spcAft>
                <a:spcPts val="600"/>
              </a:spcAft>
              <a:buFont typeface="Arial" panose="020B0604020202020204" pitchFamily="34" charset="0"/>
              <a:buChar char="•"/>
            </a:pPr>
            <a:r>
              <a:rPr lang="en-US" sz="1600" b="0" i="0" dirty="0">
                <a:effectLst/>
                <a:latin typeface="Google Sans"/>
              </a:rPr>
              <a:t>Defines policies that are applied to traffic destined for a service after routing is complete (i.e., after the </a:t>
            </a:r>
            <a:r>
              <a:rPr lang="en-US" sz="1600" b="0" i="0" dirty="0" err="1">
                <a:effectLst/>
                <a:latin typeface="Google Sans"/>
              </a:rPr>
              <a:t>VirtualService</a:t>
            </a:r>
            <a:r>
              <a:rPr lang="en-US" sz="1600" b="0" i="0" dirty="0">
                <a:effectLst/>
                <a:latin typeface="Google Sans"/>
              </a:rPr>
              <a:t> has been applied).</a:t>
            </a:r>
          </a:p>
          <a:p>
            <a:pPr algn="l">
              <a:lnSpc>
                <a:spcPts val="1650"/>
              </a:lnSpc>
              <a:spcBef>
                <a:spcPts val="600"/>
              </a:spcBef>
              <a:spcAft>
                <a:spcPts val="600"/>
              </a:spcAft>
              <a:buFont typeface="Arial" panose="020B0604020202020204" pitchFamily="34" charset="0"/>
              <a:buChar char="•"/>
            </a:pPr>
            <a:r>
              <a:rPr lang="en-US" sz="1600" b="0" i="0" dirty="0">
                <a:effectLst/>
                <a:latin typeface="Google Sans"/>
              </a:rPr>
              <a:t>Can specify how traffic should be load-balanced (e.g., round robin, least connections).</a:t>
            </a:r>
          </a:p>
          <a:p>
            <a:pPr algn="l">
              <a:lnSpc>
                <a:spcPts val="1650"/>
              </a:lnSpc>
              <a:spcBef>
                <a:spcPts val="600"/>
              </a:spcBef>
              <a:spcAft>
                <a:spcPts val="600"/>
              </a:spcAft>
              <a:buFont typeface="Arial" panose="020B0604020202020204" pitchFamily="34" charset="0"/>
              <a:buChar char="•"/>
            </a:pPr>
            <a:r>
              <a:rPr lang="en-US" sz="1600" b="0" i="0" dirty="0">
                <a:effectLst/>
                <a:latin typeface="Google Sans"/>
              </a:rPr>
              <a:t>Can define subsets of a service, which are groups of instances with specific labels (e.g., version numbers).</a:t>
            </a:r>
          </a:p>
          <a:p>
            <a:pPr algn="l">
              <a:lnSpc>
                <a:spcPts val="1650"/>
              </a:lnSpc>
              <a:spcBef>
                <a:spcPts val="600"/>
              </a:spcBef>
              <a:spcAft>
                <a:spcPts val="1500"/>
              </a:spcAft>
              <a:buFont typeface="Arial" panose="020B0604020202020204" pitchFamily="34" charset="0"/>
              <a:buChar char="•"/>
            </a:pPr>
            <a:r>
              <a:rPr lang="en-US" sz="1600" b="0" i="0" dirty="0">
                <a:effectLst/>
                <a:latin typeface="Google Sans"/>
              </a:rPr>
              <a:t>Can configure connection pool settings, fault injection (e.g., delays, aborts), and retries. </a:t>
            </a:r>
          </a:p>
        </p:txBody>
      </p:sp>
    </p:spTree>
    <p:extLst>
      <p:ext uri="{BB962C8B-B14F-4D97-AF65-F5344CB8AC3E}">
        <p14:creationId xmlns:p14="http://schemas.microsoft.com/office/powerpoint/2010/main" val="37502753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0183B1-386F-1E1A-33E5-4FAA38754020}"/>
              </a:ext>
            </a:extLst>
          </p:cNvPr>
          <p:cNvSpPr>
            <a:spLocks noGrp="1"/>
          </p:cNvSpPr>
          <p:nvPr>
            <p:ph type="title"/>
          </p:nvPr>
        </p:nvSpPr>
        <p:spPr>
          <a:xfrm>
            <a:off x="838200" y="365125"/>
            <a:ext cx="10515600" cy="483961"/>
          </a:xfrm>
        </p:spPr>
        <p:txBody>
          <a:bodyPr>
            <a:normAutofit fontScale="90000"/>
          </a:bodyPr>
          <a:lstStyle/>
          <a:p>
            <a:r>
              <a:rPr lang="en-IN" dirty="0"/>
              <a:t>Installation</a:t>
            </a:r>
          </a:p>
        </p:txBody>
      </p:sp>
      <p:sp>
        <p:nvSpPr>
          <p:cNvPr id="3" name="TextBox 2">
            <a:extLst>
              <a:ext uri="{FF2B5EF4-FFF2-40B4-BE49-F238E27FC236}">
                <a16:creationId xmlns:a16="http://schemas.microsoft.com/office/drawing/2014/main" id="{5C866065-33F1-9E2F-07D4-7B2566B45875}"/>
              </a:ext>
            </a:extLst>
          </p:cNvPr>
          <p:cNvSpPr txBox="1"/>
          <p:nvPr/>
        </p:nvSpPr>
        <p:spPr>
          <a:xfrm>
            <a:off x="1164771" y="1600200"/>
            <a:ext cx="8980715" cy="1477328"/>
          </a:xfrm>
          <a:prstGeom prst="rect">
            <a:avLst/>
          </a:prstGeom>
          <a:noFill/>
        </p:spPr>
        <p:txBody>
          <a:bodyPr wrap="square" rtlCol="0">
            <a:spAutoFit/>
          </a:bodyPr>
          <a:lstStyle/>
          <a:p>
            <a:pPr marL="342900" indent="-342900">
              <a:buFont typeface="+mj-lt"/>
              <a:buAutoNum type="arabicPeriod"/>
            </a:pPr>
            <a:r>
              <a:rPr lang="en-IN" dirty="0"/>
              <a:t>install </a:t>
            </a:r>
            <a:r>
              <a:rPr lang="en-IN" dirty="0" err="1"/>
              <a:t>istioctl</a:t>
            </a:r>
            <a:r>
              <a:rPr lang="en-IN" dirty="0"/>
              <a:t> in local</a:t>
            </a:r>
          </a:p>
          <a:p>
            <a:pPr marL="342900" indent="-342900">
              <a:buFont typeface="+mj-lt"/>
              <a:buAutoNum type="arabicPeriod"/>
            </a:pPr>
            <a:r>
              <a:rPr lang="en-IN" dirty="0"/>
              <a:t>Istio can be installed into an k8s cluster using </a:t>
            </a:r>
            <a:r>
              <a:rPr lang="en-IN" dirty="0" err="1"/>
              <a:t>istioctl</a:t>
            </a:r>
            <a:r>
              <a:rPr lang="en-IN" dirty="0"/>
              <a:t> or helm</a:t>
            </a:r>
          </a:p>
          <a:p>
            <a:pPr marL="342900" indent="-342900">
              <a:buFont typeface="+mj-lt"/>
              <a:buAutoNum type="arabicPeriod"/>
            </a:pPr>
            <a:r>
              <a:rPr lang="en-IN" dirty="0"/>
              <a:t>For automatic </a:t>
            </a:r>
            <a:r>
              <a:rPr lang="en-IN" dirty="0" err="1"/>
              <a:t>sidecard</a:t>
            </a:r>
            <a:r>
              <a:rPr lang="en-IN" dirty="0"/>
              <a:t> injection we need to label the namespace </a:t>
            </a:r>
            <a:r>
              <a:rPr lang="en-IN" dirty="0" err="1"/>
              <a:t>istio</a:t>
            </a:r>
            <a:r>
              <a:rPr lang="en-IN" dirty="0"/>
              <a:t>-injection=enabled</a:t>
            </a:r>
          </a:p>
          <a:p>
            <a:pPr marL="342900" indent="-342900">
              <a:buFont typeface="+mj-lt"/>
              <a:buAutoNum type="arabicPeriod"/>
            </a:pPr>
            <a:r>
              <a:rPr lang="en-IN" dirty="0"/>
              <a:t>Deploy the application into this namespace and it should get an automatic sidecar injection</a:t>
            </a:r>
          </a:p>
        </p:txBody>
      </p:sp>
    </p:spTree>
    <p:extLst>
      <p:ext uri="{BB962C8B-B14F-4D97-AF65-F5344CB8AC3E}">
        <p14:creationId xmlns:p14="http://schemas.microsoft.com/office/powerpoint/2010/main" val="10273783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8455DF-6854-D9A7-4176-2511D8C86F76}"/>
              </a:ext>
            </a:extLst>
          </p:cNvPr>
          <p:cNvSpPr>
            <a:spLocks noGrp="1"/>
          </p:cNvSpPr>
          <p:nvPr>
            <p:ph type="title"/>
          </p:nvPr>
        </p:nvSpPr>
        <p:spPr>
          <a:xfrm>
            <a:off x="119743" y="152400"/>
            <a:ext cx="11865427" cy="707572"/>
          </a:xfrm>
        </p:spPr>
        <p:txBody>
          <a:bodyPr>
            <a:normAutofit/>
          </a:bodyPr>
          <a:lstStyle/>
          <a:p>
            <a:r>
              <a:rPr lang="en-IN" sz="3200" dirty="0"/>
              <a:t>Azure Kubernetes Service - Managed Kubernetes service on Azure</a:t>
            </a:r>
          </a:p>
        </p:txBody>
      </p:sp>
      <p:pic>
        <p:nvPicPr>
          <p:cNvPr id="7" name="Graphic 6">
            <a:extLst>
              <a:ext uri="{FF2B5EF4-FFF2-40B4-BE49-F238E27FC236}">
                <a16:creationId xmlns:a16="http://schemas.microsoft.com/office/drawing/2014/main" id="{F1CB1CFF-01CD-E078-8CEE-F2D31FC7DF3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31371" y="848417"/>
            <a:ext cx="10809515" cy="5737440"/>
          </a:xfrm>
          <a:prstGeom prst="rect">
            <a:avLst/>
          </a:prstGeom>
        </p:spPr>
      </p:pic>
    </p:spTree>
    <p:extLst>
      <p:ext uri="{BB962C8B-B14F-4D97-AF65-F5344CB8AC3E}">
        <p14:creationId xmlns:p14="http://schemas.microsoft.com/office/powerpoint/2010/main" val="21847773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37CBA-F092-7734-A30A-ADAB654EA699}"/>
              </a:ext>
            </a:extLst>
          </p:cNvPr>
          <p:cNvSpPr>
            <a:spLocks noGrp="1"/>
          </p:cNvSpPr>
          <p:nvPr>
            <p:ph type="title"/>
          </p:nvPr>
        </p:nvSpPr>
        <p:spPr>
          <a:xfrm>
            <a:off x="380999" y="321584"/>
            <a:ext cx="11299371" cy="527504"/>
          </a:xfrm>
        </p:spPr>
        <p:txBody>
          <a:bodyPr>
            <a:normAutofit fontScale="90000"/>
          </a:bodyPr>
          <a:lstStyle/>
          <a:p>
            <a:r>
              <a:rPr lang="en-IN" dirty="0"/>
              <a:t>Elastic Kubernetes Service – Managed option on AWS</a:t>
            </a:r>
          </a:p>
        </p:txBody>
      </p:sp>
      <p:pic>
        <p:nvPicPr>
          <p:cNvPr id="3074" name="Picture 2">
            <a:extLst>
              <a:ext uri="{FF2B5EF4-FFF2-40B4-BE49-F238E27FC236}">
                <a16:creationId xmlns:a16="http://schemas.microsoft.com/office/drawing/2014/main" id="{67918168-5EDE-008D-72D2-F7EBE59A9C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2629" y="1057953"/>
            <a:ext cx="10668000" cy="5478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99671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2B7EC1-D640-2E2B-F1B7-2B2F6BBBD600}"/>
              </a:ext>
            </a:extLst>
          </p:cNvPr>
          <p:cNvSpPr>
            <a:spLocks noGrp="1"/>
          </p:cNvSpPr>
          <p:nvPr>
            <p:ph type="title"/>
          </p:nvPr>
        </p:nvSpPr>
        <p:spPr>
          <a:xfrm>
            <a:off x="0" y="65314"/>
            <a:ext cx="10515600" cy="581932"/>
          </a:xfrm>
        </p:spPr>
        <p:txBody>
          <a:bodyPr>
            <a:normAutofit fontScale="90000"/>
          </a:bodyPr>
          <a:lstStyle/>
          <a:p>
            <a:r>
              <a:rPr lang="en-IN" sz="3600" dirty="0"/>
              <a:t>Elastic Container Service – AWS Native and Opiniated offering</a:t>
            </a:r>
          </a:p>
        </p:txBody>
      </p:sp>
      <p:pic>
        <p:nvPicPr>
          <p:cNvPr id="4098" name="Picture 2">
            <a:extLst>
              <a:ext uri="{FF2B5EF4-FFF2-40B4-BE49-F238E27FC236}">
                <a16:creationId xmlns:a16="http://schemas.microsoft.com/office/drawing/2014/main" id="{C9FC59B8-7CDF-58FD-0797-8532D94E50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88572" y="1155309"/>
            <a:ext cx="4642077" cy="521283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5BCEDB2-AEA8-0707-3AE7-41371FAEC5D4}"/>
              </a:ext>
            </a:extLst>
          </p:cNvPr>
          <p:cNvSpPr txBox="1"/>
          <p:nvPr/>
        </p:nvSpPr>
        <p:spPr>
          <a:xfrm>
            <a:off x="6014358" y="1258277"/>
            <a:ext cx="5437413" cy="2031325"/>
          </a:xfrm>
          <a:prstGeom prst="rect">
            <a:avLst/>
          </a:prstGeom>
          <a:noFill/>
        </p:spPr>
        <p:txBody>
          <a:bodyPr wrap="square">
            <a:spAutoFit/>
          </a:bodyPr>
          <a:lstStyle/>
          <a:p>
            <a:r>
              <a:rPr lang="en-US" b="1" dirty="0"/>
              <a:t>AWS </a:t>
            </a:r>
            <a:r>
              <a:rPr lang="en-US" b="1" dirty="0" err="1"/>
              <a:t>Fargate</a:t>
            </a:r>
            <a:r>
              <a:rPr lang="en-US" b="1" dirty="0"/>
              <a:t> </a:t>
            </a:r>
            <a:r>
              <a:rPr lang="en-US" dirty="0"/>
              <a:t>is a serverless, pay-as-you-go compute engine that allows you to focus on building applications without managing servers. </a:t>
            </a:r>
          </a:p>
          <a:p>
            <a:endParaRPr lang="en-US" dirty="0"/>
          </a:p>
          <a:p>
            <a:endParaRPr lang="en-US" dirty="0"/>
          </a:p>
          <a:p>
            <a:r>
              <a:rPr lang="en-US" dirty="0"/>
              <a:t>We can choose between EC2 vs </a:t>
            </a:r>
            <a:r>
              <a:rPr lang="en-US" dirty="0" err="1"/>
              <a:t>Fargate</a:t>
            </a:r>
            <a:r>
              <a:rPr lang="en-US" dirty="0"/>
              <a:t> compute options </a:t>
            </a:r>
            <a:r>
              <a:rPr lang="en-US"/>
              <a:t>for both ECS and EKS</a:t>
            </a:r>
            <a:endParaRPr lang="en-IN" dirty="0"/>
          </a:p>
        </p:txBody>
      </p:sp>
    </p:spTree>
    <p:extLst>
      <p:ext uri="{BB962C8B-B14F-4D97-AF65-F5344CB8AC3E}">
        <p14:creationId xmlns:p14="http://schemas.microsoft.com/office/powerpoint/2010/main" val="20813877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E4E1D2-CE29-0DB7-979E-83FB2AF68515}"/>
              </a:ext>
            </a:extLst>
          </p:cNvPr>
          <p:cNvSpPr>
            <a:spLocks noGrp="1"/>
          </p:cNvSpPr>
          <p:nvPr>
            <p:ph type="title"/>
          </p:nvPr>
        </p:nvSpPr>
        <p:spPr/>
        <p:txBody>
          <a:bodyPr/>
          <a:lstStyle/>
          <a:p>
            <a:r>
              <a:rPr lang="en-IN" dirty="0"/>
              <a:t>References</a:t>
            </a:r>
          </a:p>
        </p:txBody>
      </p:sp>
      <p:sp>
        <p:nvSpPr>
          <p:cNvPr id="4" name="TextBox 3">
            <a:extLst>
              <a:ext uri="{FF2B5EF4-FFF2-40B4-BE49-F238E27FC236}">
                <a16:creationId xmlns:a16="http://schemas.microsoft.com/office/drawing/2014/main" id="{AB74D227-2918-9160-F593-154346083C9B}"/>
              </a:ext>
            </a:extLst>
          </p:cNvPr>
          <p:cNvSpPr txBox="1"/>
          <p:nvPr/>
        </p:nvSpPr>
        <p:spPr>
          <a:xfrm>
            <a:off x="968828" y="1587864"/>
            <a:ext cx="8893629" cy="4801314"/>
          </a:xfrm>
          <a:prstGeom prst="rect">
            <a:avLst/>
          </a:prstGeom>
          <a:noFill/>
        </p:spPr>
        <p:txBody>
          <a:bodyPr wrap="square">
            <a:spAutoFit/>
          </a:bodyPr>
          <a:lstStyle/>
          <a:p>
            <a:r>
              <a:rPr lang="en-IN" dirty="0">
                <a:hlinkClick r:id="rId2"/>
              </a:rPr>
              <a:t>https://katharharshal1.medium.com/kubernetes-objects-pods-replicasets-and-deployments-44f16b38d9f7</a:t>
            </a:r>
            <a:r>
              <a:rPr lang="en-IN" dirty="0"/>
              <a:t> </a:t>
            </a:r>
          </a:p>
          <a:p>
            <a:endParaRPr lang="en-IN" dirty="0"/>
          </a:p>
          <a:p>
            <a:r>
              <a:rPr lang="en-IN" dirty="0">
                <a:hlinkClick r:id="rId3"/>
              </a:rPr>
              <a:t>https://www.devopsschool.com/blog/amazon-elastic-kubernetes-service-amazon-eks-architecture-explained-with-diagram/</a:t>
            </a:r>
            <a:endParaRPr lang="en-IN" dirty="0"/>
          </a:p>
          <a:p>
            <a:endParaRPr lang="en-IN" dirty="0"/>
          </a:p>
          <a:p>
            <a:r>
              <a:rPr lang="en-IN" dirty="0">
                <a:hlinkClick r:id="rId4"/>
              </a:rPr>
              <a:t>https://bluexp.netapp.com/blog/aws-cvo-blg-aws-ecs-in-depth-architecture-and-deployment-options</a:t>
            </a:r>
            <a:endParaRPr lang="en-IN" dirty="0"/>
          </a:p>
          <a:p>
            <a:endParaRPr lang="en-IN" dirty="0"/>
          </a:p>
          <a:p>
            <a:endParaRPr lang="en-IN" dirty="0"/>
          </a:p>
          <a:p>
            <a:endParaRPr lang="en-IN" dirty="0"/>
          </a:p>
          <a:p>
            <a:endParaRPr lang="en-IN" dirty="0"/>
          </a:p>
          <a:p>
            <a:endParaRPr lang="en-IN" dirty="0"/>
          </a:p>
          <a:p>
            <a:endParaRPr lang="en-IN" dirty="0"/>
          </a:p>
          <a:p>
            <a:endParaRPr lang="en-IN" dirty="0"/>
          </a:p>
          <a:p>
            <a:endParaRPr lang="en-IN" dirty="0"/>
          </a:p>
          <a:p>
            <a:endParaRPr lang="en-IN" dirty="0"/>
          </a:p>
        </p:txBody>
      </p:sp>
    </p:spTree>
    <p:extLst>
      <p:ext uri="{BB962C8B-B14F-4D97-AF65-F5344CB8AC3E}">
        <p14:creationId xmlns:p14="http://schemas.microsoft.com/office/powerpoint/2010/main" val="42625075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1139</TotalTime>
  <Words>1800</Words>
  <Application>Microsoft Office PowerPoint</Application>
  <PresentationFormat>Widescreen</PresentationFormat>
  <Paragraphs>129</Paragraphs>
  <Slides>19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Arial</vt:lpstr>
      <vt:lpstr>Calibri</vt:lpstr>
      <vt:lpstr>Calibri Light</vt:lpstr>
      <vt:lpstr>Google Sans</vt:lpstr>
      <vt:lpstr>Nunito</vt:lpstr>
      <vt:lpstr>Office Theme</vt:lpstr>
      <vt:lpstr>Container Technologies</vt:lpstr>
      <vt:lpstr>What is a container</vt:lpstr>
      <vt:lpstr>Containers vs Virtual Machine</vt:lpstr>
      <vt:lpstr>PowerPoint Presentation</vt:lpstr>
      <vt:lpstr>Kubernetes Features</vt:lpstr>
      <vt:lpstr>Kubernetes Architecture</vt:lpstr>
      <vt:lpstr>PowerPoint Presentation</vt:lpstr>
      <vt:lpstr>PowerPoint Presentation</vt:lpstr>
      <vt:lpstr>Helm Charts</vt:lpstr>
      <vt:lpstr>Helm vs k8s</vt:lpstr>
      <vt:lpstr>PowerPoint Presentation</vt:lpstr>
      <vt:lpstr>PowerPoint Presentation</vt:lpstr>
      <vt:lpstr>PowerPoint Presentation</vt:lpstr>
      <vt:lpstr>Virtual Service and Destination Rule</vt:lpstr>
      <vt:lpstr>Installation</vt:lpstr>
      <vt:lpstr>Azure Kubernetes Service - Managed Kubernetes service on Azure</vt:lpstr>
      <vt:lpstr>Elastic Kubernetes Service – Managed option on AWS</vt:lpstr>
      <vt:lpstr>Elastic Container Service – AWS Native and Opiniated offering</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Container Technologies</dc:title>
  <dc:creator>Urmisha Sengupta</dc:creator>
  <cp:lastModifiedBy>Urmisha Sengupta</cp:lastModifiedBy>
  <cp:revision>85</cp:revision>
  <dcterms:created xsi:type="dcterms:W3CDTF">2023-11-08T04:27:00Z</dcterms:created>
  <dcterms:modified xsi:type="dcterms:W3CDTF">2025-08-07T05:52:15Z</dcterms:modified>
</cp:coreProperties>
</file>