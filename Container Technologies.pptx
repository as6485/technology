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0" r:id="rId3"/>
    <p:sldId id="261" r:id="rId4"/>
    <p:sldId id="262" r:id="rId5"/>
    <p:sldId id="263" r:id="rId6"/>
    <p:sldId id="264" r:id="rId7"/>
    <p:sldId id="268" r:id="rId8"/>
    <p:sldId id="270" r:id="rId9"/>
    <p:sldId id="269" r:id="rId10"/>
    <p:sldId id="265" r:id="rId11"/>
    <p:sldId id="266" r:id="rId12"/>
    <p:sldId id="267" r:id="rId13"/>
    <p:sldId id="25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89E4-2104-1921-823D-AC3026ACE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6F11176-2C5D-24A9-8EBF-54F98896FB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3E4D1D0-5818-9CC2-663A-0CE907F42E9D}"/>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5" name="Footer Placeholder 4">
            <a:extLst>
              <a:ext uri="{FF2B5EF4-FFF2-40B4-BE49-F238E27FC236}">
                <a16:creationId xmlns:a16="http://schemas.microsoft.com/office/drawing/2014/main" id="{4E853B84-F1C3-5C6A-F606-9E69C80D8A2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83230B-AD00-5384-C238-B04DA8A3FFA2}"/>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14769204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12B62-4EDF-9B6F-8599-1CB0491DE3A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2CC2ED8-47B1-87C3-802F-E80DBFC6F2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25A469B-D573-F066-2FDA-96AF6515357F}"/>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5" name="Footer Placeholder 4">
            <a:extLst>
              <a:ext uri="{FF2B5EF4-FFF2-40B4-BE49-F238E27FC236}">
                <a16:creationId xmlns:a16="http://schemas.microsoft.com/office/drawing/2014/main" id="{18A745E2-D6EB-363D-C94B-887ECCF3B76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8BD52D-E346-8703-087C-A25D3C3B51D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1209741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1046B-7B2A-A54A-CBC0-1DD7DB6892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95F30C1-9140-CAD6-AF64-0C8996A9E6B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DCD5ADB-38D0-875D-FB2D-2DEA8558E88B}"/>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5" name="Footer Placeholder 4">
            <a:extLst>
              <a:ext uri="{FF2B5EF4-FFF2-40B4-BE49-F238E27FC236}">
                <a16:creationId xmlns:a16="http://schemas.microsoft.com/office/drawing/2014/main" id="{67FD8D49-6B3A-99A1-7E23-35DD8FE5CA3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1DC6997-C32F-E5B9-9487-013D031AFFCD}"/>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515971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B12E9-B73D-D42C-2CF5-307C3B39CF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167D77A-AF8C-5685-F72D-9D8A6FBA83B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DF870A8-A9F9-3C3B-54D6-0639DBBC0A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F5ADDAE-D00E-8691-AFA6-C50721F961AC}"/>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6" name="Footer Placeholder 5">
            <a:extLst>
              <a:ext uri="{FF2B5EF4-FFF2-40B4-BE49-F238E27FC236}">
                <a16:creationId xmlns:a16="http://schemas.microsoft.com/office/drawing/2014/main" id="{F730869E-C2B1-9595-2500-BB18B269F5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CA5D246-1E7D-9AA8-2650-96F595FD3FC1}"/>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41224609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7750-C92C-9044-C4E4-604F5F37787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99D49FC-8621-7B61-3C74-47CEF8BC9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E41761C-E951-F7A4-6F01-9BD3DE0F274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0B8CF62-B3FF-FCB5-E59B-AFFBB4C4E9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D1D4F31-3169-0D3E-625C-F37F807614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EDFF619-E153-B389-7608-AD2FEAAF10AB}"/>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8" name="Footer Placeholder 7">
            <a:extLst>
              <a:ext uri="{FF2B5EF4-FFF2-40B4-BE49-F238E27FC236}">
                <a16:creationId xmlns:a16="http://schemas.microsoft.com/office/drawing/2014/main" id="{EC42CF25-73D3-86C6-9357-559841B582B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8244963-CB20-2ADC-8EAE-DC52D008E569}"/>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975351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51BF2-B346-373B-053F-62F9A0BA93B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712B2F7-E0A9-3230-E08B-D53837E42079}"/>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4" name="Footer Placeholder 3">
            <a:extLst>
              <a:ext uri="{FF2B5EF4-FFF2-40B4-BE49-F238E27FC236}">
                <a16:creationId xmlns:a16="http://schemas.microsoft.com/office/drawing/2014/main" id="{BE2A8423-6007-5AE8-9779-BFBB799792A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1B42251-C7D2-5236-48F3-0B8A8FB96290}"/>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7149338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91746B6-1CA6-262A-2E86-91D256CBA7FD}"/>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3" name="Footer Placeholder 2">
            <a:extLst>
              <a:ext uri="{FF2B5EF4-FFF2-40B4-BE49-F238E27FC236}">
                <a16:creationId xmlns:a16="http://schemas.microsoft.com/office/drawing/2014/main" id="{EB5301E5-9CE9-0B19-E34B-E8DDEC43181E}"/>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3BA50AB-112D-907F-4EBD-AD2E4E807835}"/>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7254661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21F315-A33B-A1F4-4BC5-B26A25BD60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ADE3386-A512-A7FA-C9A0-7257B2C955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540B035-CD14-41E0-7559-E10D0D647E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B9915F-AB45-451C-5932-1C50FC74316F}"/>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6" name="Footer Placeholder 5">
            <a:extLst>
              <a:ext uri="{FF2B5EF4-FFF2-40B4-BE49-F238E27FC236}">
                <a16:creationId xmlns:a16="http://schemas.microsoft.com/office/drawing/2014/main" id="{E484608B-D5E3-1D9F-411F-0C49FD5A24B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EEBE781-78C8-099C-F319-74B20A7C473F}"/>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5994425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198403-1E03-B531-C0A1-4573443A92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AEE27AA-15F8-57DC-B14F-34DE3B847C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5D1E71E-6108-7040-E786-E5CEDCFAA1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26E27A-9574-1814-DDBC-5FF76105C565}"/>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6" name="Footer Placeholder 5">
            <a:extLst>
              <a:ext uri="{FF2B5EF4-FFF2-40B4-BE49-F238E27FC236}">
                <a16:creationId xmlns:a16="http://schemas.microsoft.com/office/drawing/2014/main" id="{F332A4C6-C89C-9D9B-FE9C-9CC24F96C60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B2E488C-3239-B881-D243-DAF33B43BBB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112305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07181-81A9-F27C-ED69-F85C0158F6D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09DB9C2-6209-5684-EDC0-B385AB7CC3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A4407A-4D72-3859-4176-C26504057A7F}"/>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5" name="Footer Placeholder 4">
            <a:extLst>
              <a:ext uri="{FF2B5EF4-FFF2-40B4-BE49-F238E27FC236}">
                <a16:creationId xmlns:a16="http://schemas.microsoft.com/office/drawing/2014/main" id="{D7F65E7B-8ABA-CC93-6A88-F75E084A5FE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CE27826-A6CC-213C-A211-6198EEF95958}"/>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6196849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C8B64E-EDC8-48DF-094E-9788DA62597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B717F2E-BFF1-3DF8-F442-A0C9ECCD922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71D1607-07BD-4C30-26D3-DC7C67DB6900}"/>
              </a:ext>
            </a:extLst>
          </p:cNvPr>
          <p:cNvSpPr>
            <a:spLocks noGrp="1"/>
          </p:cNvSpPr>
          <p:nvPr>
            <p:ph type="dt" sz="half" idx="10"/>
          </p:nvPr>
        </p:nvSpPr>
        <p:spPr/>
        <p:txBody>
          <a:bodyPr/>
          <a:lstStyle/>
          <a:p>
            <a:fld id="{0E34E9A3-28F9-49BC-BC4E-5AF907695DF0}" type="datetimeFigureOut">
              <a:rPr lang="en-IN" smtClean="0"/>
              <a:t>06-05-2025</a:t>
            </a:fld>
            <a:endParaRPr lang="en-IN"/>
          </a:p>
        </p:txBody>
      </p:sp>
      <p:sp>
        <p:nvSpPr>
          <p:cNvPr id="5" name="Footer Placeholder 4">
            <a:extLst>
              <a:ext uri="{FF2B5EF4-FFF2-40B4-BE49-F238E27FC236}">
                <a16:creationId xmlns:a16="http://schemas.microsoft.com/office/drawing/2014/main" id="{A6146BFE-F767-CE2E-7626-39E94066C77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FFC155C-7B53-3B2B-F6F5-2DD0FD9BD1E6}"/>
              </a:ext>
            </a:extLst>
          </p:cNvPr>
          <p:cNvSpPr>
            <a:spLocks noGrp="1"/>
          </p:cNvSpPr>
          <p:nvPr>
            <p:ph type="sldNum" sz="quarter" idx="12"/>
          </p:nvPr>
        </p:nvSpPr>
        <p:spPr/>
        <p:txBody>
          <a:bodyPr/>
          <a:lstStyle/>
          <a:p>
            <a:fld id="{C9301A43-696E-4BD5-A180-5DD26F3899E1}" type="slidenum">
              <a:rPr lang="en-IN" smtClean="0"/>
              <a:t>‹#›</a:t>
            </a:fld>
            <a:endParaRPr lang="en-IN"/>
          </a:p>
        </p:txBody>
      </p:sp>
    </p:spTree>
    <p:extLst>
      <p:ext uri="{BB962C8B-B14F-4D97-AF65-F5344CB8AC3E}">
        <p14:creationId xmlns:p14="http://schemas.microsoft.com/office/powerpoint/2010/main" val="22784564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E3A877B-AFF5-240D-E470-0EFAD09EDC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86735AC-794F-678D-E9E1-794B856C2D5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5798563-6726-1218-0DA4-07366339C2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34E9A3-28F9-49BC-BC4E-5AF907695DF0}" type="datetimeFigureOut">
              <a:rPr lang="en-IN" smtClean="0"/>
              <a:t>06-05-2025</a:t>
            </a:fld>
            <a:endParaRPr lang="en-IN"/>
          </a:p>
        </p:txBody>
      </p:sp>
      <p:sp>
        <p:nvSpPr>
          <p:cNvPr id="5" name="Footer Placeholder 4">
            <a:extLst>
              <a:ext uri="{FF2B5EF4-FFF2-40B4-BE49-F238E27FC236}">
                <a16:creationId xmlns:a16="http://schemas.microsoft.com/office/drawing/2014/main" id="{E58D7A5E-6DC1-5E4C-0CDA-55A945AC778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97BE6E00-F775-3604-A730-ED158FF22B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301A43-696E-4BD5-A180-5DD26F3899E1}" type="slidenum">
              <a:rPr lang="en-IN" smtClean="0"/>
              <a:t>‹#›</a:t>
            </a:fld>
            <a:endParaRPr lang="en-IN"/>
          </a:p>
        </p:txBody>
      </p:sp>
    </p:spTree>
    <p:extLst>
      <p:ext uri="{BB962C8B-B14F-4D97-AF65-F5344CB8AC3E}">
        <p14:creationId xmlns:p14="http://schemas.microsoft.com/office/powerpoint/2010/main" val="32345455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hyperlink" Target="https://www.devopsschool.com/blog/amazon-elastic-kubernetes-service-amazon-eks-architecture-explained-with-diagram/" TargetMode="External"/><Relationship Id="rId2" Type="http://schemas.openxmlformats.org/officeDocument/2006/relationships/hyperlink" Target="https://katharharshal1.medium.com/kubernetes-objects-pods-replicasets-and-deployments-44f16b38d9f7" TargetMode="External"/><Relationship Id="rId1" Type="http://schemas.openxmlformats.org/officeDocument/2006/relationships/slideLayout" Target="../slideLayouts/slideLayout6.xml"/><Relationship Id="rId4" Type="http://schemas.openxmlformats.org/officeDocument/2006/relationships/hyperlink" Target="https://bluexp.netapp.com/blog/aws-cvo-blg-aws-ecs-in-depth-architecture-and-deployment-op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B7658-E015-FBDC-676B-0124326B05E1}"/>
              </a:ext>
            </a:extLst>
          </p:cNvPr>
          <p:cNvSpPr>
            <a:spLocks noGrp="1"/>
          </p:cNvSpPr>
          <p:nvPr>
            <p:ph type="ctrTitle"/>
          </p:nvPr>
        </p:nvSpPr>
        <p:spPr/>
        <p:txBody>
          <a:bodyPr/>
          <a:lstStyle/>
          <a:p>
            <a:r>
              <a:rPr lang="en-IN" dirty="0"/>
              <a:t>Container Technologies</a:t>
            </a:r>
          </a:p>
        </p:txBody>
      </p:sp>
      <p:sp>
        <p:nvSpPr>
          <p:cNvPr id="3" name="Subtitle 2">
            <a:extLst>
              <a:ext uri="{FF2B5EF4-FFF2-40B4-BE49-F238E27FC236}">
                <a16:creationId xmlns:a16="http://schemas.microsoft.com/office/drawing/2014/main" id="{9D39081B-947B-17C8-5FF6-8A6DFAAA790A}"/>
              </a:ext>
            </a:extLst>
          </p:cNvPr>
          <p:cNvSpPr>
            <a:spLocks noGrp="1"/>
          </p:cNvSpPr>
          <p:nvPr>
            <p:ph type="subTitle" idx="1"/>
          </p:nvPr>
        </p:nvSpPr>
        <p:spPr/>
        <p:txBody>
          <a:bodyPr/>
          <a:lstStyle/>
          <a:p>
            <a:r>
              <a:rPr lang="en-IN" dirty="0"/>
              <a:t>Ayan Sengupta</a:t>
            </a:r>
          </a:p>
        </p:txBody>
      </p:sp>
    </p:spTree>
    <p:extLst>
      <p:ext uri="{BB962C8B-B14F-4D97-AF65-F5344CB8AC3E}">
        <p14:creationId xmlns:p14="http://schemas.microsoft.com/office/powerpoint/2010/main" val="2782414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C87B6-CF93-6231-2742-57821D96E859}"/>
              </a:ext>
            </a:extLst>
          </p:cNvPr>
          <p:cNvSpPr>
            <a:spLocks noGrp="1"/>
          </p:cNvSpPr>
          <p:nvPr>
            <p:ph type="title"/>
          </p:nvPr>
        </p:nvSpPr>
        <p:spPr>
          <a:xfrm>
            <a:off x="402771" y="245383"/>
            <a:ext cx="10515600" cy="375104"/>
          </a:xfrm>
        </p:spPr>
        <p:txBody>
          <a:bodyPr>
            <a:normAutofit fontScale="90000"/>
          </a:bodyPr>
          <a:lstStyle/>
          <a:p>
            <a:r>
              <a:rPr lang="en-IN" dirty="0"/>
              <a:t>What is a container</a:t>
            </a:r>
          </a:p>
        </p:txBody>
      </p:sp>
      <p:sp>
        <p:nvSpPr>
          <p:cNvPr id="4" name="TextBox 3">
            <a:extLst>
              <a:ext uri="{FF2B5EF4-FFF2-40B4-BE49-F238E27FC236}">
                <a16:creationId xmlns:a16="http://schemas.microsoft.com/office/drawing/2014/main" id="{1C5CC9F4-F89F-F5DA-15A4-D7B3C3AD1D1B}"/>
              </a:ext>
            </a:extLst>
          </p:cNvPr>
          <p:cNvSpPr txBox="1"/>
          <p:nvPr/>
        </p:nvSpPr>
        <p:spPr>
          <a:xfrm>
            <a:off x="914400" y="859970"/>
            <a:ext cx="10744200" cy="5632311"/>
          </a:xfrm>
          <a:prstGeom prst="rect">
            <a:avLst/>
          </a:prstGeom>
          <a:noFill/>
        </p:spPr>
        <p:txBody>
          <a:bodyPr wrap="square">
            <a:spAutoFit/>
          </a:bodyPr>
          <a:lstStyle/>
          <a:p>
            <a:r>
              <a:rPr lang="en-US" sz="2400" dirty="0"/>
              <a:t>A </a:t>
            </a:r>
            <a:r>
              <a:rPr lang="en-US" sz="2400" b="1" dirty="0"/>
              <a:t>container</a:t>
            </a:r>
            <a:r>
              <a:rPr lang="en-US" sz="2400" dirty="0"/>
              <a:t> is a standard unit of software that packages up code and all its dependencies so the application runs quickly and reliably from one computing environment to another. </a:t>
            </a:r>
          </a:p>
          <a:p>
            <a:endParaRPr lang="en-US" sz="2400" dirty="0"/>
          </a:p>
          <a:p>
            <a:r>
              <a:rPr lang="en-US" sz="2400" dirty="0"/>
              <a:t>A </a:t>
            </a:r>
            <a:r>
              <a:rPr lang="en-US" sz="2400" b="1" dirty="0"/>
              <a:t>Docker container </a:t>
            </a:r>
            <a:r>
              <a:rPr lang="en-US" sz="2400" dirty="0"/>
              <a:t>image is a lightweight, standalone, executable package of software that includes everything needed to run an application: code, runtime, system tools, system libraries and settings.</a:t>
            </a:r>
          </a:p>
          <a:p>
            <a:endParaRPr lang="en-US" sz="2400" dirty="0"/>
          </a:p>
          <a:p>
            <a:r>
              <a:rPr lang="en-US" sz="2400" dirty="0"/>
              <a:t>Container </a:t>
            </a:r>
            <a:r>
              <a:rPr lang="en-US" sz="2400" b="1" dirty="0"/>
              <a:t>images become containers at runtime </a:t>
            </a:r>
            <a:r>
              <a:rPr lang="en-US" sz="2400" dirty="0"/>
              <a:t>and in the case of Docker containers – images become containers when they run on Docker Engine. Available for both Linux and Windows-based applications, containerized software will always run the same, regardless of the infrastructure. Containers isolate software from its environment and ensure that it works uniformly despite differences for instance between development and staging.</a:t>
            </a:r>
          </a:p>
          <a:p>
            <a:endParaRPr lang="en-US" sz="2400" dirty="0"/>
          </a:p>
        </p:txBody>
      </p:sp>
    </p:spTree>
    <p:extLst>
      <p:ext uri="{BB962C8B-B14F-4D97-AF65-F5344CB8AC3E}">
        <p14:creationId xmlns:p14="http://schemas.microsoft.com/office/powerpoint/2010/main" val="4241023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B69E0-6AF3-E8AA-0782-BAB9BDB9DEEE}"/>
              </a:ext>
            </a:extLst>
          </p:cNvPr>
          <p:cNvSpPr>
            <a:spLocks noGrp="1"/>
          </p:cNvSpPr>
          <p:nvPr>
            <p:ph type="title"/>
          </p:nvPr>
        </p:nvSpPr>
        <p:spPr>
          <a:xfrm>
            <a:off x="152400" y="395837"/>
            <a:ext cx="7173686" cy="233589"/>
          </a:xfrm>
        </p:spPr>
        <p:txBody>
          <a:bodyPr>
            <a:normAutofit fontScale="90000"/>
          </a:bodyPr>
          <a:lstStyle/>
          <a:p>
            <a:r>
              <a:rPr lang="en-IN" dirty="0"/>
              <a:t>Containers vs Virtual Machine</a:t>
            </a:r>
          </a:p>
        </p:txBody>
      </p:sp>
      <p:pic>
        <p:nvPicPr>
          <p:cNvPr id="4" name="Picture 3">
            <a:extLst>
              <a:ext uri="{FF2B5EF4-FFF2-40B4-BE49-F238E27FC236}">
                <a16:creationId xmlns:a16="http://schemas.microsoft.com/office/drawing/2014/main" id="{C240C8C9-4CAC-8AB3-D7A8-58AEE19409FA}"/>
              </a:ext>
            </a:extLst>
          </p:cNvPr>
          <p:cNvPicPr>
            <a:picLocks noChangeAspect="1"/>
          </p:cNvPicPr>
          <p:nvPr/>
        </p:nvPicPr>
        <p:blipFill>
          <a:blip r:embed="rId2"/>
          <a:stretch>
            <a:fillRect/>
          </a:stretch>
        </p:blipFill>
        <p:spPr>
          <a:xfrm>
            <a:off x="979714" y="765615"/>
            <a:ext cx="9669771" cy="5696548"/>
          </a:xfrm>
          <a:prstGeom prst="rect">
            <a:avLst/>
          </a:prstGeom>
        </p:spPr>
      </p:pic>
    </p:spTree>
    <p:extLst>
      <p:ext uri="{BB962C8B-B14F-4D97-AF65-F5344CB8AC3E}">
        <p14:creationId xmlns:p14="http://schemas.microsoft.com/office/powerpoint/2010/main" val="12209269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F82037-85D2-19FA-5A88-BF2D8897809A}"/>
              </a:ext>
            </a:extLst>
          </p:cNvPr>
          <p:cNvPicPr>
            <a:picLocks noChangeAspect="1"/>
          </p:cNvPicPr>
          <p:nvPr/>
        </p:nvPicPr>
        <p:blipFill>
          <a:blip r:embed="rId2"/>
          <a:stretch>
            <a:fillRect/>
          </a:stretch>
        </p:blipFill>
        <p:spPr>
          <a:xfrm>
            <a:off x="1856014" y="247921"/>
            <a:ext cx="8479972" cy="6362157"/>
          </a:xfrm>
          <a:prstGeom prst="rect">
            <a:avLst/>
          </a:prstGeom>
        </p:spPr>
      </p:pic>
    </p:spTree>
    <p:extLst>
      <p:ext uri="{BB962C8B-B14F-4D97-AF65-F5344CB8AC3E}">
        <p14:creationId xmlns:p14="http://schemas.microsoft.com/office/powerpoint/2010/main" val="2024868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D2913-0F23-89F3-44E6-D31492E157EF}"/>
              </a:ext>
            </a:extLst>
          </p:cNvPr>
          <p:cNvSpPr>
            <a:spLocks noGrp="1"/>
          </p:cNvSpPr>
          <p:nvPr>
            <p:ph type="title"/>
          </p:nvPr>
        </p:nvSpPr>
        <p:spPr>
          <a:xfrm>
            <a:off x="97971" y="125640"/>
            <a:ext cx="10515600" cy="364218"/>
          </a:xfrm>
        </p:spPr>
        <p:txBody>
          <a:bodyPr>
            <a:normAutofit fontScale="90000"/>
          </a:bodyPr>
          <a:lstStyle/>
          <a:p>
            <a:r>
              <a:rPr lang="en-IN" dirty="0"/>
              <a:t>Kubernetes Features</a:t>
            </a:r>
          </a:p>
        </p:txBody>
      </p:sp>
      <p:pic>
        <p:nvPicPr>
          <p:cNvPr id="4" name="Picture 3">
            <a:extLst>
              <a:ext uri="{FF2B5EF4-FFF2-40B4-BE49-F238E27FC236}">
                <a16:creationId xmlns:a16="http://schemas.microsoft.com/office/drawing/2014/main" id="{8585E4E9-AE45-F8D9-5301-174DFB652AA9}"/>
              </a:ext>
            </a:extLst>
          </p:cNvPr>
          <p:cNvPicPr>
            <a:picLocks noChangeAspect="1"/>
          </p:cNvPicPr>
          <p:nvPr/>
        </p:nvPicPr>
        <p:blipFill>
          <a:blip r:embed="rId2"/>
          <a:stretch>
            <a:fillRect/>
          </a:stretch>
        </p:blipFill>
        <p:spPr>
          <a:xfrm>
            <a:off x="293914" y="431828"/>
            <a:ext cx="5061857" cy="6222737"/>
          </a:xfrm>
          <a:prstGeom prst="rect">
            <a:avLst/>
          </a:prstGeom>
        </p:spPr>
      </p:pic>
      <p:sp>
        <p:nvSpPr>
          <p:cNvPr id="5" name="TextBox 4">
            <a:extLst>
              <a:ext uri="{FF2B5EF4-FFF2-40B4-BE49-F238E27FC236}">
                <a16:creationId xmlns:a16="http://schemas.microsoft.com/office/drawing/2014/main" id="{92D6D72E-A2CC-B744-8D39-E161FF5D4CD5}"/>
              </a:ext>
            </a:extLst>
          </p:cNvPr>
          <p:cNvSpPr txBox="1"/>
          <p:nvPr/>
        </p:nvSpPr>
        <p:spPr>
          <a:xfrm>
            <a:off x="5682344" y="261466"/>
            <a:ext cx="6155870" cy="6335068"/>
          </a:xfrm>
          <a:prstGeom prst="rect">
            <a:avLst/>
          </a:prstGeom>
          <a:noFill/>
        </p:spPr>
        <p:txBody>
          <a:bodyPr wrap="square">
            <a:spAutoFit/>
          </a:bodyPr>
          <a:lstStyle/>
          <a:p>
            <a:pPr algn="l" rtl="0" fontAlgn="base">
              <a:spcAft>
                <a:spcPts val="750"/>
              </a:spcAft>
              <a:buNone/>
            </a:pPr>
            <a:r>
              <a:rPr lang="en-US" b="0" i="0" dirty="0">
                <a:effectLst/>
                <a:latin typeface="Nunito" pitchFamily="2" charset="0"/>
              </a:rPr>
              <a:t>Kubernetes has the following advantages:</a:t>
            </a:r>
          </a:p>
          <a:p>
            <a:pPr algn="l" fontAlgn="base">
              <a:spcAft>
                <a:spcPts val="1800"/>
              </a:spcAft>
              <a:buFont typeface="Arial" panose="020B0604020202020204" pitchFamily="34" charset="0"/>
              <a:buChar char="•"/>
            </a:pPr>
            <a:r>
              <a:rPr lang="en-US" b="0" i="0" dirty="0">
                <a:effectLst/>
                <a:latin typeface="Nunito" pitchFamily="2" charset="0"/>
              </a:rPr>
              <a:t>Container Orchestration</a:t>
            </a:r>
          </a:p>
          <a:p>
            <a:pPr algn="l" fontAlgn="base">
              <a:spcAft>
                <a:spcPts val="1800"/>
              </a:spcAft>
              <a:buFont typeface="Arial" panose="020B0604020202020204" pitchFamily="34" charset="0"/>
              <a:buChar char="•"/>
            </a:pPr>
            <a:r>
              <a:rPr lang="en-US" b="0" i="0" dirty="0">
                <a:effectLst/>
                <a:latin typeface="Nunito" pitchFamily="2" charset="0"/>
              </a:rPr>
              <a:t>Automated Load Balancing</a:t>
            </a:r>
          </a:p>
          <a:p>
            <a:pPr algn="l" fontAlgn="base">
              <a:spcAft>
                <a:spcPts val="1800"/>
              </a:spcAft>
              <a:buFont typeface="Arial" panose="020B0604020202020204" pitchFamily="34" charset="0"/>
              <a:buChar char="•"/>
            </a:pPr>
            <a:r>
              <a:rPr lang="en-US" b="0" i="0" dirty="0">
                <a:effectLst/>
                <a:latin typeface="Nunito" pitchFamily="2" charset="0"/>
              </a:rPr>
              <a:t>Auto Scaling</a:t>
            </a:r>
          </a:p>
          <a:p>
            <a:pPr algn="l" fontAlgn="base">
              <a:spcAft>
                <a:spcPts val="1800"/>
              </a:spcAft>
              <a:buFont typeface="Arial" panose="020B0604020202020204" pitchFamily="34" charset="0"/>
              <a:buChar char="•"/>
            </a:pPr>
            <a:r>
              <a:rPr lang="en-US" b="0" i="0" dirty="0">
                <a:effectLst/>
                <a:latin typeface="Nunito" pitchFamily="2" charset="0"/>
              </a:rPr>
              <a:t>Rolling Update &amp; Rollbacks</a:t>
            </a:r>
          </a:p>
          <a:p>
            <a:pPr algn="l" fontAlgn="base">
              <a:spcAft>
                <a:spcPts val="1800"/>
              </a:spcAft>
              <a:buFont typeface="Arial" panose="020B0604020202020204" pitchFamily="34" charset="0"/>
              <a:buChar char="•"/>
            </a:pPr>
            <a:r>
              <a:rPr lang="en-US" b="0" i="0" dirty="0">
                <a:effectLst/>
                <a:latin typeface="Nunito" pitchFamily="2" charset="0"/>
              </a:rPr>
              <a:t>Service Discovery and Load Balancing</a:t>
            </a:r>
          </a:p>
          <a:p>
            <a:pPr algn="l" fontAlgn="base">
              <a:spcAft>
                <a:spcPts val="1800"/>
              </a:spcAft>
              <a:buFont typeface="Arial" panose="020B0604020202020204" pitchFamily="34" charset="0"/>
              <a:buChar char="•"/>
            </a:pPr>
            <a:r>
              <a:rPr lang="en-US" b="0" i="0" dirty="0">
                <a:effectLst/>
                <a:latin typeface="Nunito" pitchFamily="2" charset="0"/>
              </a:rPr>
              <a:t>Storage Orchestration</a:t>
            </a:r>
          </a:p>
          <a:p>
            <a:pPr algn="l" fontAlgn="base">
              <a:spcAft>
                <a:spcPts val="1800"/>
              </a:spcAft>
              <a:buFont typeface="Arial" panose="020B0604020202020204" pitchFamily="34" charset="0"/>
              <a:buChar char="•"/>
            </a:pPr>
            <a:r>
              <a:rPr lang="en-US" b="0" i="0" dirty="0">
                <a:effectLst/>
                <a:latin typeface="Nunito" pitchFamily="2" charset="0"/>
              </a:rPr>
              <a:t>Self-Healing</a:t>
            </a:r>
          </a:p>
          <a:p>
            <a:pPr algn="l" fontAlgn="base">
              <a:spcAft>
                <a:spcPts val="1800"/>
              </a:spcAft>
              <a:buFont typeface="Arial" panose="020B0604020202020204" pitchFamily="34" charset="0"/>
              <a:buChar char="•"/>
            </a:pPr>
            <a:r>
              <a:rPr lang="en-US" b="0" i="0" dirty="0">
                <a:effectLst/>
                <a:latin typeface="Nunito" pitchFamily="2" charset="0"/>
              </a:rPr>
              <a:t>Secrets and Configuration Management</a:t>
            </a:r>
          </a:p>
          <a:p>
            <a:pPr algn="l" fontAlgn="base">
              <a:spcAft>
                <a:spcPts val="1800"/>
              </a:spcAft>
              <a:buFont typeface="Arial" panose="020B0604020202020204" pitchFamily="34" charset="0"/>
              <a:buChar char="•"/>
            </a:pPr>
            <a:r>
              <a:rPr lang="en-US" b="0" i="0" dirty="0">
                <a:effectLst/>
                <a:latin typeface="Nunito" pitchFamily="2" charset="0"/>
              </a:rPr>
              <a:t>Multi-Cloud and Hybrid Cloud Support</a:t>
            </a:r>
          </a:p>
          <a:p>
            <a:pPr algn="l" fontAlgn="base">
              <a:spcAft>
                <a:spcPts val="1800"/>
              </a:spcAft>
              <a:buFont typeface="Arial" panose="020B0604020202020204" pitchFamily="34" charset="0"/>
              <a:buChar char="•"/>
            </a:pPr>
            <a:r>
              <a:rPr lang="en-US" b="0" i="0" dirty="0">
                <a:effectLst/>
                <a:latin typeface="Nunito" pitchFamily="2" charset="0"/>
              </a:rPr>
              <a:t>Role-Based Access Control (RBAC)</a:t>
            </a:r>
          </a:p>
          <a:p>
            <a:pPr algn="l" fontAlgn="base">
              <a:spcAft>
                <a:spcPts val="1800"/>
              </a:spcAft>
              <a:buFont typeface="Arial" panose="020B0604020202020204" pitchFamily="34" charset="0"/>
              <a:buChar char="•"/>
            </a:pPr>
            <a:r>
              <a:rPr lang="en-US" b="0" i="0" dirty="0">
                <a:effectLst/>
                <a:latin typeface="Nunito" pitchFamily="2" charset="0"/>
              </a:rPr>
              <a:t>Pods and Multi-Container Support</a:t>
            </a:r>
          </a:p>
          <a:p>
            <a:pPr algn="l" fontAlgn="base">
              <a:spcAft>
                <a:spcPts val="1800"/>
              </a:spcAft>
              <a:buFont typeface="Arial" panose="020B0604020202020204" pitchFamily="34" charset="0"/>
              <a:buChar char="•"/>
            </a:pPr>
            <a:r>
              <a:rPr lang="en-US" b="0" i="0" dirty="0">
                <a:effectLst/>
                <a:latin typeface="Nunito" pitchFamily="2" charset="0"/>
              </a:rPr>
              <a:t>Monitoring and Logging</a:t>
            </a:r>
          </a:p>
        </p:txBody>
      </p:sp>
    </p:spTree>
    <p:extLst>
      <p:ext uri="{BB962C8B-B14F-4D97-AF65-F5344CB8AC3E}">
        <p14:creationId xmlns:p14="http://schemas.microsoft.com/office/powerpoint/2010/main" val="2722876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30B4D-D6F3-F5C3-8D5B-53590CEF27B2}"/>
              </a:ext>
            </a:extLst>
          </p:cNvPr>
          <p:cNvSpPr>
            <a:spLocks noGrp="1"/>
          </p:cNvSpPr>
          <p:nvPr>
            <p:ph type="title"/>
          </p:nvPr>
        </p:nvSpPr>
        <p:spPr>
          <a:xfrm>
            <a:off x="191406" y="223612"/>
            <a:ext cx="10515600" cy="266246"/>
          </a:xfrm>
        </p:spPr>
        <p:txBody>
          <a:bodyPr>
            <a:normAutofit fontScale="90000"/>
          </a:bodyPr>
          <a:lstStyle/>
          <a:p>
            <a:r>
              <a:rPr lang="en-IN" dirty="0"/>
              <a:t>Kubernetes Architecture</a:t>
            </a:r>
          </a:p>
        </p:txBody>
      </p:sp>
      <p:pic>
        <p:nvPicPr>
          <p:cNvPr id="1026" name="Picture 2" descr="Deployment">
            <a:extLst>
              <a:ext uri="{FF2B5EF4-FFF2-40B4-BE49-F238E27FC236}">
                <a16:creationId xmlns:a16="http://schemas.microsoft.com/office/drawing/2014/main" id="{482404FF-4F37-3711-3812-8236BBA877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0466" y="762001"/>
            <a:ext cx="4687207" cy="560614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D5783E7-DEF6-C3C0-1E5D-72F30DB7C40D}"/>
              </a:ext>
            </a:extLst>
          </p:cNvPr>
          <p:cNvSpPr txBox="1"/>
          <p:nvPr/>
        </p:nvSpPr>
        <p:spPr>
          <a:xfrm>
            <a:off x="5449206" y="762001"/>
            <a:ext cx="6112328" cy="5909310"/>
          </a:xfrm>
          <a:prstGeom prst="rect">
            <a:avLst/>
          </a:prstGeom>
          <a:noFill/>
        </p:spPr>
        <p:txBody>
          <a:bodyPr wrap="square">
            <a:spAutoFit/>
          </a:bodyPr>
          <a:lstStyle/>
          <a:p>
            <a:r>
              <a:rPr lang="en-US" b="1" dirty="0"/>
              <a:t>Node</a:t>
            </a:r>
            <a:r>
              <a:rPr lang="en-US" dirty="0"/>
              <a:t> is a </a:t>
            </a:r>
            <a:r>
              <a:rPr lang="en-US" u="sng" dirty="0"/>
              <a:t>worker machine </a:t>
            </a:r>
            <a:r>
              <a:rPr lang="en-US" dirty="0"/>
              <a:t>in Kubernetes and may be either a virtual or a physical machine, depending on the cluster. Each Node is managed by the control plane. A Node can have multiple pods</a:t>
            </a:r>
          </a:p>
          <a:p>
            <a:endParaRPr lang="en-US" b="1" dirty="0"/>
          </a:p>
          <a:p>
            <a:r>
              <a:rPr lang="en-US" b="1" dirty="0"/>
              <a:t>Pod</a:t>
            </a:r>
            <a:r>
              <a:rPr lang="en-US" dirty="0"/>
              <a:t> is a </a:t>
            </a:r>
            <a:r>
              <a:rPr lang="en-US" u="sng" dirty="0"/>
              <a:t>collection of containers </a:t>
            </a:r>
            <a:r>
              <a:rPr lang="en-US" dirty="0"/>
              <a:t>and its storage inside a node of a Kubernetes cluster. It allows to </a:t>
            </a:r>
            <a:r>
              <a:rPr lang="en-US" b="1" dirty="0"/>
              <a:t>abstract the container technology if required</a:t>
            </a:r>
            <a:r>
              <a:rPr lang="en-US" dirty="0"/>
              <a:t>. Docker is the most common container runtime used in a Kubernetes Pod.</a:t>
            </a:r>
          </a:p>
          <a:p>
            <a:endParaRPr lang="en-US" dirty="0"/>
          </a:p>
          <a:p>
            <a:r>
              <a:rPr lang="en-US" b="1" dirty="0"/>
              <a:t>ReplicaSet</a:t>
            </a:r>
            <a:r>
              <a:rPr lang="en-US" dirty="0"/>
              <a:t> maintains a </a:t>
            </a:r>
            <a:r>
              <a:rPr lang="en-US" u="sng" dirty="0"/>
              <a:t>stable set of replicated pods </a:t>
            </a:r>
            <a:r>
              <a:rPr lang="en-US" dirty="0"/>
              <a:t>running within a cluster at any given time. Features: </a:t>
            </a:r>
          </a:p>
          <a:p>
            <a:pPr marL="285750" indent="-285750">
              <a:buFont typeface="Arial" panose="020B0604020202020204" pitchFamily="34" charset="0"/>
              <a:buChar char="•"/>
            </a:pPr>
            <a:r>
              <a:rPr lang="en-US" dirty="0"/>
              <a:t>a pod template for creating new pods whenever existing ones fail </a:t>
            </a:r>
          </a:p>
          <a:p>
            <a:pPr marL="285750" indent="-285750">
              <a:buFont typeface="Arial" panose="020B0604020202020204" pitchFamily="34" charset="0"/>
              <a:buChar char="•"/>
            </a:pPr>
            <a:r>
              <a:rPr lang="en-US" dirty="0"/>
              <a:t>replica count for maintaining the desired number of replicas</a:t>
            </a:r>
          </a:p>
          <a:p>
            <a:pPr marL="285750" indent="-285750">
              <a:buFont typeface="Arial" panose="020B0604020202020204" pitchFamily="34" charset="0"/>
              <a:buChar char="•"/>
            </a:pPr>
            <a:endParaRPr lang="en-US" dirty="0"/>
          </a:p>
          <a:p>
            <a:r>
              <a:rPr lang="en-US" b="1" dirty="0"/>
              <a:t>Deployment</a:t>
            </a:r>
            <a:r>
              <a:rPr lang="en-US" dirty="0"/>
              <a:t> tells Kubernetes how to create or modify instances of the pods that hold a containerized application. Deployments can help to efficiently scale the number of replica pods, enable the rollout of updated code in a controlled manner, or roll back to an earlier deployment version if necessary.</a:t>
            </a:r>
            <a:endParaRPr lang="en-IN" dirty="0"/>
          </a:p>
        </p:txBody>
      </p:sp>
      <p:sp>
        <p:nvSpPr>
          <p:cNvPr id="7" name="TextBox 6">
            <a:extLst>
              <a:ext uri="{FF2B5EF4-FFF2-40B4-BE49-F238E27FC236}">
                <a16:creationId xmlns:a16="http://schemas.microsoft.com/office/drawing/2014/main" id="{84DFD02E-7B91-FDB0-97F0-A9353454FC57}"/>
              </a:ext>
            </a:extLst>
          </p:cNvPr>
          <p:cNvSpPr txBox="1"/>
          <p:nvPr/>
        </p:nvSpPr>
        <p:spPr>
          <a:xfrm rot="16200000">
            <a:off x="-1792901" y="3193436"/>
            <a:ext cx="4953000" cy="769441"/>
          </a:xfrm>
          <a:prstGeom prst="rect">
            <a:avLst/>
          </a:prstGeom>
          <a:noFill/>
        </p:spPr>
        <p:txBody>
          <a:bodyPr wrap="square" rtlCol="0">
            <a:spAutoFit/>
          </a:bodyPr>
          <a:lstStyle/>
          <a:p>
            <a:pPr algn="ctr"/>
            <a:r>
              <a:rPr lang="en-IN" sz="4400" dirty="0"/>
              <a:t>Kubernetes Cluster</a:t>
            </a:r>
          </a:p>
        </p:txBody>
      </p:sp>
    </p:spTree>
    <p:extLst>
      <p:ext uri="{BB962C8B-B14F-4D97-AF65-F5344CB8AC3E}">
        <p14:creationId xmlns:p14="http://schemas.microsoft.com/office/powerpoint/2010/main" val="12590382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7A06803-9C79-67E8-336D-4247E58A7F9E}"/>
              </a:ext>
            </a:extLst>
          </p:cNvPr>
          <p:cNvSpPr txBox="1"/>
          <p:nvPr/>
        </p:nvSpPr>
        <p:spPr>
          <a:xfrm>
            <a:off x="7108371" y="500062"/>
            <a:ext cx="4887686" cy="4741041"/>
          </a:xfrm>
          <a:prstGeom prst="rect">
            <a:avLst/>
          </a:prstGeom>
          <a:noFill/>
        </p:spPr>
        <p:txBody>
          <a:bodyPr wrap="square">
            <a:spAutoFit/>
          </a:bodyPr>
          <a:lstStyle/>
          <a:p>
            <a:pPr algn="l">
              <a:lnSpc>
                <a:spcPts val="1650"/>
              </a:lnSpc>
              <a:spcBef>
                <a:spcPts val="750"/>
              </a:spcBef>
              <a:spcAft>
                <a:spcPts val="600"/>
              </a:spcAft>
              <a:buFont typeface="Arial" panose="020B0604020202020204" pitchFamily="34" charset="0"/>
              <a:buChar char="•"/>
            </a:pPr>
            <a:r>
              <a:rPr lang="en-US" dirty="0">
                <a:latin typeface="Google Sans"/>
              </a:rPr>
              <a:t> </a:t>
            </a:r>
            <a:r>
              <a:rPr lang="en-US" b="1" i="0" dirty="0">
                <a:effectLst/>
                <a:latin typeface="Google Sans"/>
              </a:rPr>
              <a:t>Pod</a:t>
            </a:r>
            <a:r>
              <a:rPr lang="en-US" b="0" i="0" dirty="0">
                <a:effectLst/>
                <a:latin typeface="Google Sans"/>
              </a:rPr>
              <a:t> is the smallest deployable unit in Kubernetes, containing one or more containers.</a:t>
            </a: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Services</a:t>
            </a:r>
            <a:r>
              <a:rPr lang="en-US" b="0" i="0" dirty="0">
                <a:effectLst/>
                <a:latin typeface="Google Sans"/>
              </a:rPr>
              <a:t> provide </a:t>
            </a:r>
            <a:r>
              <a:rPr lang="en-US" b="1" i="0" dirty="0">
                <a:effectLst/>
                <a:latin typeface="Google Sans"/>
              </a:rPr>
              <a:t>stable IP </a:t>
            </a:r>
            <a:r>
              <a:rPr lang="en-US" b="0" i="0" dirty="0">
                <a:effectLst/>
                <a:latin typeface="Google Sans"/>
              </a:rPr>
              <a:t>addresses and DNS names for a group of pods. They act as a load balancer, distributing traffic across multiple pods. Services can be configured to expose ports to the external world or within the cluster.</a:t>
            </a: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Ingress</a:t>
            </a:r>
            <a:r>
              <a:rPr lang="en-US" b="0" i="0" dirty="0">
                <a:effectLst/>
                <a:latin typeface="Google Sans"/>
              </a:rPr>
              <a:t> manages external access to services within the cluster, typically via HTTP. It acts as an entry point for traffic, routing it to the appropriate service based on rules. Ingress allows for features like SSL termination, name-based routing, and request rewriting.</a:t>
            </a: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ConfigMaps</a:t>
            </a:r>
            <a:r>
              <a:rPr lang="en-US" b="0" i="0" dirty="0">
                <a:effectLst/>
                <a:latin typeface="Google Sans"/>
              </a:rPr>
              <a:t>: store non-sensitive configuration data, such as environment variables or configuration files. </a:t>
            </a: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Secrets</a:t>
            </a:r>
            <a:r>
              <a:rPr lang="en-US" b="0" i="0" dirty="0">
                <a:effectLst/>
                <a:latin typeface="Google Sans"/>
              </a:rPr>
              <a:t>: store sensitive information, like passwords, API keys, or TLS certificates. </a:t>
            </a:r>
          </a:p>
        </p:txBody>
      </p:sp>
      <p:sp>
        <p:nvSpPr>
          <p:cNvPr id="9" name="TextBox 8">
            <a:extLst>
              <a:ext uri="{FF2B5EF4-FFF2-40B4-BE49-F238E27FC236}">
                <a16:creationId xmlns:a16="http://schemas.microsoft.com/office/drawing/2014/main" id="{119E12B7-07F8-24A8-C9DE-122655E912BB}"/>
              </a:ext>
            </a:extLst>
          </p:cNvPr>
          <p:cNvSpPr txBox="1"/>
          <p:nvPr/>
        </p:nvSpPr>
        <p:spPr>
          <a:xfrm>
            <a:off x="195943" y="3568755"/>
            <a:ext cx="6770915" cy="2637902"/>
          </a:xfrm>
          <a:prstGeom prst="rect">
            <a:avLst/>
          </a:prstGeom>
          <a:noFill/>
        </p:spPr>
        <p:txBody>
          <a:bodyPr wrap="square">
            <a:spAutoFit/>
          </a:bodyPr>
          <a:lstStyle/>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Deployments</a:t>
            </a:r>
            <a:r>
              <a:rPr lang="en-US" b="0" i="0" dirty="0">
                <a:effectLst/>
                <a:latin typeface="Google Sans"/>
              </a:rPr>
              <a:t> are used to manage the lifecycle of pods, including creation, deletion, scaling, and rolling updates. They ensure that a desired number of pods are running at all times, automatically scaling up or down as needed. Deployments are ideal for </a:t>
            </a:r>
            <a:r>
              <a:rPr lang="en-US" b="1" i="0" dirty="0">
                <a:effectLst/>
                <a:latin typeface="Google Sans"/>
              </a:rPr>
              <a:t>stateless</a:t>
            </a:r>
            <a:r>
              <a:rPr lang="en-US" b="0" i="0" dirty="0">
                <a:effectLst/>
                <a:latin typeface="Google Sans"/>
              </a:rPr>
              <a:t> applications where each instance is interchangeable like an </a:t>
            </a:r>
            <a:r>
              <a:rPr lang="en-US" b="1" i="0" dirty="0">
                <a:effectLst/>
                <a:latin typeface="Google Sans"/>
              </a:rPr>
              <a:t>app</a:t>
            </a:r>
            <a:r>
              <a:rPr lang="en-US" b="0" i="0" dirty="0">
                <a:effectLst/>
                <a:latin typeface="Google Sans"/>
              </a:rPr>
              <a:t>.</a:t>
            </a:r>
          </a:p>
          <a:p>
            <a:pPr algn="l">
              <a:lnSpc>
                <a:spcPts val="1650"/>
              </a:lnSpc>
              <a:spcBef>
                <a:spcPts val="750"/>
              </a:spcBef>
              <a:spcAft>
                <a:spcPts val="600"/>
              </a:spcAft>
              <a:buFont typeface="Arial" panose="020B0604020202020204" pitchFamily="34" charset="0"/>
              <a:buChar char="•"/>
            </a:pPr>
            <a:endParaRPr lang="en-US" dirty="0">
              <a:latin typeface="Google Sans"/>
            </a:endParaRPr>
          </a:p>
          <a:p>
            <a:pPr algn="l">
              <a:lnSpc>
                <a:spcPts val="1650"/>
              </a:lnSpc>
              <a:spcBef>
                <a:spcPts val="750"/>
              </a:spcBef>
              <a:spcAft>
                <a:spcPts val="600"/>
              </a:spcAft>
              <a:buFont typeface="Arial" panose="020B0604020202020204" pitchFamily="34" charset="0"/>
              <a:buChar char="•"/>
            </a:pPr>
            <a:r>
              <a:rPr lang="en-US" b="0" i="0" dirty="0">
                <a:effectLst/>
                <a:latin typeface="Google Sans"/>
              </a:rPr>
              <a:t> </a:t>
            </a:r>
            <a:r>
              <a:rPr lang="en-US" b="1" i="0" dirty="0">
                <a:effectLst/>
                <a:latin typeface="Google Sans"/>
              </a:rPr>
              <a:t>StatefulSets</a:t>
            </a:r>
            <a:r>
              <a:rPr lang="en-US" b="0" i="0" dirty="0">
                <a:effectLst/>
                <a:latin typeface="Google Sans"/>
              </a:rPr>
              <a:t> are used for managing stateful applications that require unique identities and persistent storage. They guarantee a stable network identity and data storage for each pod. Examples of </a:t>
            </a:r>
            <a:r>
              <a:rPr lang="en-US" b="1" i="0" dirty="0">
                <a:effectLst/>
                <a:latin typeface="Google Sans"/>
              </a:rPr>
              <a:t>stateful</a:t>
            </a:r>
            <a:r>
              <a:rPr lang="en-US" b="0" i="0" dirty="0">
                <a:effectLst/>
                <a:latin typeface="Google Sans"/>
              </a:rPr>
              <a:t> applications include </a:t>
            </a:r>
            <a:r>
              <a:rPr lang="en-US" b="1" i="0" dirty="0">
                <a:effectLst/>
                <a:latin typeface="Google Sans"/>
              </a:rPr>
              <a:t>databases</a:t>
            </a:r>
            <a:r>
              <a:rPr lang="en-US" b="0" i="0" dirty="0">
                <a:effectLst/>
                <a:latin typeface="Google Sans"/>
              </a:rPr>
              <a:t>, message queues, and file servers.</a:t>
            </a:r>
          </a:p>
        </p:txBody>
      </p:sp>
      <p:pic>
        <p:nvPicPr>
          <p:cNvPr id="13" name="Picture 12">
            <a:extLst>
              <a:ext uri="{FF2B5EF4-FFF2-40B4-BE49-F238E27FC236}">
                <a16:creationId xmlns:a16="http://schemas.microsoft.com/office/drawing/2014/main" id="{56B965FF-F22D-3581-26D6-51E61D088DE7}"/>
              </a:ext>
            </a:extLst>
          </p:cNvPr>
          <p:cNvPicPr>
            <a:picLocks noChangeAspect="1"/>
          </p:cNvPicPr>
          <p:nvPr/>
        </p:nvPicPr>
        <p:blipFill>
          <a:blip r:embed="rId2"/>
          <a:stretch>
            <a:fillRect/>
          </a:stretch>
        </p:blipFill>
        <p:spPr>
          <a:xfrm>
            <a:off x="1513588" y="117983"/>
            <a:ext cx="4582412" cy="3311017"/>
          </a:xfrm>
          <a:prstGeom prst="rect">
            <a:avLst/>
          </a:prstGeom>
        </p:spPr>
      </p:pic>
    </p:spTree>
    <p:extLst>
      <p:ext uri="{BB962C8B-B14F-4D97-AF65-F5344CB8AC3E}">
        <p14:creationId xmlns:p14="http://schemas.microsoft.com/office/powerpoint/2010/main" val="1629679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a:extLst>
              <a:ext uri="{FF2B5EF4-FFF2-40B4-BE49-F238E27FC236}">
                <a16:creationId xmlns:a16="http://schemas.microsoft.com/office/drawing/2014/main" id="{DEDFA636-926B-F27A-3F56-27180159C3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2488" y="0"/>
            <a:ext cx="5275263" cy="685800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890D4A3B-FF64-5506-A52A-93E86815D56B}"/>
              </a:ext>
            </a:extLst>
          </p:cNvPr>
          <p:cNvSpPr txBox="1"/>
          <p:nvPr/>
        </p:nvSpPr>
        <p:spPr>
          <a:xfrm>
            <a:off x="5856515" y="181957"/>
            <a:ext cx="6096000" cy="6494085"/>
          </a:xfrm>
          <a:prstGeom prst="rect">
            <a:avLst/>
          </a:prstGeom>
          <a:noFill/>
        </p:spPr>
        <p:txBody>
          <a:bodyPr wrap="square">
            <a:spAutoFit/>
          </a:bodyPr>
          <a:lstStyle/>
          <a:p>
            <a:r>
              <a:rPr lang="en-US" sz="1600" dirty="0"/>
              <a:t>🔹 </a:t>
            </a:r>
            <a:r>
              <a:rPr lang="en-US" sz="1600" b="1" dirty="0"/>
              <a:t>ClusterIP</a:t>
            </a:r>
            <a:r>
              <a:rPr lang="en-US" sz="1600" dirty="0"/>
              <a:t> is the default. Kubernetes will assign a cluster-internal IP address to ClusterIP service. This makes the service only reachable within the cluster. </a:t>
            </a:r>
          </a:p>
          <a:p>
            <a:pPr marL="285750" indent="-285750">
              <a:buFont typeface="Arial" panose="020B0604020202020204" pitchFamily="34" charset="0"/>
              <a:buChar char="•"/>
            </a:pPr>
            <a:r>
              <a:rPr lang="en-US" sz="1600" dirty="0" err="1"/>
              <a:t>targetPort</a:t>
            </a:r>
            <a:r>
              <a:rPr lang="en-US" sz="1600" dirty="0"/>
              <a:t> : port of the Pod(s)</a:t>
            </a:r>
          </a:p>
          <a:p>
            <a:pPr marL="285750" indent="-285750">
              <a:buFont typeface="Arial" panose="020B0604020202020204" pitchFamily="34" charset="0"/>
              <a:buChar char="•"/>
            </a:pPr>
            <a:r>
              <a:rPr lang="en-US" sz="1600" dirty="0"/>
              <a:t>port : port where the service is available</a:t>
            </a:r>
          </a:p>
          <a:p>
            <a:endParaRPr lang="en-US" sz="1600" dirty="0"/>
          </a:p>
          <a:p>
            <a:r>
              <a:rPr lang="en-US" sz="1600" dirty="0"/>
              <a:t>🔹 </a:t>
            </a:r>
            <a:r>
              <a:rPr lang="en-US" sz="1600" b="1" dirty="0"/>
              <a:t>NodePort</a:t>
            </a:r>
          </a:p>
          <a:p>
            <a:r>
              <a:rPr lang="en-US" sz="1600" dirty="0"/>
              <a:t>This exposes the service outside of the cluster by adding a cluster-wide port on top of ClusterIP. We can request the service by </a:t>
            </a:r>
            <a:r>
              <a:rPr lang="en-US" sz="1600" dirty="0" err="1"/>
              <a:t>NodeIP:NodePort</a:t>
            </a:r>
            <a:r>
              <a:rPr lang="en-US" sz="1600" dirty="0"/>
              <a:t>.</a:t>
            </a:r>
          </a:p>
          <a:p>
            <a:pPr marL="285750" indent="-285750">
              <a:buFont typeface="Arial" panose="020B0604020202020204" pitchFamily="34" charset="0"/>
              <a:buChar char="•"/>
            </a:pPr>
            <a:r>
              <a:rPr lang="en-US" sz="1600" dirty="0" err="1"/>
              <a:t>targetPort</a:t>
            </a:r>
            <a:r>
              <a:rPr lang="en-US" sz="1600" dirty="0"/>
              <a:t> : port of the Pod(s)</a:t>
            </a:r>
          </a:p>
          <a:p>
            <a:pPr marL="285750" indent="-285750">
              <a:buFont typeface="Arial" panose="020B0604020202020204" pitchFamily="34" charset="0"/>
              <a:buChar char="•"/>
            </a:pPr>
            <a:r>
              <a:rPr lang="en-US" sz="1600" dirty="0"/>
              <a:t>port : port where the service is available</a:t>
            </a:r>
          </a:p>
          <a:p>
            <a:pPr marL="285750" indent="-285750">
              <a:buFont typeface="Arial" panose="020B0604020202020204" pitchFamily="34" charset="0"/>
              <a:buChar char="•"/>
            </a:pPr>
            <a:r>
              <a:rPr lang="fr-FR" sz="1600" dirty="0" err="1"/>
              <a:t>nodePort</a:t>
            </a:r>
            <a:r>
              <a:rPr lang="fr-FR" sz="1600" dirty="0"/>
              <a:t>: port of the </a:t>
            </a:r>
            <a:r>
              <a:rPr lang="fr-FR" sz="1600" dirty="0" err="1"/>
              <a:t>node</a:t>
            </a:r>
            <a:r>
              <a:rPr lang="fr-FR" sz="1600" dirty="0"/>
              <a:t> machine </a:t>
            </a:r>
            <a:r>
              <a:rPr lang="fr-FR" sz="1600" dirty="0" err="1"/>
              <a:t>where</a:t>
            </a:r>
            <a:r>
              <a:rPr lang="fr-FR" sz="1600" dirty="0"/>
              <a:t> the service can </a:t>
            </a:r>
            <a:r>
              <a:rPr lang="fr-FR" sz="1600" dirty="0" err="1"/>
              <a:t>be</a:t>
            </a:r>
            <a:r>
              <a:rPr lang="fr-FR" sz="1600" dirty="0"/>
              <a:t> </a:t>
            </a:r>
            <a:r>
              <a:rPr lang="fr-FR" sz="1600" dirty="0" err="1"/>
              <a:t>accessed</a:t>
            </a:r>
            <a:r>
              <a:rPr lang="fr-FR" sz="1600" dirty="0"/>
              <a:t>.</a:t>
            </a:r>
            <a:endParaRPr lang="en-US" sz="1600" dirty="0"/>
          </a:p>
          <a:p>
            <a:endParaRPr lang="en-US" sz="1600" dirty="0"/>
          </a:p>
          <a:p>
            <a:r>
              <a:rPr lang="en-US" sz="1600" dirty="0"/>
              <a:t>🔹 </a:t>
            </a:r>
            <a:r>
              <a:rPr lang="en-US" sz="1600" b="1" dirty="0"/>
              <a:t>LoadBalancer</a:t>
            </a:r>
          </a:p>
          <a:p>
            <a:r>
              <a:rPr lang="en-US" sz="1600" dirty="0"/>
              <a:t>This exposes the Service externally using a cloud provider’s load balancer.</a:t>
            </a:r>
          </a:p>
          <a:p>
            <a:pPr marL="285750" indent="-285750">
              <a:buFont typeface="Arial" panose="020B0604020202020204" pitchFamily="34" charset="0"/>
              <a:buChar char="•"/>
            </a:pPr>
            <a:r>
              <a:rPr lang="en-US" sz="1600" dirty="0" err="1"/>
              <a:t>targetPort</a:t>
            </a:r>
            <a:r>
              <a:rPr lang="en-US" sz="1600" dirty="0"/>
              <a:t> : port of the Pod(s)</a:t>
            </a:r>
          </a:p>
          <a:p>
            <a:pPr marL="285750" indent="-285750">
              <a:buFont typeface="Arial" panose="020B0604020202020204" pitchFamily="34" charset="0"/>
              <a:buChar char="•"/>
            </a:pPr>
            <a:r>
              <a:rPr lang="en-US" sz="1600" dirty="0"/>
              <a:t>port : port where the load balanced service is available</a:t>
            </a:r>
          </a:p>
          <a:p>
            <a:endParaRPr lang="en-US" sz="1600" dirty="0"/>
          </a:p>
          <a:p>
            <a:r>
              <a:rPr lang="en-US" sz="1600" dirty="0"/>
              <a:t>🔹 </a:t>
            </a:r>
            <a:r>
              <a:rPr lang="en-US" sz="1600" b="1" dirty="0" err="1"/>
              <a:t>ExternalName</a:t>
            </a:r>
            <a:endParaRPr lang="en-US" sz="1600" b="1" dirty="0"/>
          </a:p>
          <a:p>
            <a:r>
              <a:rPr lang="en-US" sz="1600" dirty="0"/>
              <a:t>This maps a Service to a domain name. This is commonly used to create a service within Kubernetes to represent an external database.</a:t>
            </a:r>
          </a:p>
          <a:p>
            <a:pPr marL="285750" indent="-285750">
              <a:buFont typeface="Arial" panose="020B0604020202020204" pitchFamily="34" charset="0"/>
              <a:buChar char="•"/>
            </a:pPr>
            <a:r>
              <a:rPr lang="en-US" sz="1600" dirty="0" err="1"/>
              <a:t>externalName</a:t>
            </a:r>
            <a:r>
              <a:rPr lang="en-US" sz="1600" dirty="0"/>
              <a:t>: external domain name</a:t>
            </a:r>
            <a:endParaRPr lang="en-IN" sz="1600" dirty="0"/>
          </a:p>
        </p:txBody>
      </p:sp>
      <p:cxnSp>
        <p:nvCxnSpPr>
          <p:cNvPr id="17" name="Straight Arrow Connector 16">
            <a:extLst>
              <a:ext uri="{FF2B5EF4-FFF2-40B4-BE49-F238E27FC236}">
                <a16:creationId xmlns:a16="http://schemas.microsoft.com/office/drawing/2014/main" id="{A7C29629-CF84-F7D8-730A-3780F01EC641}"/>
              </a:ext>
            </a:extLst>
          </p:cNvPr>
          <p:cNvCxnSpPr/>
          <p:nvPr/>
        </p:nvCxnSpPr>
        <p:spPr>
          <a:xfrm flipH="1">
            <a:off x="4865914" y="2819400"/>
            <a:ext cx="1066800" cy="2177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0E69B34-C2F1-C3F3-0B32-C2D05FB435CD}"/>
              </a:ext>
            </a:extLst>
          </p:cNvPr>
          <p:cNvCxnSpPr/>
          <p:nvPr/>
        </p:nvCxnSpPr>
        <p:spPr>
          <a:xfrm flipH="1" flipV="1">
            <a:off x="4365171" y="2416629"/>
            <a:ext cx="1491344" cy="664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1F4DE21C-854D-7D3E-49E5-7BB23FC631B7}"/>
              </a:ext>
            </a:extLst>
          </p:cNvPr>
          <p:cNvCxnSpPr/>
          <p:nvPr/>
        </p:nvCxnSpPr>
        <p:spPr>
          <a:xfrm flipH="1" flipV="1">
            <a:off x="4789714" y="1654629"/>
            <a:ext cx="1143000" cy="16219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5863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836D8-96DC-AA00-A9EB-6B501513FDE6}"/>
              </a:ext>
            </a:extLst>
          </p:cNvPr>
          <p:cNvSpPr>
            <a:spLocks noGrp="1"/>
          </p:cNvSpPr>
          <p:nvPr>
            <p:ph type="title"/>
          </p:nvPr>
        </p:nvSpPr>
        <p:spPr>
          <a:xfrm>
            <a:off x="838200" y="365125"/>
            <a:ext cx="10515600" cy="396875"/>
          </a:xfrm>
        </p:spPr>
        <p:txBody>
          <a:bodyPr>
            <a:normAutofit fontScale="90000"/>
          </a:bodyPr>
          <a:lstStyle/>
          <a:p>
            <a:r>
              <a:rPr lang="en-IN" dirty="0"/>
              <a:t>Helm Charts</a:t>
            </a:r>
          </a:p>
        </p:txBody>
      </p:sp>
      <p:sp>
        <p:nvSpPr>
          <p:cNvPr id="4" name="TextBox 3">
            <a:extLst>
              <a:ext uri="{FF2B5EF4-FFF2-40B4-BE49-F238E27FC236}">
                <a16:creationId xmlns:a16="http://schemas.microsoft.com/office/drawing/2014/main" id="{6A8C2BA9-F29D-CA93-DEE8-7DAA74E5CAC6}"/>
              </a:ext>
            </a:extLst>
          </p:cNvPr>
          <p:cNvSpPr txBox="1"/>
          <p:nvPr/>
        </p:nvSpPr>
        <p:spPr>
          <a:xfrm>
            <a:off x="879387" y="4284505"/>
            <a:ext cx="4876800" cy="1754326"/>
          </a:xfrm>
          <a:prstGeom prst="rect">
            <a:avLst/>
          </a:prstGeom>
          <a:noFill/>
        </p:spPr>
        <p:txBody>
          <a:bodyPr wrap="square">
            <a:spAutoFit/>
          </a:bodyPr>
          <a:lstStyle/>
          <a:p>
            <a:r>
              <a:rPr lang="en-IN" dirty="0"/>
              <a:t>The package manager for Kubernetes – you can find common helm charts from publicly availed registries</a:t>
            </a:r>
          </a:p>
          <a:p>
            <a:endParaRPr lang="en-IN" dirty="0"/>
          </a:p>
          <a:p>
            <a:endParaRPr lang="en-IN" dirty="0"/>
          </a:p>
          <a:p>
            <a:endParaRPr lang="en-IN" dirty="0"/>
          </a:p>
        </p:txBody>
      </p:sp>
      <p:pic>
        <p:nvPicPr>
          <p:cNvPr id="6" name="Picture 5">
            <a:extLst>
              <a:ext uri="{FF2B5EF4-FFF2-40B4-BE49-F238E27FC236}">
                <a16:creationId xmlns:a16="http://schemas.microsoft.com/office/drawing/2014/main" id="{1B693121-E3A6-4DC8-5192-CC1160670BF0}"/>
              </a:ext>
            </a:extLst>
          </p:cNvPr>
          <p:cNvPicPr>
            <a:picLocks noChangeAspect="1"/>
          </p:cNvPicPr>
          <p:nvPr/>
        </p:nvPicPr>
        <p:blipFill>
          <a:blip r:embed="rId2"/>
          <a:stretch>
            <a:fillRect/>
          </a:stretch>
        </p:blipFill>
        <p:spPr>
          <a:xfrm>
            <a:off x="539574" y="1036613"/>
            <a:ext cx="5556426" cy="2784273"/>
          </a:xfrm>
          <a:prstGeom prst="rect">
            <a:avLst/>
          </a:prstGeom>
        </p:spPr>
      </p:pic>
      <p:pic>
        <p:nvPicPr>
          <p:cNvPr id="8" name="Picture 7">
            <a:extLst>
              <a:ext uri="{FF2B5EF4-FFF2-40B4-BE49-F238E27FC236}">
                <a16:creationId xmlns:a16="http://schemas.microsoft.com/office/drawing/2014/main" id="{A69B900B-3EE6-A941-DADD-FF6D682C3CC5}"/>
              </a:ext>
            </a:extLst>
          </p:cNvPr>
          <p:cNvPicPr>
            <a:picLocks noChangeAspect="1"/>
          </p:cNvPicPr>
          <p:nvPr/>
        </p:nvPicPr>
        <p:blipFill>
          <a:blip r:embed="rId3"/>
          <a:stretch>
            <a:fillRect/>
          </a:stretch>
        </p:blipFill>
        <p:spPr>
          <a:xfrm>
            <a:off x="6241930" y="1040078"/>
            <a:ext cx="5830327" cy="2388922"/>
          </a:xfrm>
          <a:prstGeom prst="rect">
            <a:avLst/>
          </a:prstGeom>
        </p:spPr>
      </p:pic>
      <p:sp>
        <p:nvSpPr>
          <p:cNvPr id="10" name="TextBox 9">
            <a:extLst>
              <a:ext uri="{FF2B5EF4-FFF2-40B4-BE49-F238E27FC236}">
                <a16:creationId xmlns:a16="http://schemas.microsoft.com/office/drawing/2014/main" id="{40DD7D14-B69F-4FE3-5FAE-6726B6CBDB31}"/>
              </a:ext>
            </a:extLst>
          </p:cNvPr>
          <p:cNvSpPr txBox="1"/>
          <p:nvPr/>
        </p:nvSpPr>
        <p:spPr>
          <a:xfrm>
            <a:off x="6241930" y="3957935"/>
            <a:ext cx="6096000" cy="646331"/>
          </a:xfrm>
          <a:prstGeom prst="rect">
            <a:avLst/>
          </a:prstGeom>
          <a:noFill/>
        </p:spPr>
        <p:txBody>
          <a:bodyPr wrap="square">
            <a:spAutoFit/>
          </a:bodyPr>
          <a:lstStyle/>
          <a:p>
            <a:r>
              <a:rPr lang="en-US" b="0" i="0" dirty="0">
                <a:effectLst/>
                <a:latin typeface="Google Sans"/>
              </a:rPr>
              <a:t>Template can be used to create different configurations by varying the input values</a:t>
            </a:r>
            <a:endParaRPr lang="en-IN" dirty="0"/>
          </a:p>
        </p:txBody>
      </p:sp>
    </p:spTree>
    <p:extLst>
      <p:ext uri="{BB962C8B-B14F-4D97-AF65-F5344CB8AC3E}">
        <p14:creationId xmlns:p14="http://schemas.microsoft.com/office/powerpoint/2010/main" val="41619053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455DF-6854-D9A7-4176-2511D8C86F76}"/>
              </a:ext>
            </a:extLst>
          </p:cNvPr>
          <p:cNvSpPr>
            <a:spLocks noGrp="1"/>
          </p:cNvSpPr>
          <p:nvPr>
            <p:ph type="title"/>
          </p:nvPr>
        </p:nvSpPr>
        <p:spPr>
          <a:xfrm>
            <a:off x="119743" y="152400"/>
            <a:ext cx="11865427" cy="707572"/>
          </a:xfrm>
        </p:spPr>
        <p:txBody>
          <a:bodyPr>
            <a:normAutofit/>
          </a:bodyPr>
          <a:lstStyle/>
          <a:p>
            <a:r>
              <a:rPr lang="en-IN" sz="3200" dirty="0"/>
              <a:t>Azure Kubernetes Service - Managed Kubernetes service on Azure</a:t>
            </a:r>
          </a:p>
        </p:txBody>
      </p:sp>
      <p:pic>
        <p:nvPicPr>
          <p:cNvPr id="7" name="Graphic 6">
            <a:extLst>
              <a:ext uri="{FF2B5EF4-FFF2-40B4-BE49-F238E27FC236}">
                <a16:creationId xmlns:a16="http://schemas.microsoft.com/office/drawing/2014/main" id="{F1CB1CFF-01CD-E078-8CEE-F2D31FC7DF3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1371" y="848417"/>
            <a:ext cx="10809515" cy="5737440"/>
          </a:xfrm>
          <a:prstGeom prst="rect">
            <a:avLst/>
          </a:prstGeom>
        </p:spPr>
      </p:pic>
    </p:spTree>
    <p:extLst>
      <p:ext uri="{BB962C8B-B14F-4D97-AF65-F5344CB8AC3E}">
        <p14:creationId xmlns:p14="http://schemas.microsoft.com/office/powerpoint/2010/main" val="21847773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37CBA-F092-7734-A30A-ADAB654EA699}"/>
              </a:ext>
            </a:extLst>
          </p:cNvPr>
          <p:cNvSpPr>
            <a:spLocks noGrp="1"/>
          </p:cNvSpPr>
          <p:nvPr>
            <p:ph type="title"/>
          </p:nvPr>
        </p:nvSpPr>
        <p:spPr>
          <a:xfrm>
            <a:off x="380999" y="321584"/>
            <a:ext cx="11299371" cy="527504"/>
          </a:xfrm>
        </p:spPr>
        <p:txBody>
          <a:bodyPr>
            <a:normAutofit fontScale="90000"/>
          </a:bodyPr>
          <a:lstStyle/>
          <a:p>
            <a:r>
              <a:rPr lang="en-IN" dirty="0"/>
              <a:t>Elastic Kubernetes Service – Managed option on AWS</a:t>
            </a:r>
          </a:p>
        </p:txBody>
      </p:sp>
      <p:pic>
        <p:nvPicPr>
          <p:cNvPr id="3074" name="Picture 2">
            <a:extLst>
              <a:ext uri="{FF2B5EF4-FFF2-40B4-BE49-F238E27FC236}">
                <a16:creationId xmlns:a16="http://schemas.microsoft.com/office/drawing/2014/main" id="{67918168-5EDE-008D-72D2-F7EBE59A9C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629" y="1057953"/>
            <a:ext cx="10668000" cy="5478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99671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2B7EC1-D640-2E2B-F1B7-2B2F6BBBD600}"/>
              </a:ext>
            </a:extLst>
          </p:cNvPr>
          <p:cNvSpPr>
            <a:spLocks noGrp="1"/>
          </p:cNvSpPr>
          <p:nvPr>
            <p:ph type="title"/>
          </p:nvPr>
        </p:nvSpPr>
        <p:spPr>
          <a:xfrm>
            <a:off x="0" y="65314"/>
            <a:ext cx="10515600" cy="581932"/>
          </a:xfrm>
        </p:spPr>
        <p:txBody>
          <a:bodyPr>
            <a:normAutofit fontScale="90000"/>
          </a:bodyPr>
          <a:lstStyle/>
          <a:p>
            <a:r>
              <a:rPr lang="en-IN" sz="3600" dirty="0"/>
              <a:t>Elastic Container Service – AWS Native and Opiniated offering</a:t>
            </a:r>
          </a:p>
        </p:txBody>
      </p:sp>
      <p:pic>
        <p:nvPicPr>
          <p:cNvPr id="4098" name="Picture 2">
            <a:extLst>
              <a:ext uri="{FF2B5EF4-FFF2-40B4-BE49-F238E27FC236}">
                <a16:creationId xmlns:a16="http://schemas.microsoft.com/office/drawing/2014/main" id="{C9FC59B8-7CDF-58FD-0797-8532D94E50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8572" y="1155309"/>
            <a:ext cx="4642077" cy="521283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5BCEDB2-AEA8-0707-3AE7-41371FAEC5D4}"/>
              </a:ext>
            </a:extLst>
          </p:cNvPr>
          <p:cNvSpPr txBox="1"/>
          <p:nvPr/>
        </p:nvSpPr>
        <p:spPr>
          <a:xfrm>
            <a:off x="6014358" y="1258277"/>
            <a:ext cx="5437413" cy="2031325"/>
          </a:xfrm>
          <a:prstGeom prst="rect">
            <a:avLst/>
          </a:prstGeom>
          <a:noFill/>
        </p:spPr>
        <p:txBody>
          <a:bodyPr wrap="square">
            <a:spAutoFit/>
          </a:bodyPr>
          <a:lstStyle/>
          <a:p>
            <a:r>
              <a:rPr lang="en-US" b="1" dirty="0"/>
              <a:t>AWS </a:t>
            </a:r>
            <a:r>
              <a:rPr lang="en-US" b="1" dirty="0" err="1"/>
              <a:t>Fargate</a:t>
            </a:r>
            <a:r>
              <a:rPr lang="en-US" b="1" dirty="0"/>
              <a:t> </a:t>
            </a:r>
            <a:r>
              <a:rPr lang="en-US" dirty="0"/>
              <a:t>is a serverless, pay-as-you-go compute engine that allows you to focus on building applications without managing servers. </a:t>
            </a:r>
          </a:p>
          <a:p>
            <a:endParaRPr lang="en-US" dirty="0"/>
          </a:p>
          <a:p>
            <a:endParaRPr lang="en-US" dirty="0"/>
          </a:p>
          <a:p>
            <a:r>
              <a:rPr lang="en-US" dirty="0"/>
              <a:t>We can choose between EC2 vs </a:t>
            </a:r>
            <a:r>
              <a:rPr lang="en-US" dirty="0" err="1"/>
              <a:t>Fargate</a:t>
            </a:r>
            <a:r>
              <a:rPr lang="en-US" dirty="0"/>
              <a:t> compute options </a:t>
            </a:r>
            <a:r>
              <a:rPr lang="en-US"/>
              <a:t>for both ECS and EKS</a:t>
            </a:r>
            <a:endParaRPr lang="en-IN" dirty="0"/>
          </a:p>
        </p:txBody>
      </p:sp>
    </p:spTree>
    <p:extLst>
      <p:ext uri="{BB962C8B-B14F-4D97-AF65-F5344CB8AC3E}">
        <p14:creationId xmlns:p14="http://schemas.microsoft.com/office/powerpoint/2010/main" val="20813877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4E1D2-CE29-0DB7-979E-83FB2AF68515}"/>
              </a:ext>
            </a:extLst>
          </p:cNvPr>
          <p:cNvSpPr>
            <a:spLocks noGrp="1"/>
          </p:cNvSpPr>
          <p:nvPr>
            <p:ph type="title"/>
          </p:nvPr>
        </p:nvSpPr>
        <p:spPr/>
        <p:txBody>
          <a:bodyPr/>
          <a:lstStyle/>
          <a:p>
            <a:r>
              <a:rPr lang="en-IN" dirty="0"/>
              <a:t>References</a:t>
            </a:r>
          </a:p>
        </p:txBody>
      </p:sp>
      <p:sp>
        <p:nvSpPr>
          <p:cNvPr id="4" name="TextBox 3">
            <a:extLst>
              <a:ext uri="{FF2B5EF4-FFF2-40B4-BE49-F238E27FC236}">
                <a16:creationId xmlns:a16="http://schemas.microsoft.com/office/drawing/2014/main" id="{AB74D227-2918-9160-F593-154346083C9B}"/>
              </a:ext>
            </a:extLst>
          </p:cNvPr>
          <p:cNvSpPr txBox="1"/>
          <p:nvPr/>
        </p:nvSpPr>
        <p:spPr>
          <a:xfrm>
            <a:off x="968828" y="1587864"/>
            <a:ext cx="8893629" cy="4801314"/>
          </a:xfrm>
          <a:prstGeom prst="rect">
            <a:avLst/>
          </a:prstGeom>
          <a:noFill/>
        </p:spPr>
        <p:txBody>
          <a:bodyPr wrap="square">
            <a:spAutoFit/>
          </a:bodyPr>
          <a:lstStyle/>
          <a:p>
            <a:r>
              <a:rPr lang="en-IN" dirty="0">
                <a:hlinkClick r:id="rId2"/>
              </a:rPr>
              <a:t>https://katharharshal1.medium.com/kubernetes-objects-pods-replicasets-and-deployments-44f16b38d9f7</a:t>
            </a:r>
            <a:r>
              <a:rPr lang="en-IN" dirty="0"/>
              <a:t> </a:t>
            </a:r>
          </a:p>
          <a:p>
            <a:endParaRPr lang="en-IN" dirty="0"/>
          </a:p>
          <a:p>
            <a:r>
              <a:rPr lang="en-IN" dirty="0">
                <a:hlinkClick r:id="rId3"/>
              </a:rPr>
              <a:t>https://www.devopsschool.com/blog/amazon-elastic-kubernetes-service-amazon-eks-architecture-explained-with-diagram/</a:t>
            </a:r>
            <a:endParaRPr lang="en-IN" dirty="0"/>
          </a:p>
          <a:p>
            <a:endParaRPr lang="en-IN" dirty="0"/>
          </a:p>
          <a:p>
            <a:r>
              <a:rPr lang="en-IN" dirty="0">
                <a:hlinkClick r:id="rId4"/>
              </a:rPr>
              <a:t>https://bluexp.netapp.com/blog/aws-cvo-blg-aws-ecs-in-depth-architecture-and-deployment-options</a:t>
            </a:r>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p:txBody>
      </p:sp>
    </p:spTree>
    <p:extLst>
      <p:ext uri="{BB962C8B-B14F-4D97-AF65-F5344CB8AC3E}">
        <p14:creationId xmlns:p14="http://schemas.microsoft.com/office/powerpoint/2010/main" val="4262507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494</TotalTime>
  <Words>904</Words>
  <Application>Microsoft Office PowerPoint</Application>
  <PresentationFormat>Widescreen</PresentationFormat>
  <Paragraphs>84</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Calibri Light</vt:lpstr>
      <vt:lpstr>Google Sans</vt:lpstr>
      <vt:lpstr>Nunito</vt:lpstr>
      <vt:lpstr>Office Theme</vt:lpstr>
      <vt:lpstr>Container Technologies</vt:lpstr>
      <vt:lpstr>What is a container</vt:lpstr>
      <vt:lpstr>Containers vs Virtual Machine</vt:lpstr>
      <vt:lpstr>PowerPoint Presentation</vt:lpstr>
      <vt:lpstr>Kubernetes Features</vt:lpstr>
      <vt:lpstr>Kubernetes Architecture</vt:lpstr>
      <vt:lpstr>PowerPoint Presentation</vt:lpstr>
      <vt:lpstr>PowerPoint Presentation</vt:lpstr>
      <vt:lpstr>Helm Charts</vt:lpstr>
      <vt:lpstr>Azure Kubernetes Service - Managed Kubernetes service on Azure</vt:lpstr>
      <vt:lpstr>Elastic Kubernetes Service – Managed option on AWS</vt:lpstr>
      <vt:lpstr>Elastic Container Service – AWS Native and Opiniated offering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Container Technologies</dc:title>
  <dc:creator>Urmisha Sengupta</dc:creator>
  <cp:lastModifiedBy>Urmisha Sengupta</cp:lastModifiedBy>
  <cp:revision>72</cp:revision>
  <dcterms:created xsi:type="dcterms:W3CDTF">2023-11-08T04:27:00Z</dcterms:created>
  <dcterms:modified xsi:type="dcterms:W3CDTF">2025-05-06T14:42:14Z</dcterms:modified>
</cp:coreProperties>
</file>