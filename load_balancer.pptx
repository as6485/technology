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65" r:id="rId4"/>
    <p:sldId id="260" r:id="rId5"/>
    <p:sldId id="258" r:id="rId6"/>
    <p:sldId id="261" r:id="rId7"/>
    <p:sldId id="262" r:id="rId8"/>
    <p:sldId id="264" r:id="rId9"/>
    <p:sldId id="263" r:id="rId10"/>
    <p:sldId id="266" r:id="rId11"/>
    <p:sldId id="267" r:id="rId12"/>
    <p:sldId id="268" r:id="rId13"/>
    <p:sldId id="269" r:id="rId14"/>
    <p:sldId id="270"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467DD-2EFB-4224-9E68-ADA183DA5C33}" type="datetimeFigureOut">
              <a:rPr lang="en-IN" smtClean="0"/>
              <a:t>17-07-2024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AF5E78-A70D-4D12-BBC5-BB78266543CE}" type="slidenum">
              <a:rPr lang="en-IN" smtClean="0"/>
              <a:t>‹#›</a:t>
            </a:fld>
            <a:endParaRPr lang="en-IN"/>
          </a:p>
        </p:txBody>
      </p:sp>
    </p:spTree>
    <p:extLst>
      <p:ext uri="{BB962C8B-B14F-4D97-AF65-F5344CB8AC3E}">
        <p14:creationId xmlns:p14="http://schemas.microsoft.com/office/powerpoint/2010/main" val="154455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AF5E78-A70D-4D12-BBC5-BB78266543CE}" type="slidenum">
              <a:rPr lang="en-IN" smtClean="0"/>
              <a:t>14</a:t>
            </a:fld>
            <a:endParaRPr lang="en-IN"/>
          </a:p>
        </p:txBody>
      </p:sp>
    </p:spTree>
    <p:extLst>
      <p:ext uri="{BB962C8B-B14F-4D97-AF65-F5344CB8AC3E}">
        <p14:creationId xmlns:p14="http://schemas.microsoft.com/office/powerpoint/2010/main" val="2187072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9D2E-6587-E442-06AE-3CD97978BE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3A7152-7EC5-3A8A-5B49-EE1E0CE92F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0E94C3-8094-1502-2312-3B1CCEB74AA3}"/>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254503A7-4C3E-7EA6-7EC2-2015F5ED4A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68F351-4BA0-8862-2340-A7DFBC2A3651}"/>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3397003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DA774-257D-68B0-C9C8-DE8917D146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1352D5-550D-B90C-6D74-7539F69A46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41D984-22C7-EC8A-DD11-AE6F866593EB}"/>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9CF5877F-9C3D-C2EC-C3A6-C436FE1A42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0EF72D-3B50-8BF9-7A82-690C074F4526}"/>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2670231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D0985-A0B6-630E-119E-07150154F5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04BAAA7-052F-0D53-EB0D-F082220CC2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FD0558-3A93-B7CA-0DD3-30B1C091178B}"/>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F40D57C2-997A-DE6F-DE3C-21F33CD180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6BB20-1DC8-46CD-7B1C-8D012098E29E}"/>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1512376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5532-0E23-7337-E172-E09DD7DA41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FBC38A-2F20-3541-DE77-C61B0A9206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3F6798-6B67-6742-CA67-B94CAA4BD3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B1891F6-E556-00C9-FB6E-359EE5C06EB4}"/>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6" name="Footer Placeholder 5">
            <a:extLst>
              <a:ext uri="{FF2B5EF4-FFF2-40B4-BE49-F238E27FC236}">
                <a16:creationId xmlns:a16="http://schemas.microsoft.com/office/drawing/2014/main" id="{42D24E44-DCB2-C86E-6587-D0B514B800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1744DB-2A8C-CE36-2B8D-DAE794FC32AA}"/>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127222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4F4A0-5141-9FF6-9DD2-6E8C6E816F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2D5032-2C62-4DAC-31A0-5D5B73E1D8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4EE448-28BE-43C7-562A-E3DF6AEFAC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6F47671-D4DA-3305-6FA5-254CE1C4E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569AF3-CBD1-9758-F9C5-D61770BB33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61E6A2-D056-5E4F-2EA9-E1BC2D959590}"/>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8" name="Footer Placeholder 7">
            <a:extLst>
              <a:ext uri="{FF2B5EF4-FFF2-40B4-BE49-F238E27FC236}">
                <a16:creationId xmlns:a16="http://schemas.microsoft.com/office/drawing/2014/main" id="{CB2954FB-DC4D-6E09-95E6-BAD60219D4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F579C7-BA4E-5D4F-3734-4712CB88B2EC}"/>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262434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96335-623D-3E43-80B2-6E55A3952A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2BDC60-D595-087D-5BD0-FBC83B3927D0}"/>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4" name="Footer Placeholder 3">
            <a:extLst>
              <a:ext uri="{FF2B5EF4-FFF2-40B4-BE49-F238E27FC236}">
                <a16:creationId xmlns:a16="http://schemas.microsoft.com/office/drawing/2014/main" id="{0523445D-02F3-FA7E-64FA-6CAE9C5F17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CB7A08-7201-A9A3-494E-B8087D8A2F74}"/>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88649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B5BCC2-EC15-6BA6-968D-BF4D05C0D8E6}"/>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3" name="Footer Placeholder 2">
            <a:extLst>
              <a:ext uri="{FF2B5EF4-FFF2-40B4-BE49-F238E27FC236}">
                <a16:creationId xmlns:a16="http://schemas.microsoft.com/office/drawing/2014/main" id="{ADB1936C-5A0E-8250-F353-494084F4B7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0F9AFF-50F9-2568-7B77-4245E0100CC4}"/>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409651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FCF5-2BEE-9472-F727-B58D4BA1CB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4122BD-D3B0-A00A-3108-7F76B5F782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4EAFCD-CBD4-E75C-0656-E72D1F2B0D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7D7192-A86D-22B1-F890-C282778AF43D}"/>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6" name="Footer Placeholder 5">
            <a:extLst>
              <a:ext uri="{FF2B5EF4-FFF2-40B4-BE49-F238E27FC236}">
                <a16:creationId xmlns:a16="http://schemas.microsoft.com/office/drawing/2014/main" id="{A2B09780-FFD1-A944-1AB1-7BE52811E3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A433DA-2981-256B-EE0A-3567E096C257}"/>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289875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BA6D-D773-D381-5B65-13DF2B0A1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5EA122-5E9C-9423-2CC5-9192B9F5D2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DF6A69-7273-0F9B-077A-C1C62D9EC1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A83FBF-D7E1-24DE-B43E-8BA219A07C0B}"/>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6" name="Footer Placeholder 5">
            <a:extLst>
              <a:ext uri="{FF2B5EF4-FFF2-40B4-BE49-F238E27FC236}">
                <a16:creationId xmlns:a16="http://schemas.microsoft.com/office/drawing/2014/main" id="{23699C2B-5399-ABB9-986D-ABBFDA68E8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B7340F-56F9-602F-4AB1-B66A8054F851}"/>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92001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7E65B-128B-5398-FFF0-A3AACA8739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83A910-3B71-6642-CBE1-5525E43B3C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697FF4-F108-6EF2-E25F-90EBD71ADBA3}"/>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94BCABD1-123F-3B76-DFE7-1C8A94AE14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F8D58A-14AB-4374-D9F6-78151DBE9272}"/>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3706320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22E07B-4277-CAD3-FDF8-0A0B1D40E2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60F2C0-B078-2D41-F84D-2A2E85E118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4983A7-DB3A-0B89-416F-CDD647EA0B49}"/>
              </a:ext>
            </a:extLst>
          </p:cNvPr>
          <p:cNvSpPr>
            <a:spLocks noGrp="1"/>
          </p:cNvSpPr>
          <p:nvPr>
            <p:ph type="dt" sz="half" idx="10"/>
          </p:nvPr>
        </p:nvSpPr>
        <p:spPr/>
        <p:txBody>
          <a:body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FB994823-802D-29DE-A850-E6DE5B2BFF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36D1D-EFB8-6151-CE4F-9862DF333A73}"/>
              </a:ext>
            </a:extLst>
          </p:cNvPr>
          <p:cNvSpPr>
            <a:spLocks noGrp="1"/>
          </p:cNvSpPr>
          <p:nvPr>
            <p:ph type="sldNum" sz="quarter" idx="12"/>
          </p:nvPr>
        </p:nvSpPr>
        <p:spPr/>
        <p:txBody>
          <a:bodyPr/>
          <a:lstStyle/>
          <a:p>
            <a:fld id="{8E83C61E-3BAF-4B4D-A857-0D01AF341230}" type="slidenum">
              <a:rPr lang="en-IN" smtClean="0"/>
              <a:t>‹#›</a:t>
            </a:fld>
            <a:endParaRPr lang="en-IN"/>
          </a:p>
        </p:txBody>
      </p:sp>
    </p:spTree>
    <p:extLst>
      <p:ext uri="{BB962C8B-B14F-4D97-AF65-F5344CB8AC3E}">
        <p14:creationId xmlns:p14="http://schemas.microsoft.com/office/powerpoint/2010/main" val="3230918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D5455-0F3D-AF80-5D6D-16ABA7D2FB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AA6168-9A2E-6C0B-B84D-251AFA2D85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0FA77-E13D-6DAC-9A11-A315B152F2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14BBB9-3002-4ED9-A15C-1B9F7054E633}" type="datetimeFigureOut">
              <a:rPr lang="en-IN" smtClean="0"/>
              <a:t>17-07-2024</a:t>
            </a:fld>
            <a:endParaRPr lang="en-IN"/>
          </a:p>
        </p:txBody>
      </p:sp>
      <p:sp>
        <p:nvSpPr>
          <p:cNvPr id="5" name="Footer Placeholder 4">
            <a:extLst>
              <a:ext uri="{FF2B5EF4-FFF2-40B4-BE49-F238E27FC236}">
                <a16:creationId xmlns:a16="http://schemas.microsoft.com/office/drawing/2014/main" id="{D92F288E-55F4-5756-F1A2-F84792BC01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418791-361B-4786-8135-6D0A676ABA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3C61E-3BAF-4B4D-A857-0D01AF341230}" type="slidenum">
              <a:rPr lang="en-IN" smtClean="0"/>
              <a:t>‹#›</a:t>
            </a:fld>
            <a:endParaRPr lang="en-IN"/>
          </a:p>
        </p:txBody>
      </p:sp>
    </p:spTree>
    <p:extLst>
      <p:ext uri="{BB962C8B-B14F-4D97-AF65-F5344CB8AC3E}">
        <p14:creationId xmlns:p14="http://schemas.microsoft.com/office/powerpoint/2010/main" val="3920475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www.redhat.com/en/blog/global-load-balancer-approaches" TargetMode="External"/><Relationship Id="rId2" Type="http://schemas.openxmlformats.org/officeDocument/2006/relationships/hyperlink" Target="https://www.redhat.com/en/blog/global-load-balancer-approaches#:~:text=Many%20public%20cloud%20providers%20support,for%20a%20multicluster%20multiregion%20service"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hyperlink" Target="https://aws.amazon.com/elasticloadbalancing/"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hpbn.co/primer-on-latency-and-bandwidth/"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render.com/"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densify.com/kubernetes-autoscaling/kubernetes-service-load-balancer/" TargetMode="External"/><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hyperlink" Target="https://docs.aws.amazon.com/eks/latest/userguide/aws-load-balancer-controller.html" TargetMode="External"/><Relationship Id="rId4" Type="http://schemas.openxmlformats.org/officeDocument/2006/relationships/hyperlink" Target="https://www.densify.com/kubernetes-autoscaling/kubernetes-service-load-balancer/"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www.densify.com/kubernetes-autoscaling/kubernetes-service-load-balancer/" TargetMode="External"/><Relationship Id="rId3" Type="http://schemas.openxmlformats.org/officeDocument/2006/relationships/hyperlink" Target="https://aws.amazon.com/elasticloadbalancing/" TargetMode="External"/><Relationship Id="rId7" Type="http://schemas.openxmlformats.org/officeDocument/2006/relationships/hyperlink" Target="https://labs.ripe.net/author/samir_jafferali/build-your-own-anycast-network-in-nine-steps/" TargetMode="External"/><Relationship Id="rId2" Type="http://schemas.openxmlformats.org/officeDocument/2006/relationships/hyperlink" Target="https://aws.amazon.com/what-is/load-balancing/" TargetMode="External"/><Relationship Id="rId1" Type="http://schemas.openxmlformats.org/officeDocument/2006/relationships/slideLayout" Target="../slideLayouts/slideLayout6.xml"/><Relationship Id="rId6" Type="http://schemas.openxmlformats.org/officeDocument/2006/relationships/hyperlink" Target="https://render.com/blog/how-to-build-an-anycast-network" TargetMode="External"/><Relationship Id="rId5" Type="http://schemas.openxmlformats.org/officeDocument/2006/relationships/hyperlink" Target="https://www.redhat.com/en/blog/global-load-balancer-approaches" TargetMode="External"/><Relationship Id="rId4" Type="http://schemas.openxmlformats.org/officeDocument/2006/relationships/hyperlink" Target="https://cloud.google.com/load-balancing/docs/load-balancing-overview" TargetMode="External"/><Relationship Id="rId9" Type="http://schemas.openxmlformats.org/officeDocument/2006/relationships/hyperlink" Target="https://docs.aws.amazon.com/eks/latest/userguide/aws-load-balancer-controll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DB58-9799-FDCE-D3CE-B93E62212765}"/>
              </a:ext>
            </a:extLst>
          </p:cNvPr>
          <p:cNvSpPr>
            <a:spLocks noGrp="1"/>
          </p:cNvSpPr>
          <p:nvPr>
            <p:ph type="ctrTitle"/>
          </p:nvPr>
        </p:nvSpPr>
        <p:spPr/>
        <p:txBody>
          <a:bodyPr/>
          <a:lstStyle/>
          <a:p>
            <a:r>
              <a:rPr lang="en-IN" dirty="0"/>
              <a:t>Load Balancer</a:t>
            </a:r>
          </a:p>
        </p:txBody>
      </p:sp>
      <p:sp>
        <p:nvSpPr>
          <p:cNvPr id="3" name="Subtitle 2">
            <a:extLst>
              <a:ext uri="{FF2B5EF4-FFF2-40B4-BE49-F238E27FC236}">
                <a16:creationId xmlns:a16="http://schemas.microsoft.com/office/drawing/2014/main" id="{9DA76B66-C1F3-730A-6A52-8AD29EFC1999}"/>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318337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611D-0EF5-481A-8DFF-95C8135FE5CA}"/>
              </a:ext>
            </a:extLst>
          </p:cNvPr>
          <p:cNvSpPr>
            <a:spLocks noGrp="1"/>
          </p:cNvSpPr>
          <p:nvPr>
            <p:ph type="title"/>
          </p:nvPr>
        </p:nvSpPr>
        <p:spPr>
          <a:xfrm>
            <a:off x="838200" y="365125"/>
            <a:ext cx="10515600" cy="233589"/>
          </a:xfrm>
        </p:spPr>
        <p:txBody>
          <a:bodyPr>
            <a:normAutofit fontScale="90000"/>
          </a:bodyPr>
          <a:lstStyle/>
          <a:p>
            <a:r>
              <a:rPr lang="en-IN" dirty="0"/>
              <a:t>External vs Internal Load Balancer</a:t>
            </a:r>
          </a:p>
        </p:txBody>
      </p:sp>
      <p:pic>
        <p:nvPicPr>
          <p:cNvPr id="6" name="Picture 5">
            <a:extLst>
              <a:ext uri="{FF2B5EF4-FFF2-40B4-BE49-F238E27FC236}">
                <a16:creationId xmlns:a16="http://schemas.microsoft.com/office/drawing/2014/main" id="{E3D61B4C-24DD-87AF-2778-36D67A01A588}"/>
              </a:ext>
            </a:extLst>
          </p:cNvPr>
          <p:cNvPicPr>
            <a:picLocks noChangeAspect="1"/>
          </p:cNvPicPr>
          <p:nvPr/>
        </p:nvPicPr>
        <p:blipFill>
          <a:blip r:embed="rId2"/>
          <a:stretch>
            <a:fillRect/>
          </a:stretch>
        </p:blipFill>
        <p:spPr>
          <a:xfrm>
            <a:off x="947057" y="1102039"/>
            <a:ext cx="10515600" cy="4980779"/>
          </a:xfrm>
          <a:prstGeom prst="rect">
            <a:avLst/>
          </a:prstGeom>
        </p:spPr>
      </p:pic>
    </p:spTree>
    <p:extLst>
      <p:ext uri="{BB962C8B-B14F-4D97-AF65-F5344CB8AC3E}">
        <p14:creationId xmlns:p14="http://schemas.microsoft.com/office/powerpoint/2010/main" val="1215409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86904-B2AA-B143-42CB-1C70B248BBD5}"/>
              </a:ext>
            </a:extLst>
          </p:cNvPr>
          <p:cNvSpPr>
            <a:spLocks noGrp="1"/>
          </p:cNvSpPr>
          <p:nvPr>
            <p:ph type="title"/>
          </p:nvPr>
        </p:nvSpPr>
        <p:spPr>
          <a:xfrm>
            <a:off x="108857" y="212726"/>
            <a:ext cx="10515600" cy="375104"/>
          </a:xfrm>
        </p:spPr>
        <p:txBody>
          <a:bodyPr>
            <a:normAutofit fontScale="90000"/>
          </a:bodyPr>
          <a:lstStyle/>
          <a:p>
            <a:r>
              <a:rPr lang="en-IN" dirty="0"/>
              <a:t>Types of Load Balancers</a:t>
            </a:r>
          </a:p>
        </p:txBody>
      </p:sp>
      <p:sp>
        <p:nvSpPr>
          <p:cNvPr id="3" name="TextBox 2">
            <a:extLst>
              <a:ext uri="{FF2B5EF4-FFF2-40B4-BE49-F238E27FC236}">
                <a16:creationId xmlns:a16="http://schemas.microsoft.com/office/drawing/2014/main" id="{73773198-E088-1BF0-B08D-70994F6F3CAA}"/>
              </a:ext>
            </a:extLst>
          </p:cNvPr>
          <p:cNvSpPr txBox="1"/>
          <p:nvPr/>
        </p:nvSpPr>
        <p:spPr>
          <a:xfrm>
            <a:off x="457201" y="1219200"/>
            <a:ext cx="4495800" cy="3693319"/>
          </a:xfrm>
          <a:prstGeom prst="rect">
            <a:avLst/>
          </a:prstGeom>
          <a:noFill/>
        </p:spPr>
        <p:txBody>
          <a:bodyPr wrap="square" rtlCol="0">
            <a:spAutoFit/>
          </a:bodyPr>
          <a:lstStyle/>
          <a:p>
            <a:r>
              <a:rPr lang="en-IN" b="1" dirty="0">
                <a:solidFill>
                  <a:schemeClr val="accent2"/>
                </a:solidFill>
              </a:rPr>
              <a:t>Infra Perspective</a:t>
            </a:r>
          </a:p>
          <a:p>
            <a:endParaRPr lang="en-IN" b="1" dirty="0"/>
          </a:p>
          <a:p>
            <a:r>
              <a:rPr lang="en-IN" b="1" dirty="0"/>
              <a:t>Hardware Load Balancers </a:t>
            </a:r>
            <a:r>
              <a:rPr lang="en-IN" dirty="0"/>
              <a:t>: Expensive </a:t>
            </a:r>
          </a:p>
          <a:p>
            <a:endParaRPr lang="en-IN" dirty="0"/>
          </a:p>
          <a:p>
            <a:r>
              <a:rPr lang="en-IN" b="1" dirty="0"/>
              <a:t>Software Load Balancers </a:t>
            </a:r>
            <a:r>
              <a:rPr lang="en-IN" dirty="0"/>
              <a:t>: Based suited for on-prem apps and data. Maybe implemented using Spring Cloud Load Balancers (need to check)</a:t>
            </a:r>
          </a:p>
          <a:p>
            <a:endParaRPr lang="en-IN" dirty="0"/>
          </a:p>
          <a:p>
            <a:r>
              <a:rPr lang="en-IN" b="1" dirty="0"/>
              <a:t>Cloud Load Balancers </a:t>
            </a:r>
            <a:r>
              <a:rPr lang="en-IN" dirty="0"/>
              <a:t>/ Load Balancer-as-a-Service : Managed options from various cloud providers. Discussed in subsequent slides</a:t>
            </a:r>
          </a:p>
          <a:p>
            <a:endParaRPr lang="en-IN" dirty="0"/>
          </a:p>
        </p:txBody>
      </p:sp>
      <p:sp>
        <p:nvSpPr>
          <p:cNvPr id="4" name="TextBox 3">
            <a:extLst>
              <a:ext uri="{FF2B5EF4-FFF2-40B4-BE49-F238E27FC236}">
                <a16:creationId xmlns:a16="http://schemas.microsoft.com/office/drawing/2014/main" id="{58518643-8015-FDF0-CCD2-820FA8549D3E}"/>
              </a:ext>
            </a:extLst>
          </p:cNvPr>
          <p:cNvSpPr txBox="1"/>
          <p:nvPr/>
        </p:nvSpPr>
        <p:spPr>
          <a:xfrm>
            <a:off x="6694715" y="1219200"/>
            <a:ext cx="3929742" cy="3416320"/>
          </a:xfrm>
          <a:prstGeom prst="rect">
            <a:avLst/>
          </a:prstGeom>
          <a:noFill/>
        </p:spPr>
        <p:txBody>
          <a:bodyPr wrap="square" rtlCol="0">
            <a:spAutoFit/>
          </a:bodyPr>
          <a:lstStyle/>
          <a:p>
            <a:r>
              <a:rPr lang="en-IN" dirty="0">
                <a:solidFill>
                  <a:schemeClr val="accent2"/>
                </a:solidFill>
              </a:rPr>
              <a:t>Geo Perspective</a:t>
            </a:r>
          </a:p>
          <a:p>
            <a:endParaRPr lang="en-IN" dirty="0"/>
          </a:p>
          <a:p>
            <a:pPr marL="285750" indent="-285750">
              <a:buFont typeface="Arial" panose="020B0604020202020204" pitchFamily="34" charset="0"/>
              <a:buChar char="•"/>
            </a:pPr>
            <a:r>
              <a:rPr lang="en-IN" dirty="0"/>
              <a:t>Regional Load Balancer</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Global Load Balancer</a:t>
            </a:r>
          </a:p>
          <a:p>
            <a:pPr lvl="1">
              <a:buFont typeface="Arial" panose="020B0604020202020204" pitchFamily="34" charset="0"/>
              <a:buChar char="•"/>
            </a:pPr>
            <a:r>
              <a:rPr lang="en-IN" b="0" i="0" dirty="0">
                <a:solidFill>
                  <a:srgbClr val="151515"/>
                </a:solidFill>
                <a:effectLst/>
                <a:latin typeface="Red Hat Text"/>
              </a:rPr>
              <a:t>DNS-based.</a:t>
            </a:r>
          </a:p>
          <a:p>
            <a:pPr lvl="1">
              <a:buFont typeface="Arial" panose="020B0604020202020204" pitchFamily="34" charset="0"/>
              <a:buChar char="•"/>
            </a:pPr>
            <a:r>
              <a:rPr lang="en-IN" b="0" i="0" dirty="0">
                <a:solidFill>
                  <a:srgbClr val="151515"/>
                </a:solidFill>
                <a:effectLst/>
                <a:latin typeface="Red Hat Text"/>
              </a:rPr>
              <a:t>Anycast-based.</a:t>
            </a:r>
          </a:p>
          <a:p>
            <a:pPr lvl="1">
              <a:buFont typeface="Arial" panose="020B0604020202020204" pitchFamily="34" charset="0"/>
              <a:buChar char="•"/>
            </a:pPr>
            <a:endParaRPr lang="en-IN" dirty="0">
              <a:solidFill>
                <a:srgbClr val="151515"/>
              </a:solidFill>
              <a:latin typeface="Red Hat Text"/>
              <a:hlinkClick r:id="rId2"/>
            </a:endParaRPr>
          </a:p>
          <a:p>
            <a:pPr lvl="1"/>
            <a:r>
              <a:rPr lang="en-IN" dirty="0">
                <a:hlinkClick r:id="rId3"/>
              </a:rPr>
              <a:t>https://www.redhat.com/en/blog/global-load-balancer-approaches</a:t>
            </a:r>
            <a:r>
              <a:rPr lang="en-IN" dirty="0"/>
              <a:t> </a:t>
            </a:r>
          </a:p>
          <a:p>
            <a:endParaRPr lang="en-IN" dirty="0"/>
          </a:p>
          <a:p>
            <a:endParaRPr lang="en-IN" dirty="0"/>
          </a:p>
        </p:txBody>
      </p:sp>
    </p:spTree>
    <p:extLst>
      <p:ext uri="{BB962C8B-B14F-4D97-AF65-F5344CB8AC3E}">
        <p14:creationId xmlns:p14="http://schemas.microsoft.com/office/powerpoint/2010/main" val="4185317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521E6-DB73-4E64-DDC4-E88800A5EB8B}"/>
              </a:ext>
            </a:extLst>
          </p:cNvPr>
          <p:cNvSpPr>
            <a:spLocks noGrp="1"/>
          </p:cNvSpPr>
          <p:nvPr>
            <p:ph type="title"/>
          </p:nvPr>
        </p:nvSpPr>
        <p:spPr>
          <a:xfrm>
            <a:off x="838200" y="365126"/>
            <a:ext cx="10515600" cy="669018"/>
          </a:xfrm>
        </p:spPr>
        <p:txBody>
          <a:bodyPr>
            <a:normAutofit fontScale="90000"/>
          </a:bodyPr>
          <a:lstStyle/>
          <a:p>
            <a:r>
              <a:rPr lang="en-IN" dirty="0"/>
              <a:t>AWS Elastic Load Balancer</a:t>
            </a:r>
          </a:p>
        </p:txBody>
      </p:sp>
      <p:sp>
        <p:nvSpPr>
          <p:cNvPr id="4" name="TextBox 3">
            <a:extLst>
              <a:ext uri="{FF2B5EF4-FFF2-40B4-BE49-F238E27FC236}">
                <a16:creationId xmlns:a16="http://schemas.microsoft.com/office/drawing/2014/main" id="{FFB40074-0DBC-C9DF-86F0-D8F15F150F29}"/>
              </a:ext>
            </a:extLst>
          </p:cNvPr>
          <p:cNvSpPr txBox="1"/>
          <p:nvPr/>
        </p:nvSpPr>
        <p:spPr>
          <a:xfrm>
            <a:off x="1589314" y="1582341"/>
            <a:ext cx="7554686" cy="3139321"/>
          </a:xfrm>
          <a:prstGeom prst="rect">
            <a:avLst/>
          </a:prstGeom>
          <a:noFill/>
        </p:spPr>
        <p:txBody>
          <a:bodyPr wrap="square">
            <a:spAutoFit/>
          </a:bodyPr>
          <a:lstStyle/>
          <a:p>
            <a:pPr algn="l"/>
            <a:r>
              <a:rPr lang="en-US" b="0" i="0" u="sng" dirty="0">
                <a:solidFill>
                  <a:srgbClr val="033160"/>
                </a:solidFill>
                <a:effectLst/>
                <a:highlight>
                  <a:srgbClr val="FBFBFB"/>
                </a:highlight>
                <a:latin typeface="AmazonEmber"/>
                <a:hlinkClick r:id="rId2"/>
              </a:rPr>
              <a:t>Elastic Load Balancing</a:t>
            </a:r>
            <a:r>
              <a:rPr lang="en-US" b="0" i="0" dirty="0">
                <a:solidFill>
                  <a:srgbClr val="333333"/>
                </a:solidFill>
                <a:effectLst/>
                <a:highlight>
                  <a:srgbClr val="FBFBFB"/>
                </a:highlight>
                <a:latin typeface="AmazonEmber"/>
              </a:rPr>
              <a:t> (ELB) is a fully managed load balancing service. It automatically distributes incoming application traffic to multiple targets and virtual appliances across Amazon Web Services (AWS) and on-premises resources. In addition, it supports cross-zone load balancing across AWS Regions. You can use ELB to set up ALB, NLB, or GLB according to your requirements. </a:t>
            </a:r>
          </a:p>
          <a:p>
            <a:pPr algn="l"/>
            <a:r>
              <a:rPr lang="en-US" b="1" i="0" dirty="0">
                <a:solidFill>
                  <a:srgbClr val="333333"/>
                </a:solidFill>
                <a:effectLst/>
                <a:highlight>
                  <a:srgbClr val="FBFBFB"/>
                </a:highlight>
                <a:latin typeface="AmazonEmber"/>
              </a:rPr>
              <a:t>ALB is one component of ELB. ELB also supports NLB, GLB</a:t>
            </a:r>
            <a:r>
              <a:rPr lang="en-US" b="0" i="0" dirty="0">
                <a:solidFill>
                  <a:srgbClr val="333333"/>
                </a:solidFill>
                <a:effectLst/>
                <a:highlight>
                  <a:srgbClr val="FBFBFB"/>
                </a:highlight>
                <a:latin typeface="AmazonEmber"/>
              </a:rPr>
              <a:t>, and Classic Load Balancer. These load balancers are client contact points and help improve application scalability with secure management. You can choose one or multiple load balancers and configure them when you’re setting up ELB for your cloud environment</a:t>
            </a:r>
          </a:p>
        </p:txBody>
      </p:sp>
    </p:spTree>
    <p:extLst>
      <p:ext uri="{BB962C8B-B14F-4D97-AF65-F5344CB8AC3E}">
        <p14:creationId xmlns:p14="http://schemas.microsoft.com/office/powerpoint/2010/main" val="425647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093A-AA94-E85E-79B7-39D4DF7DC2C1}"/>
              </a:ext>
            </a:extLst>
          </p:cNvPr>
          <p:cNvSpPr>
            <a:spLocks noGrp="1"/>
          </p:cNvSpPr>
          <p:nvPr>
            <p:ph type="title"/>
          </p:nvPr>
        </p:nvSpPr>
        <p:spPr>
          <a:xfrm>
            <a:off x="239485" y="95477"/>
            <a:ext cx="10515600" cy="494846"/>
          </a:xfrm>
        </p:spPr>
        <p:txBody>
          <a:bodyPr>
            <a:normAutofit fontScale="90000"/>
          </a:bodyPr>
          <a:lstStyle/>
          <a:p>
            <a:r>
              <a:rPr lang="en-IN" dirty="0"/>
              <a:t>AWS Application Load Balancer</a:t>
            </a:r>
          </a:p>
        </p:txBody>
      </p:sp>
      <p:pic>
        <p:nvPicPr>
          <p:cNvPr id="1026" name="Picture 2">
            <a:extLst>
              <a:ext uri="{FF2B5EF4-FFF2-40B4-BE49-F238E27FC236}">
                <a16:creationId xmlns:a16="http://schemas.microsoft.com/office/drawing/2014/main" id="{69E30A52-4034-8A8F-2ADE-2A5D62B8E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605619"/>
            <a:ext cx="8088085" cy="40851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291D16-A158-E745-8C3D-B5D91D4435FA}"/>
              </a:ext>
            </a:extLst>
          </p:cNvPr>
          <p:cNvSpPr txBox="1"/>
          <p:nvPr/>
        </p:nvSpPr>
        <p:spPr>
          <a:xfrm>
            <a:off x="8828313" y="496475"/>
            <a:ext cx="3167743" cy="5909310"/>
          </a:xfrm>
          <a:prstGeom prst="rect">
            <a:avLst/>
          </a:prstGeom>
          <a:noFill/>
        </p:spPr>
        <p:txBody>
          <a:bodyPr wrap="square">
            <a:spAutoFit/>
          </a:bodyPr>
          <a:lstStyle/>
          <a:p>
            <a:pPr algn="l"/>
            <a:r>
              <a:rPr lang="en-US" b="1" i="0" u="sng" dirty="0">
                <a:solidFill>
                  <a:srgbClr val="333333"/>
                </a:solidFill>
                <a:effectLst/>
                <a:highlight>
                  <a:srgbClr val="FBFBFB"/>
                </a:highlight>
                <a:latin typeface="AmazonEmber"/>
              </a:rPr>
              <a:t>Purpose</a:t>
            </a:r>
          </a:p>
          <a:p>
            <a:pPr algn="l"/>
            <a:r>
              <a:rPr lang="en-US" b="0" i="0" dirty="0">
                <a:solidFill>
                  <a:srgbClr val="333333"/>
                </a:solidFill>
                <a:effectLst/>
                <a:highlight>
                  <a:srgbClr val="FBFBFB"/>
                </a:highlight>
                <a:latin typeface="AmazonEmber"/>
              </a:rPr>
              <a:t>ALBs distribute incoming traffic across multiple targets based on functionality. </a:t>
            </a:r>
            <a:r>
              <a:rPr lang="en-US" b="1" i="0" dirty="0">
                <a:solidFill>
                  <a:srgbClr val="333333"/>
                </a:solidFill>
                <a:effectLst/>
                <a:highlight>
                  <a:srgbClr val="FBFBFB"/>
                </a:highlight>
                <a:latin typeface="AmazonEmber"/>
              </a:rPr>
              <a:t>For example, an ecommerce application has a product directory, a shopping cart, and checkout functions. </a:t>
            </a:r>
          </a:p>
          <a:p>
            <a:pPr algn="l"/>
            <a:endParaRPr lang="en-US" b="1" dirty="0">
              <a:solidFill>
                <a:srgbClr val="333333"/>
              </a:solidFill>
              <a:highlight>
                <a:srgbClr val="FBFBFB"/>
              </a:highlight>
              <a:latin typeface="AmazonEmber"/>
            </a:endParaRPr>
          </a:p>
          <a:p>
            <a:pPr algn="l"/>
            <a:r>
              <a:rPr lang="en-US" b="1" i="0" u="sng" dirty="0">
                <a:solidFill>
                  <a:srgbClr val="333333"/>
                </a:solidFill>
                <a:effectLst/>
                <a:highlight>
                  <a:srgbClr val="FBFBFB"/>
                </a:highlight>
                <a:latin typeface="AmazonEmber"/>
              </a:rPr>
              <a:t>Use case</a:t>
            </a:r>
          </a:p>
          <a:p>
            <a:pPr algn="l"/>
            <a:r>
              <a:rPr lang="en-US" b="0" i="0" dirty="0">
                <a:solidFill>
                  <a:srgbClr val="333333"/>
                </a:solidFill>
                <a:effectLst/>
                <a:highlight>
                  <a:srgbClr val="FBFBFB"/>
                </a:highlight>
                <a:latin typeface="AmazonEmber"/>
              </a:rPr>
              <a:t>An ALB is a good choice when you need flexible </a:t>
            </a:r>
            <a:r>
              <a:rPr lang="en-US" b="1" i="0" dirty="0">
                <a:solidFill>
                  <a:srgbClr val="333333"/>
                </a:solidFill>
                <a:effectLst/>
                <a:highlight>
                  <a:srgbClr val="FBFBFB"/>
                </a:highlight>
                <a:latin typeface="AmazonEmber"/>
              </a:rPr>
              <a:t>application-level traffic management </a:t>
            </a:r>
            <a:r>
              <a:rPr lang="en-US" b="0" i="0" dirty="0">
                <a:solidFill>
                  <a:srgbClr val="333333"/>
                </a:solidFill>
                <a:effectLst/>
                <a:highlight>
                  <a:srgbClr val="FBFBFB"/>
                </a:highlight>
                <a:latin typeface="AmazonEmber"/>
              </a:rPr>
              <a:t>and routing. It’s best with microservices, containerized environments, and web applications. Its features—such SSL termination, session persistence, and content-based routing—enable it to offer assistance with complex routing scenarios. </a:t>
            </a:r>
          </a:p>
        </p:txBody>
      </p:sp>
    </p:spTree>
    <p:extLst>
      <p:ext uri="{BB962C8B-B14F-4D97-AF65-F5344CB8AC3E}">
        <p14:creationId xmlns:p14="http://schemas.microsoft.com/office/powerpoint/2010/main" val="2674404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633D8-E83E-E2B4-279C-DCCD00014BAE}"/>
              </a:ext>
            </a:extLst>
          </p:cNvPr>
          <p:cNvSpPr>
            <a:spLocks noGrp="1"/>
          </p:cNvSpPr>
          <p:nvPr>
            <p:ph type="title"/>
          </p:nvPr>
        </p:nvSpPr>
        <p:spPr>
          <a:xfrm>
            <a:off x="261257" y="180068"/>
            <a:ext cx="10515600" cy="385989"/>
          </a:xfrm>
        </p:spPr>
        <p:txBody>
          <a:bodyPr>
            <a:normAutofit fontScale="90000"/>
          </a:bodyPr>
          <a:lstStyle/>
          <a:p>
            <a:r>
              <a:rPr lang="en-IN" dirty="0"/>
              <a:t>AWS Network Load Balancer</a:t>
            </a:r>
          </a:p>
        </p:txBody>
      </p:sp>
      <p:pic>
        <p:nvPicPr>
          <p:cNvPr id="2050" name="Picture 2">
            <a:extLst>
              <a:ext uri="{FF2B5EF4-FFF2-40B4-BE49-F238E27FC236}">
                <a16:creationId xmlns:a16="http://schemas.microsoft.com/office/drawing/2014/main" id="{858B6660-DA79-B6AB-D71D-2211897D16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1175656"/>
            <a:ext cx="7935686" cy="407556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E9F8F2D-B51C-05FB-135A-AEE389747B43}"/>
              </a:ext>
            </a:extLst>
          </p:cNvPr>
          <p:cNvSpPr txBox="1"/>
          <p:nvPr/>
        </p:nvSpPr>
        <p:spPr>
          <a:xfrm>
            <a:off x="8534399" y="642257"/>
            <a:ext cx="3254829" cy="4524315"/>
          </a:xfrm>
          <a:prstGeom prst="rect">
            <a:avLst/>
          </a:prstGeom>
          <a:noFill/>
        </p:spPr>
        <p:txBody>
          <a:bodyPr wrap="square" rtlCol="0">
            <a:spAutoFit/>
          </a:bodyPr>
          <a:lstStyle/>
          <a:p>
            <a:r>
              <a:rPr lang="en-US" b="1" i="0" u="sng" dirty="0">
                <a:solidFill>
                  <a:srgbClr val="333333"/>
                </a:solidFill>
                <a:effectLst/>
                <a:highlight>
                  <a:srgbClr val="FBFBFB"/>
                </a:highlight>
                <a:latin typeface="AmazonEmber"/>
              </a:rPr>
              <a:t>Purpose</a:t>
            </a:r>
          </a:p>
          <a:p>
            <a:r>
              <a:rPr lang="en-US" b="0" i="0" dirty="0">
                <a:solidFill>
                  <a:srgbClr val="333333"/>
                </a:solidFill>
                <a:effectLst/>
                <a:highlight>
                  <a:srgbClr val="FBFBFB"/>
                </a:highlight>
                <a:latin typeface="AmazonEmber"/>
              </a:rPr>
              <a:t>NLB routes traffic based on predetermined server IP addresses or server availability.</a:t>
            </a:r>
            <a:endParaRPr lang="en-US" i="0" dirty="0">
              <a:solidFill>
                <a:srgbClr val="333333"/>
              </a:solidFill>
              <a:effectLst/>
              <a:highlight>
                <a:srgbClr val="FBFBFB"/>
              </a:highlight>
              <a:latin typeface="AmazonEmber"/>
            </a:endParaRPr>
          </a:p>
          <a:p>
            <a:endParaRPr lang="en-US" b="1" u="sng" dirty="0">
              <a:solidFill>
                <a:srgbClr val="333333"/>
              </a:solidFill>
              <a:highlight>
                <a:srgbClr val="FBFBFB"/>
              </a:highlight>
              <a:latin typeface="AmazonEmber"/>
            </a:endParaRPr>
          </a:p>
          <a:p>
            <a:r>
              <a:rPr lang="en-US" b="1" i="0" u="sng" dirty="0">
                <a:solidFill>
                  <a:srgbClr val="333333"/>
                </a:solidFill>
                <a:effectLst/>
                <a:highlight>
                  <a:srgbClr val="FBFBFB"/>
                </a:highlight>
                <a:latin typeface="AmazonEmber"/>
              </a:rPr>
              <a:t>Use Case</a:t>
            </a:r>
          </a:p>
          <a:p>
            <a:r>
              <a:rPr lang="en-US" b="0" i="0" dirty="0">
                <a:solidFill>
                  <a:srgbClr val="333333"/>
                </a:solidFill>
                <a:effectLst/>
                <a:highlight>
                  <a:srgbClr val="FBFBFB"/>
                </a:highlight>
                <a:latin typeface="AmazonEmber"/>
              </a:rPr>
              <a:t>An NLB is best for </a:t>
            </a:r>
            <a:r>
              <a:rPr lang="en-US" b="1" i="0" dirty="0">
                <a:solidFill>
                  <a:srgbClr val="333333"/>
                </a:solidFill>
                <a:effectLst/>
                <a:highlight>
                  <a:srgbClr val="FBFBFB"/>
                </a:highlight>
                <a:latin typeface="AmazonEmber"/>
              </a:rPr>
              <a:t>high-performance, low-latency, and scalable network-level balancing</a:t>
            </a:r>
            <a:r>
              <a:rPr lang="en-US" b="0" i="0" dirty="0">
                <a:solidFill>
                  <a:srgbClr val="333333"/>
                </a:solidFill>
                <a:effectLst/>
                <a:highlight>
                  <a:srgbClr val="FBFBFB"/>
                </a:highlight>
                <a:latin typeface="AmazonEmber"/>
              </a:rPr>
              <a:t>. Applications that distribute traffic on the transport layer use NLBs, especially considering its reliability. Gaming systems, media streaming services, and major IoT systems use NLBs. </a:t>
            </a:r>
            <a:endParaRPr lang="en-IN" b="1" dirty="0"/>
          </a:p>
        </p:txBody>
      </p:sp>
    </p:spTree>
    <p:extLst>
      <p:ext uri="{BB962C8B-B14F-4D97-AF65-F5344CB8AC3E}">
        <p14:creationId xmlns:p14="http://schemas.microsoft.com/office/powerpoint/2010/main" val="1404128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C722D-F1AA-D9BE-E409-5E5D55C4CBA7}"/>
              </a:ext>
            </a:extLst>
          </p:cNvPr>
          <p:cNvSpPr>
            <a:spLocks noGrp="1"/>
          </p:cNvSpPr>
          <p:nvPr>
            <p:ph type="title"/>
          </p:nvPr>
        </p:nvSpPr>
        <p:spPr>
          <a:xfrm>
            <a:off x="206828" y="136526"/>
            <a:ext cx="10515600" cy="440418"/>
          </a:xfrm>
        </p:spPr>
        <p:txBody>
          <a:bodyPr>
            <a:normAutofit fontScale="90000"/>
          </a:bodyPr>
          <a:lstStyle/>
          <a:p>
            <a:r>
              <a:rPr lang="en-IN" dirty="0"/>
              <a:t>AWS Gateway Load Balancer</a:t>
            </a:r>
          </a:p>
        </p:txBody>
      </p:sp>
      <p:pic>
        <p:nvPicPr>
          <p:cNvPr id="3074" name="Picture 2">
            <a:extLst>
              <a:ext uri="{FF2B5EF4-FFF2-40B4-BE49-F238E27FC236}">
                <a16:creationId xmlns:a16="http://schemas.microsoft.com/office/drawing/2014/main" id="{F4D60E1F-6E24-8D71-D8BA-18F8DD0D8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9" y="1340699"/>
            <a:ext cx="7391400" cy="346375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D2F883D-72A7-D74B-E22B-223F9B1012EA}"/>
              </a:ext>
            </a:extLst>
          </p:cNvPr>
          <p:cNvSpPr txBox="1"/>
          <p:nvPr/>
        </p:nvSpPr>
        <p:spPr>
          <a:xfrm>
            <a:off x="8164286" y="1110343"/>
            <a:ext cx="3461657" cy="5078313"/>
          </a:xfrm>
          <a:prstGeom prst="rect">
            <a:avLst/>
          </a:prstGeom>
          <a:noFill/>
        </p:spPr>
        <p:txBody>
          <a:bodyPr wrap="square" rtlCol="0">
            <a:spAutoFit/>
          </a:bodyPr>
          <a:lstStyle/>
          <a:p>
            <a:r>
              <a:rPr lang="en-US" b="1" i="0" u="sng" dirty="0">
                <a:solidFill>
                  <a:srgbClr val="333333"/>
                </a:solidFill>
                <a:effectLst/>
                <a:highlight>
                  <a:srgbClr val="FBFBFB"/>
                </a:highlight>
                <a:latin typeface="AmazonEmber"/>
              </a:rPr>
              <a:t>Purpose</a:t>
            </a:r>
          </a:p>
          <a:p>
            <a:r>
              <a:rPr lang="en-US" b="0" i="0" dirty="0">
                <a:solidFill>
                  <a:srgbClr val="333333"/>
                </a:solidFill>
                <a:effectLst/>
                <a:highlight>
                  <a:srgbClr val="FBFBFB"/>
                </a:highlight>
                <a:latin typeface="AmazonEmber"/>
              </a:rPr>
              <a:t>A GLB is ideal when you’re balancing on the network gateway level. </a:t>
            </a:r>
          </a:p>
          <a:p>
            <a:endParaRPr lang="en-US" b="1" u="sng" dirty="0">
              <a:solidFill>
                <a:srgbClr val="333333"/>
              </a:solidFill>
              <a:highlight>
                <a:srgbClr val="FBFBFB"/>
              </a:highlight>
              <a:latin typeface="AmazonEmber"/>
            </a:endParaRPr>
          </a:p>
          <a:p>
            <a:r>
              <a:rPr lang="en-US" b="1" u="sng" dirty="0">
                <a:solidFill>
                  <a:srgbClr val="333333"/>
                </a:solidFill>
                <a:highlight>
                  <a:srgbClr val="FBFBFB"/>
                </a:highlight>
                <a:latin typeface="AmazonEmber"/>
              </a:rPr>
              <a:t>Use case</a:t>
            </a:r>
          </a:p>
          <a:p>
            <a:r>
              <a:rPr lang="en-US" b="0" i="0" dirty="0">
                <a:solidFill>
                  <a:srgbClr val="333333"/>
                </a:solidFill>
                <a:effectLst/>
                <a:highlight>
                  <a:srgbClr val="FBFBFB"/>
                </a:highlight>
                <a:latin typeface="AmazonEmber"/>
              </a:rPr>
              <a:t>For example, a GLB works well if you manage traffic between cloud and on-premises environments or across different regions. Because it combines OSI layers 3 and 4 balancing, it can route traffic between distinct regions and networks. Because it supports IP-based routing, it can distribute traffic across virtual gateways, so it can offer high scalability and availability.</a:t>
            </a:r>
            <a:endParaRPr lang="en-IN" dirty="0"/>
          </a:p>
        </p:txBody>
      </p:sp>
    </p:spTree>
    <p:extLst>
      <p:ext uri="{BB962C8B-B14F-4D97-AF65-F5344CB8AC3E}">
        <p14:creationId xmlns:p14="http://schemas.microsoft.com/office/powerpoint/2010/main" val="2944972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9AA3C-32B4-3C0D-9464-4B8AEBE1FDC4}"/>
              </a:ext>
            </a:extLst>
          </p:cNvPr>
          <p:cNvSpPr>
            <a:spLocks noGrp="1"/>
          </p:cNvSpPr>
          <p:nvPr>
            <p:ph type="title"/>
          </p:nvPr>
        </p:nvSpPr>
        <p:spPr>
          <a:xfrm>
            <a:off x="838200" y="365125"/>
            <a:ext cx="10515600" cy="396875"/>
          </a:xfrm>
        </p:spPr>
        <p:txBody>
          <a:bodyPr>
            <a:normAutofit fontScale="90000"/>
          </a:bodyPr>
          <a:lstStyle/>
          <a:p>
            <a:r>
              <a:rPr lang="en-IN" dirty="0"/>
              <a:t>Azure load-balancing services</a:t>
            </a:r>
          </a:p>
        </p:txBody>
      </p:sp>
      <p:pic>
        <p:nvPicPr>
          <p:cNvPr id="4" name="Picture 3">
            <a:extLst>
              <a:ext uri="{FF2B5EF4-FFF2-40B4-BE49-F238E27FC236}">
                <a16:creationId xmlns:a16="http://schemas.microsoft.com/office/drawing/2014/main" id="{209ED270-1C70-F1A4-6CAA-E919DD410425}"/>
              </a:ext>
            </a:extLst>
          </p:cNvPr>
          <p:cNvPicPr>
            <a:picLocks noChangeAspect="1"/>
          </p:cNvPicPr>
          <p:nvPr/>
        </p:nvPicPr>
        <p:blipFill>
          <a:blip r:embed="rId2"/>
          <a:stretch>
            <a:fillRect/>
          </a:stretch>
        </p:blipFill>
        <p:spPr>
          <a:xfrm>
            <a:off x="1164772" y="961906"/>
            <a:ext cx="7935835" cy="5255750"/>
          </a:xfrm>
          <a:prstGeom prst="rect">
            <a:avLst/>
          </a:prstGeom>
        </p:spPr>
      </p:pic>
    </p:spTree>
    <p:extLst>
      <p:ext uri="{BB962C8B-B14F-4D97-AF65-F5344CB8AC3E}">
        <p14:creationId xmlns:p14="http://schemas.microsoft.com/office/powerpoint/2010/main" val="324329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23F11-260A-C1C9-DC77-EC3FDF44B394}"/>
              </a:ext>
            </a:extLst>
          </p:cNvPr>
          <p:cNvSpPr>
            <a:spLocks noGrp="1"/>
          </p:cNvSpPr>
          <p:nvPr>
            <p:ph type="title"/>
          </p:nvPr>
        </p:nvSpPr>
        <p:spPr>
          <a:xfrm>
            <a:off x="239486" y="234497"/>
            <a:ext cx="10515600" cy="309789"/>
          </a:xfrm>
        </p:spPr>
        <p:txBody>
          <a:bodyPr>
            <a:normAutofit fontScale="90000"/>
          </a:bodyPr>
          <a:lstStyle/>
          <a:p>
            <a:r>
              <a:rPr lang="en-IN" dirty="0"/>
              <a:t>Google Cloud Load Balancer</a:t>
            </a:r>
          </a:p>
        </p:txBody>
      </p:sp>
      <p:sp>
        <p:nvSpPr>
          <p:cNvPr id="6" name="TextBox 5">
            <a:extLst>
              <a:ext uri="{FF2B5EF4-FFF2-40B4-BE49-F238E27FC236}">
                <a16:creationId xmlns:a16="http://schemas.microsoft.com/office/drawing/2014/main" id="{CA06A7C2-B6F5-823A-6311-4EB7CF7611B1}"/>
              </a:ext>
            </a:extLst>
          </p:cNvPr>
          <p:cNvSpPr txBox="1"/>
          <p:nvPr/>
        </p:nvSpPr>
        <p:spPr>
          <a:xfrm>
            <a:off x="947058" y="1600200"/>
            <a:ext cx="9459685" cy="2585323"/>
          </a:xfrm>
          <a:prstGeom prst="rect">
            <a:avLst/>
          </a:prstGeom>
          <a:noFill/>
        </p:spPr>
        <p:txBody>
          <a:bodyPr wrap="square" rtlCol="0">
            <a:spAutoFit/>
          </a:bodyPr>
          <a:lstStyle/>
          <a:p>
            <a:r>
              <a:rPr lang="en-IN" dirty="0"/>
              <a:t>Application Load Balancers</a:t>
            </a:r>
          </a:p>
          <a:p>
            <a:pPr marL="285750" indent="-285750">
              <a:buFont typeface="Arial" panose="020B0604020202020204" pitchFamily="34" charset="0"/>
              <a:buChar char="•"/>
            </a:pPr>
            <a:r>
              <a:rPr lang="en-IN" dirty="0"/>
              <a:t>External Application Load Balancers</a:t>
            </a:r>
          </a:p>
          <a:p>
            <a:pPr marL="285750" indent="-285750">
              <a:buFont typeface="Arial" panose="020B0604020202020204" pitchFamily="34" charset="0"/>
              <a:buChar char="•"/>
            </a:pPr>
            <a:r>
              <a:rPr lang="en-IN" dirty="0"/>
              <a:t>Internal Application Load Balancers</a:t>
            </a:r>
          </a:p>
          <a:p>
            <a:pPr marL="285750" indent="-285750">
              <a:buFont typeface="Arial" panose="020B0604020202020204" pitchFamily="34" charset="0"/>
              <a:buChar char="•"/>
            </a:pPr>
            <a:endParaRPr lang="en-IN" dirty="0"/>
          </a:p>
          <a:p>
            <a:r>
              <a:rPr lang="en-IN" dirty="0"/>
              <a:t>Network Load Balancers</a:t>
            </a:r>
          </a:p>
          <a:p>
            <a:endParaRPr lang="en-IN" dirty="0"/>
          </a:p>
          <a:p>
            <a:r>
              <a:rPr lang="en-IN" dirty="0"/>
              <a:t>Proxy Network Load Balancers</a:t>
            </a:r>
          </a:p>
          <a:p>
            <a:endParaRPr lang="en-IN" dirty="0"/>
          </a:p>
          <a:p>
            <a:r>
              <a:rPr lang="en-IN" dirty="0"/>
              <a:t>Passthrough Network Load Balancers</a:t>
            </a:r>
          </a:p>
        </p:txBody>
      </p:sp>
    </p:spTree>
    <p:extLst>
      <p:ext uri="{BB962C8B-B14F-4D97-AF65-F5344CB8AC3E}">
        <p14:creationId xmlns:p14="http://schemas.microsoft.com/office/powerpoint/2010/main" val="197561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EF49-D46D-D4FB-36EC-AB8C6EEBDD6E}"/>
              </a:ext>
            </a:extLst>
          </p:cNvPr>
          <p:cNvSpPr>
            <a:spLocks noGrp="1"/>
          </p:cNvSpPr>
          <p:nvPr>
            <p:ph type="title"/>
          </p:nvPr>
        </p:nvSpPr>
        <p:spPr>
          <a:xfrm>
            <a:off x="228600" y="114753"/>
            <a:ext cx="10515600" cy="538389"/>
          </a:xfrm>
        </p:spPr>
        <p:txBody>
          <a:bodyPr>
            <a:normAutofit fontScale="90000"/>
          </a:bodyPr>
          <a:lstStyle/>
          <a:p>
            <a:r>
              <a:rPr lang="en-IN" dirty="0"/>
              <a:t>A brief overview of the internet</a:t>
            </a:r>
          </a:p>
        </p:txBody>
      </p:sp>
      <p:pic>
        <p:nvPicPr>
          <p:cNvPr id="6" name="Picture 5">
            <a:extLst>
              <a:ext uri="{FF2B5EF4-FFF2-40B4-BE49-F238E27FC236}">
                <a16:creationId xmlns:a16="http://schemas.microsoft.com/office/drawing/2014/main" id="{1EAE3DE5-634E-ABEA-8552-A59B2F71068A}"/>
              </a:ext>
            </a:extLst>
          </p:cNvPr>
          <p:cNvPicPr>
            <a:picLocks noChangeAspect="1"/>
          </p:cNvPicPr>
          <p:nvPr/>
        </p:nvPicPr>
        <p:blipFill>
          <a:blip r:embed="rId2"/>
          <a:stretch>
            <a:fillRect/>
          </a:stretch>
        </p:blipFill>
        <p:spPr>
          <a:xfrm>
            <a:off x="383113" y="946516"/>
            <a:ext cx="6026460" cy="3397425"/>
          </a:xfrm>
          <a:prstGeom prst="rect">
            <a:avLst/>
          </a:prstGeom>
        </p:spPr>
      </p:pic>
      <p:sp>
        <p:nvSpPr>
          <p:cNvPr id="10" name="TextBox 9">
            <a:extLst>
              <a:ext uri="{FF2B5EF4-FFF2-40B4-BE49-F238E27FC236}">
                <a16:creationId xmlns:a16="http://schemas.microsoft.com/office/drawing/2014/main" id="{8AD8525B-E5A5-B989-0E6C-CB0EDB1045BC}"/>
              </a:ext>
            </a:extLst>
          </p:cNvPr>
          <p:cNvSpPr txBox="1"/>
          <p:nvPr/>
        </p:nvSpPr>
        <p:spPr>
          <a:xfrm>
            <a:off x="6694714" y="653142"/>
            <a:ext cx="4974772" cy="3785652"/>
          </a:xfrm>
          <a:prstGeom prst="rect">
            <a:avLst/>
          </a:prstGeom>
          <a:noFill/>
        </p:spPr>
        <p:txBody>
          <a:bodyPr wrap="square">
            <a:spAutoFit/>
          </a:bodyPr>
          <a:lstStyle/>
          <a:p>
            <a:r>
              <a:rPr lang="en-US" sz="1600" dirty="0"/>
              <a:t>1. The Internet is the greatest decentralized network in the history of mankind. There is no central authority that controls who is allowed to connect or how you can use it. How do we manage billions of internet-connected devices without any single organization in charge of maintaining the system? This is accomplished through the coordination of many independent entities called </a:t>
            </a:r>
            <a:r>
              <a:rPr lang="en-US" sz="1600" b="1" dirty="0"/>
              <a:t>Autonomous Systems (AS</a:t>
            </a:r>
            <a:r>
              <a:rPr lang="en-US" sz="1600" dirty="0"/>
              <a:t>). ASs are the networking backbone of the internet. These entities, often managed by ISPs or large technology organizations, are responsible for handling traffic for the IP addresses they manage and advertising the paths to all other IP prefixes of which they are aware. Connections between ASs, also known as peers, are established through the manual configuration of connections between routers</a:t>
            </a:r>
            <a:endParaRPr lang="en-IN" sz="1600" dirty="0"/>
          </a:p>
        </p:txBody>
      </p:sp>
      <p:sp>
        <p:nvSpPr>
          <p:cNvPr id="12" name="TextBox 11">
            <a:extLst>
              <a:ext uri="{FF2B5EF4-FFF2-40B4-BE49-F238E27FC236}">
                <a16:creationId xmlns:a16="http://schemas.microsoft.com/office/drawing/2014/main" id="{C01886A2-6AE7-2032-A150-D94836AC0736}"/>
              </a:ext>
            </a:extLst>
          </p:cNvPr>
          <p:cNvSpPr txBox="1"/>
          <p:nvPr/>
        </p:nvSpPr>
        <p:spPr>
          <a:xfrm>
            <a:off x="141514" y="4685556"/>
            <a:ext cx="12050486" cy="1815882"/>
          </a:xfrm>
          <a:prstGeom prst="rect">
            <a:avLst/>
          </a:prstGeom>
          <a:noFill/>
        </p:spPr>
        <p:txBody>
          <a:bodyPr wrap="square">
            <a:spAutoFit/>
          </a:bodyPr>
          <a:lstStyle/>
          <a:p>
            <a:r>
              <a:rPr lang="en-US" sz="1600" dirty="0"/>
              <a:t>2. Once a connection has been established, ASs use the </a:t>
            </a:r>
            <a:r>
              <a:rPr lang="en-US" sz="1600" b="1" dirty="0"/>
              <a:t>Border Gateway Protocol (BGP) </a:t>
            </a:r>
            <a:r>
              <a:rPr lang="en-US" sz="1600" dirty="0"/>
              <a:t>to coordinate with each other. BGP carries the information necessary for ASs to determine the optimal path to a target. Many factors can be used to define "optimal", but the most common heuristic used is choosing the path with the fewest number of "hops" between ASs before reaching the destination. Each AS will store the best path for all IP prefixes in its routing table. When a route is added or removed, the AS will update its routing table, if necessary, and advertise the change to its peers so they can do the same. Each peer sends keep-alive messages to each other at regular intervals. If an AS does not send a keep-alive message before the configured timeout, the peer will stop advertising the AS </a:t>
            </a:r>
            <a:r>
              <a:rPr lang="en-US" sz="1600" dirty="0" err="1"/>
              <a:t>as</a:t>
            </a:r>
            <a:r>
              <a:rPr lang="en-US" sz="1600" dirty="0"/>
              <a:t> a reachable hop and packets will use a different path to reach the target if it exists.</a:t>
            </a:r>
            <a:endParaRPr lang="en-IN" sz="1600" dirty="0"/>
          </a:p>
        </p:txBody>
      </p:sp>
    </p:spTree>
    <p:extLst>
      <p:ext uri="{BB962C8B-B14F-4D97-AF65-F5344CB8AC3E}">
        <p14:creationId xmlns:p14="http://schemas.microsoft.com/office/powerpoint/2010/main" val="2964425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3FD8B-3373-445A-755E-D9AA7C9D3FF4}"/>
              </a:ext>
            </a:extLst>
          </p:cNvPr>
          <p:cNvSpPr>
            <a:spLocks noGrp="1"/>
          </p:cNvSpPr>
          <p:nvPr>
            <p:ph type="title"/>
          </p:nvPr>
        </p:nvSpPr>
        <p:spPr>
          <a:xfrm>
            <a:off x="228600" y="343354"/>
            <a:ext cx="10515600" cy="211818"/>
          </a:xfrm>
        </p:spPr>
        <p:txBody>
          <a:bodyPr>
            <a:normAutofit fontScale="90000"/>
          </a:bodyPr>
          <a:lstStyle/>
          <a:p>
            <a:r>
              <a:rPr lang="en-IN" dirty="0"/>
              <a:t>What is Anycast?</a:t>
            </a:r>
          </a:p>
        </p:txBody>
      </p:sp>
      <p:sp>
        <p:nvSpPr>
          <p:cNvPr id="4" name="TextBox 3">
            <a:extLst>
              <a:ext uri="{FF2B5EF4-FFF2-40B4-BE49-F238E27FC236}">
                <a16:creationId xmlns:a16="http://schemas.microsoft.com/office/drawing/2014/main" id="{DACA99AA-5F57-D105-CAB6-AE82D3A21C87}"/>
              </a:ext>
            </a:extLst>
          </p:cNvPr>
          <p:cNvSpPr txBox="1"/>
          <p:nvPr/>
        </p:nvSpPr>
        <p:spPr>
          <a:xfrm>
            <a:off x="381000" y="976260"/>
            <a:ext cx="11582400" cy="5078313"/>
          </a:xfrm>
          <a:prstGeom prst="rect">
            <a:avLst/>
          </a:prstGeom>
          <a:noFill/>
        </p:spPr>
        <p:txBody>
          <a:bodyPr wrap="square">
            <a:spAutoFit/>
          </a:bodyPr>
          <a:lstStyle/>
          <a:p>
            <a:pPr algn="l"/>
            <a:r>
              <a:rPr lang="en-US" b="0" i="0" dirty="0">
                <a:effectLst/>
                <a:latin typeface="__PPNeueMontreal_82363e"/>
              </a:rPr>
              <a:t>An anycast network is </a:t>
            </a:r>
            <a:r>
              <a:rPr lang="en-US" b="1" i="0" dirty="0">
                <a:effectLst/>
                <a:latin typeface="__PPNeueMontreal_82363e"/>
              </a:rPr>
              <a:t>two or more servers advertising the same IP address from different locations</a:t>
            </a:r>
            <a:r>
              <a:rPr lang="en-US" b="0" i="0" dirty="0">
                <a:effectLst/>
                <a:latin typeface="__PPNeueMontreal_82363e"/>
              </a:rPr>
              <a:t>. </a:t>
            </a:r>
          </a:p>
          <a:p>
            <a:pPr algn="l"/>
            <a:endParaRPr lang="en-US" dirty="0">
              <a:latin typeface="__PPNeueMontreal_82363e"/>
            </a:endParaRPr>
          </a:p>
          <a:p>
            <a:pPr algn="l"/>
            <a:r>
              <a:rPr lang="en-US" b="0" i="0" dirty="0">
                <a:effectLst/>
                <a:latin typeface="__PPNeueMontreal_82363e"/>
              </a:rPr>
              <a:t>Why would we want to do this? Serving traffic from a single location often lacks the redundancy required for critical or latency-sensitive applications that serve users around the world. In the worst case of a global round-trip request, you can expect </a:t>
            </a:r>
            <a:r>
              <a:rPr lang="en-US" b="0" i="0" dirty="0">
                <a:solidFill>
                  <a:srgbClr val="FF0000"/>
                </a:solidFill>
                <a:effectLst/>
                <a:latin typeface="__PPNeueMontreal_82363e"/>
                <a:hlinkClick r:id="rId2">
                  <a:extLst>
                    <a:ext uri="{A12FA001-AC4F-418D-AE19-62706E023703}">
                      <ahyp:hlinkClr xmlns:ahyp="http://schemas.microsoft.com/office/drawing/2018/hyperlinkcolor" val="tx"/>
                    </a:ext>
                  </a:extLst>
                </a:hlinkClick>
              </a:rPr>
              <a:t>300 </a:t>
            </a:r>
            <a:r>
              <a:rPr lang="en-US" b="0" i="0" dirty="0" err="1">
                <a:solidFill>
                  <a:srgbClr val="FF0000"/>
                </a:solidFill>
                <a:effectLst/>
                <a:latin typeface="__PPNeueMontreal_82363e"/>
                <a:hlinkClick r:id="rId2">
                  <a:extLst>
                    <a:ext uri="{A12FA001-AC4F-418D-AE19-62706E023703}">
                      <ahyp:hlinkClr xmlns:ahyp="http://schemas.microsoft.com/office/drawing/2018/hyperlinkcolor" val="tx"/>
                    </a:ext>
                  </a:extLst>
                </a:hlinkClick>
              </a:rPr>
              <a:t>ms</a:t>
            </a:r>
            <a:r>
              <a:rPr lang="en-US" b="0" i="0" dirty="0">
                <a:solidFill>
                  <a:srgbClr val="FF0000"/>
                </a:solidFill>
                <a:effectLst/>
                <a:latin typeface="__PPNeueMontreal_82363e"/>
                <a:hlinkClick r:id="rId2">
                  <a:extLst>
                    <a:ext uri="{A12FA001-AC4F-418D-AE19-62706E023703}">
                      <ahyp:hlinkClr xmlns:ahyp="http://schemas.microsoft.com/office/drawing/2018/hyperlinkcolor" val="tx"/>
                    </a:ext>
                  </a:extLst>
                </a:hlinkClick>
              </a:rPr>
              <a:t> of latency</a:t>
            </a:r>
            <a:r>
              <a:rPr lang="en-US" b="0" i="0" dirty="0">
                <a:solidFill>
                  <a:srgbClr val="FF0000"/>
                </a:solidFill>
                <a:effectLst/>
                <a:latin typeface="__PPNeueMontreal_82363e"/>
              </a:rPr>
              <a:t> just in transit time</a:t>
            </a:r>
            <a:r>
              <a:rPr lang="en-US" b="0" i="0" dirty="0">
                <a:effectLst/>
                <a:latin typeface="__PPNeueMontreal_82363e"/>
              </a:rPr>
              <a:t>. This doesn't account for the time it takes the server to process the request. Chain a few of these requests together and you're looking at a very sluggish application and a frustrating user experience. For applications that require high availability and low latency, you will want an architecture that has the following characteristics:</a:t>
            </a:r>
          </a:p>
          <a:p>
            <a:pPr algn="l"/>
            <a:endParaRPr lang="en-US" b="0" i="0" dirty="0">
              <a:effectLst/>
              <a:latin typeface="__PPNeueMontreal_82363e"/>
            </a:endParaRPr>
          </a:p>
          <a:p>
            <a:pPr marL="285750" indent="-285750" algn="l">
              <a:buFont typeface="Arial" panose="020B0604020202020204" pitchFamily="34" charset="0"/>
              <a:buChar char="•"/>
            </a:pPr>
            <a:r>
              <a:rPr lang="en-US" b="0" i="0" dirty="0">
                <a:effectLst/>
                <a:latin typeface="__PPNeueMontreal_82363e"/>
              </a:rPr>
              <a:t>Globally distributed</a:t>
            </a:r>
          </a:p>
          <a:p>
            <a:pPr marL="285750" indent="-285750" algn="l">
              <a:buFont typeface="Arial" panose="020B0604020202020204" pitchFamily="34" charset="0"/>
              <a:buChar char="•"/>
            </a:pPr>
            <a:r>
              <a:rPr lang="en-US" b="0" i="0" dirty="0">
                <a:effectLst/>
                <a:latin typeface="__PPNeueMontreal_82363e"/>
              </a:rPr>
              <a:t>Automatically routes traffic to the optimal server</a:t>
            </a:r>
          </a:p>
          <a:p>
            <a:pPr marL="285750" indent="-285750" algn="l">
              <a:buFont typeface="Arial" panose="020B0604020202020204" pitchFamily="34" charset="0"/>
              <a:buChar char="•"/>
            </a:pPr>
            <a:r>
              <a:rPr lang="en-US" b="0" i="0" dirty="0">
                <a:effectLst/>
                <a:latin typeface="__PPNeueMontreal_82363e"/>
              </a:rPr>
              <a:t>Tolerates failures of individual servers</a:t>
            </a:r>
          </a:p>
          <a:p>
            <a:endParaRPr lang="en-US" b="0" i="0" dirty="0">
              <a:effectLst/>
              <a:latin typeface="__PPNeueMontreal_82363e"/>
            </a:endParaRPr>
          </a:p>
          <a:p>
            <a:r>
              <a:rPr lang="en-US" b="0" i="0" dirty="0">
                <a:effectLst/>
                <a:latin typeface="__PPNeueMontreal_82363e"/>
              </a:rPr>
              <a:t>We can leverage the advanced routing capabilities of BGP to create a fault-tolerant, low-latency system by building an anycast network. By advertising an IP from many servers around the world, </a:t>
            </a:r>
            <a:r>
              <a:rPr lang="en-US" b="1" i="0" dirty="0">
                <a:effectLst/>
                <a:latin typeface="__PPNeueMontreal_82363e"/>
              </a:rPr>
              <a:t>we can rely on BGP to route users' requests to the nearest Point of Presence (</a:t>
            </a:r>
            <a:r>
              <a:rPr lang="en-US" b="1" i="0" dirty="0" err="1">
                <a:effectLst/>
                <a:latin typeface="__PPNeueMontreal_82363e"/>
              </a:rPr>
              <a:t>PoP</a:t>
            </a:r>
            <a:r>
              <a:rPr lang="en-US" b="1" i="0" dirty="0">
                <a:effectLst/>
                <a:latin typeface="__PPNeueMontreal_82363e"/>
              </a:rPr>
              <a:t>) -- or server</a:t>
            </a:r>
            <a:r>
              <a:rPr lang="en-US" b="0" i="0" dirty="0">
                <a:effectLst/>
                <a:latin typeface="__PPNeueMontreal_82363e"/>
              </a:rPr>
              <a:t>, in other words -- that advertises the IP. When one of those </a:t>
            </a:r>
            <a:r>
              <a:rPr lang="en-US" b="0" i="0" dirty="0" err="1">
                <a:effectLst/>
                <a:latin typeface="__PPNeueMontreal_82363e"/>
              </a:rPr>
              <a:t>PoPs</a:t>
            </a:r>
            <a:r>
              <a:rPr lang="en-US" b="0" i="0" dirty="0">
                <a:effectLst/>
                <a:latin typeface="__PPNeueMontreal_82363e"/>
              </a:rPr>
              <a:t> fails, it will stop sending keep-alive messages to its peers, connected ASs will stop advertising the path, and traffic will reroute to a healthy </a:t>
            </a:r>
            <a:r>
              <a:rPr lang="en-US" b="0" i="0" dirty="0" err="1">
                <a:effectLst/>
                <a:latin typeface="__PPNeueMontreal_82363e"/>
              </a:rPr>
              <a:t>PoP</a:t>
            </a:r>
            <a:r>
              <a:rPr lang="en-US" b="0" i="0" dirty="0">
                <a:effectLst/>
                <a:latin typeface="__PPNeueMontreal_82363e"/>
              </a:rPr>
              <a:t>.</a:t>
            </a:r>
            <a:endParaRPr lang="en-IN" dirty="0"/>
          </a:p>
        </p:txBody>
      </p:sp>
    </p:spTree>
    <p:extLst>
      <p:ext uri="{BB962C8B-B14F-4D97-AF65-F5344CB8AC3E}">
        <p14:creationId xmlns:p14="http://schemas.microsoft.com/office/powerpoint/2010/main" val="49617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AF2C1-EBDC-B0C8-8810-8CC99C3070F3}"/>
              </a:ext>
            </a:extLst>
          </p:cNvPr>
          <p:cNvSpPr>
            <a:spLocks noGrp="1"/>
          </p:cNvSpPr>
          <p:nvPr>
            <p:ph type="title"/>
          </p:nvPr>
        </p:nvSpPr>
        <p:spPr>
          <a:xfrm>
            <a:off x="838200" y="365125"/>
            <a:ext cx="10515600" cy="255361"/>
          </a:xfrm>
        </p:spPr>
        <p:txBody>
          <a:bodyPr>
            <a:normAutofit fontScale="90000"/>
          </a:bodyPr>
          <a:lstStyle/>
          <a:p>
            <a:r>
              <a:rPr lang="en-IN" dirty="0">
                <a:hlinkClick r:id="rId2"/>
              </a:rPr>
              <a:t>https://render.com/</a:t>
            </a:r>
            <a:r>
              <a:rPr lang="en-IN" dirty="0"/>
              <a:t> </a:t>
            </a:r>
          </a:p>
        </p:txBody>
      </p:sp>
      <p:sp>
        <p:nvSpPr>
          <p:cNvPr id="3" name="TextBox 2">
            <a:extLst>
              <a:ext uri="{FF2B5EF4-FFF2-40B4-BE49-F238E27FC236}">
                <a16:creationId xmlns:a16="http://schemas.microsoft.com/office/drawing/2014/main" id="{71131E34-D425-1673-6ABE-BC51F6D11D0C}"/>
              </a:ext>
            </a:extLst>
          </p:cNvPr>
          <p:cNvSpPr txBox="1"/>
          <p:nvPr/>
        </p:nvSpPr>
        <p:spPr>
          <a:xfrm>
            <a:off x="293914" y="1201893"/>
            <a:ext cx="10853057" cy="3970318"/>
          </a:xfrm>
          <a:prstGeom prst="rect">
            <a:avLst/>
          </a:prstGeom>
          <a:noFill/>
        </p:spPr>
        <p:txBody>
          <a:bodyPr wrap="square" rtlCol="0">
            <a:spAutoFit/>
          </a:bodyPr>
          <a:lstStyle/>
          <a:p>
            <a:pPr marL="285750" indent="-285750">
              <a:buFont typeface="Arial" panose="020B0604020202020204" pitchFamily="34" charset="0"/>
              <a:buChar char="•"/>
            </a:pPr>
            <a:r>
              <a:rPr lang="en-US" dirty="0"/>
              <a:t>We provide a single IP address (our anycast IP address) to use in your DNS settings.</a:t>
            </a:r>
          </a:p>
          <a:p>
            <a:pPr marL="285750" indent="-285750">
              <a:buFont typeface="Arial" panose="020B0604020202020204" pitchFamily="34" charset="0"/>
              <a:buChar char="•"/>
            </a:pPr>
            <a:r>
              <a:rPr lang="en-US" dirty="0"/>
              <a:t>When a request reaches one of the servers advertising that IP, we will forward it to one of possibly several origins around the world, depending on where your site is hosted and whether it's a web service or a static site.</a:t>
            </a:r>
          </a:p>
          <a:p>
            <a:pPr marL="285750" indent="-285750">
              <a:buFont typeface="Arial" panose="020B0604020202020204" pitchFamily="34" charset="0"/>
              <a:buChar char="•"/>
            </a:pPr>
            <a:r>
              <a:rPr lang="en-US" dirty="0"/>
              <a:t>we advertise our IP from anycast servers worldwide, which inspect each request and forward it to a server capable of responding. So, the server that serves a request is one of hundreds of geographically distributed CDN edge servers containing a cached copy of your static site. If one of those servers fails, its peers will stop advertising the route and the traffic will be sent elsewhere.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Building an Anycast Network</a:t>
            </a:r>
          </a:p>
          <a:p>
            <a:pPr marL="742950" lvl="1" indent="-285750">
              <a:buFont typeface="Arial" panose="020B0604020202020204" pitchFamily="34" charset="0"/>
              <a:buChar char="•"/>
            </a:pPr>
            <a:r>
              <a:rPr lang="en-US" dirty="0"/>
              <a:t>Obtain an Autonomous System Number</a:t>
            </a:r>
          </a:p>
          <a:p>
            <a:pPr marL="742950" lvl="1" indent="-285750">
              <a:buFont typeface="Arial" panose="020B0604020202020204" pitchFamily="34" charset="0"/>
              <a:buChar char="•"/>
            </a:pPr>
            <a:r>
              <a:rPr lang="en-US" dirty="0"/>
              <a:t>Acquire an IP Address</a:t>
            </a:r>
          </a:p>
          <a:p>
            <a:pPr marL="742950" lvl="1" indent="-285750">
              <a:buFont typeface="Arial" panose="020B0604020202020204" pitchFamily="34" charset="0"/>
              <a:buChar char="•"/>
            </a:pPr>
            <a:r>
              <a:rPr lang="en-US" dirty="0"/>
              <a:t>Find a Hosting Provider</a:t>
            </a:r>
          </a:p>
          <a:p>
            <a:pPr marL="742950" lvl="1" indent="-285750">
              <a:buFont typeface="Arial" panose="020B0604020202020204" pitchFamily="34" charset="0"/>
              <a:buChar char="•"/>
            </a:pPr>
            <a:r>
              <a:rPr lang="en-US" dirty="0"/>
              <a:t>Configure BGP</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283046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22ECC-5E24-6BC3-8EE8-BDC76025A675}"/>
              </a:ext>
            </a:extLst>
          </p:cNvPr>
          <p:cNvSpPr>
            <a:spLocks noGrp="1"/>
          </p:cNvSpPr>
          <p:nvPr>
            <p:ph type="title"/>
          </p:nvPr>
        </p:nvSpPr>
        <p:spPr>
          <a:xfrm>
            <a:off x="838200" y="365126"/>
            <a:ext cx="10515600" cy="146504"/>
          </a:xfrm>
        </p:spPr>
        <p:txBody>
          <a:bodyPr>
            <a:normAutofit fontScale="90000"/>
          </a:bodyPr>
          <a:lstStyle/>
          <a:p>
            <a:r>
              <a:rPr lang="en-IN" dirty="0"/>
              <a:t>Load Balancing in Kubernetes - Service</a:t>
            </a:r>
          </a:p>
        </p:txBody>
      </p:sp>
      <p:pic>
        <p:nvPicPr>
          <p:cNvPr id="5" name="Picture 4">
            <a:extLst>
              <a:ext uri="{FF2B5EF4-FFF2-40B4-BE49-F238E27FC236}">
                <a16:creationId xmlns:a16="http://schemas.microsoft.com/office/drawing/2014/main" id="{7BEB6870-66A5-A237-C1FF-0C6D1CA07CD3}"/>
              </a:ext>
            </a:extLst>
          </p:cNvPr>
          <p:cNvPicPr>
            <a:picLocks noChangeAspect="1"/>
          </p:cNvPicPr>
          <p:nvPr/>
        </p:nvPicPr>
        <p:blipFill>
          <a:blip r:embed="rId2"/>
          <a:stretch>
            <a:fillRect/>
          </a:stretch>
        </p:blipFill>
        <p:spPr>
          <a:xfrm>
            <a:off x="5040086" y="992889"/>
            <a:ext cx="6820285" cy="2980949"/>
          </a:xfrm>
          <a:prstGeom prst="rect">
            <a:avLst/>
          </a:prstGeom>
        </p:spPr>
      </p:pic>
      <p:sp>
        <p:nvSpPr>
          <p:cNvPr id="6" name="TextBox 5">
            <a:extLst>
              <a:ext uri="{FF2B5EF4-FFF2-40B4-BE49-F238E27FC236}">
                <a16:creationId xmlns:a16="http://schemas.microsoft.com/office/drawing/2014/main" id="{8B43ADC9-1A4D-9E43-AFA7-D28D43C5B76E}"/>
              </a:ext>
            </a:extLst>
          </p:cNvPr>
          <p:cNvSpPr txBox="1"/>
          <p:nvPr/>
        </p:nvSpPr>
        <p:spPr>
          <a:xfrm>
            <a:off x="331629" y="850507"/>
            <a:ext cx="4969328" cy="3293209"/>
          </a:xfrm>
          <a:prstGeom prst="rect">
            <a:avLst/>
          </a:prstGeom>
          <a:noFill/>
        </p:spPr>
        <p:txBody>
          <a:bodyPr wrap="square" rtlCol="0">
            <a:spAutoFit/>
          </a:bodyPr>
          <a:lstStyle/>
          <a:p>
            <a:r>
              <a:rPr lang="en-IN" sz="1600" dirty="0"/>
              <a:t>Service :</a:t>
            </a:r>
          </a:p>
          <a:p>
            <a:pPr marL="285750" indent="-285750">
              <a:buFont typeface="Arial" panose="020B0604020202020204" pitchFamily="34" charset="0"/>
              <a:buChar char="•"/>
            </a:pPr>
            <a:r>
              <a:rPr lang="en-US" sz="1600" dirty="0"/>
              <a:t>In the Kubernetes world, the pods, where the application lives, are temporary and get a new IP address every time they are launched. The pods are usually dynamically destroyed and recreated with each deployment.</a:t>
            </a:r>
            <a:endParaRPr lang="en-IN" sz="1600" dirty="0"/>
          </a:p>
          <a:p>
            <a:pPr marL="285750" indent="-285750">
              <a:buFont typeface="Arial" panose="020B0604020202020204" pitchFamily="34" charset="0"/>
              <a:buChar char="•"/>
            </a:pPr>
            <a:r>
              <a:rPr lang="en-US" sz="1600" dirty="0"/>
              <a:t>The Kubernetes service creates an abstraction that maps to one or more pods. This abstraction allows other applications to reach the service by simply referring to the service name.</a:t>
            </a:r>
            <a:endParaRPr lang="en-IN" sz="1600" dirty="0"/>
          </a:p>
          <a:p>
            <a:pPr marL="285750" indent="-285750">
              <a:buFont typeface="Arial" panose="020B0604020202020204" pitchFamily="34" charset="0"/>
              <a:buChar char="•"/>
            </a:pPr>
            <a:r>
              <a:rPr lang="en-IN" sz="1600" dirty="0"/>
              <a:t>Service survives even if the container dies.</a:t>
            </a:r>
          </a:p>
          <a:p>
            <a:pPr marL="285750" indent="-285750">
              <a:buFont typeface="Arial" panose="020B0604020202020204" pitchFamily="34" charset="0"/>
              <a:buChar char="•"/>
            </a:pPr>
            <a:r>
              <a:rPr lang="en-IN" sz="1600" dirty="0"/>
              <a:t>In a way it acts as load balancer and routes to live containers</a:t>
            </a:r>
          </a:p>
        </p:txBody>
      </p:sp>
      <p:sp>
        <p:nvSpPr>
          <p:cNvPr id="11" name="TextBox 10">
            <a:extLst>
              <a:ext uri="{FF2B5EF4-FFF2-40B4-BE49-F238E27FC236}">
                <a16:creationId xmlns:a16="http://schemas.microsoft.com/office/drawing/2014/main" id="{77DF8335-B306-72E5-118E-7BE9F120079B}"/>
              </a:ext>
            </a:extLst>
          </p:cNvPr>
          <p:cNvSpPr txBox="1"/>
          <p:nvPr/>
        </p:nvSpPr>
        <p:spPr>
          <a:xfrm>
            <a:off x="5130085" y="3802558"/>
            <a:ext cx="6640286" cy="3077766"/>
          </a:xfrm>
          <a:prstGeom prst="rect">
            <a:avLst/>
          </a:prstGeom>
          <a:noFill/>
        </p:spPr>
        <p:txBody>
          <a:bodyPr wrap="square" rtlCol="0">
            <a:spAutoFit/>
          </a:bodyPr>
          <a:lstStyle/>
          <a:p>
            <a:pPr marL="285750" indent="-285750">
              <a:buFont typeface="Arial" panose="020B0604020202020204" pitchFamily="34" charset="0"/>
              <a:buChar char="•"/>
            </a:pPr>
            <a:r>
              <a:rPr lang="en-IN" sz="1600" dirty="0"/>
              <a:t>Types</a:t>
            </a:r>
          </a:p>
          <a:p>
            <a:pPr marL="742950" lvl="1" indent="-285750">
              <a:buFont typeface="Arial" panose="020B0604020202020204" pitchFamily="34" charset="0"/>
              <a:buChar char="•"/>
            </a:pPr>
            <a:r>
              <a:rPr lang="en-IN" sz="1600" i="0" dirty="0">
                <a:solidFill>
                  <a:srgbClr val="161A1D"/>
                </a:solidFill>
                <a:effectLst/>
                <a:highlight>
                  <a:srgbClr val="FFFFFF"/>
                </a:highlight>
                <a:latin typeface="-apple-system"/>
              </a:rPr>
              <a:t>ClusterIP : </a:t>
            </a:r>
            <a:r>
              <a:rPr lang="en-US" sz="1600" i="0" dirty="0">
                <a:solidFill>
                  <a:srgbClr val="161A1D"/>
                </a:solidFill>
                <a:effectLst/>
                <a:highlight>
                  <a:srgbClr val="FFFFFF"/>
                </a:highlight>
                <a:latin typeface="-apple-system"/>
              </a:rPr>
              <a:t>Accessible within the cluster. Dependent applications can interact with other applications internally using the ClusterIP service.</a:t>
            </a:r>
          </a:p>
          <a:p>
            <a:pPr marL="742950" lvl="1" indent="-285750">
              <a:buFont typeface="Arial" panose="020B0604020202020204" pitchFamily="34" charset="0"/>
              <a:buChar char="•"/>
            </a:pPr>
            <a:r>
              <a:rPr lang="en-US" sz="1600" i="0" dirty="0">
                <a:solidFill>
                  <a:srgbClr val="161A1D"/>
                </a:solidFill>
                <a:effectLst/>
                <a:highlight>
                  <a:srgbClr val="FFFFFF"/>
                </a:highlight>
                <a:latin typeface="-apple-system"/>
              </a:rPr>
              <a:t>LoadBalancer : This service type creates load balancers in various Cloud providers like AWS, GCP, Azure, etc., to expose our application to the Internet.</a:t>
            </a:r>
          </a:p>
          <a:p>
            <a:pPr marL="742950" lvl="1" indent="-285750">
              <a:buFont typeface="Arial" panose="020B0604020202020204" pitchFamily="34" charset="0"/>
              <a:buChar char="•"/>
            </a:pPr>
            <a:r>
              <a:rPr lang="en-US" sz="1600" i="0" dirty="0">
                <a:solidFill>
                  <a:srgbClr val="161A1D"/>
                </a:solidFill>
                <a:effectLst/>
                <a:highlight>
                  <a:srgbClr val="FFFFFF"/>
                </a:highlight>
                <a:latin typeface="-apple-system"/>
              </a:rPr>
              <a:t>NodePort services are accessible outside the cluster. It creates a mapping of pods to its hosting node/machine on a static port.</a:t>
            </a:r>
          </a:p>
          <a:p>
            <a:pPr lvl="1"/>
            <a:endParaRPr lang="en-US" sz="1600" dirty="0">
              <a:solidFill>
                <a:srgbClr val="161A1D"/>
              </a:solidFill>
              <a:highlight>
                <a:srgbClr val="FFFFFF"/>
              </a:highlight>
              <a:latin typeface="-apple-system"/>
            </a:endParaRPr>
          </a:p>
          <a:p>
            <a:pPr lvl="1"/>
            <a:r>
              <a:rPr lang="en-IN" sz="1600" i="0" dirty="0">
                <a:solidFill>
                  <a:srgbClr val="161A1D"/>
                </a:solidFill>
                <a:effectLst/>
                <a:highlight>
                  <a:srgbClr val="FFFFFF"/>
                </a:highlight>
                <a:latin typeface="-apple-system"/>
                <a:hlinkClick r:id="rId3"/>
              </a:rPr>
              <a:t>https://www.densify.com/kubernetes-autoscaling/kubernetes-service-load-balancer/</a:t>
            </a:r>
            <a:r>
              <a:rPr lang="en-US" sz="1600" dirty="0">
                <a:solidFill>
                  <a:srgbClr val="161A1D"/>
                </a:solidFill>
                <a:highlight>
                  <a:srgbClr val="FFFFFF"/>
                </a:highlight>
                <a:latin typeface="-apple-system"/>
              </a:rPr>
              <a:t> </a:t>
            </a:r>
            <a:endParaRPr lang="en-IN" sz="1600" i="0" dirty="0">
              <a:solidFill>
                <a:srgbClr val="161A1D"/>
              </a:solidFill>
              <a:effectLst/>
              <a:highlight>
                <a:srgbClr val="FFFFFF"/>
              </a:highlight>
              <a:latin typeface="-apple-system"/>
            </a:endParaRPr>
          </a:p>
          <a:p>
            <a:endParaRPr lang="en-IN" dirty="0"/>
          </a:p>
        </p:txBody>
      </p:sp>
    </p:spTree>
    <p:extLst>
      <p:ext uri="{BB962C8B-B14F-4D97-AF65-F5344CB8AC3E}">
        <p14:creationId xmlns:p14="http://schemas.microsoft.com/office/powerpoint/2010/main" val="374903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4D03-7213-5D4C-CE32-C2B40CA2E3D7}"/>
              </a:ext>
            </a:extLst>
          </p:cNvPr>
          <p:cNvSpPr>
            <a:spLocks noGrp="1"/>
          </p:cNvSpPr>
          <p:nvPr>
            <p:ph type="title"/>
          </p:nvPr>
        </p:nvSpPr>
        <p:spPr>
          <a:xfrm>
            <a:off x="555171" y="267155"/>
            <a:ext cx="10515600" cy="266246"/>
          </a:xfrm>
        </p:spPr>
        <p:txBody>
          <a:bodyPr>
            <a:normAutofit fontScale="90000"/>
          </a:bodyPr>
          <a:lstStyle/>
          <a:p>
            <a:r>
              <a:rPr lang="en-IN" dirty="0"/>
              <a:t>Load Balancing in Kubernetes - Ingress</a:t>
            </a:r>
          </a:p>
        </p:txBody>
      </p:sp>
      <p:pic>
        <p:nvPicPr>
          <p:cNvPr id="10" name="Picture 9">
            <a:extLst>
              <a:ext uri="{FF2B5EF4-FFF2-40B4-BE49-F238E27FC236}">
                <a16:creationId xmlns:a16="http://schemas.microsoft.com/office/drawing/2014/main" id="{A450D115-56A6-0685-6C3B-A909ED89B791}"/>
              </a:ext>
            </a:extLst>
          </p:cNvPr>
          <p:cNvPicPr>
            <a:picLocks noChangeAspect="1"/>
          </p:cNvPicPr>
          <p:nvPr/>
        </p:nvPicPr>
        <p:blipFill>
          <a:blip r:embed="rId3"/>
          <a:stretch>
            <a:fillRect/>
          </a:stretch>
        </p:blipFill>
        <p:spPr>
          <a:xfrm>
            <a:off x="6431369" y="632335"/>
            <a:ext cx="5096602" cy="2142765"/>
          </a:xfrm>
          <a:prstGeom prst="rect">
            <a:avLst/>
          </a:prstGeom>
        </p:spPr>
      </p:pic>
      <p:sp>
        <p:nvSpPr>
          <p:cNvPr id="3" name="TextBox 2">
            <a:extLst>
              <a:ext uri="{FF2B5EF4-FFF2-40B4-BE49-F238E27FC236}">
                <a16:creationId xmlns:a16="http://schemas.microsoft.com/office/drawing/2014/main" id="{940020A8-BA1C-A562-85EB-87F5465BAADE}"/>
              </a:ext>
            </a:extLst>
          </p:cNvPr>
          <p:cNvSpPr txBox="1"/>
          <p:nvPr/>
        </p:nvSpPr>
        <p:spPr>
          <a:xfrm>
            <a:off x="478971" y="835423"/>
            <a:ext cx="4961798" cy="6001643"/>
          </a:xfrm>
          <a:prstGeom prst="rect">
            <a:avLst/>
          </a:prstGeom>
          <a:noFill/>
        </p:spPr>
        <p:txBody>
          <a:bodyPr wrap="square" rtlCol="0">
            <a:spAutoFit/>
          </a:bodyPr>
          <a:lstStyle/>
          <a:p>
            <a:r>
              <a:rPr lang="en-US" sz="1600" dirty="0"/>
              <a:t>We saw that the LoadBalancer service type creates an Application/Network Load Balancer for each service. It is fine as long as we have few services to expose. However, it could be expensive as well as hard to manage multiple services. Also, the </a:t>
            </a:r>
            <a:r>
              <a:rPr lang="en-US" sz="1600" b="1" dirty="0"/>
              <a:t>LoadBalancer type doesn’t support URL routing, SSL termination, etc</a:t>
            </a:r>
            <a:r>
              <a:rPr lang="en-US" sz="1600" dirty="0"/>
              <a:t>.</a:t>
            </a:r>
          </a:p>
          <a:p>
            <a:endParaRPr lang="en-US" sz="1600" dirty="0"/>
          </a:p>
          <a:p>
            <a:r>
              <a:rPr lang="en-US" sz="1600" dirty="0"/>
              <a:t>Consider </a:t>
            </a:r>
            <a:r>
              <a:rPr lang="en-US" sz="1600" b="1" dirty="0"/>
              <a:t>Ingress as an extension of the NodePort or LoadBalancer service type</a:t>
            </a:r>
            <a:r>
              <a:rPr lang="en-US" sz="1600" dirty="0"/>
              <a:t>. It sits between the external traffic and the Kubernetes Cluster, processing the traffic internally to determine which pods or services to forward. The main features of Ingress are </a:t>
            </a:r>
            <a:r>
              <a:rPr lang="en-US" sz="1600" b="1" dirty="0"/>
              <a:t>load balancing, name-based virtual hosting, URL routing, and SSL termination.</a:t>
            </a:r>
          </a:p>
          <a:p>
            <a:endParaRPr lang="en-US" sz="1600" b="1" dirty="0"/>
          </a:p>
          <a:p>
            <a:pPr algn="l" fontAlgn="base"/>
            <a:r>
              <a:rPr lang="en-US" sz="1600" b="0" i="0" dirty="0">
                <a:solidFill>
                  <a:srgbClr val="000000"/>
                </a:solidFill>
                <a:effectLst/>
                <a:highlight>
                  <a:srgbClr val="FFFFFF"/>
                </a:highlight>
                <a:latin typeface="-apple-system"/>
              </a:rPr>
              <a:t>For Ingress to work, the cluster needs an Ingress Controller. Some of the well-known Ingress Controllers are:</a:t>
            </a:r>
          </a:p>
          <a:p>
            <a:pPr algn="l" fontAlgn="base">
              <a:buFont typeface="Arial" panose="020B0604020202020204" pitchFamily="34" charset="0"/>
              <a:buChar char="•"/>
            </a:pPr>
            <a:r>
              <a:rPr lang="en-US" sz="1600" dirty="0">
                <a:solidFill>
                  <a:srgbClr val="000000"/>
                </a:solidFill>
                <a:highlight>
                  <a:srgbClr val="FFFFFF"/>
                </a:highlight>
                <a:latin typeface="-apple-system"/>
              </a:rPr>
              <a:t>AWS Load Balancer Controller: </a:t>
            </a:r>
            <a:r>
              <a:rPr lang="en-US" sz="1600" b="0" i="0" dirty="0">
                <a:solidFill>
                  <a:srgbClr val="16191F"/>
                </a:solidFill>
                <a:effectLst/>
                <a:highlight>
                  <a:srgbClr val="FFFFFF"/>
                </a:highlight>
                <a:latin typeface="Amazon Ember"/>
              </a:rPr>
              <a:t>manages AWS Elastic Load Balancers for a Kubernetes cluster. </a:t>
            </a:r>
            <a:r>
              <a:rPr lang="en-US" sz="1600" b="1" i="0" dirty="0">
                <a:solidFill>
                  <a:srgbClr val="16191F"/>
                </a:solidFill>
                <a:effectLst/>
                <a:highlight>
                  <a:srgbClr val="FFFFFF"/>
                </a:highlight>
                <a:latin typeface="Amazon Ember"/>
              </a:rPr>
              <a:t>The controller watches for Kubernetes </a:t>
            </a:r>
            <a:r>
              <a:rPr lang="en-US" sz="1600" b="1" i="0" dirty="0">
                <a:solidFill>
                  <a:srgbClr val="00B0F0"/>
                </a:solidFill>
                <a:effectLst/>
                <a:highlight>
                  <a:srgbClr val="FFFFFF"/>
                </a:highlight>
                <a:latin typeface="Amazon Ember"/>
              </a:rPr>
              <a:t>Ingress or Service </a:t>
            </a:r>
            <a:r>
              <a:rPr lang="en-US" sz="1600" b="1" i="0" dirty="0">
                <a:solidFill>
                  <a:srgbClr val="16191F"/>
                </a:solidFill>
                <a:effectLst/>
                <a:highlight>
                  <a:srgbClr val="FFFFFF"/>
                </a:highlight>
                <a:latin typeface="Amazon Ember"/>
              </a:rPr>
              <a:t>resources. In response, it creates the appropriate AWS Elastic Load Balancing resources.</a:t>
            </a:r>
            <a:endParaRPr lang="en-US" sz="1600" b="1" dirty="0">
              <a:solidFill>
                <a:srgbClr val="000000"/>
              </a:solidFill>
              <a:highlight>
                <a:srgbClr val="FFFFFF"/>
              </a:highlight>
              <a:latin typeface="-apple-system"/>
            </a:endParaRPr>
          </a:p>
          <a:p>
            <a:pPr algn="l" fontAlgn="base">
              <a:buFont typeface="Arial" panose="020B0604020202020204" pitchFamily="34" charset="0"/>
              <a:buChar char="•"/>
            </a:pPr>
            <a:r>
              <a:rPr lang="en-US" sz="1600" dirty="0">
                <a:solidFill>
                  <a:srgbClr val="000000"/>
                </a:solidFill>
                <a:highlight>
                  <a:srgbClr val="FFFFFF"/>
                </a:highlight>
                <a:latin typeface="-apple-system"/>
              </a:rPr>
              <a:t>Nginx Ingress Controller</a:t>
            </a:r>
          </a:p>
        </p:txBody>
      </p:sp>
      <p:sp>
        <p:nvSpPr>
          <p:cNvPr id="7" name="TextBox 6">
            <a:extLst>
              <a:ext uri="{FF2B5EF4-FFF2-40B4-BE49-F238E27FC236}">
                <a16:creationId xmlns:a16="http://schemas.microsoft.com/office/drawing/2014/main" id="{CD4F90EC-5876-2A3F-1B82-4081F030A97A}"/>
              </a:ext>
            </a:extLst>
          </p:cNvPr>
          <p:cNvSpPr txBox="1"/>
          <p:nvPr/>
        </p:nvSpPr>
        <p:spPr>
          <a:xfrm>
            <a:off x="3956829" y="6150428"/>
            <a:ext cx="9220200" cy="1200329"/>
          </a:xfrm>
          <a:prstGeom prst="rect">
            <a:avLst/>
          </a:prstGeom>
          <a:noFill/>
        </p:spPr>
        <p:txBody>
          <a:bodyPr wrap="square">
            <a:spAutoFit/>
          </a:bodyPr>
          <a:lstStyle/>
          <a:p>
            <a:r>
              <a:rPr lang="en-IN" dirty="0">
                <a:hlinkClick r:id="rId4"/>
              </a:rPr>
              <a:t>https://www.densify.com/kubernetes-autoscaling/kubernetes-service-load-balancer/</a:t>
            </a:r>
            <a:r>
              <a:rPr lang="en-IN" dirty="0"/>
              <a:t> </a:t>
            </a:r>
          </a:p>
          <a:p>
            <a:r>
              <a:rPr lang="en-IN" dirty="0">
                <a:hlinkClick r:id="rId5"/>
              </a:rPr>
              <a:t>https://docs.aws.amazon.com/eks/latest/userguide/aws-load-balancer-controller.html</a:t>
            </a:r>
            <a:r>
              <a:rPr lang="en-IN" dirty="0"/>
              <a:t> </a:t>
            </a:r>
          </a:p>
          <a:p>
            <a:endParaRPr lang="en-IN" dirty="0"/>
          </a:p>
          <a:p>
            <a:endParaRPr lang="en-IN" dirty="0"/>
          </a:p>
        </p:txBody>
      </p:sp>
      <p:pic>
        <p:nvPicPr>
          <p:cNvPr id="11" name="Picture 10">
            <a:extLst>
              <a:ext uri="{FF2B5EF4-FFF2-40B4-BE49-F238E27FC236}">
                <a16:creationId xmlns:a16="http://schemas.microsoft.com/office/drawing/2014/main" id="{83559278-9FCC-6AE5-B818-349B37D475B6}"/>
              </a:ext>
            </a:extLst>
          </p:cNvPr>
          <p:cNvPicPr>
            <a:picLocks noChangeAspect="1"/>
          </p:cNvPicPr>
          <p:nvPr/>
        </p:nvPicPr>
        <p:blipFill>
          <a:blip r:embed="rId6"/>
          <a:stretch>
            <a:fillRect/>
          </a:stretch>
        </p:blipFill>
        <p:spPr>
          <a:xfrm>
            <a:off x="7676518" y="3254744"/>
            <a:ext cx="3590196" cy="2750150"/>
          </a:xfrm>
          <a:prstGeom prst="rect">
            <a:avLst/>
          </a:prstGeom>
        </p:spPr>
      </p:pic>
      <p:sp>
        <p:nvSpPr>
          <p:cNvPr id="12" name="Arrow: Down 11">
            <a:extLst>
              <a:ext uri="{FF2B5EF4-FFF2-40B4-BE49-F238E27FC236}">
                <a16:creationId xmlns:a16="http://schemas.microsoft.com/office/drawing/2014/main" id="{B7958CF6-0556-2C82-46CD-63CEF2EA3F4D}"/>
              </a:ext>
            </a:extLst>
          </p:cNvPr>
          <p:cNvSpPr/>
          <p:nvPr/>
        </p:nvSpPr>
        <p:spPr>
          <a:xfrm>
            <a:off x="8044543" y="2873829"/>
            <a:ext cx="3102428" cy="38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On AWS</a:t>
            </a:r>
          </a:p>
        </p:txBody>
      </p:sp>
    </p:spTree>
    <p:extLst>
      <p:ext uri="{BB962C8B-B14F-4D97-AF65-F5344CB8AC3E}">
        <p14:creationId xmlns:p14="http://schemas.microsoft.com/office/powerpoint/2010/main" val="967746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E334-86D5-7017-5D44-1412DA2F7E90}"/>
              </a:ext>
            </a:extLst>
          </p:cNvPr>
          <p:cNvSpPr>
            <a:spLocks noGrp="1"/>
          </p:cNvSpPr>
          <p:nvPr>
            <p:ph type="title"/>
          </p:nvPr>
        </p:nvSpPr>
        <p:spPr>
          <a:xfrm>
            <a:off x="838200" y="365126"/>
            <a:ext cx="10515600" cy="494846"/>
          </a:xfrm>
        </p:spPr>
        <p:txBody>
          <a:bodyPr>
            <a:normAutofit fontScale="90000"/>
          </a:bodyPr>
          <a:lstStyle/>
          <a:p>
            <a:r>
              <a:rPr lang="en-IN" dirty="0"/>
              <a:t>References</a:t>
            </a:r>
          </a:p>
        </p:txBody>
      </p:sp>
      <p:sp>
        <p:nvSpPr>
          <p:cNvPr id="3" name="TextBox 2">
            <a:extLst>
              <a:ext uri="{FF2B5EF4-FFF2-40B4-BE49-F238E27FC236}">
                <a16:creationId xmlns:a16="http://schemas.microsoft.com/office/drawing/2014/main" id="{44D055A1-9090-2A3B-21A6-3B1B66B9552C}"/>
              </a:ext>
            </a:extLst>
          </p:cNvPr>
          <p:cNvSpPr txBox="1"/>
          <p:nvPr/>
        </p:nvSpPr>
        <p:spPr>
          <a:xfrm>
            <a:off x="1328057" y="1119110"/>
            <a:ext cx="10025743" cy="5632311"/>
          </a:xfrm>
          <a:prstGeom prst="rect">
            <a:avLst/>
          </a:prstGeom>
          <a:noFill/>
        </p:spPr>
        <p:txBody>
          <a:bodyPr wrap="square" rtlCol="0">
            <a:spAutoFit/>
          </a:bodyPr>
          <a:lstStyle/>
          <a:p>
            <a:r>
              <a:rPr lang="en-IN" dirty="0">
                <a:hlinkClick r:id="rId2"/>
              </a:rPr>
              <a:t>https://www.youtube.com/watch?v=C2NLPQTvO9M</a:t>
            </a:r>
          </a:p>
          <a:p>
            <a:endParaRPr lang="en-IN" dirty="0">
              <a:hlinkClick r:id="rId2"/>
            </a:endParaRPr>
          </a:p>
          <a:p>
            <a:r>
              <a:rPr lang="en-IN" dirty="0">
                <a:hlinkClick r:id="rId2"/>
              </a:rPr>
              <a:t>https://aws.amazon.com/what-is/load-balancing/</a:t>
            </a:r>
            <a:endParaRPr lang="en-IN" dirty="0"/>
          </a:p>
          <a:p>
            <a:endParaRPr lang="en-IN" dirty="0"/>
          </a:p>
          <a:p>
            <a:r>
              <a:rPr lang="en-IN" dirty="0">
                <a:hlinkClick r:id="rId3"/>
              </a:rPr>
              <a:t>https://aws.amazon.com/elasticloadbalancing/</a:t>
            </a:r>
            <a:r>
              <a:rPr lang="en-IN" dirty="0"/>
              <a:t> </a:t>
            </a:r>
          </a:p>
          <a:p>
            <a:endParaRPr lang="en-IN" dirty="0"/>
          </a:p>
          <a:p>
            <a:r>
              <a:rPr lang="en-IN" dirty="0">
                <a:hlinkClick r:id="rId4"/>
              </a:rPr>
              <a:t>https://cloud.google.com/load-balancing/docs/load-balancing-overview</a:t>
            </a:r>
            <a:r>
              <a:rPr lang="en-IN" dirty="0"/>
              <a:t> </a:t>
            </a:r>
          </a:p>
          <a:p>
            <a:endParaRPr lang="en-IN" dirty="0"/>
          </a:p>
          <a:p>
            <a:r>
              <a:rPr lang="en-IN" dirty="0">
                <a:hlinkClick r:id="rId5"/>
              </a:rPr>
              <a:t>https://www.redhat.com/en/blog/global-load-balancer-approaches</a:t>
            </a:r>
            <a:r>
              <a:rPr lang="en-IN" dirty="0"/>
              <a:t> (great article)</a:t>
            </a:r>
          </a:p>
          <a:p>
            <a:endParaRPr lang="en-IN" dirty="0"/>
          </a:p>
          <a:p>
            <a:r>
              <a:rPr lang="en-IN" dirty="0">
                <a:hlinkClick r:id="rId6"/>
              </a:rPr>
              <a:t>https://render.com/blog/how-to-build-an-anycast-network</a:t>
            </a:r>
            <a:r>
              <a:rPr lang="en-IN" dirty="0"/>
              <a:t> </a:t>
            </a:r>
          </a:p>
          <a:p>
            <a:endParaRPr lang="en-IN" dirty="0"/>
          </a:p>
          <a:p>
            <a:r>
              <a:rPr lang="en-IN" dirty="0">
                <a:hlinkClick r:id="rId7"/>
              </a:rPr>
              <a:t>https://labs.ripe.net/author/samir_jafferali/build-your-own-anycast-network-in-nine-steps/</a:t>
            </a:r>
            <a:r>
              <a:rPr lang="en-IN" dirty="0"/>
              <a:t> </a:t>
            </a:r>
          </a:p>
          <a:p>
            <a:endParaRPr lang="en-IN" dirty="0"/>
          </a:p>
          <a:p>
            <a:r>
              <a:rPr lang="en-IN" dirty="0">
                <a:hlinkClick r:id="rId8"/>
              </a:rPr>
              <a:t>https://www.densify.com/kubernetes-autoscaling/kubernetes-service-load-balancer/</a:t>
            </a:r>
            <a:r>
              <a:rPr lang="en-IN" dirty="0"/>
              <a:t> </a:t>
            </a:r>
          </a:p>
          <a:p>
            <a:endParaRPr lang="en-IN" dirty="0"/>
          </a:p>
          <a:p>
            <a:r>
              <a:rPr lang="en-IN" dirty="0">
                <a:hlinkClick r:id="rId9"/>
              </a:rPr>
              <a:t>https://docs.aws.amazon.com/eks/latest/userguide/aws-load-balancer-controller.html</a:t>
            </a:r>
            <a:r>
              <a:rPr lang="en-IN" dirty="0"/>
              <a:t> </a:t>
            </a:r>
          </a:p>
          <a:p>
            <a:endParaRPr lang="en-IN" dirty="0"/>
          </a:p>
          <a:p>
            <a:endParaRPr lang="en-IN" dirty="0"/>
          </a:p>
          <a:p>
            <a:endParaRPr lang="en-IN" dirty="0"/>
          </a:p>
        </p:txBody>
      </p:sp>
    </p:spTree>
    <p:extLst>
      <p:ext uri="{BB962C8B-B14F-4D97-AF65-F5344CB8AC3E}">
        <p14:creationId xmlns:p14="http://schemas.microsoft.com/office/powerpoint/2010/main" val="147874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1727</Words>
  <Application>Microsoft Office PowerPoint</Application>
  <PresentationFormat>Widescreen</PresentationFormat>
  <Paragraphs>118</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__PPNeueMontreal_82363e</vt:lpstr>
      <vt:lpstr>Amazon Ember</vt:lpstr>
      <vt:lpstr>AmazonEmber</vt:lpstr>
      <vt:lpstr>-apple-system</vt:lpstr>
      <vt:lpstr>Arial</vt:lpstr>
      <vt:lpstr>Calibri</vt:lpstr>
      <vt:lpstr>Calibri Light</vt:lpstr>
      <vt:lpstr>Red Hat Text</vt:lpstr>
      <vt:lpstr>Office Theme</vt:lpstr>
      <vt:lpstr>Load Balancer</vt:lpstr>
      <vt:lpstr>External vs Internal Load Balancer</vt:lpstr>
      <vt:lpstr>Types of Load Balancers</vt:lpstr>
      <vt:lpstr>AWS Elastic Load Balancer</vt:lpstr>
      <vt:lpstr>AWS Application Load Balancer</vt:lpstr>
      <vt:lpstr>AWS Network Load Balancer</vt:lpstr>
      <vt:lpstr>AWS Gateway Load Balancer</vt:lpstr>
      <vt:lpstr>Azure load-balancing services</vt:lpstr>
      <vt:lpstr>Google Cloud Load Balancer</vt:lpstr>
      <vt:lpstr>A brief overview of the internet</vt:lpstr>
      <vt:lpstr>What is Anycast?</vt:lpstr>
      <vt:lpstr>https://render.com/ </vt:lpstr>
      <vt:lpstr>Load Balancing in Kubernetes - Service</vt:lpstr>
      <vt:lpstr>Load Balancing in Kubernetes - Ingress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Urmisha Sengupta</dc:creator>
  <cp:lastModifiedBy>Urmisha Sengupta</cp:lastModifiedBy>
  <cp:revision>94</cp:revision>
  <dcterms:created xsi:type="dcterms:W3CDTF">2024-07-17T10:52:19Z</dcterms:created>
  <dcterms:modified xsi:type="dcterms:W3CDTF">2024-07-17T18:30:26Z</dcterms:modified>
</cp:coreProperties>
</file>