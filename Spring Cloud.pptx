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95" r:id="rId3"/>
    <p:sldId id="296" r:id="rId4"/>
    <p:sldId id="297" r:id="rId5"/>
    <p:sldId id="298" r:id="rId6"/>
    <p:sldId id="299" r:id="rId7"/>
    <p:sldId id="300" r:id="rId8"/>
    <p:sldId id="301" r:id="rId9"/>
    <p:sldId id="302" r:id="rId10"/>
    <p:sldId id="303" r:id="rId11"/>
    <p:sldId id="304" r:id="rId12"/>
    <p:sldId id="25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260"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541902-BFF0-46E2-AC06-8FEAF6928EEF}" type="datetimeFigureOut">
              <a:rPr lang="en-IN" smtClean="0"/>
              <a:t>06-11-2023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9DA932-A2F7-4B16-BDAB-6AED8A1D7830}" type="slidenum">
              <a:rPr lang="en-IN" smtClean="0"/>
              <a:t>‹#›</a:t>
            </a:fld>
            <a:endParaRPr lang="en-IN"/>
          </a:p>
        </p:txBody>
      </p:sp>
    </p:spTree>
    <p:extLst>
      <p:ext uri="{BB962C8B-B14F-4D97-AF65-F5344CB8AC3E}">
        <p14:creationId xmlns:p14="http://schemas.microsoft.com/office/powerpoint/2010/main" val="1548350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03A62-896E-3255-5F60-D0A2A3CF82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FB23A6E-2F3B-4F83-D379-35526D8050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DAD9A99-CAA0-3FD0-C25E-1499EE0FC9EF}"/>
              </a:ext>
            </a:extLst>
          </p:cNvPr>
          <p:cNvSpPr>
            <a:spLocks noGrp="1"/>
          </p:cNvSpPr>
          <p:nvPr>
            <p:ph type="dt" sz="half" idx="10"/>
          </p:nvPr>
        </p:nvSpPr>
        <p:spPr/>
        <p:txBody>
          <a:bodyPr/>
          <a:lstStyle/>
          <a:p>
            <a:fld id="{B88FA373-DD6B-401D-BAB9-30752DF739B7}" type="datetimeFigureOut">
              <a:rPr lang="en-IN" smtClean="0"/>
              <a:t>06-11-2023</a:t>
            </a:fld>
            <a:endParaRPr lang="en-IN"/>
          </a:p>
        </p:txBody>
      </p:sp>
      <p:sp>
        <p:nvSpPr>
          <p:cNvPr id="5" name="Footer Placeholder 4">
            <a:extLst>
              <a:ext uri="{FF2B5EF4-FFF2-40B4-BE49-F238E27FC236}">
                <a16:creationId xmlns:a16="http://schemas.microsoft.com/office/drawing/2014/main" id="{0CCD01E6-4A25-05BC-987D-176E1560EB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55FE50-0A65-9E0F-689A-FBD5DFFB8EDC}"/>
              </a:ext>
            </a:extLst>
          </p:cNvPr>
          <p:cNvSpPr>
            <a:spLocks noGrp="1"/>
          </p:cNvSpPr>
          <p:nvPr>
            <p:ph type="sldNum" sz="quarter" idx="12"/>
          </p:nvPr>
        </p:nvSpPr>
        <p:spPr/>
        <p:txBody>
          <a:bodyPr/>
          <a:lstStyle/>
          <a:p>
            <a:fld id="{24FDD537-D950-4C0E-9214-95D45B3E1083}" type="slidenum">
              <a:rPr lang="en-IN" smtClean="0"/>
              <a:t>‹#›</a:t>
            </a:fld>
            <a:endParaRPr lang="en-IN"/>
          </a:p>
        </p:txBody>
      </p:sp>
    </p:spTree>
    <p:extLst>
      <p:ext uri="{BB962C8B-B14F-4D97-AF65-F5344CB8AC3E}">
        <p14:creationId xmlns:p14="http://schemas.microsoft.com/office/powerpoint/2010/main" val="1683940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F2C25-B3E6-620E-CED3-CF18A82ACB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5BA7DE-DEFF-FB28-C4F3-959579012E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C2DAEC-E458-B276-0EC8-5E863ADA0979}"/>
              </a:ext>
            </a:extLst>
          </p:cNvPr>
          <p:cNvSpPr>
            <a:spLocks noGrp="1"/>
          </p:cNvSpPr>
          <p:nvPr>
            <p:ph type="dt" sz="half" idx="10"/>
          </p:nvPr>
        </p:nvSpPr>
        <p:spPr/>
        <p:txBody>
          <a:bodyPr/>
          <a:lstStyle/>
          <a:p>
            <a:fld id="{B88FA373-DD6B-401D-BAB9-30752DF739B7}" type="datetimeFigureOut">
              <a:rPr lang="en-IN" smtClean="0"/>
              <a:t>06-11-2023</a:t>
            </a:fld>
            <a:endParaRPr lang="en-IN"/>
          </a:p>
        </p:txBody>
      </p:sp>
      <p:sp>
        <p:nvSpPr>
          <p:cNvPr id="5" name="Footer Placeholder 4">
            <a:extLst>
              <a:ext uri="{FF2B5EF4-FFF2-40B4-BE49-F238E27FC236}">
                <a16:creationId xmlns:a16="http://schemas.microsoft.com/office/drawing/2014/main" id="{44482E06-851B-FF69-E252-97EBBD7DA3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321F2F-78E0-8FB0-0E43-11D4A4F3B8F9}"/>
              </a:ext>
            </a:extLst>
          </p:cNvPr>
          <p:cNvSpPr>
            <a:spLocks noGrp="1"/>
          </p:cNvSpPr>
          <p:nvPr>
            <p:ph type="sldNum" sz="quarter" idx="12"/>
          </p:nvPr>
        </p:nvSpPr>
        <p:spPr/>
        <p:txBody>
          <a:bodyPr/>
          <a:lstStyle/>
          <a:p>
            <a:fld id="{24FDD537-D950-4C0E-9214-95D45B3E1083}" type="slidenum">
              <a:rPr lang="en-IN" smtClean="0"/>
              <a:t>‹#›</a:t>
            </a:fld>
            <a:endParaRPr lang="en-IN"/>
          </a:p>
        </p:txBody>
      </p:sp>
    </p:spTree>
    <p:extLst>
      <p:ext uri="{BB962C8B-B14F-4D97-AF65-F5344CB8AC3E}">
        <p14:creationId xmlns:p14="http://schemas.microsoft.com/office/powerpoint/2010/main" val="1320178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7D950-7A03-98C7-3906-E31F87D4D0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AFA284-FEF0-7D41-3357-DA91EE1447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AC84EF-1BE5-8409-935F-9BBB161D38E7}"/>
              </a:ext>
            </a:extLst>
          </p:cNvPr>
          <p:cNvSpPr>
            <a:spLocks noGrp="1"/>
          </p:cNvSpPr>
          <p:nvPr>
            <p:ph type="dt" sz="half" idx="10"/>
          </p:nvPr>
        </p:nvSpPr>
        <p:spPr/>
        <p:txBody>
          <a:bodyPr/>
          <a:lstStyle/>
          <a:p>
            <a:fld id="{B88FA373-DD6B-401D-BAB9-30752DF739B7}" type="datetimeFigureOut">
              <a:rPr lang="en-IN" smtClean="0"/>
              <a:t>06-11-2023</a:t>
            </a:fld>
            <a:endParaRPr lang="en-IN"/>
          </a:p>
        </p:txBody>
      </p:sp>
      <p:sp>
        <p:nvSpPr>
          <p:cNvPr id="5" name="Footer Placeholder 4">
            <a:extLst>
              <a:ext uri="{FF2B5EF4-FFF2-40B4-BE49-F238E27FC236}">
                <a16:creationId xmlns:a16="http://schemas.microsoft.com/office/drawing/2014/main" id="{D7DF234A-EA43-16FC-7735-039AFA9011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7D298C-6C9F-9F39-59A6-FD162247B467}"/>
              </a:ext>
            </a:extLst>
          </p:cNvPr>
          <p:cNvSpPr>
            <a:spLocks noGrp="1"/>
          </p:cNvSpPr>
          <p:nvPr>
            <p:ph type="sldNum" sz="quarter" idx="12"/>
          </p:nvPr>
        </p:nvSpPr>
        <p:spPr/>
        <p:txBody>
          <a:bodyPr/>
          <a:lstStyle/>
          <a:p>
            <a:fld id="{24FDD537-D950-4C0E-9214-95D45B3E1083}" type="slidenum">
              <a:rPr lang="en-IN" smtClean="0"/>
              <a:t>‹#›</a:t>
            </a:fld>
            <a:endParaRPr lang="en-IN"/>
          </a:p>
        </p:txBody>
      </p:sp>
    </p:spTree>
    <p:extLst>
      <p:ext uri="{BB962C8B-B14F-4D97-AF65-F5344CB8AC3E}">
        <p14:creationId xmlns:p14="http://schemas.microsoft.com/office/powerpoint/2010/main" val="384939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A71C6-D10C-9DCB-7C6E-F11FF888F7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BAC4EE-A6E2-EF7A-9918-0509128E88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2AB5ABE-C616-EAE5-8E20-F9D3127302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C22343-4890-9B4C-F485-72F8BBFAD774}"/>
              </a:ext>
            </a:extLst>
          </p:cNvPr>
          <p:cNvSpPr>
            <a:spLocks noGrp="1"/>
          </p:cNvSpPr>
          <p:nvPr>
            <p:ph type="dt" sz="half" idx="10"/>
          </p:nvPr>
        </p:nvSpPr>
        <p:spPr/>
        <p:txBody>
          <a:bodyPr/>
          <a:lstStyle/>
          <a:p>
            <a:fld id="{B88FA373-DD6B-401D-BAB9-30752DF739B7}" type="datetimeFigureOut">
              <a:rPr lang="en-IN" smtClean="0"/>
              <a:t>06-11-2023</a:t>
            </a:fld>
            <a:endParaRPr lang="en-IN"/>
          </a:p>
        </p:txBody>
      </p:sp>
      <p:sp>
        <p:nvSpPr>
          <p:cNvPr id="6" name="Footer Placeholder 5">
            <a:extLst>
              <a:ext uri="{FF2B5EF4-FFF2-40B4-BE49-F238E27FC236}">
                <a16:creationId xmlns:a16="http://schemas.microsoft.com/office/drawing/2014/main" id="{92883427-A0F9-F590-4144-0DE9EC9AA8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5E6134-58CA-5995-7231-3CB42AEEC790}"/>
              </a:ext>
            </a:extLst>
          </p:cNvPr>
          <p:cNvSpPr>
            <a:spLocks noGrp="1"/>
          </p:cNvSpPr>
          <p:nvPr>
            <p:ph type="sldNum" sz="quarter" idx="12"/>
          </p:nvPr>
        </p:nvSpPr>
        <p:spPr/>
        <p:txBody>
          <a:bodyPr/>
          <a:lstStyle/>
          <a:p>
            <a:fld id="{24FDD537-D950-4C0E-9214-95D45B3E1083}" type="slidenum">
              <a:rPr lang="en-IN" smtClean="0"/>
              <a:t>‹#›</a:t>
            </a:fld>
            <a:endParaRPr lang="en-IN"/>
          </a:p>
        </p:txBody>
      </p:sp>
    </p:spTree>
    <p:extLst>
      <p:ext uri="{BB962C8B-B14F-4D97-AF65-F5344CB8AC3E}">
        <p14:creationId xmlns:p14="http://schemas.microsoft.com/office/powerpoint/2010/main" val="2507665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9C9A1-F669-BB75-6CC4-AF59CE1505A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D2718C-33DE-E812-EF36-DC88A4EB47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FBC2CD-77EE-D625-4CDA-23DDDC105F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FC74FCE-514E-62D9-240D-E2A4211EB4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7F369C-E073-7724-C75D-749D4BD5D5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675E519-A63D-BD07-659A-89BBB3D58716}"/>
              </a:ext>
            </a:extLst>
          </p:cNvPr>
          <p:cNvSpPr>
            <a:spLocks noGrp="1"/>
          </p:cNvSpPr>
          <p:nvPr>
            <p:ph type="dt" sz="half" idx="10"/>
          </p:nvPr>
        </p:nvSpPr>
        <p:spPr/>
        <p:txBody>
          <a:bodyPr/>
          <a:lstStyle/>
          <a:p>
            <a:fld id="{B88FA373-DD6B-401D-BAB9-30752DF739B7}" type="datetimeFigureOut">
              <a:rPr lang="en-IN" smtClean="0"/>
              <a:t>06-11-2023</a:t>
            </a:fld>
            <a:endParaRPr lang="en-IN"/>
          </a:p>
        </p:txBody>
      </p:sp>
      <p:sp>
        <p:nvSpPr>
          <p:cNvPr id="8" name="Footer Placeholder 7">
            <a:extLst>
              <a:ext uri="{FF2B5EF4-FFF2-40B4-BE49-F238E27FC236}">
                <a16:creationId xmlns:a16="http://schemas.microsoft.com/office/drawing/2014/main" id="{40FCEFCE-6A38-E1AA-10F1-674DAE9ECD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59336D0-3A43-0E64-D82C-97171FE4FC1E}"/>
              </a:ext>
            </a:extLst>
          </p:cNvPr>
          <p:cNvSpPr>
            <a:spLocks noGrp="1"/>
          </p:cNvSpPr>
          <p:nvPr>
            <p:ph type="sldNum" sz="quarter" idx="12"/>
          </p:nvPr>
        </p:nvSpPr>
        <p:spPr/>
        <p:txBody>
          <a:bodyPr/>
          <a:lstStyle/>
          <a:p>
            <a:fld id="{24FDD537-D950-4C0E-9214-95D45B3E1083}" type="slidenum">
              <a:rPr lang="en-IN" smtClean="0"/>
              <a:t>‹#›</a:t>
            </a:fld>
            <a:endParaRPr lang="en-IN"/>
          </a:p>
        </p:txBody>
      </p:sp>
    </p:spTree>
    <p:extLst>
      <p:ext uri="{BB962C8B-B14F-4D97-AF65-F5344CB8AC3E}">
        <p14:creationId xmlns:p14="http://schemas.microsoft.com/office/powerpoint/2010/main" val="1387843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4846C-3E94-E30E-49FD-4C37A97CA00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BCDC7CE-12FD-6F65-9464-8519C2596956}"/>
              </a:ext>
            </a:extLst>
          </p:cNvPr>
          <p:cNvSpPr>
            <a:spLocks noGrp="1"/>
          </p:cNvSpPr>
          <p:nvPr>
            <p:ph type="dt" sz="half" idx="10"/>
          </p:nvPr>
        </p:nvSpPr>
        <p:spPr/>
        <p:txBody>
          <a:bodyPr/>
          <a:lstStyle/>
          <a:p>
            <a:fld id="{B88FA373-DD6B-401D-BAB9-30752DF739B7}" type="datetimeFigureOut">
              <a:rPr lang="en-IN" smtClean="0"/>
              <a:t>06-11-2023</a:t>
            </a:fld>
            <a:endParaRPr lang="en-IN"/>
          </a:p>
        </p:txBody>
      </p:sp>
      <p:sp>
        <p:nvSpPr>
          <p:cNvPr id="4" name="Footer Placeholder 3">
            <a:extLst>
              <a:ext uri="{FF2B5EF4-FFF2-40B4-BE49-F238E27FC236}">
                <a16:creationId xmlns:a16="http://schemas.microsoft.com/office/drawing/2014/main" id="{E42FE0C6-B2DD-BBCF-BFA6-962809E9DB0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A49B676-1EB7-8A2F-05CE-ACE696461477}"/>
              </a:ext>
            </a:extLst>
          </p:cNvPr>
          <p:cNvSpPr>
            <a:spLocks noGrp="1"/>
          </p:cNvSpPr>
          <p:nvPr>
            <p:ph type="sldNum" sz="quarter" idx="12"/>
          </p:nvPr>
        </p:nvSpPr>
        <p:spPr/>
        <p:txBody>
          <a:bodyPr/>
          <a:lstStyle/>
          <a:p>
            <a:fld id="{24FDD537-D950-4C0E-9214-95D45B3E1083}" type="slidenum">
              <a:rPr lang="en-IN" smtClean="0"/>
              <a:t>‹#›</a:t>
            </a:fld>
            <a:endParaRPr lang="en-IN"/>
          </a:p>
        </p:txBody>
      </p:sp>
    </p:spTree>
    <p:extLst>
      <p:ext uri="{BB962C8B-B14F-4D97-AF65-F5344CB8AC3E}">
        <p14:creationId xmlns:p14="http://schemas.microsoft.com/office/powerpoint/2010/main" val="992917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FC53EB-1915-B164-9C19-A7B9EC311ACA}"/>
              </a:ext>
            </a:extLst>
          </p:cNvPr>
          <p:cNvSpPr>
            <a:spLocks noGrp="1"/>
          </p:cNvSpPr>
          <p:nvPr>
            <p:ph type="dt" sz="half" idx="10"/>
          </p:nvPr>
        </p:nvSpPr>
        <p:spPr/>
        <p:txBody>
          <a:bodyPr/>
          <a:lstStyle/>
          <a:p>
            <a:fld id="{B88FA373-DD6B-401D-BAB9-30752DF739B7}" type="datetimeFigureOut">
              <a:rPr lang="en-IN" smtClean="0"/>
              <a:t>06-11-2023</a:t>
            </a:fld>
            <a:endParaRPr lang="en-IN"/>
          </a:p>
        </p:txBody>
      </p:sp>
      <p:sp>
        <p:nvSpPr>
          <p:cNvPr id="3" name="Footer Placeholder 2">
            <a:extLst>
              <a:ext uri="{FF2B5EF4-FFF2-40B4-BE49-F238E27FC236}">
                <a16:creationId xmlns:a16="http://schemas.microsoft.com/office/drawing/2014/main" id="{7D3B2CFF-C029-471E-29B5-80294FE3A6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3DC4E53-D26F-F998-02AC-4DD0A32E8948}"/>
              </a:ext>
            </a:extLst>
          </p:cNvPr>
          <p:cNvSpPr>
            <a:spLocks noGrp="1"/>
          </p:cNvSpPr>
          <p:nvPr>
            <p:ph type="sldNum" sz="quarter" idx="12"/>
          </p:nvPr>
        </p:nvSpPr>
        <p:spPr/>
        <p:txBody>
          <a:bodyPr/>
          <a:lstStyle/>
          <a:p>
            <a:fld id="{24FDD537-D950-4C0E-9214-95D45B3E1083}" type="slidenum">
              <a:rPr lang="en-IN" smtClean="0"/>
              <a:t>‹#›</a:t>
            </a:fld>
            <a:endParaRPr lang="en-IN"/>
          </a:p>
        </p:txBody>
      </p:sp>
    </p:spTree>
    <p:extLst>
      <p:ext uri="{BB962C8B-B14F-4D97-AF65-F5344CB8AC3E}">
        <p14:creationId xmlns:p14="http://schemas.microsoft.com/office/powerpoint/2010/main" val="3643769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4BFF0-E1A9-DC8A-040E-7F941838C3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CB1616-1F90-DA3E-E72B-EF42BC4AD8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C05821B-8B54-336F-C2C1-344616F112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73A42B-8228-2656-AD0E-EFFF6C4B80DF}"/>
              </a:ext>
            </a:extLst>
          </p:cNvPr>
          <p:cNvSpPr>
            <a:spLocks noGrp="1"/>
          </p:cNvSpPr>
          <p:nvPr>
            <p:ph type="dt" sz="half" idx="10"/>
          </p:nvPr>
        </p:nvSpPr>
        <p:spPr/>
        <p:txBody>
          <a:bodyPr/>
          <a:lstStyle/>
          <a:p>
            <a:fld id="{B88FA373-DD6B-401D-BAB9-30752DF739B7}" type="datetimeFigureOut">
              <a:rPr lang="en-IN" smtClean="0"/>
              <a:t>06-11-2023</a:t>
            </a:fld>
            <a:endParaRPr lang="en-IN"/>
          </a:p>
        </p:txBody>
      </p:sp>
      <p:sp>
        <p:nvSpPr>
          <p:cNvPr id="6" name="Footer Placeholder 5">
            <a:extLst>
              <a:ext uri="{FF2B5EF4-FFF2-40B4-BE49-F238E27FC236}">
                <a16:creationId xmlns:a16="http://schemas.microsoft.com/office/drawing/2014/main" id="{B12E048C-178C-51C7-9EB1-E9C7BF2C0C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7AE8C3-C78D-5807-7FD6-0A678EE4A66E}"/>
              </a:ext>
            </a:extLst>
          </p:cNvPr>
          <p:cNvSpPr>
            <a:spLocks noGrp="1"/>
          </p:cNvSpPr>
          <p:nvPr>
            <p:ph type="sldNum" sz="quarter" idx="12"/>
          </p:nvPr>
        </p:nvSpPr>
        <p:spPr/>
        <p:txBody>
          <a:bodyPr/>
          <a:lstStyle/>
          <a:p>
            <a:fld id="{24FDD537-D950-4C0E-9214-95D45B3E1083}" type="slidenum">
              <a:rPr lang="en-IN" smtClean="0"/>
              <a:t>‹#›</a:t>
            </a:fld>
            <a:endParaRPr lang="en-IN"/>
          </a:p>
        </p:txBody>
      </p:sp>
    </p:spTree>
    <p:extLst>
      <p:ext uri="{BB962C8B-B14F-4D97-AF65-F5344CB8AC3E}">
        <p14:creationId xmlns:p14="http://schemas.microsoft.com/office/powerpoint/2010/main" val="4246143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B1543-FE47-ED5A-5680-9BEBA1B5A2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54FC49-0588-4AAF-798A-B3592B48AE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B04D22B-932D-6D17-379A-2C82878674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D60EF9-90FA-9D9D-7D3C-A9D3B3953ED7}"/>
              </a:ext>
            </a:extLst>
          </p:cNvPr>
          <p:cNvSpPr>
            <a:spLocks noGrp="1"/>
          </p:cNvSpPr>
          <p:nvPr>
            <p:ph type="dt" sz="half" idx="10"/>
          </p:nvPr>
        </p:nvSpPr>
        <p:spPr/>
        <p:txBody>
          <a:bodyPr/>
          <a:lstStyle/>
          <a:p>
            <a:fld id="{B88FA373-DD6B-401D-BAB9-30752DF739B7}" type="datetimeFigureOut">
              <a:rPr lang="en-IN" smtClean="0"/>
              <a:t>06-11-2023</a:t>
            </a:fld>
            <a:endParaRPr lang="en-IN"/>
          </a:p>
        </p:txBody>
      </p:sp>
      <p:sp>
        <p:nvSpPr>
          <p:cNvPr id="6" name="Footer Placeholder 5">
            <a:extLst>
              <a:ext uri="{FF2B5EF4-FFF2-40B4-BE49-F238E27FC236}">
                <a16:creationId xmlns:a16="http://schemas.microsoft.com/office/drawing/2014/main" id="{E94DCB02-870F-7686-5FA4-B3E2128014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13C05D-7C6F-9313-E4E4-71C756096E5C}"/>
              </a:ext>
            </a:extLst>
          </p:cNvPr>
          <p:cNvSpPr>
            <a:spLocks noGrp="1"/>
          </p:cNvSpPr>
          <p:nvPr>
            <p:ph type="sldNum" sz="quarter" idx="12"/>
          </p:nvPr>
        </p:nvSpPr>
        <p:spPr/>
        <p:txBody>
          <a:bodyPr/>
          <a:lstStyle/>
          <a:p>
            <a:fld id="{24FDD537-D950-4C0E-9214-95D45B3E1083}" type="slidenum">
              <a:rPr lang="en-IN" smtClean="0"/>
              <a:t>‹#›</a:t>
            </a:fld>
            <a:endParaRPr lang="en-IN"/>
          </a:p>
        </p:txBody>
      </p:sp>
    </p:spTree>
    <p:extLst>
      <p:ext uri="{BB962C8B-B14F-4D97-AF65-F5344CB8AC3E}">
        <p14:creationId xmlns:p14="http://schemas.microsoft.com/office/powerpoint/2010/main" val="505677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D199F-5EA5-FFDF-38C9-80778D1AFBD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DD94F3-EB9C-FE15-ED47-1876E0BDAB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01A18A-A1F2-09F3-DC5F-D49ED814DBF2}"/>
              </a:ext>
            </a:extLst>
          </p:cNvPr>
          <p:cNvSpPr>
            <a:spLocks noGrp="1"/>
          </p:cNvSpPr>
          <p:nvPr>
            <p:ph type="dt" sz="half" idx="10"/>
          </p:nvPr>
        </p:nvSpPr>
        <p:spPr/>
        <p:txBody>
          <a:bodyPr/>
          <a:lstStyle/>
          <a:p>
            <a:fld id="{B88FA373-DD6B-401D-BAB9-30752DF739B7}" type="datetimeFigureOut">
              <a:rPr lang="en-IN" smtClean="0"/>
              <a:t>06-11-2023</a:t>
            </a:fld>
            <a:endParaRPr lang="en-IN"/>
          </a:p>
        </p:txBody>
      </p:sp>
      <p:sp>
        <p:nvSpPr>
          <p:cNvPr id="5" name="Footer Placeholder 4">
            <a:extLst>
              <a:ext uri="{FF2B5EF4-FFF2-40B4-BE49-F238E27FC236}">
                <a16:creationId xmlns:a16="http://schemas.microsoft.com/office/drawing/2014/main" id="{6A6C9721-B8FA-467B-D481-7C550BF333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F0DA64-5FD5-26F9-4322-21BC7D4B2199}"/>
              </a:ext>
            </a:extLst>
          </p:cNvPr>
          <p:cNvSpPr>
            <a:spLocks noGrp="1"/>
          </p:cNvSpPr>
          <p:nvPr>
            <p:ph type="sldNum" sz="quarter" idx="12"/>
          </p:nvPr>
        </p:nvSpPr>
        <p:spPr/>
        <p:txBody>
          <a:bodyPr/>
          <a:lstStyle/>
          <a:p>
            <a:fld id="{24FDD537-D950-4C0E-9214-95D45B3E1083}" type="slidenum">
              <a:rPr lang="en-IN" smtClean="0"/>
              <a:t>‹#›</a:t>
            </a:fld>
            <a:endParaRPr lang="en-IN"/>
          </a:p>
        </p:txBody>
      </p:sp>
    </p:spTree>
    <p:extLst>
      <p:ext uri="{BB962C8B-B14F-4D97-AF65-F5344CB8AC3E}">
        <p14:creationId xmlns:p14="http://schemas.microsoft.com/office/powerpoint/2010/main" val="3017951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8C871A-9E34-ACE3-A9DF-72CCBC86DB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C046A5-FB12-FA5F-4B65-AEFECB9C09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BC095B-D908-27F5-A5BE-1D0709BAC171}"/>
              </a:ext>
            </a:extLst>
          </p:cNvPr>
          <p:cNvSpPr>
            <a:spLocks noGrp="1"/>
          </p:cNvSpPr>
          <p:nvPr>
            <p:ph type="dt" sz="half" idx="10"/>
          </p:nvPr>
        </p:nvSpPr>
        <p:spPr/>
        <p:txBody>
          <a:bodyPr/>
          <a:lstStyle/>
          <a:p>
            <a:fld id="{B88FA373-DD6B-401D-BAB9-30752DF739B7}" type="datetimeFigureOut">
              <a:rPr lang="en-IN" smtClean="0"/>
              <a:t>06-11-2023</a:t>
            </a:fld>
            <a:endParaRPr lang="en-IN"/>
          </a:p>
        </p:txBody>
      </p:sp>
      <p:sp>
        <p:nvSpPr>
          <p:cNvPr id="5" name="Footer Placeholder 4">
            <a:extLst>
              <a:ext uri="{FF2B5EF4-FFF2-40B4-BE49-F238E27FC236}">
                <a16:creationId xmlns:a16="http://schemas.microsoft.com/office/drawing/2014/main" id="{E726BEB0-1CF0-7222-332E-7D9C47F852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8E67B3-3B41-0E14-2E9C-80268A4C76BA}"/>
              </a:ext>
            </a:extLst>
          </p:cNvPr>
          <p:cNvSpPr>
            <a:spLocks noGrp="1"/>
          </p:cNvSpPr>
          <p:nvPr>
            <p:ph type="sldNum" sz="quarter" idx="12"/>
          </p:nvPr>
        </p:nvSpPr>
        <p:spPr/>
        <p:txBody>
          <a:bodyPr/>
          <a:lstStyle/>
          <a:p>
            <a:fld id="{24FDD537-D950-4C0E-9214-95D45B3E1083}" type="slidenum">
              <a:rPr lang="en-IN" smtClean="0"/>
              <a:t>‹#›</a:t>
            </a:fld>
            <a:endParaRPr lang="en-IN"/>
          </a:p>
        </p:txBody>
      </p:sp>
    </p:spTree>
    <p:extLst>
      <p:ext uri="{BB962C8B-B14F-4D97-AF65-F5344CB8AC3E}">
        <p14:creationId xmlns:p14="http://schemas.microsoft.com/office/powerpoint/2010/main" val="1635847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F45C29-9F66-9B75-4A59-B149417701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EFCE22-6E1C-2AE6-4B5C-B3E9255434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62140B-16B8-8052-6916-08887F9A43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8FA373-DD6B-401D-BAB9-30752DF739B7}" type="datetimeFigureOut">
              <a:rPr lang="en-IN" smtClean="0"/>
              <a:t>06-11-2023</a:t>
            </a:fld>
            <a:endParaRPr lang="en-IN"/>
          </a:p>
        </p:txBody>
      </p:sp>
      <p:sp>
        <p:nvSpPr>
          <p:cNvPr id="5" name="Footer Placeholder 4">
            <a:extLst>
              <a:ext uri="{FF2B5EF4-FFF2-40B4-BE49-F238E27FC236}">
                <a16:creationId xmlns:a16="http://schemas.microsoft.com/office/drawing/2014/main" id="{B8660F45-71E5-B5C6-BB1D-BA7F0A9E5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87AB5E0-6F7F-8E98-9490-50F3C94561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FDD537-D950-4C0E-9214-95D45B3E1083}" type="slidenum">
              <a:rPr lang="en-IN" smtClean="0"/>
              <a:t>‹#›</a:t>
            </a:fld>
            <a:endParaRPr lang="en-IN"/>
          </a:p>
        </p:txBody>
      </p:sp>
    </p:spTree>
    <p:extLst>
      <p:ext uri="{BB962C8B-B14F-4D97-AF65-F5344CB8AC3E}">
        <p14:creationId xmlns:p14="http://schemas.microsoft.com/office/powerpoint/2010/main" val="1974374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docs.spring.io/spring-batch/docs/current/reference/html/retry.html" TargetMode="External"/><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hyperlink" Target="https://www.baeldung.com/spring-cloud-load-balancer" TargetMode="External"/><Relationship Id="rId3" Type="http://schemas.openxmlformats.org/officeDocument/2006/relationships/hyperlink" Target="https://spring.io/projects/spring-cloud" TargetMode="External"/><Relationship Id="rId7" Type="http://schemas.openxmlformats.org/officeDocument/2006/relationships/hyperlink" Target="https://betterjavacode.com/programming/spring-retry-vs-resilience4j-retry" TargetMode="External"/><Relationship Id="rId2" Type="http://schemas.openxmlformats.org/officeDocument/2006/relationships/hyperlink" Target="https://www.slideshare.net/Pivotal/the-beginners-guide-to-spring-cloud" TargetMode="External"/><Relationship Id="rId1" Type="http://schemas.openxmlformats.org/officeDocument/2006/relationships/slideLayout" Target="../slideLayouts/slideLayout6.xml"/><Relationship Id="rId6" Type="http://schemas.openxmlformats.org/officeDocument/2006/relationships/hyperlink" Target="https://spring.io/projects/spring-cloud-circuitbreaker" TargetMode="External"/><Relationship Id="rId5" Type="http://schemas.openxmlformats.org/officeDocument/2006/relationships/hyperlink" Target="https://www.youtube.com/watch?v=Dd9-UxrNiD0" TargetMode="External"/><Relationship Id="rId10" Type="http://schemas.openxmlformats.org/officeDocument/2006/relationships/hyperlink" Target="https://www.youtube.com/watch?v=EKoq98KqvrI" TargetMode="External"/><Relationship Id="rId4" Type="http://schemas.openxmlformats.org/officeDocument/2006/relationships/hyperlink" Target="https://www.slideshare.net/Pivotal/introduction-to-spring-cloud" TargetMode="External"/><Relationship Id="rId9" Type="http://schemas.openxmlformats.org/officeDocument/2006/relationships/hyperlink" Target="https://www.youtube.com/watch?v=r9nLJwinIv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B7658-E015-FBDC-676B-0124326B05E1}"/>
              </a:ext>
            </a:extLst>
          </p:cNvPr>
          <p:cNvSpPr>
            <a:spLocks noGrp="1"/>
          </p:cNvSpPr>
          <p:nvPr>
            <p:ph type="ctrTitle"/>
          </p:nvPr>
        </p:nvSpPr>
        <p:spPr/>
        <p:txBody>
          <a:bodyPr/>
          <a:lstStyle/>
          <a:p>
            <a:r>
              <a:rPr lang="en-IN" dirty="0"/>
              <a:t>Spring Cloud</a:t>
            </a:r>
          </a:p>
        </p:txBody>
      </p:sp>
      <p:sp>
        <p:nvSpPr>
          <p:cNvPr id="3" name="Subtitle 2">
            <a:extLst>
              <a:ext uri="{FF2B5EF4-FFF2-40B4-BE49-F238E27FC236}">
                <a16:creationId xmlns:a16="http://schemas.microsoft.com/office/drawing/2014/main" id="{9D39081B-947B-17C8-5FF6-8A6DFAAA790A}"/>
              </a:ext>
            </a:extLst>
          </p:cNvPr>
          <p:cNvSpPr>
            <a:spLocks noGrp="1"/>
          </p:cNvSpPr>
          <p:nvPr>
            <p:ph type="subTitle" idx="1"/>
          </p:nvPr>
        </p:nvSpPr>
        <p:spPr/>
        <p:txBody>
          <a:bodyPr/>
          <a:lstStyle/>
          <a:p>
            <a:r>
              <a:rPr lang="en-IN" dirty="0"/>
              <a:t>Ayan Sengupta</a:t>
            </a:r>
          </a:p>
        </p:txBody>
      </p:sp>
    </p:spTree>
    <p:extLst>
      <p:ext uri="{BB962C8B-B14F-4D97-AF65-F5344CB8AC3E}">
        <p14:creationId xmlns:p14="http://schemas.microsoft.com/office/powerpoint/2010/main" val="2782414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1EDC9F-EE99-7723-86E1-A235A85F46C0}"/>
              </a:ext>
            </a:extLst>
          </p:cNvPr>
          <p:cNvSpPr txBox="1">
            <a:spLocks/>
          </p:cNvSpPr>
          <p:nvPr/>
        </p:nvSpPr>
        <p:spPr>
          <a:xfrm>
            <a:off x="680648" y="228047"/>
            <a:ext cx="10256061" cy="683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l-PL" dirty="0"/>
              <a:t>The Twelve-Factor App </a:t>
            </a:r>
            <a:r>
              <a:rPr lang="pl-PL" sz="1600" dirty="0"/>
              <a:t>(from 12factor.net)</a:t>
            </a:r>
            <a:endParaRPr lang="pl-PL" dirty="0"/>
          </a:p>
        </p:txBody>
      </p:sp>
      <p:sp>
        <p:nvSpPr>
          <p:cNvPr id="3" name="Text Placeholder 1">
            <a:extLst>
              <a:ext uri="{FF2B5EF4-FFF2-40B4-BE49-F238E27FC236}">
                <a16:creationId xmlns:a16="http://schemas.microsoft.com/office/drawing/2014/main" id="{84171FAF-008C-8055-9BEB-BE068B578F4A}"/>
              </a:ext>
            </a:extLst>
          </p:cNvPr>
          <p:cNvSpPr txBox="1">
            <a:spLocks/>
          </p:cNvSpPr>
          <p:nvPr/>
        </p:nvSpPr>
        <p:spPr>
          <a:xfrm>
            <a:off x="804102" y="1188359"/>
            <a:ext cx="4885200" cy="4824191"/>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l-PL" dirty="0"/>
              <a:t>Codebase </a:t>
            </a:r>
          </a:p>
          <a:p>
            <a:pPr lvl="1">
              <a:buSzPct val="75000"/>
              <a:buFont typeface="Lucida Grande"/>
              <a:buChar char="-"/>
            </a:pPr>
            <a:r>
              <a:rPr lang="en-US" sz="1600" dirty="0"/>
              <a:t>One codebase tracked in revision control, many deploys</a:t>
            </a:r>
            <a:endParaRPr lang="pl-PL" sz="1600" dirty="0"/>
          </a:p>
          <a:p>
            <a:r>
              <a:rPr lang="pl-PL" dirty="0"/>
              <a:t>Dependencies</a:t>
            </a:r>
          </a:p>
          <a:p>
            <a:pPr lvl="1">
              <a:buSzPct val="75000"/>
              <a:buFont typeface="Lucida Grande"/>
              <a:buChar char="-"/>
            </a:pPr>
            <a:r>
              <a:rPr lang="en-US" sz="1600" dirty="0"/>
              <a:t>Explicitly declare and isolate dependen</a:t>
            </a:r>
            <a:r>
              <a:rPr lang="pl-PL" sz="1600" dirty="0"/>
              <a:t>cies</a:t>
            </a:r>
          </a:p>
          <a:p>
            <a:r>
              <a:rPr lang="pl-PL" dirty="0"/>
              <a:t>Config</a:t>
            </a:r>
          </a:p>
          <a:p>
            <a:pPr lvl="1">
              <a:buSzPct val="75000"/>
              <a:buFont typeface="Lucida Grande"/>
              <a:buChar char="-"/>
            </a:pPr>
            <a:r>
              <a:rPr lang="en-US" sz="1600" dirty="0"/>
              <a:t>Store config in the environment</a:t>
            </a:r>
            <a:endParaRPr lang="pl-PL" sz="1600" dirty="0"/>
          </a:p>
          <a:p>
            <a:r>
              <a:rPr lang="pl-PL" dirty="0"/>
              <a:t>Backing services</a:t>
            </a:r>
          </a:p>
          <a:p>
            <a:pPr lvl="1">
              <a:buSzPct val="75000"/>
              <a:buFont typeface="Lucida Grande"/>
              <a:buChar char="-"/>
            </a:pPr>
            <a:r>
              <a:rPr lang="en-US" sz="1600" dirty="0"/>
              <a:t>Treat backing services as attached resources</a:t>
            </a:r>
            <a:endParaRPr lang="pl-PL" sz="1600" dirty="0"/>
          </a:p>
          <a:p>
            <a:r>
              <a:rPr lang="pl-PL" dirty="0"/>
              <a:t>Build, release, run</a:t>
            </a:r>
          </a:p>
          <a:p>
            <a:pPr lvl="1">
              <a:buSzPct val="75000"/>
              <a:buFont typeface="Lucida Grande"/>
              <a:buChar char="-"/>
            </a:pPr>
            <a:r>
              <a:rPr lang="en-US" sz="1600" dirty="0"/>
              <a:t>Strictly separate build and run stages</a:t>
            </a:r>
            <a:endParaRPr lang="pl-PL" sz="1600" dirty="0"/>
          </a:p>
          <a:p>
            <a:r>
              <a:rPr lang="pl-PL" dirty="0"/>
              <a:t>Processes</a:t>
            </a:r>
          </a:p>
          <a:p>
            <a:pPr lvl="1">
              <a:buSzPct val="75000"/>
              <a:buFont typeface="Lucida Grande"/>
              <a:buChar char="-"/>
            </a:pPr>
            <a:r>
              <a:rPr lang="en-US" sz="1600" dirty="0"/>
              <a:t>Execute the app as one or more stateless processes</a:t>
            </a:r>
            <a:endParaRPr lang="pl-PL" sz="1600" dirty="0"/>
          </a:p>
          <a:p>
            <a:endParaRPr lang="pl-PL" dirty="0"/>
          </a:p>
        </p:txBody>
      </p:sp>
      <p:pic>
        <p:nvPicPr>
          <p:cNvPr id="6" name="Picture 5">
            <a:extLst>
              <a:ext uri="{FF2B5EF4-FFF2-40B4-BE49-F238E27FC236}">
                <a16:creationId xmlns:a16="http://schemas.microsoft.com/office/drawing/2014/main" id="{C2F7E92D-1AAE-AA02-B557-050F0C9B9295}"/>
              </a:ext>
            </a:extLst>
          </p:cNvPr>
          <p:cNvPicPr>
            <a:picLocks noChangeAspect="1"/>
          </p:cNvPicPr>
          <p:nvPr/>
        </p:nvPicPr>
        <p:blipFill>
          <a:blip r:embed="rId2"/>
          <a:stretch>
            <a:fillRect/>
          </a:stretch>
        </p:blipFill>
        <p:spPr>
          <a:xfrm>
            <a:off x="6746316" y="1158794"/>
            <a:ext cx="4925995" cy="4883319"/>
          </a:xfrm>
          <a:prstGeom prst="rect">
            <a:avLst/>
          </a:prstGeom>
        </p:spPr>
      </p:pic>
    </p:spTree>
    <p:extLst>
      <p:ext uri="{BB962C8B-B14F-4D97-AF65-F5344CB8AC3E}">
        <p14:creationId xmlns:p14="http://schemas.microsoft.com/office/powerpoint/2010/main" val="2073472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29252187-1278-CD66-F425-F4C05724A2DB}"/>
              </a:ext>
            </a:extLst>
          </p:cNvPr>
          <p:cNvSpPr txBox="1">
            <a:spLocks/>
          </p:cNvSpPr>
          <p:nvPr/>
        </p:nvSpPr>
        <p:spPr>
          <a:xfrm>
            <a:off x="4035476" y="1005306"/>
            <a:ext cx="7097177" cy="50413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l-PL" dirty="0"/>
              <a:t>Common features required by all the components in a distributed system</a:t>
            </a:r>
          </a:p>
          <a:p>
            <a:pPr lvl="1"/>
            <a:r>
              <a:rPr lang="en-US" dirty="0"/>
              <a:t>Distributed/versioned configuration</a:t>
            </a:r>
          </a:p>
          <a:p>
            <a:pPr lvl="1"/>
            <a:r>
              <a:rPr lang="en-US" dirty="0"/>
              <a:t>Service registration and discovery</a:t>
            </a:r>
          </a:p>
          <a:p>
            <a:pPr lvl="1"/>
            <a:r>
              <a:rPr lang="en-US" dirty="0"/>
              <a:t>Routing</a:t>
            </a:r>
          </a:p>
          <a:p>
            <a:pPr lvl="1"/>
            <a:r>
              <a:rPr lang="en-US" dirty="0"/>
              <a:t>Service-to-service calls</a:t>
            </a:r>
          </a:p>
          <a:p>
            <a:pPr lvl="1"/>
            <a:r>
              <a:rPr lang="en-US" dirty="0"/>
              <a:t>Load balancing</a:t>
            </a:r>
          </a:p>
          <a:p>
            <a:pPr lvl="1"/>
            <a:r>
              <a:rPr lang="en-US" dirty="0"/>
              <a:t>Circuit Breakers</a:t>
            </a:r>
          </a:p>
          <a:p>
            <a:pPr lvl="1"/>
            <a:r>
              <a:rPr lang="en-US" dirty="0"/>
              <a:t>Global locks</a:t>
            </a:r>
          </a:p>
          <a:p>
            <a:pPr lvl="1"/>
            <a:r>
              <a:rPr lang="en-US" dirty="0"/>
              <a:t>Leadership election and cluster state</a:t>
            </a:r>
          </a:p>
          <a:p>
            <a:pPr lvl="1"/>
            <a:r>
              <a:rPr lang="en-US" dirty="0"/>
              <a:t>Distributed messaging</a:t>
            </a:r>
          </a:p>
          <a:p>
            <a:endParaRPr lang="pl-PL" dirty="0"/>
          </a:p>
        </p:txBody>
      </p:sp>
      <p:sp>
        <p:nvSpPr>
          <p:cNvPr id="6" name="Text Placeholder 2">
            <a:extLst>
              <a:ext uri="{FF2B5EF4-FFF2-40B4-BE49-F238E27FC236}">
                <a16:creationId xmlns:a16="http://schemas.microsoft.com/office/drawing/2014/main" id="{D5C1E39E-9EC1-2E87-21EC-E030E90A0D30}"/>
              </a:ext>
            </a:extLst>
          </p:cNvPr>
          <p:cNvSpPr txBox="1">
            <a:spLocks/>
          </p:cNvSpPr>
          <p:nvPr/>
        </p:nvSpPr>
        <p:spPr>
          <a:xfrm>
            <a:off x="479098" y="127543"/>
            <a:ext cx="10256061" cy="683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l-PL" dirty="0"/>
              <a:t>Spring Cloud</a:t>
            </a:r>
          </a:p>
        </p:txBody>
      </p:sp>
      <p:pic>
        <p:nvPicPr>
          <p:cNvPr id="7" name="Picture 2">
            <a:extLst>
              <a:ext uri="{FF2B5EF4-FFF2-40B4-BE49-F238E27FC236}">
                <a16:creationId xmlns:a16="http://schemas.microsoft.com/office/drawing/2014/main" id="{F02EC92B-79EB-2CC3-20E6-DF8D6E310F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098" y="1376483"/>
            <a:ext cx="3028572" cy="20571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1998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78AE8F0A-3057-0EA5-542B-D6BA35667411}"/>
              </a:ext>
            </a:extLst>
          </p:cNvPr>
          <p:cNvSpPr txBox="1">
            <a:spLocks/>
          </p:cNvSpPr>
          <p:nvPr/>
        </p:nvSpPr>
        <p:spPr>
          <a:xfrm>
            <a:off x="479098" y="127543"/>
            <a:ext cx="10256061" cy="683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l-PL" dirty="0"/>
              <a:t>Spring Cloud</a:t>
            </a:r>
            <a:r>
              <a:rPr lang="en-IN" dirty="0"/>
              <a:t> Components</a:t>
            </a:r>
            <a:endParaRPr lang="pl-PL" dirty="0"/>
          </a:p>
        </p:txBody>
      </p:sp>
      <p:sp>
        <p:nvSpPr>
          <p:cNvPr id="3" name="Rectangle: Rounded Corners 2">
            <a:extLst>
              <a:ext uri="{FF2B5EF4-FFF2-40B4-BE49-F238E27FC236}">
                <a16:creationId xmlns:a16="http://schemas.microsoft.com/office/drawing/2014/main" id="{7EF52712-3871-4FF2-C474-B8DFA97128EB}"/>
              </a:ext>
            </a:extLst>
          </p:cNvPr>
          <p:cNvSpPr/>
          <p:nvPr/>
        </p:nvSpPr>
        <p:spPr>
          <a:xfrm>
            <a:off x="635078" y="1262743"/>
            <a:ext cx="2275114" cy="1219200"/>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N" b="0" i="0" dirty="0">
                <a:solidFill>
                  <a:schemeClr val="bg1"/>
                </a:solidFill>
                <a:effectLst/>
                <a:latin typeface="inter-regular"/>
              </a:rPr>
              <a:t>Configuration</a:t>
            </a:r>
          </a:p>
        </p:txBody>
      </p:sp>
      <p:sp>
        <p:nvSpPr>
          <p:cNvPr id="4" name="Rectangle: Rounded Corners 3">
            <a:extLst>
              <a:ext uri="{FF2B5EF4-FFF2-40B4-BE49-F238E27FC236}">
                <a16:creationId xmlns:a16="http://schemas.microsoft.com/office/drawing/2014/main" id="{76BC301C-D773-86B3-C353-E9D323ACA54D}"/>
              </a:ext>
            </a:extLst>
          </p:cNvPr>
          <p:cNvSpPr/>
          <p:nvPr/>
        </p:nvSpPr>
        <p:spPr>
          <a:xfrm>
            <a:off x="3205843" y="1262743"/>
            <a:ext cx="2275114" cy="1219200"/>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N"/>
              <a:t>Service Discovery</a:t>
            </a:r>
            <a:endParaRPr lang="en-IN" dirty="0"/>
          </a:p>
        </p:txBody>
      </p:sp>
      <p:sp>
        <p:nvSpPr>
          <p:cNvPr id="5" name="Rectangle: Rounded Corners 4">
            <a:extLst>
              <a:ext uri="{FF2B5EF4-FFF2-40B4-BE49-F238E27FC236}">
                <a16:creationId xmlns:a16="http://schemas.microsoft.com/office/drawing/2014/main" id="{0C95366A-9E30-086D-140F-1CEF50A0B57A}"/>
              </a:ext>
            </a:extLst>
          </p:cNvPr>
          <p:cNvSpPr/>
          <p:nvPr/>
        </p:nvSpPr>
        <p:spPr>
          <a:xfrm>
            <a:off x="5868573" y="1262743"/>
            <a:ext cx="2275114" cy="1219200"/>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N"/>
              <a:t>Circuit Breakers</a:t>
            </a:r>
            <a:endParaRPr lang="en-IN" dirty="0"/>
          </a:p>
        </p:txBody>
      </p:sp>
      <p:sp>
        <p:nvSpPr>
          <p:cNvPr id="6" name="Rectangle: Rounded Corners 5">
            <a:extLst>
              <a:ext uri="{FF2B5EF4-FFF2-40B4-BE49-F238E27FC236}">
                <a16:creationId xmlns:a16="http://schemas.microsoft.com/office/drawing/2014/main" id="{353560C6-7A8E-6F22-25C9-3938C5FA32B0}"/>
              </a:ext>
            </a:extLst>
          </p:cNvPr>
          <p:cNvSpPr/>
          <p:nvPr/>
        </p:nvSpPr>
        <p:spPr>
          <a:xfrm>
            <a:off x="8616043" y="1262743"/>
            <a:ext cx="2275114" cy="1219200"/>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N"/>
              <a:t>Routing and Messaging</a:t>
            </a:r>
            <a:endParaRPr lang="en-IN" dirty="0"/>
          </a:p>
        </p:txBody>
      </p:sp>
      <p:sp>
        <p:nvSpPr>
          <p:cNvPr id="7" name="Rectangle: Rounded Corners 6">
            <a:extLst>
              <a:ext uri="{FF2B5EF4-FFF2-40B4-BE49-F238E27FC236}">
                <a16:creationId xmlns:a16="http://schemas.microsoft.com/office/drawing/2014/main" id="{CBCAB85A-9270-A4B3-A7D3-D19901622B17}"/>
              </a:ext>
            </a:extLst>
          </p:cNvPr>
          <p:cNvSpPr/>
          <p:nvPr/>
        </p:nvSpPr>
        <p:spPr>
          <a:xfrm>
            <a:off x="1464128" y="3516086"/>
            <a:ext cx="2275114" cy="1219200"/>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N"/>
              <a:t>API Gateway</a:t>
            </a:r>
            <a:endParaRPr lang="en-IN" dirty="0"/>
          </a:p>
        </p:txBody>
      </p:sp>
      <p:sp>
        <p:nvSpPr>
          <p:cNvPr id="8" name="Rectangle: Rounded Corners 7">
            <a:extLst>
              <a:ext uri="{FF2B5EF4-FFF2-40B4-BE49-F238E27FC236}">
                <a16:creationId xmlns:a16="http://schemas.microsoft.com/office/drawing/2014/main" id="{2B8411CD-FA63-5C82-78AD-FF7B7A66F9A9}"/>
              </a:ext>
            </a:extLst>
          </p:cNvPr>
          <p:cNvSpPr/>
          <p:nvPr/>
        </p:nvSpPr>
        <p:spPr>
          <a:xfrm>
            <a:off x="4615544" y="3559629"/>
            <a:ext cx="2275114" cy="1219200"/>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N"/>
              <a:t>Tracing</a:t>
            </a:r>
            <a:endParaRPr lang="en-IN" dirty="0"/>
          </a:p>
        </p:txBody>
      </p:sp>
      <p:sp>
        <p:nvSpPr>
          <p:cNvPr id="9" name="Rectangle: Rounded Corners 8">
            <a:extLst>
              <a:ext uri="{FF2B5EF4-FFF2-40B4-BE49-F238E27FC236}">
                <a16:creationId xmlns:a16="http://schemas.microsoft.com/office/drawing/2014/main" id="{3DB7000B-867D-4E8E-F48F-05929E712F4E}"/>
              </a:ext>
            </a:extLst>
          </p:cNvPr>
          <p:cNvSpPr/>
          <p:nvPr/>
        </p:nvSpPr>
        <p:spPr>
          <a:xfrm>
            <a:off x="7766960" y="3559629"/>
            <a:ext cx="2275114" cy="1219200"/>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N"/>
              <a:t>CI Pipeline and Testing</a:t>
            </a:r>
          </a:p>
        </p:txBody>
      </p:sp>
    </p:spTree>
    <p:extLst>
      <p:ext uri="{BB962C8B-B14F-4D97-AF65-F5344CB8AC3E}">
        <p14:creationId xmlns:p14="http://schemas.microsoft.com/office/powerpoint/2010/main" val="2627112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78AE8F0A-3057-0EA5-542B-D6BA35667411}"/>
              </a:ext>
            </a:extLst>
          </p:cNvPr>
          <p:cNvSpPr txBox="1">
            <a:spLocks/>
          </p:cNvSpPr>
          <p:nvPr/>
        </p:nvSpPr>
        <p:spPr>
          <a:xfrm>
            <a:off x="479098" y="127543"/>
            <a:ext cx="10256061" cy="683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l-PL" dirty="0"/>
              <a:t>Spring Cloud</a:t>
            </a:r>
            <a:r>
              <a:rPr lang="en-IN" dirty="0"/>
              <a:t> </a:t>
            </a:r>
            <a:r>
              <a:rPr lang="en-IN" dirty="0" err="1"/>
              <a:t>Configuartion</a:t>
            </a:r>
            <a:endParaRPr lang="pl-PL" dirty="0"/>
          </a:p>
        </p:txBody>
      </p:sp>
      <p:pic>
        <p:nvPicPr>
          <p:cNvPr id="1026" name="Picture 2" descr="Spring Cloud Components">
            <a:extLst>
              <a:ext uri="{FF2B5EF4-FFF2-40B4-BE49-F238E27FC236}">
                <a16:creationId xmlns:a16="http://schemas.microsoft.com/office/drawing/2014/main" id="{9CAB7581-1644-689A-215C-55FAA7AA8A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0" y="1600200"/>
            <a:ext cx="4762500" cy="381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F431686-96E9-3024-7939-AA9F0A6F399D}"/>
              </a:ext>
            </a:extLst>
          </p:cNvPr>
          <p:cNvSpPr txBox="1"/>
          <p:nvPr/>
        </p:nvSpPr>
        <p:spPr>
          <a:xfrm>
            <a:off x="6086036" y="5127165"/>
            <a:ext cx="4223658" cy="1200329"/>
          </a:xfrm>
          <a:prstGeom prst="rect">
            <a:avLst/>
          </a:prstGeom>
          <a:noFill/>
        </p:spPr>
        <p:txBody>
          <a:bodyPr wrap="square" rtlCol="0">
            <a:spAutoFit/>
          </a:bodyPr>
          <a:lstStyle/>
          <a:p>
            <a:r>
              <a:rPr lang="en-IN" b="1" dirty="0"/>
              <a:t>Config Client</a:t>
            </a:r>
          </a:p>
          <a:p>
            <a:r>
              <a:rPr lang="en-US" dirty="0"/>
              <a:t>On the client app we can add</a:t>
            </a:r>
          </a:p>
          <a:p>
            <a:r>
              <a:rPr lang="en-US" dirty="0" err="1"/>
              <a:t>spring.cloud.config.uri</a:t>
            </a:r>
            <a:r>
              <a:rPr lang="en-US" dirty="0"/>
              <a:t> = &lt;config server </a:t>
            </a:r>
            <a:r>
              <a:rPr lang="en-US" dirty="0" err="1"/>
              <a:t>uri</a:t>
            </a:r>
            <a:r>
              <a:rPr lang="en-US" dirty="0"/>
              <a:t>&gt; </a:t>
            </a:r>
            <a:endParaRPr lang="en-IN" dirty="0"/>
          </a:p>
          <a:p>
            <a:endParaRPr lang="en-IN" dirty="0"/>
          </a:p>
        </p:txBody>
      </p:sp>
      <p:sp>
        <p:nvSpPr>
          <p:cNvPr id="11" name="TextBox 10">
            <a:extLst>
              <a:ext uri="{FF2B5EF4-FFF2-40B4-BE49-F238E27FC236}">
                <a16:creationId xmlns:a16="http://schemas.microsoft.com/office/drawing/2014/main" id="{4C94E0F3-07A5-1FDB-9D9B-9758A1C108AF}"/>
              </a:ext>
            </a:extLst>
          </p:cNvPr>
          <p:cNvSpPr txBox="1"/>
          <p:nvPr/>
        </p:nvSpPr>
        <p:spPr>
          <a:xfrm>
            <a:off x="6096000" y="3830321"/>
            <a:ext cx="5867400" cy="1200329"/>
          </a:xfrm>
          <a:prstGeom prst="rect">
            <a:avLst/>
          </a:prstGeom>
          <a:noFill/>
        </p:spPr>
        <p:txBody>
          <a:bodyPr wrap="square" rtlCol="0">
            <a:spAutoFit/>
          </a:bodyPr>
          <a:lstStyle/>
          <a:p>
            <a:r>
              <a:rPr lang="en-IN" b="1" dirty="0"/>
              <a:t>Config Server</a:t>
            </a:r>
          </a:p>
          <a:p>
            <a:r>
              <a:rPr lang="en-IN" dirty="0"/>
              <a:t>@EnableConfigServer</a:t>
            </a:r>
          </a:p>
          <a:p>
            <a:r>
              <a:rPr lang="en-IN" dirty="0" err="1"/>
              <a:t>spring.cloud.config.server.git.uri</a:t>
            </a:r>
            <a:r>
              <a:rPr lang="en-IN" dirty="0"/>
              <a:t>=ssh://localhost/config-repo</a:t>
            </a:r>
          </a:p>
          <a:p>
            <a:endParaRPr lang="en-IN" dirty="0"/>
          </a:p>
        </p:txBody>
      </p:sp>
      <p:sp>
        <p:nvSpPr>
          <p:cNvPr id="3" name="TextBox 2">
            <a:extLst>
              <a:ext uri="{FF2B5EF4-FFF2-40B4-BE49-F238E27FC236}">
                <a16:creationId xmlns:a16="http://schemas.microsoft.com/office/drawing/2014/main" id="{AB31AE44-E770-5049-DC4B-23AB18789400}"/>
              </a:ext>
            </a:extLst>
          </p:cNvPr>
          <p:cNvSpPr txBox="1"/>
          <p:nvPr/>
        </p:nvSpPr>
        <p:spPr>
          <a:xfrm>
            <a:off x="6020722" y="1075844"/>
            <a:ext cx="5074588" cy="2031325"/>
          </a:xfrm>
          <a:prstGeom prst="rect">
            <a:avLst/>
          </a:prstGeom>
          <a:noFill/>
        </p:spPr>
        <p:txBody>
          <a:bodyPr wrap="square" rtlCol="0">
            <a:spAutoFit/>
          </a:bodyPr>
          <a:lstStyle/>
          <a:p>
            <a:pPr algn="l"/>
            <a:r>
              <a:rPr lang="en-IN" b="0" i="0" dirty="0">
                <a:effectLst/>
                <a:latin typeface="Open Sans" panose="020B0606030504020204" pitchFamily="34" charset="0"/>
              </a:rPr>
              <a:t>Spring Cloud Config Server features:</a:t>
            </a:r>
          </a:p>
          <a:p>
            <a:pPr algn="l">
              <a:buFont typeface="Arial" panose="020B0604020202020204" pitchFamily="34" charset="0"/>
              <a:buChar char="•"/>
            </a:pPr>
            <a:r>
              <a:rPr lang="en-IN" b="0" i="0" dirty="0">
                <a:effectLst/>
                <a:latin typeface="Open Sans" panose="020B0606030504020204" pitchFamily="34" charset="0"/>
              </a:rPr>
              <a:t>HTTP, resource-based API for external configuration (name-value pairs, or equivalent YAML content)</a:t>
            </a:r>
          </a:p>
          <a:p>
            <a:pPr algn="l">
              <a:buFont typeface="Arial" panose="020B0604020202020204" pitchFamily="34" charset="0"/>
              <a:buChar char="•"/>
            </a:pPr>
            <a:r>
              <a:rPr lang="en-IN" b="0" i="0" dirty="0">
                <a:effectLst/>
                <a:latin typeface="Open Sans" panose="020B0606030504020204" pitchFamily="34" charset="0"/>
              </a:rPr>
              <a:t>Encrypt and decrypt property values (symmetric or asymmetric)</a:t>
            </a:r>
          </a:p>
          <a:p>
            <a:endParaRPr lang="en-IN" dirty="0"/>
          </a:p>
        </p:txBody>
      </p:sp>
    </p:spTree>
    <p:extLst>
      <p:ext uri="{BB962C8B-B14F-4D97-AF65-F5344CB8AC3E}">
        <p14:creationId xmlns:p14="http://schemas.microsoft.com/office/powerpoint/2010/main" val="863150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6B3BF4-146B-BC05-90E3-4611AC3CC340}"/>
              </a:ext>
            </a:extLst>
          </p:cNvPr>
          <p:cNvPicPr>
            <a:picLocks noChangeAspect="1"/>
          </p:cNvPicPr>
          <p:nvPr/>
        </p:nvPicPr>
        <p:blipFill>
          <a:blip r:embed="rId2"/>
          <a:stretch>
            <a:fillRect/>
          </a:stretch>
        </p:blipFill>
        <p:spPr>
          <a:xfrm>
            <a:off x="712403" y="127543"/>
            <a:ext cx="6319768" cy="3580099"/>
          </a:xfrm>
          <a:prstGeom prst="rect">
            <a:avLst/>
          </a:prstGeom>
        </p:spPr>
      </p:pic>
      <p:sp>
        <p:nvSpPr>
          <p:cNvPr id="2" name="TextBox 1">
            <a:extLst>
              <a:ext uri="{FF2B5EF4-FFF2-40B4-BE49-F238E27FC236}">
                <a16:creationId xmlns:a16="http://schemas.microsoft.com/office/drawing/2014/main" id="{E654D94B-1844-79D4-7BA5-2B01D22ADBA7}"/>
              </a:ext>
            </a:extLst>
          </p:cNvPr>
          <p:cNvSpPr txBox="1"/>
          <p:nvPr/>
        </p:nvSpPr>
        <p:spPr>
          <a:xfrm>
            <a:off x="8534400" y="261257"/>
            <a:ext cx="3363686" cy="7017306"/>
          </a:xfrm>
          <a:prstGeom prst="rect">
            <a:avLst/>
          </a:prstGeom>
          <a:noFill/>
        </p:spPr>
        <p:txBody>
          <a:bodyPr wrap="square" rtlCol="0">
            <a:spAutoFit/>
          </a:bodyPr>
          <a:lstStyle/>
          <a:p>
            <a:r>
              <a:rPr lang="en-IN" b="1" dirty="0"/>
              <a:t>Netflix Eureka (older)</a:t>
            </a:r>
          </a:p>
          <a:p>
            <a:endParaRPr lang="en-IN" dirty="0"/>
          </a:p>
          <a:p>
            <a:r>
              <a:rPr lang="en-IN" b="1" dirty="0"/>
              <a:t>Eureka Server</a:t>
            </a:r>
          </a:p>
          <a:p>
            <a:r>
              <a:rPr lang="en-US" dirty="0"/>
              <a:t>@EnableEurekaServer</a:t>
            </a:r>
          </a:p>
          <a:p>
            <a:r>
              <a:rPr lang="en-US" dirty="0" err="1"/>
              <a:t>eureka.client.register</a:t>
            </a:r>
            <a:r>
              <a:rPr lang="en-US" dirty="0"/>
              <a:t>-with-eureka=false</a:t>
            </a:r>
          </a:p>
          <a:p>
            <a:r>
              <a:rPr lang="en-US" dirty="0" err="1"/>
              <a:t>eureka.client.fetch</a:t>
            </a:r>
            <a:r>
              <a:rPr lang="en-US" dirty="0"/>
              <a:t>-registry=</a:t>
            </a:r>
            <a:r>
              <a:rPr lang="en-US" b="1" dirty="0"/>
              <a:t>false</a:t>
            </a:r>
          </a:p>
          <a:p>
            <a:r>
              <a:rPr lang="en-US" dirty="0" err="1"/>
              <a:t>server.port</a:t>
            </a:r>
            <a:r>
              <a:rPr lang="en-US" dirty="0"/>
              <a:t>=8761 (default)</a:t>
            </a:r>
          </a:p>
          <a:p>
            <a:endParaRPr lang="en-US" dirty="0"/>
          </a:p>
          <a:p>
            <a:r>
              <a:rPr lang="en-IN" b="1" dirty="0"/>
              <a:t>Client App</a:t>
            </a:r>
          </a:p>
          <a:p>
            <a:r>
              <a:rPr lang="en-US" dirty="0"/>
              <a:t>@EnableEurekaClient</a:t>
            </a:r>
          </a:p>
          <a:p>
            <a:r>
              <a:rPr lang="en-US" dirty="0"/>
              <a:t>spring.application.name=app-name</a:t>
            </a:r>
          </a:p>
          <a:p>
            <a:r>
              <a:rPr lang="en-US" dirty="0" err="1"/>
              <a:t>eureka.client.register</a:t>
            </a:r>
            <a:r>
              <a:rPr lang="en-US" dirty="0"/>
              <a:t>-with-eureka=</a:t>
            </a:r>
            <a:r>
              <a:rPr lang="en-US" b="1" dirty="0"/>
              <a:t>true</a:t>
            </a:r>
          </a:p>
          <a:p>
            <a:r>
              <a:rPr lang="en-US" dirty="0" err="1"/>
              <a:t>eureka.client.fetch</a:t>
            </a:r>
            <a:r>
              <a:rPr lang="en-US" dirty="0"/>
              <a:t>-registry=true</a:t>
            </a:r>
          </a:p>
          <a:p>
            <a:r>
              <a:rPr lang="en-US" dirty="0" err="1"/>
              <a:t>eureka.client.serviceUrl.defaultZone</a:t>
            </a:r>
            <a:r>
              <a:rPr lang="en-US" dirty="0"/>
              <a:t>:</a:t>
            </a:r>
          </a:p>
          <a:p>
            <a:r>
              <a:rPr lang="en-US" dirty="0"/>
              <a:t>	 http://localhost:8761/eureka</a:t>
            </a:r>
          </a:p>
          <a:p>
            <a:r>
              <a:rPr lang="en-US" dirty="0" err="1"/>
              <a:t>instance.hostname</a:t>
            </a:r>
            <a:r>
              <a:rPr lang="en-US" dirty="0"/>
              <a:t>=localhost</a:t>
            </a:r>
            <a:endParaRPr lang="en-IN" dirty="0"/>
          </a:p>
          <a:p>
            <a:endParaRPr lang="en-IN" dirty="0"/>
          </a:p>
          <a:p>
            <a:endParaRPr lang="en-IN" dirty="0"/>
          </a:p>
          <a:p>
            <a:endParaRPr lang="en-IN" dirty="0"/>
          </a:p>
          <a:p>
            <a:endParaRPr lang="en-IN" dirty="0"/>
          </a:p>
        </p:txBody>
      </p:sp>
      <p:sp>
        <p:nvSpPr>
          <p:cNvPr id="3" name="TextBox 2">
            <a:extLst>
              <a:ext uri="{FF2B5EF4-FFF2-40B4-BE49-F238E27FC236}">
                <a16:creationId xmlns:a16="http://schemas.microsoft.com/office/drawing/2014/main" id="{171E112C-ABDB-838C-75C2-A4AE398ABA4B}"/>
              </a:ext>
            </a:extLst>
          </p:cNvPr>
          <p:cNvSpPr txBox="1"/>
          <p:nvPr/>
        </p:nvSpPr>
        <p:spPr>
          <a:xfrm>
            <a:off x="587828" y="3889653"/>
            <a:ext cx="7685315" cy="2308324"/>
          </a:xfrm>
          <a:prstGeom prst="rect">
            <a:avLst/>
          </a:prstGeom>
          <a:noFill/>
        </p:spPr>
        <p:txBody>
          <a:bodyPr wrap="square" rtlCol="0">
            <a:spAutoFit/>
          </a:bodyPr>
          <a:lstStyle/>
          <a:p>
            <a:r>
              <a:rPr lang="en-IN" b="1" dirty="0"/>
              <a:t>Spring Cloud Consul (newer) - </a:t>
            </a:r>
            <a:r>
              <a:rPr lang="en-IN" b="1" dirty="0" err="1"/>
              <a:t>Hashicorp</a:t>
            </a:r>
            <a:r>
              <a:rPr lang="en-IN" b="1" dirty="0"/>
              <a:t> Consul</a:t>
            </a:r>
            <a:endParaRPr lang="en-IN" dirty="0"/>
          </a:p>
          <a:p>
            <a:pPr marL="285750" indent="-285750">
              <a:buFont typeface="Arial" panose="020B0604020202020204" pitchFamily="34" charset="0"/>
              <a:buChar char="•"/>
            </a:pPr>
            <a:r>
              <a:rPr lang="en-US" u="sng" dirty="0"/>
              <a:t>Service Discovery</a:t>
            </a:r>
            <a:r>
              <a:rPr lang="en-US" dirty="0"/>
              <a:t>: instances can be registered with the Consul agent and clients can discover the instances using Spring-managed beans</a:t>
            </a:r>
          </a:p>
          <a:p>
            <a:pPr marL="285750" indent="-285750">
              <a:buFont typeface="Arial" panose="020B0604020202020204" pitchFamily="34" charset="0"/>
              <a:buChar char="•"/>
            </a:pPr>
            <a:r>
              <a:rPr lang="en-US" u="sng" dirty="0"/>
              <a:t>Supports Spring Cloud </a:t>
            </a:r>
            <a:r>
              <a:rPr lang="en-US" u="sng" dirty="0" err="1"/>
              <a:t>LoadBalancer</a:t>
            </a:r>
            <a:r>
              <a:rPr lang="en-US" u="sng" dirty="0"/>
              <a:t> </a:t>
            </a:r>
            <a:r>
              <a:rPr lang="en-US" dirty="0"/>
              <a:t>- a client side load-balancer provided by the Spring Cloud project</a:t>
            </a:r>
          </a:p>
          <a:p>
            <a:pPr marL="285750" indent="-285750">
              <a:buFont typeface="Arial" panose="020B0604020202020204" pitchFamily="34" charset="0"/>
              <a:buChar char="•"/>
            </a:pPr>
            <a:r>
              <a:rPr lang="en-US" u="sng" dirty="0"/>
              <a:t>Supports API Gateway, </a:t>
            </a:r>
            <a:r>
              <a:rPr lang="en-US" dirty="0"/>
              <a:t>a dynamic router and filter via Spring Cloud Gateway</a:t>
            </a:r>
          </a:p>
          <a:p>
            <a:pPr marL="285750" indent="-285750">
              <a:buFont typeface="Arial" panose="020B0604020202020204" pitchFamily="34" charset="0"/>
              <a:buChar char="•"/>
            </a:pPr>
            <a:r>
              <a:rPr lang="en-US" u="sng" dirty="0"/>
              <a:t>Distributed Configuration</a:t>
            </a:r>
            <a:r>
              <a:rPr lang="en-US" dirty="0"/>
              <a:t>: using the Consul Key/Value store</a:t>
            </a:r>
          </a:p>
          <a:p>
            <a:pPr marL="285750" indent="-285750">
              <a:buFont typeface="Arial" panose="020B0604020202020204" pitchFamily="34" charset="0"/>
              <a:buChar char="•"/>
            </a:pPr>
            <a:r>
              <a:rPr lang="en-US" u="sng" dirty="0"/>
              <a:t>Control Bus: </a:t>
            </a:r>
            <a:r>
              <a:rPr lang="en-US" dirty="0"/>
              <a:t>Distributed control events using Consul Events</a:t>
            </a:r>
            <a:endParaRPr lang="en-IN" dirty="0"/>
          </a:p>
        </p:txBody>
      </p:sp>
    </p:spTree>
    <p:extLst>
      <p:ext uri="{BB962C8B-B14F-4D97-AF65-F5344CB8AC3E}">
        <p14:creationId xmlns:p14="http://schemas.microsoft.com/office/powerpoint/2010/main" val="3392305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E3EEE-3C68-E9AE-C506-FB075A601A7E}"/>
              </a:ext>
            </a:extLst>
          </p:cNvPr>
          <p:cNvSpPr>
            <a:spLocks noGrp="1"/>
          </p:cNvSpPr>
          <p:nvPr>
            <p:ph type="title"/>
          </p:nvPr>
        </p:nvSpPr>
        <p:spPr>
          <a:xfrm>
            <a:off x="646971" y="133859"/>
            <a:ext cx="10515600" cy="364218"/>
          </a:xfrm>
        </p:spPr>
        <p:txBody>
          <a:bodyPr>
            <a:normAutofit fontScale="90000"/>
          </a:bodyPr>
          <a:lstStyle/>
          <a:p>
            <a:r>
              <a:rPr lang="en-IN" dirty="0"/>
              <a:t>Circuit Breaker</a:t>
            </a:r>
          </a:p>
        </p:txBody>
      </p:sp>
      <p:sp>
        <p:nvSpPr>
          <p:cNvPr id="3" name="TextBox 2">
            <a:extLst>
              <a:ext uri="{FF2B5EF4-FFF2-40B4-BE49-F238E27FC236}">
                <a16:creationId xmlns:a16="http://schemas.microsoft.com/office/drawing/2014/main" id="{A8975DBD-9D1E-8468-F0DD-E9F65CDD4D0B}"/>
              </a:ext>
            </a:extLst>
          </p:cNvPr>
          <p:cNvSpPr txBox="1"/>
          <p:nvPr/>
        </p:nvSpPr>
        <p:spPr>
          <a:xfrm>
            <a:off x="942343" y="633519"/>
            <a:ext cx="4713514" cy="3139321"/>
          </a:xfrm>
          <a:prstGeom prst="rect">
            <a:avLst/>
          </a:prstGeom>
          <a:noFill/>
        </p:spPr>
        <p:txBody>
          <a:bodyPr wrap="square" rtlCol="0">
            <a:spAutoFit/>
          </a:bodyPr>
          <a:lstStyle/>
          <a:p>
            <a:r>
              <a:rPr lang="en-US" b="1" dirty="0" err="1"/>
              <a:t>Hystrix</a:t>
            </a:r>
            <a:r>
              <a:rPr lang="en-US" b="1" dirty="0"/>
              <a:t> (this is old now)</a:t>
            </a:r>
          </a:p>
          <a:p>
            <a:r>
              <a:rPr lang="en-US" dirty="0"/>
              <a:t>Two ways : </a:t>
            </a:r>
          </a:p>
          <a:p>
            <a:pPr marL="342900" indent="-342900">
              <a:buFont typeface="+mj-lt"/>
              <a:buAutoNum type="arabicPeriod"/>
            </a:pPr>
            <a:r>
              <a:rPr lang="en-US" dirty="0"/>
              <a:t>In the micro service code use @HystrixCommand(fallbackMethod = "</a:t>
            </a:r>
            <a:r>
              <a:rPr lang="en-US" dirty="0" err="1"/>
              <a:t>defaultMethod</a:t>
            </a:r>
            <a:r>
              <a:rPr lang="en-US" dirty="0"/>
              <a:t>") and annotate the consumer app @EnableCircuitBreaker</a:t>
            </a:r>
          </a:p>
          <a:p>
            <a:pPr marL="342900" indent="-342900">
              <a:buFont typeface="+mj-lt"/>
              <a:buAutoNum type="arabicPeriod"/>
            </a:pPr>
            <a:r>
              <a:rPr lang="en-US" dirty="0"/>
              <a:t>In the API Gateway </a:t>
            </a:r>
            <a:r>
              <a:rPr lang="en-US" dirty="0" err="1"/>
              <a:t>yaml</a:t>
            </a:r>
            <a:r>
              <a:rPr lang="en-US" dirty="0"/>
              <a:t> file we can add </a:t>
            </a:r>
            <a:r>
              <a:rPr lang="en-US" dirty="0" err="1"/>
              <a:t>CircuitBreaker</a:t>
            </a:r>
            <a:r>
              <a:rPr lang="en-US" dirty="0"/>
              <a:t> filters to redirect to </a:t>
            </a:r>
            <a:r>
              <a:rPr lang="en-US" dirty="0" err="1"/>
              <a:t>fallbackuri</a:t>
            </a:r>
            <a:r>
              <a:rPr lang="en-US" dirty="0"/>
              <a:t> </a:t>
            </a:r>
          </a:p>
          <a:p>
            <a:r>
              <a:rPr lang="en-US" dirty="0"/>
              <a:t>	</a:t>
            </a:r>
          </a:p>
          <a:p>
            <a:r>
              <a:rPr lang="en-US" dirty="0"/>
              <a:t>For </a:t>
            </a:r>
            <a:r>
              <a:rPr lang="en-US" b="1" dirty="0"/>
              <a:t>dashboard</a:t>
            </a:r>
            <a:r>
              <a:rPr lang="en-US" dirty="0"/>
              <a:t> we can use @EnableHystrixDashboard</a:t>
            </a:r>
            <a:endParaRPr lang="en-IN" dirty="0"/>
          </a:p>
        </p:txBody>
      </p:sp>
      <p:pic>
        <p:nvPicPr>
          <p:cNvPr id="5" name="Picture 4">
            <a:extLst>
              <a:ext uri="{FF2B5EF4-FFF2-40B4-BE49-F238E27FC236}">
                <a16:creationId xmlns:a16="http://schemas.microsoft.com/office/drawing/2014/main" id="{8C001B9D-F022-64A1-E246-8DAD17AADD07}"/>
              </a:ext>
            </a:extLst>
          </p:cNvPr>
          <p:cNvPicPr>
            <a:picLocks noChangeAspect="1"/>
          </p:cNvPicPr>
          <p:nvPr/>
        </p:nvPicPr>
        <p:blipFill>
          <a:blip r:embed="rId2"/>
          <a:stretch>
            <a:fillRect/>
          </a:stretch>
        </p:blipFill>
        <p:spPr>
          <a:xfrm>
            <a:off x="942343" y="4182687"/>
            <a:ext cx="4455212" cy="1867919"/>
          </a:xfrm>
          <a:prstGeom prst="rect">
            <a:avLst/>
          </a:prstGeom>
        </p:spPr>
      </p:pic>
      <p:sp>
        <p:nvSpPr>
          <p:cNvPr id="4" name="TextBox 3">
            <a:extLst>
              <a:ext uri="{FF2B5EF4-FFF2-40B4-BE49-F238E27FC236}">
                <a16:creationId xmlns:a16="http://schemas.microsoft.com/office/drawing/2014/main" id="{B0771882-DB12-0FB8-A00C-D38B683B84D0}"/>
              </a:ext>
            </a:extLst>
          </p:cNvPr>
          <p:cNvSpPr txBox="1"/>
          <p:nvPr/>
        </p:nvSpPr>
        <p:spPr>
          <a:xfrm>
            <a:off x="6016863" y="360699"/>
            <a:ext cx="5145708" cy="1754326"/>
          </a:xfrm>
          <a:prstGeom prst="rect">
            <a:avLst/>
          </a:prstGeom>
          <a:noFill/>
        </p:spPr>
        <p:txBody>
          <a:bodyPr wrap="square" rtlCol="0">
            <a:spAutoFit/>
          </a:bodyPr>
          <a:lstStyle/>
          <a:p>
            <a:r>
              <a:rPr lang="en-US" b="1" dirty="0">
                <a:hlinkClick r:id="rId3">
                  <a:extLst>
                    <a:ext uri="{A12FA001-AC4F-418D-AE19-62706E023703}">
                      <ahyp:hlinkClr xmlns:ahyp="http://schemas.microsoft.com/office/drawing/2018/hyperlinkcolor" val="tx"/>
                    </a:ext>
                  </a:extLst>
                </a:hlinkClick>
              </a:rPr>
              <a:t>Spring Retry</a:t>
            </a:r>
            <a:r>
              <a:rPr lang="en-US" b="1" dirty="0"/>
              <a:t>  (new) </a:t>
            </a:r>
            <a:r>
              <a:rPr lang="en-US" dirty="0"/>
              <a:t>allows applications to retry a failed operation automatically. </a:t>
            </a:r>
          </a:p>
          <a:p>
            <a:r>
              <a:rPr lang="en-US" dirty="0"/>
              <a:t>Use </a:t>
            </a:r>
            <a:r>
              <a:rPr lang="en-IN" dirty="0"/>
              <a:t>@EnableRetry</a:t>
            </a:r>
            <a:r>
              <a:rPr lang="en-US" dirty="0"/>
              <a:t> on the app then we have two options…</a:t>
            </a:r>
          </a:p>
          <a:p>
            <a:pPr marL="342900" indent="-342900">
              <a:buFont typeface="+mj-lt"/>
              <a:buAutoNum type="arabicPeriod"/>
            </a:pPr>
            <a:r>
              <a:rPr lang="en-US" dirty="0"/>
              <a:t>Using @Retryable annotation</a:t>
            </a:r>
          </a:p>
          <a:p>
            <a:pPr marL="342900" indent="-342900">
              <a:buFont typeface="+mj-lt"/>
              <a:buAutoNum type="arabicPeriod"/>
            </a:pPr>
            <a:r>
              <a:rPr lang="en-US" dirty="0"/>
              <a:t>Using </a:t>
            </a:r>
            <a:r>
              <a:rPr lang="en-US" dirty="0" err="1"/>
              <a:t>RetryTemplate</a:t>
            </a:r>
            <a:endParaRPr lang="en-IN" dirty="0"/>
          </a:p>
        </p:txBody>
      </p:sp>
      <p:sp>
        <p:nvSpPr>
          <p:cNvPr id="12" name="TextBox 11">
            <a:extLst>
              <a:ext uri="{FF2B5EF4-FFF2-40B4-BE49-F238E27FC236}">
                <a16:creationId xmlns:a16="http://schemas.microsoft.com/office/drawing/2014/main" id="{B352C2AA-6C70-67DA-7E1B-372680228E59}"/>
              </a:ext>
            </a:extLst>
          </p:cNvPr>
          <p:cNvSpPr txBox="1"/>
          <p:nvPr/>
        </p:nvSpPr>
        <p:spPr>
          <a:xfrm>
            <a:off x="6016863" y="2633856"/>
            <a:ext cx="5489337" cy="646331"/>
          </a:xfrm>
          <a:prstGeom prst="rect">
            <a:avLst/>
          </a:prstGeom>
          <a:noFill/>
        </p:spPr>
        <p:txBody>
          <a:bodyPr wrap="square" rtlCol="0">
            <a:spAutoFit/>
          </a:bodyPr>
          <a:lstStyle/>
          <a:p>
            <a:r>
              <a:rPr lang="en-US" b="1" dirty="0"/>
              <a:t>Resilience4j (new)</a:t>
            </a:r>
            <a:r>
              <a:rPr lang="en-US" dirty="0"/>
              <a:t> Retry we can register a custom global </a:t>
            </a:r>
            <a:r>
              <a:rPr lang="en-US" dirty="0" err="1"/>
              <a:t>RetryConfig</a:t>
            </a:r>
            <a:r>
              <a:rPr lang="en-US" dirty="0"/>
              <a:t> with a </a:t>
            </a:r>
            <a:r>
              <a:rPr lang="en-US" dirty="0" err="1"/>
              <a:t>RetryRegistry</a:t>
            </a:r>
            <a:r>
              <a:rPr lang="en-US" dirty="0"/>
              <a:t> builder. </a:t>
            </a:r>
            <a:endParaRPr lang="en-IN" dirty="0"/>
          </a:p>
        </p:txBody>
      </p:sp>
      <p:sp>
        <p:nvSpPr>
          <p:cNvPr id="13" name="TextBox 12">
            <a:extLst>
              <a:ext uri="{FF2B5EF4-FFF2-40B4-BE49-F238E27FC236}">
                <a16:creationId xmlns:a16="http://schemas.microsoft.com/office/drawing/2014/main" id="{E6F4E57B-444C-C992-3961-41F5AC92D257}"/>
              </a:ext>
            </a:extLst>
          </p:cNvPr>
          <p:cNvSpPr txBox="1"/>
          <p:nvPr/>
        </p:nvSpPr>
        <p:spPr>
          <a:xfrm>
            <a:off x="5673234" y="4146444"/>
            <a:ext cx="5489337" cy="1477328"/>
          </a:xfrm>
          <a:prstGeom prst="rect">
            <a:avLst/>
          </a:prstGeom>
          <a:noFill/>
        </p:spPr>
        <p:txBody>
          <a:bodyPr wrap="square" rtlCol="0">
            <a:spAutoFit/>
          </a:bodyPr>
          <a:lstStyle/>
          <a:p>
            <a:r>
              <a:rPr lang="en-US" b="1" dirty="0"/>
              <a:t>Spring Cloud Circuit breaker </a:t>
            </a:r>
            <a:r>
              <a:rPr lang="en-US" dirty="0"/>
              <a:t>provides an abstraction across different circuit breaker implementations like Spring Retry and Resilience4j to provide consistent API. Here we use </a:t>
            </a:r>
            <a:r>
              <a:rPr lang="en-US" dirty="0" err="1"/>
              <a:t>CircuitBreakerFactory</a:t>
            </a:r>
            <a:r>
              <a:rPr lang="en-US" dirty="0"/>
              <a:t> or </a:t>
            </a:r>
            <a:r>
              <a:rPr lang="en-US" dirty="0" err="1"/>
              <a:t>ReactiveCircuitBreakerFactory</a:t>
            </a:r>
            <a:r>
              <a:rPr lang="en-US" dirty="0"/>
              <a:t> </a:t>
            </a:r>
            <a:endParaRPr lang="en-IN" dirty="0"/>
          </a:p>
        </p:txBody>
      </p:sp>
      <p:cxnSp>
        <p:nvCxnSpPr>
          <p:cNvPr id="15" name="Straight Connector 14">
            <a:extLst>
              <a:ext uri="{FF2B5EF4-FFF2-40B4-BE49-F238E27FC236}">
                <a16:creationId xmlns:a16="http://schemas.microsoft.com/office/drawing/2014/main" id="{4C8698D0-1682-8FE5-4B30-59800E80D1BA}"/>
              </a:ext>
            </a:extLst>
          </p:cNvPr>
          <p:cNvCxnSpPr/>
          <p:nvPr/>
        </p:nvCxnSpPr>
        <p:spPr>
          <a:xfrm>
            <a:off x="870857" y="4056981"/>
            <a:ext cx="1063534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5527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55B95-7FB0-4B0C-80F5-73467A50F6F7}"/>
              </a:ext>
            </a:extLst>
          </p:cNvPr>
          <p:cNvSpPr>
            <a:spLocks noGrp="1"/>
          </p:cNvSpPr>
          <p:nvPr>
            <p:ph type="title"/>
          </p:nvPr>
        </p:nvSpPr>
        <p:spPr>
          <a:xfrm>
            <a:off x="838200" y="365126"/>
            <a:ext cx="6052457" cy="277131"/>
          </a:xfrm>
        </p:spPr>
        <p:txBody>
          <a:bodyPr>
            <a:normAutofit fontScale="90000"/>
          </a:bodyPr>
          <a:lstStyle/>
          <a:p>
            <a:r>
              <a:rPr lang="en-IN" dirty="0"/>
              <a:t>Routing and Load Balancing</a:t>
            </a:r>
          </a:p>
        </p:txBody>
      </p:sp>
      <p:sp>
        <p:nvSpPr>
          <p:cNvPr id="3" name="TextBox 2">
            <a:extLst>
              <a:ext uri="{FF2B5EF4-FFF2-40B4-BE49-F238E27FC236}">
                <a16:creationId xmlns:a16="http://schemas.microsoft.com/office/drawing/2014/main" id="{8D0B71F8-3148-1832-F967-11E5D8830D0D}"/>
              </a:ext>
            </a:extLst>
          </p:cNvPr>
          <p:cNvSpPr txBox="1"/>
          <p:nvPr/>
        </p:nvSpPr>
        <p:spPr>
          <a:xfrm>
            <a:off x="936171" y="1095187"/>
            <a:ext cx="5159829" cy="369332"/>
          </a:xfrm>
          <a:prstGeom prst="rect">
            <a:avLst/>
          </a:prstGeom>
          <a:noFill/>
        </p:spPr>
        <p:txBody>
          <a:bodyPr wrap="square" rtlCol="0">
            <a:spAutoFit/>
          </a:bodyPr>
          <a:lstStyle/>
          <a:p>
            <a:r>
              <a:rPr lang="en-IN" b="1" dirty="0"/>
              <a:t>Netflix Ribbon </a:t>
            </a:r>
            <a:r>
              <a:rPr lang="en-IN" dirty="0"/>
              <a:t>(old) is outdated now </a:t>
            </a:r>
          </a:p>
        </p:txBody>
      </p:sp>
      <p:sp>
        <p:nvSpPr>
          <p:cNvPr id="4" name="TextBox 3">
            <a:extLst>
              <a:ext uri="{FF2B5EF4-FFF2-40B4-BE49-F238E27FC236}">
                <a16:creationId xmlns:a16="http://schemas.microsoft.com/office/drawing/2014/main" id="{5BD0242B-727A-FB47-0023-D655C968D21E}"/>
              </a:ext>
            </a:extLst>
          </p:cNvPr>
          <p:cNvSpPr txBox="1"/>
          <p:nvPr/>
        </p:nvSpPr>
        <p:spPr>
          <a:xfrm>
            <a:off x="936171" y="1917449"/>
            <a:ext cx="3810000" cy="3970318"/>
          </a:xfrm>
          <a:prstGeom prst="rect">
            <a:avLst/>
          </a:prstGeom>
          <a:noFill/>
        </p:spPr>
        <p:txBody>
          <a:bodyPr wrap="square" rtlCol="0">
            <a:spAutoFit/>
          </a:bodyPr>
          <a:lstStyle/>
          <a:p>
            <a:r>
              <a:rPr lang="en-IN" b="1" dirty="0"/>
              <a:t>Spring Cloud Load Balancer (new)</a:t>
            </a:r>
          </a:p>
          <a:p>
            <a:endParaRPr lang="en-IN" dirty="0"/>
          </a:p>
          <a:p>
            <a:pPr marL="342900" indent="-342900">
              <a:buFont typeface="Arial" panose="020B0604020202020204" pitchFamily="34" charset="0"/>
              <a:buChar char="•"/>
            </a:pPr>
            <a:r>
              <a:rPr lang="en-US" dirty="0"/>
              <a:t> implement </a:t>
            </a:r>
            <a:r>
              <a:rPr lang="en-US" dirty="0" err="1"/>
              <a:t>ServiceInstanceListSupplier</a:t>
            </a:r>
            <a:r>
              <a:rPr lang="en-US" dirty="0"/>
              <a:t> to define how we find available service instances</a:t>
            </a:r>
          </a:p>
          <a:p>
            <a:pPr marL="342900" indent="-342900">
              <a:buFont typeface="Arial" panose="020B0604020202020204" pitchFamily="34" charset="0"/>
              <a:buChar char="•"/>
            </a:pPr>
            <a:r>
              <a:rPr lang="en-US" dirty="0"/>
              <a:t>next create a </a:t>
            </a:r>
            <a:r>
              <a:rPr lang="en-US" dirty="0" err="1"/>
              <a:t>WebClient</a:t>
            </a:r>
            <a:r>
              <a:rPr lang="en-US" dirty="0"/>
              <a:t> bean by injecting this configuration using @LoadBalancerClient and declaring the bean as @LoadBalanced</a:t>
            </a:r>
          </a:p>
          <a:p>
            <a:pPr marL="342900" indent="-342900">
              <a:buFont typeface="Arial" panose="020B0604020202020204" pitchFamily="34" charset="0"/>
              <a:buChar char="•"/>
            </a:pPr>
            <a:r>
              <a:rPr lang="en-US" dirty="0"/>
              <a:t>use this load balanced </a:t>
            </a:r>
            <a:r>
              <a:rPr lang="en-US" dirty="0" err="1"/>
              <a:t>WebClient</a:t>
            </a:r>
            <a:r>
              <a:rPr lang="en-US" dirty="0"/>
              <a:t> bean in the client app to call the service </a:t>
            </a:r>
            <a:endParaRPr lang="en-IN" dirty="0"/>
          </a:p>
        </p:txBody>
      </p:sp>
      <p:sp>
        <p:nvSpPr>
          <p:cNvPr id="5" name="TextBox 4">
            <a:extLst>
              <a:ext uri="{FF2B5EF4-FFF2-40B4-BE49-F238E27FC236}">
                <a16:creationId xmlns:a16="http://schemas.microsoft.com/office/drawing/2014/main" id="{206C6002-A224-242A-9D43-007663F0AD34}"/>
              </a:ext>
            </a:extLst>
          </p:cNvPr>
          <p:cNvSpPr txBox="1"/>
          <p:nvPr/>
        </p:nvSpPr>
        <p:spPr>
          <a:xfrm>
            <a:off x="6346371" y="1481238"/>
            <a:ext cx="5508172" cy="1754326"/>
          </a:xfrm>
          <a:prstGeom prst="rect">
            <a:avLst/>
          </a:prstGeom>
          <a:noFill/>
        </p:spPr>
        <p:txBody>
          <a:bodyPr wrap="square" rtlCol="0">
            <a:spAutoFit/>
          </a:bodyPr>
          <a:lstStyle/>
          <a:p>
            <a:r>
              <a:rPr lang="en-IN" b="1" dirty="0"/>
              <a:t>Spring Cloud Open Feign</a:t>
            </a:r>
          </a:p>
          <a:p>
            <a:endParaRPr lang="en-IN" dirty="0"/>
          </a:p>
          <a:p>
            <a:r>
              <a:rPr lang="en-US" dirty="0"/>
              <a:t>Feign is a </a:t>
            </a:r>
            <a:r>
              <a:rPr lang="en-US" b="1" dirty="0"/>
              <a:t>declarative web service client</a:t>
            </a:r>
            <a:r>
              <a:rPr lang="en-US" dirty="0"/>
              <a:t>. Spring Cloud integrates Eureka, Spring Cloud </a:t>
            </a:r>
            <a:r>
              <a:rPr lang="en-US" dirty="0" err="1"/>
              <a:t>CircuitBreaker</a:t>
            </a:r>
            <a:r>
              <a:rPr lang="en-US" dirty="0"/>
              <a:t>, as well as Spring Cloud </a:t>
            </a:r>
            <a:r>
              <a:rPr lang="en-US" dirty="0" err="1"/>
              <a:t>LoadBalancer</a:t>
            </a:r>
            <a:r>
              <a:rPr lang="en-US" dirty="0"/>
              <a:t> to provide a load-balanced http client when using Feign.</a:t>
            </a:r>
            <a:endParaRPr lang="en-IN" dirty="0"/>
          </a:p>
        </p:txBody>
      </p:sp>
    </p:spTree>
    <p:extLst>
      <p:ext uri="{BB962C8B-B14F-4D97-AF65-F5344CB8AC3E}">
        <p14:creationId xmlns:p14="http://schemas.microsoft.com/office/powerpoint/2010/main" val="4058049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8AB02-8884-DAEE-838D-FF3CC9AE3334}"/>
              </a:ext>
            </a:extLst>
          </p:cNvPr>
          <p:cNvSpPr>
            <a:spLocks noGrp="1"/>
          </p:cNvSpPr>
          <p:nvPr>
            <p:ph type="title"/>
          </p:nvPr>
        </p:nvSpPr>
        <p:spPr>
          <a:xfrm>
            <a:off x="838200" y="365126"/>
            <a:ext cx="10515600" cy="298904"/>
          </a:xfrm>
        </p:spPr>
        <p:txBody>
          <a:bodyPr>
            <a:normAutofit fontScale="90000"/>
          </a:bodyPr>
          <a:lstStyle/>
          <a:p>
            <a:r>
              <a:rPr lang="en-IN" dirty="0"/>
              <a:t>API Gateway</a:t>
            </a:r>
          </a:p>
        </p:txBody>
      </p:sp>
      <p:sp>
        <p:nvSpPr>
          <p:cNvPr id="4" name="TextBox 3">
            <a:extLst>
              <a:ext uri="{FF2B5EF4-FFF2-40B4-BE49-F238E27FC236}">
                <a16:creationId xmlns:a16="http://schemas.microsoft.com/office/drawing/2014/main" id="{3F7FF29D-B750-8727-05B3-5893273DFF1B}"/>
              </a:ext>
            </a:extLst>
          </p:cNvPr>
          <p:cNvSpPr txBox="1"/>
          <p:nvPr/>
        </p:nvSpPr>
        <p:spPr>
          <a:xfrm>
            <a:off x="838200" y="1870894"/>
            <a:ext cx="4833258" cy="4247317"/>
          </a:xfrm>
          <a:prstGeom prst="rect">
            <a:avLst/>
          </a:prstGeom>
          <a:noFill/>
        </p:spPr>
        <p:txBody>
          <a:bodyPr wrap="square">
            <a:spAutoFit/>
          </a:bodyPr>
          <a:lstStyle/>
          <a:p>
            <a:r>
              <a:rPr lang="en-US" b="1" i="0" dirty="0">
                <a:effectLst/>
                <a:latin typeface="Open Sans" panose="020B0606030504020204" pitchFamily="34" charset="0"/>
              </a:rPr>
              <a:t>Spring Cloud Gateway </a:t>
            </a:r>
            <a:r>
              <a:rPr lang="en-US" b="0" i="0" dirty="0">
                <a:effectLst/>
                <a:latin typeface="Open Sans" panose="020B0606030504020204" pitchFamily="34" charset="0"/>
              </a:rPr>
              <a:t>aims to provide a simple, yet effective way to route to APIs and provide cross cutting concerns to them such as: security, monitoring/metrics, and resiliency.</a:t>
            </a:r>
          </a:p>
          <a:p>
            <a:endParaRPr lang="en-US" dirty="0">
              <a:latin typeface="Open Sans" panose="020B0606030504020204" pitchFamily="34" charset="0"/>
            </a:endParaRPr>
          </a:p>
          <a:p>
            <a:r>
              <a:rPr lang="en-US" b="1" dirty="0"/>
              <a:t>Features</a:t>
            </a:r>
          </a:p>
          <a:p>
            <a:pPr marL="285750" indent="-285750">
              <a:buFont typeface="Arial" panose="020B0604020202020204" pitchFamily="34" charset="0"/>
              <a:buChar char="•"/>
            </a:pPr>
            <a:r>
              <a:rPr lang="en-US" dirty="0"/>
              <a:t>Built on Spring Framework and Spring Boot</a:t>
            </a:r>
          </a:p>
          <a:p>
            <a:pPr marL="285750" indent="-285750">
              <a:buFont typeface="Arial" panose="020B0604020202020204" pitchFamily="34" charset="0"/>
              <a:buChar char="•"/>
            </a:pPr>
            <a:r>
              <a:rPr lang="en-US" dirty="0"/>
              <a:t>Able to match routes on any request attribute.</a:t>
            </a:r>
          </a:p>
          <a:p>
            <a:pPr marL="285750" indent="-285750">
              <a:buFont typeface="Arial" panose="020B0604020202020204" pitchFamily="34" charset="0"/>
              <a:buChar char="•"/>
            </a:pPr>
            <a:r>
              <a:rPr lang="en-US" dirty="0"/>
              <a:t>Predicates and filters are specific to routes.</a:t>
            </a:r>
          </a:p>
          <a:p>
            <a:pPr marL="285750" indent="-285750">
              <a:buFont typeface="Arial" panose="020B0604020202020204" pitchFamily="34" charset="0"/>
              <a:buChar char="•"/>
            </a:pPr>
            <a:r>
              <a:rPr lang="en-US" dirty="0"/>
              <a:t>Circuit Breaker integration.</a:t>
            </a:r>
          </a:p>
          <a:p>
            <a:pPr marL="285750" indent="-285750">
              <a:buFont typeface="Arial" panose="020B0604020202020204" pitchFamily="34" charset="0"/>
              <a:buChar char="•"/>
            </a:pPr>
            <a:r>
              <a:rPr lang="en-US" dirty="0"/>
              <a:t>Spring Cloud </a:t>
            </a:r>
            <a:r>
              <a:rPr lang="en-US" dirty="0" err="1"/>
              <a:t>DiscoveryClient</a:t>
            </a:r>
            <a:r>
              <a:rPr lang="en-US" dirty="0"/>
              <a:t> integration</a:t>
            </a:r>
          </a:p>
          <a:p>
            <a:pPr marL="285750" indent="-285750">
              <a:buFont typeface="Arial" panose="020B0604020202020204" pitchFamily="34" charset="0"/>
              <a:buChar char="•"/>
            </a:pPr>
            <a:r>
              <a:rPr lang="en-US" dirty="0"/>
              <a:t>Easy to write Predicates and Filters</a:t>
            </a:r>
          </a:p>
          <a:p>
            <a:pPr marL="285750" indent="-285750">
              <a:buFont typeface="Arial" panose="020B0604020202020204" pitchFamily="34" charset="0"/>
              <a:buChar char="•"/>
            </a:pPr>
            <a:r>
              <a:rPr lang="en-US" dirty="0"/>
              <a:t>Request Rate Limiting</a:t>
            </a:r>
          </a:p>
          <a:p>
            <a:pPr marL="285750" indent="-285750">
              <a:buFont typeface="Arial" panose="020B0604020202020204" pitchFamily="34" charset="0"/>
              <a:buChar char="•"/>
            </a:pPr>
            <a:r>
              <a:rPr lang="en-US" dirty="0"/>
              <a:t>Path Rewriting</a:t>
            </a:r>
            <a:endParaRPr lang="en-IN" dirty="0"/>
          </a:p>
        </p:txBody>
      </p:sp>
      <p:sp>
        <p:nvSpPr>
          <p:cNvPr id="8" name="TextBox 7">
            <a:extLst>
              <a:ext uri="{FF2B5EF4-FFF2-40B4-BE49-F238E27FC236}">
                <a16:creationId xmlns:a16="http://schemas.microsoft.com/office/drawing/2014/main" id="{52C6C88D-8740-AE02-62D7-6F38F88B2666}"/>
              </a:ext>
            </a:extLst>
          </p:cNvPr>
          <p:cNvSpPr txBox="1"/>
          <p:nvPr/>
        </p:nvSpPr>
        <p:spPr>
          <a:xfrm>
            <a:off x="838200" y="1082796"/>
            <a:ext cx="6096000" cy="369332"/>
          </a:xfrm>
          <a:prstGeom prst="rect">
            <a:avLst/>
          </a:prstGeom>
          <a:noFill/>
        </p:spPr>
        <p:txBody>
          <a:bodyPr wrap="square">
            <a:spAutoFit/>
          </a:bodyPr>
          <a:lstStyle/>
          <a:p>
            <a:r>
              <a:rPr lang="en-IN" b="1" dirty="0" err="1"/>
              <a:t>Zuul</a:t>
            </a:r>
            <a:r>
              <a:rPr lang="en-IN" b="1" dirty="0"/>
              <a:t> (old) </a:t>
            </a:r>
            <a:r>
              <a:rPr lang="en-IN" dirty="0"/>
              <a:t>supports blocking </a:t>
            </a:r>
            <a:r>
              <a:rPr lang="en-IN" dirty="0" err="1"/>
              <a:t>api</a:t>
            </a:r>
            <a:r>
              <a:rPr lang="en-IN" dirty="0"/>
              <a:t> calls only</a:t>
            </a:r>
          </a:p>
        </p:txBody>
      </p:sp>
      <p:sp>
        <p:nvSpPr>
          <p:cNvPr id="10" name="TextBox 9">
            <a:extLst>
              <a:ext uri="{FF2B5EF4-FFF2-40B4-BE49-F238E27FC236}">
                <a16:creationId xmlns:a16="http://schemas.microsoft.com/office/drawing/2014/main" id="{5CF05AC0-5BBC-C805-8FA4-31D583C542F4}"/>
              </a:ext>
            </a:extLst>
          </p:cNvPr>
          <p:cNvSpPr txBox="1"/>
          <p:nvPr/>
        </p:nvSpPr>
        <p:spPr>
          <a:xfrm>
            <a:off x="5671458" y="365127"/>
            <a:ext cx="5856513" cy="3970318"/>
          </a:xfrm>
          <a:prstGeom prst="rect">
            <a:avLst/>
          </a:prstGeom>
          <a:noFill/>
        </p:spPr>
        <p:txBody>
          <a:bodyPr wrap="square">
            <a:spAutoFit/>
          </a:bodyPr>
          <a:lstStyle/>
          <a:p>
            <a:r>
              <a:rPr lang="en-US" b="1" dirty="0"/>
              <a:t>Route</a:t>
            </a:r>
            <a:r>
              <a:rPr lang="en-US" dirty="0"/>
              <a:t>: These are the building blocks of the gateway which contain URL to which request is to be forwarded to and the predicates and filters that are applied on the incoming requests.</a:t>
            </a:r>
          </a:p>
          <a:p>
            <a:endParaRPr lang="en-US" dirty="0"/>
          </a:p>
          <a:p>
            <a:r>
              <a:rPr lang="en-US" b="1" dirty="0"/>
              <a:t>Predicate</a:t>
            </a:r>
            <a:r>
              <a:rPr lang="en-US" dirty="0"/>
              <a:t>: These are the set of criteria which should match for the incoming requests to be forwarded to internal microservices. This lets you match on anything from the HTTP request, such as headers or parameters.</a:t>
            </a:r>
          </a:p>
          <a:p>
            <a:endParaRPr lang="en-US" dirty="0"/>
          </a:p>
          <a:p>
            <a:r>
              <a:rPr lang="en-US" b="1" dirty="0"/>
              <a:t>Filter</a:t>
            </a:r>
            <a:r>
              <a:rPr lang="en-US" dirty="0"/>
              <a:t>: These act as the place where you can modify the incoming requests before sending the requests to the internal microservices or before responding back to the client.</a:t>
            </a:r>
            <a:endParaRPr lang="en-IN" dirty="0"/>
          </a:p>
        </p:txBody>
      </p:sp>
      <p:sp>
        <p:nvSpPr>
          <p:cNvPr id="12" name="TextBox 11">
            <a:extLst>
              <a:ext uri="{FF2B5EF4-FFF2-40B4-BE49-F238E27FC236}">
                <a16:creationId xmlns:a16="http://schemas.microsoft.com/office/drawing/2014/main" id="{E0758428-D9E3-E73D-A57B-9D551B2F82E6}"/>
              </a:ext>
            </a:extLst>
          </p:cNvPr>
          <p:cNvSpPr txBox="1"/>
          <p:nvPr/>
        </p:nvSpPr>
        <p:spPr>
          <a:xfrm>
            <a:off x="5671458" y="4272677"/>
            <a:ext cx="6183086" cy="2215991"/>
          </a:xfrm>
          <a:prstGeom prst="rect">
            <a:avLst/>
          </a:prstGeom>
          <a:noFill/>
        </p:spPr>
        <p:txBody>
          <a:bodyPr wrap="square">
            <a:spAutoFit/>
          </a:bodyPr>
          <a:lstStyle/>
          <a:p>
            <a:r>
              <a:rPr lang="en-US" b="1" dirty="0"/>
              <a:t>Sample gateway configuration</a:t>
            </a:r>
          </a:p>
          <a:p>
            <a:r>
              <a:rPr lang="en-US" sz="1200" dirty="0"/>
              <a:t>spring:</a:t>
            </a:r>
          </a:p>
          <a:p>
            <a:r>
              <a:rPr lang="en-US" sz="1200" dirty="0"/>
              <a:t> cloud:</a:t>
            </a:r>
          </a:p>
          <a:p>
            <a:r>
              <a:rPr lang="en-US" sz="1200" dirty="0"/>
              <a:t>  gateway:</a:t>
            </a:r>
          </a:p>
          <a:p>
            <a:r>
              <a:rPr lang="en-US" sz="1200" dirty="0"/>
              <a:t>    routes:</a:t>
            </a:r>
          </a:p>
          <a:p>
            <a:r>
              <a:rPr lang="en-US" sz="1200" dirty="0"/>
              <a:t>    - id: </a:t>
            </a:r>
            <a:r>
              <a:rPr lang="en-US" sz="1200" dirty="0" err="1"/>
              <a:t>baeldung_route</a:t>
            </a:r>
            <a:endParaRPr lang="en-US" sz="1200" dirty="0"/>
          </a:p>
          <a:p>
            <a:r>
              <a:rPr lang="en-US" sz="1200" dirty="0"/>
              <a:t>      </a:t>
            </a:r>
            <a:r>
              <a:rPr lang="en-US" sz="1200" dirty="0" err="1"/>
              <a:t>uri</a:t>
            </a:r>
            <a:r>
              <a:rPr lang="en-US" sz="1200" dirty="0"/>
              <a:t>: http://baeldung.com</a:t>
            </a:r>
          </a:p>
          <a:p>
            <a:r>
              <a:rPr lang="en-US" sz="1200" dirty="0"/>
              <a:t>      predicates:</a:t>
            </a:r>
          </a:p>
          <a:p>
            <a:r>
              <a:rPr lang="en-US" sz="1200" dirty="0"/>
              <a:t>     - Path=/</a:t>
            </a:r>
            <a:r>
              <a:rPr lang="en-US" sz="1200" dirty="0" err="1"/>
              <a:t>baeldung</a:t>
            </a:r>
            <a:r>
              <a:rPr lang="en-US" sz="1200" dirty="0"/>
              <a:t>/</a:t>
            </a:r>
          </a:p>
          <a:p>
            <a:r>
              <a:rPr lang="en-US" sz="1200" dirty="0"/>
              <a:t>      filters:</a:t>
            </a:r>
          </a:p>
          <a:p>
            <a:r>
              <a:rPr lang="en-US" sz="1200" dirty="0"/>
              <a:t>      -</a:t>
            </a:r>
            <a:r>
              <a:rPr lang="en-US" sz="1200" dirty="0" err="1"/>
              <a:t>AddResponseHeader</a:t>
            </a:r>
            <a:r>
              <a:rPr lang="en-US" sz="1200" dirty="0"/>
              <a:t>=X-</a:t>
            </a:r>
            <a:r>
              <a:rPr lang="en-US" sz="1200" dirty="0" err="1"/>
              <a:t>Custom_Header,Custom</a:t>
            </a:r>
            <a:r>
              <a:rPr lang="en-US" sz="1200" dirty="0"/>
              <a:t> Value</a:t>
            </a:r>
            <a:endParaRPr lang="en-IN" sz="1200" dirty="0"/>
          </a:p>
        </p:txBody>
      </p:sp>
    </p:spTree>
    <p:extLst>
      <p:ext uri="{BB962C8B-B14F-4D97-AF65-F5344CB8AC3E}">
        <p14:creationId xmlns:p14="http://schemas.microsoft.com/office/powerpoint/2010/main" val="10082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2B295-C6B8-2C6D-FD6E-20938D2FF27B}"/>
              </a:ext>
            </a:extLst>
          </p:cNvPr>
          <p:cNvSpPr>
            <a:spLocks noGrp="1"/>
          </p:cNvSpPr>
          <p:nvPr>
            <p:ph type="title"/>
          </p:nvPr>
        </p:nvSpPr>
        <p:spPr>
          <a:xfrm>
            <a:off x="838200" y="365125"/>
            <a:ext cx="10515600" cy="407761"/>
          </a:xfrm>
        </p:spPr>
        <p:txBody>
          <a:bodyPr>
            <a:normAutofit fontScale="90000"/>
          </a:bodyPr>
          <a:lstStyle/>
          <a:p>
            <a:r>
              <a:rPr lang="en-IN" dirty="0"/>
              <a:t>API Gateway</a:t>
            </a:r>
          </a:p>
        </p:txBody>
      </p:sp>
      <p:pic>
        <p:nvPicPr>
          <p:cNvPr id="6" name="Picture 5">
            <a:extLst>
              <a:ext uri="{FF2B5EF4-FFF2-40B4-BE49-F238E27FC236}">
                <a16:creationId xmlns:a16="http://schemas.microsoft.com/office/drawing/2014/main" id="{D0C35F26-A8D9-6F8E-5342-3AA6D1681D29}"/>
              </a:ext>
            </a:extLst>
          </p:cNvPr>
          <p:cNvPicPr>
            <a:picLocks noChangeAspect="1"/>
          </p:cNvPicPr>
          <p:nvPr/>
        </p:nvPicPr>
        <p:blipFill>
          <a:blip r:embed="rId2"/>
          <a:stretch>
            <a:fillRect/>
          </a:stretch>
        </p:blipFill>
        <p:spPr>
          <a:xfrm>
            <a:off x="838200" y="936038"/>
            <a:ext cx="7260771" cy="4120159"/>
          </a:xfrm>
          <a:prstGeom prst="rect">
            <a:avLst/>
          </a:prstGeom>
        </p:spPr>
      </p:pic>
      <p:sp>
        <p:nvSpPr>
          <p:cNvPr id="7" name="TextBox 6">
            <a:extLst>
              <a:ext uri="{FF2B5EF4-FFF2-40B4-BE49-F238E27FC236}">
                <a16:creationId xmlns:a16="http://schemas.microsoft.com/office/drawing/2014/main" id="{9300505D-3E78-5D77-FB55-EB0D39D52C50}"/>
              </a:ext>
            </a:extLst>
          </p:cNvPr>
          <p:cNvSpPr txBox="1"/>
          <p:nvPr/>
        </p:nvSpPr>
        <p:spPr>
          <a:xfrm>
            <a:off x="925286" y="5442857"/>
            <a:ext cx="9775371" cy="646331"/>
          </a:xfrm>
          <a:prstGeom prst="rect">
            <a:avLst/>
          </a:prstGeom>
          <a:noFill/>
        </p:spPr>
        <p:txBody>
          <a:bodyPr wrap="square" rtlCol="0">
            <a:spAutoFit/>
          </a:bodyPr>
          <a:lstStyle/>
          <a:p>
            <a:r>
              <a:rPr lang="en-IN" dirty="0">
                <a:solidFill>
                  <a:srgbClr val="FF0000"/>
                </a:solidFill>
              </a:rPr>
              <a:t>Important</a:t>
            </a:r>
            <a:r>
              <a:rPr lang="en-IN" dirty="0"/>
              <a:t> : Spring Cloud Gateway can incorporate components like circuit breaking, routing, Api gateway and tracing but you still need a config server and service discovery service separately  </a:t>
            </a:r>
          </a:p>
        </p:txBody>
      </p:sp>
    </p:spTree>
    <p:extLst>
      <p:ext uri="{BB962C8B-B14F-4D97-AF65-F5344CB8AC3E}">
        <p14:creationId xmlns:p14="http://schemas.microsoft.com/office/powerpoint/2010/main" val="164440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B51FF-5439-E73E-E073-3DDB6DA99F51}"/>
              </a:ext>
            </a:extLst>
          </p:cNvPr>
          <p:cNvSpPr>
            <a:spLocks noGrp="1"/>
          </p:cNvSpPr>
          <p:nvPr>
            <p:ph type="title"/>
          </p:nvPr>
        </p:nvSpPr>
        <p:spPr>
          <a:xfrm>
            <a:off x="838200" y="365125"/>
            <a:ext cx="10515600" cy="244475"/>
          </a:xfrm>
        </p:spPr>
        <p:txBody>
          <a:bodyPr>
            <a:normAutofit fontScale="90000"/>
          </a:bodyPr>
          <a:lstStyle/>
          <a:p>
            <a:r>
              <a:rPr lang="en-IN" dirty="0"/>
              <a:t>Tracing</a:t>
            </a:r>
          </a:p>
        </p:txBody>
      </p:sp>
      <p:sp>
        <p:nvSpPr>
          <p:cNvPr id="4" name="TextBox 3">
            <a:extLst>
              <a:ext uri="{FF2B5EF4-FFF2-40B4-BE49-F238E27FC236}">
                <a16:creationId xmlns:a16="http://schemas.microsoft.com/office/drawing/2014/main" id="{5796ACF0-9DE7-D0B2-0A63-BC0C82ED8BA1}"/>
              </a:ext>
            </a:extLst>
          </p:cNvPr>
          <p:cNvSpPr txBox="1"/>
          <p:nvPr/>
        </p:nvSpPr>
        <p:spPr>
          <a:xfrm>
            <a:off x="660400" y="1192768"/>
            <a:ext cx="4673600" cy="2308324"/>
          </a:xfrm>
          <a:prstGeom prst="rect">
            <a:avLst/>
          </a:prstGeom>
          <a:noFill/>
        </p:spPr>
        <p:txBody>
          <a:bodyPr wrap="square">
            <a:spAutoFit/>
          </a:bodyPr>
          <a:lstStyle/>
          <a:p>
            <a:r>
              <a:rPr lang="en-US" dirty="0"/>
              <a:t>Spring Cloud Sleuth provides Spring Boot auto-configuration for </a:t>
            </a:r>
            <a:r>
              <a:rPr lang="en-US" b="1" dirty="0"/>
              <a:t>distributed tracing</a:t>
            </a:r>
            <a:r>
              <a:rPr lang="en-US" dirty="0"/>
              <a:t>.</a:t>
            </a:r>
          </a:p>
          <a:p>
            <a:endParaRPr lang="en-US" dirty="0"/>
          </a:p>
          <a:p>
            <a:r>
              <a:rPr lang="en-US" dirty="0"/>
              <a:t>If this app calls out to another one (e.g. with </a:t>
            </a:r>
            <a:r>
              <a:rPr lang="en-US" dirty="0" err="1"/>
              <a:t>RestTemplate</a:t>
            </a:r>
            <a:r>
              <a:rPr lang="en-US" dirty="0"/>
              <a:t>) it will send the trace data in headers and if the receiver is another Sleuth app you will see the trace continue there.</a:t>
            </a:r>
          </a:p>
          <a:p>
            <a:endParaRPr lang="en-IN" dirty="0"/>
          </a:p>
        </p:txBody>
      </p:sp>
      <p:sp>
        <p:nvSpPr>
          <p:cNvPr id="6" name="TextBox 5">
            <a:extLst>
              <a:ext uri="{FF2B5EF4-FFF2-40B4-BE49-F238E27FC236}">
                <a16:creationId xmlns:a16="http://schemas.microsoft.com/office/drawing/2014/main" id="{A5E817FD-C7AE-A61F-BAE7-1589DBB14685}"/>
              </a:ext>
            </a:extLst>
          </p:cNvPr>
          <p:cNvSpPr txBox="1"/>
          <p:nvPr/>
        </p:nvSpPr>
        <p:spPr>
          <a:xfrm>
            <a:off x="5435600" y="1192768"/>
            <a:ext cx="6096000" cy="1754326"/>
          </a:xfrm>
          <a:prstGeom prst="rect">
            <a:avLst/>
          </a:prstGeom>
          <a:noFill/>
        </p:spPr>
        <p:txBody>
          <a:bodyPr wrap="square">
            <a:spAutoFit/>
          </a:bodyPr>
          <a:lstStyle/>
          <a:p>
            <a:r>
              <a:rPr lang="en-US" b="1" dirty="0"/>
              <a:t>Trace</a:t>
            </a:r>
            <a:r>
              <a:rPr lang="en-US" dirty="0"/>
              <a:t> is a view into a request as it moves through a distributed system. Multiple spans represent different parts of the workflow and are pieced together to create a trace. </a:t>
            </a:r>
          </a:p>
          <a:p>
            <a:endParaRPr lang="en-US" dirty="0"/>
          </a:p>
          <a:p>
            <a:r>
              <a:rPr lang="en-US" b="1" dirty="0"/>
              <a:t>Span</a:t>
            </a:r>
            <a:r>
              <a:rPr lang="en-US" dirty="0"/>
              <a:t> is a named, timed operation that represents a piece of the workflow.</a:t>
            </a:r>
            <a:endParaRPr lang="en-IN" dirty="0"/>
          </a:p>
        </p:txBody>
      </p:sp>
      <p:pic>
        <p:nvPicPr>
          <p:cNvPr id="12" name="Picture 11">
            <a:extLst>
              <a:ext uri="{FF2B5EF4-FFF2-40B4-BE49-F238E27FC236}">
                <a16:creationId xmlns:a16="http://schemas.microsoft.com/office/drawing/2014/main" id="{83FB6C79-B455-1665-32CA-24157F989B92}"/>
              </a:ext>
            </a:extLst>
          </p:cNvPr>
          <p:cNvPicPr>
            <a:picLocks noChangeAspect="1"/>
          </p:cNvPicPr>
          <p:nvPr/>
        </p:nvPicPr>
        <p:blipFill>
          <a:blip r:embed="rId2"/>
          <a:stretch>
            <a:fillRect/>
          </a:stretch>
        </p:blipFill>
        <p:spPr>
          <a:xfrm>
            <a:off x="764901" y="3429000"/>
            <a:ext cx="10662198" cy="3206915"/>
          </a:xfrm>
          <a:prstGeom prst="rect">
            <a:avLst/>
          </a:prstGeom>
        </p:spPr>
      </p:pic>
    </p:spTree>
    <p:extLst>
      <p:ext uri="{BB962C8B-B14F-4D97-AF65-F5344CB8AC3E}">
        <p14:creationId xmlns:p14="http://schemas.microsoft.com/office/powerpoint/2010/main" val="1069677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E1D2-CE29-0DB7-979E-83FB2AF68515}"/>
              </a:ext>
            </a:extLst>
          </p:cNvPr>
          <p:cNvSpPr>
            <a:spLocks noGrp="1"/>
          </p:cNvSpPr>
          <p:nvPr>
            <p:ph type="title"/>
          </p:nvPr>
        </p:nvSpPr>
        <p:spPr/>
        <p:txBody>
          <a:bodyPr/>
          <a:lstStyle/>
          <a:p>
            <a:r>
              <a:rPr lang="en-IN" dirty="0"/>
              <a:t>References</a:t>
            </a:r>
          </a:p>
        </p:txBody>
      </p:sp>
      <p:sp>
        <p:nvSpPr>
          <p:cNvPr id="4" name="TextBox 3">
            <a:extLst>
              <a:ext uri="{FF2B5EF4-FFF2-40B4-BE49-F238E27FC236}">
                <a16:creationId xmlns:a16="http://schemas.microsoft.com/office/drawing/2014/main" id="{AB74D227-2918-9160-F593-154346083C9B}"/>
              </a:ext>
            </a:extLst>
          </p:cNvPr>
          <p:cNvSpPr txBox="1"/>
          <p:nvPr/>
        </p:nvSpPr>
        <p:spPr>
          <a:xfrm>
            <a:off x="968828" y="1587864"/>
            <a:ext cx="8893629" cy="5909310"/>
          </a:xfrm>
          <a:prstGeom prst="rect">
            <a:avLst/>
          </a:prstGeom>
          <a:noFill/>
        </p:spPr>
        <p:txBody>
          <a:bodyPr wrap="square">
            <a:spAutoFit/>
          </a:bodyPr>
          <a:lstStyle/>
          <a:p>
            <a:r>
              <a:rPr lang="en-IN" dirty="0">
                <a:hlinkClick r:id="rId2"/>
              </a:rPr>
              <a:t>https://www.slideshare.net/Pivotal/the-beginners-guide-to-spring-cloud</a:t>
            </a:r>
            <a:r>
              <a:rPr lang="en-IN" dirty="0"/>
              <a:t> </a:t>
            </a:r>
          </a:p>
          <a:p>
            <a:endParaRPr lang="en-IN" dirty="0"/>
          </a:p>
          <a:p>
            <a:endParaRPr lang="en-IN" dirty="0"/>
          </a:p>
          <a:p>
            <a:r>
              <a:rPr lang="en-IN" dirty="0">
                <a:hlinkClick r:id="rId3"/>
              </a:rPr>
              <a:t>https://spring.io/projects/spring-cloud</a:t>
            </a:r>
            <a:r>
              <a:rPr lang="en-IN" dirty="0"/>
              <a:t> </a:t>
            </a:r>
          </a:p>
          <a:p>
            <a:endParaRPr lang="en-IN" dirty="0"/>
          </a:p>
          <a:p>
            <a:r>
              <a:rPr lang="en-IN" dirty="0">
                <a:hlinkClick r:id="rId4"/>
              </a:rPr>
              <a:t>https://www.slideshare.net/Pivotal/introduction-to-spring-cloud</a:t>
            </a:r>
            <a:endParaRPr lang="en-IN" dirty="0"/>
          </a:p>
          <a:p>
            <a:endParaRPr lang="en-IN" dirty="0"/>
          </a:p>
          <a:p>
            <a:r>
              <a:rPr lang="en-IN" dirty="0">
                <a:hlinkClick r:id="rId5"/>
              </a:rPr>
              <a:t>https://www.youtube.com/watch?v=Dd9-UxrNiD0</a:t>
            </a:r>
            <a:r>
              <a:rPr lang="en-IN" dirty="0"/>
              <a:t> (Consul)</a:t>
            </a:r>
          </a:p>
          <a:p>
            <a:endParaRPr lang="en-IN" dirty="0"/>
          </a:p>
          <a:p>
            <a:r>
              <a:rPr lang="en-IN" dirty="0">
                <a:hlinkClick r:id="rId6"/>
              </a:rPr>
              <a:t>https://spring.io/projects/spring-cloud-circuitbreaker</a:t>
            </a:r>
            <a:endParaRPr lang="en-IN" dirty="0"/>
          </a:p>
          <a:p>
            <a:endParaRPr lang="en-IN" dirty="0"/>
          </a:p>
          <a:p>
            <a:r>
              <a:rPr lang="en-IN" dirty="0">
                <a:hlinkClick r:id="rId7"/>
              </a:rPr>
              <a:t>https://betterjavacode.com/programming/spring-retry-vs-resilience4j-retry</a:t>
            </a:r>
            <a:r>
              <a:rPr lang="en-IN" dirty="0"/>
              <a:t> </a:t>
            </a:r>
          </a:p>
          <a:p>
            <a:endParaRPr lang="en-IN" dirty="0"/>
          </a:p>
          <a:p>
            <a:r>
              <a:rPr lang="en-IN" dirty="0">
                <a:hlinkClick r:id="rId8"/>
              </a:rPr>
              <a:t>https://www.baeldung.com/spring-cloud-load-balancer</a:t>
            </a:r>
            <a:r>
              <a:rPr lang="en-IN" dirty="0"/>
              <a:t> </a:t>
            </a:r>
          </a:p>
          <a:p>
            <a:endParaRPr lang="en-IN" dirty="0"/>
          </a:p>
          <a:p>
            <a:r>
              <a:rPr lang="en-IN" dirty="0">
                <a:hlinkClick r:id="rId9"/>
              </a:rPr>
              <a:t>https://www.youtube.com/watch?v=r9nLJwinIvU</a:t>
            </a:r>
            <a:r>
              <a:rPr lang="en-IN" dirty="0"/>
              <a:t> (feign)</a:t>
            </a:r>
          </a:p>
          <a:p>
            <a:endParaRPr lang="en-IN" dirty="0"/>
          </a:p>
          <a:p>
            <a:r>
              <a:rPr lang="en-IN" dirty="0">
                <a:hlinkClick r:id="rId10"/>
              </a:rPr>
              <a:t>https://www.youtube.com/watch?v=EKoq98KqvrI</a:t>
            </a:r>
            <a:r>
              <a:rPr lang="en-IN" dirty="0"/>
              <a:t> (API Gateway)</a:t>
            </a:r>
          </a:p>
          <a:p>
            <a:endParaRPr lang="en-IN" dirty="0"/>
          </a:p>
          <a:p>
            <a:endParaRPr lang="en-IN" dirty="0"/>
          </a:p>
          <a:p>
            <a:endParaRPr lang="en-IN" dirty="0"/>
          </a:p>
        </p:txBody>
      </p:sp>
    </p:spTree>
    <p:extLst>
      <p:ext uri="{BB962C8B-B14F-4D97-AF65-F5344CB8AC3E}">
        <p14:creationId xmlns:p14="http://schemas.microsoft.com/office/powerpoint/2010/main" val="4262507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565</TotalTime>
  <Words>1068</Words>
  <Application>Microsoft Office PowerPoint</Application>
  <PresentationFormat>Widescreen</PresentationFormat>
  <Paragraphs>149</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inter-regular</vt:lpstr>
      <vt:lpstr>Lucida Grande</vt:lpstr>
      <vt:lpstr>Open Sans</vt:lpstr>
      <vt:lpstr>Office Theme</vt:lpstr>
      <vt:lpstr>Spring Cloud</vt:lpstr>
      <vt:lpstr>PowerPoint Presentation</vt:lpstr>
      <vt:lpstr>PowerPoint Presentation</vt:lpstr>
      <vt:lpstr>PowerPoint Presentation</vt:lpstr>
      <vt:lpstr>PowerPoint Presentation</vt:lpstr>
      <vt:lpstr>PowerPoint Presentation</vt:lpstr>
      <vt:lpstr>Circuit Breaker</vt:lpstr>
      <vt:lpstr>Routing and Load Balancing</vt:lpstr>
      <vt:lpstr>API Gateway</vt:lpstr>
      <vt:lpstr>API Gateway</vt:lpstr>
      <vt:lpstr>Tracing</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 Cloud</dc:title>
  <dc:creator>Urmisha Sengupta</dc:creator>
  <cp:lastModifiedBy>Urmisha Sengupta</cp:lastModifiedBy>
  <cp:revision>128</cp:revision>
  <dcterms:created xsi:type="dcterms:W3CDTF">2023-11-02T08:26:40Z</dcterms:created>
  <dcterms:modified xsi:type="dcterms:W3CDTF">2023-11-06T14:28:03Z</dcterms:modified>
</cp:coreProperties>
</file>