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0" d="100"/>
          <a:sy n="70" d="100"/>
        </p:scale>
        <p:origin x="512" y="-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DB9EF-A992-8FA1-420E-EBD6329F0E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10BFAE-BE2E-9BA4-8F9D-C5FE327029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8211E0-C516-1AD2-A50E-093D69E63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8D5E8-594E-4B45-931C-589D9C15C98D}" type="datetimeFigureOut">
              <a:rPr lang="en-IN" smtClean="0"/>
              <a:t>22-01-2025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B4FDF2-24EF-E29F-034F-8733CE162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39F6FF-AF56-0389-86D9-6A4596ADE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A8CC-0D02-4571-86BD-107FEC4208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4768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87F14-9F94-27FA-37E4-19F6F33F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FB449-78DF-7FEA-2685-8E0FEC777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3CD2F-214F-E01E-1E8A-EC436EB0C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8D5E8-594E-4B45-931C-589D9C15C98D}" type="datetimeFigureOut">
              <a:rPr lang="en-IN" smtClean="0"/>
              <a:t>22-01-2025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26BB99-20ED-E86C-21D8-45154645F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122A4F-47AB-033A-626B-1101431AC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A8CC-0D02-4571-86BD-107FEC4208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77651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6B753-4272-CD0A-61F8-99AECD628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0E4E2-C162-27AF-DC3C-14FF79B1B4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3BB17-A7FA-BBA9-178A-4834A4FF8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8D5E8-594E-4B45-931C-589D9C15C98D}" type="datetimeFigureOut">
              <a:rPr lang="en-IN" smtClean="0"/>
              <a:t>22-01-2025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51F70-AFC1-A314-38F1-7177E9419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B5899-36BC-D4F5-0E72-45554FA70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A8CC-0D02-4571-86BD-107FEC4208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8830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9C065-3C04-8711-74D9-A7E231AC0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F805F-00BD-2829-127F-3A0AB8279F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BF5CD7-03C6-6678-E5BE-A4F616192B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2E39D7-CF01-CA3D-6E54-32423BD6F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8D5E8-594E-4B45-931C-589D9C15C98D}" type="datetimeFigureOut">
              <a:rPr lang="en-IN" smtClean="0"/>
              <a:t>22-01-2025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13DBA-C7FF-A2B1-401A-6FF41EBD3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69BB52-443C-8871-9200-BF4F0A156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A8CC-0D02-4571-86BD-107FEC4208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2747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74A8F-9945-E644-757A-DE07F6706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82BF84-2241-F548-45EF-D275CEDF5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F632E7-D0F8-9949-94FC-A9FF0EEEC3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1FDB85-9169-2FBF-E84D-CB37262301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0E3B47-6531-B340-9F43-823C0B0568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9EFF2E-2864-0A8F-4861-468B63D67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8D5E8-594E-4B45-931C-589D9C15C98D}" type="datetimeFigureOut">
              <a:rPr lang="en-IN" smtClean="0"/>
              <a:t>22-01-2025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01EAEF-8611-46D8-E457-483C8E16B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C655E7-908F-43AD-53FB-83E27F66C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A8CC-0D02-4571-86BD-107FEC4208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9456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624DD-8B90-B774-CD6F-B3CE3451E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19CE47-D51B-4A47-26D4-3AC9C8845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8D5E8-594E-4B45-931C-589D9C15C98D}" type="datetimeFigureOut">
              <a:rPr lang="en-IN" smtClean="0"/>
              <a:t>22-01-2025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EFE0-E361-EA7F-4993-8595A7D7C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B86F41-48C1-49AA-6CEB-AD84604D1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A8CC-0D02-4571-86BD-107FEC4208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31254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6B40D1-6452-79B2-72EF-83C7003A2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8D5E8-594E-4B45-931C-589D9C15C98D}" type="datetimeFigureOut">
              <a:rPr lang="en-IN" smtClean="0"/>
              <a:t>22-01-2025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AE7D59-4BE6-97C5-526D-D7895C678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3D02A-49F7-85F2-C4A8-32E6BF821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A8CC-0D02-4571-86BD-107FEC4208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83272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B5F74-003C-857C-60CA-D088CAFF6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AFFBE-4C98-1CD5-720C-58ADF69F28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6CCF36-2BB7-093D-AF6C-8B4270A656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02A638-EF25-7923-4963-4E8C0220E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8D5E8-594E-4B45-931C-589D9C15C98D}" type="datetimeFigureOut">
              <a:rPr lang="en-IN" smtClean="0"/>
              <a:t>22-01-2025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6439BC-789B-4570-2E20-820E4D2A9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4AFAC5-6ACA-D0B7-F334-8A31E8718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A8CC-0D02-4571-86BD-107FEC4208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5536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DDF38-414B-8146-52CC-AB896080D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5A201C-48BD-6A08-1484-98C7713D11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837B29-9CFD-3689-5333-9EE0E45EB1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312190-86F5-DF3B-004D-3307C1F81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8D5E8-594E-4B45-931C-589D9C15C98D}" type="datetimeFigureOut">
              <a:rPr lang="en-IN" smtClean="0"/>
              <a:t>22-01-2025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3160C-E282-6F8B-5197-BAB1D83B3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AD357A-5445-6E8F-0C7D-4FD5B422B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A8CC-0D02-4571-86BD-107FEC4208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3070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9CC39-1749-4F4F-34E4-961FF9DCC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FCCEFF-A431-F71E-28F3-CDBC2B2E0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0686D9-3D51-FA5C-7179-E39EC782E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8D5E8-594E-4B45-931C-589D9C15C98D}" type="datetimeFigureOut">
              <a:rPr lang="en-IN" smtClean="0"/>
              <a:t>22-01-2025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594C7D-AD07-4C8D-A487-B76CA058F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22A82-3C5F-7EA7-D798-EFD6BEBE4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A8CC-0D02-4571-86BD-107FEC4208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978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4B3E13-73F2-E59A-7B32-A5F7EFC8DC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CB4187-23E7-5A51-53BE-4DE8509D77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1367E9-E608-8DEA-B669-EA3D2EA90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8D5E8-594E-4B45-931C-589D9C15C98D}" type="datetimeFigureOut">
              <a:rPr lang="en-IN" smtClean="0"/>
              <a:t>22-01-2025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94799-59FC-2BA0-AD52-9F297C417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38A71-B493-6E3D-6511-C395A02B8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A8CC-0D02-4571-86BD-107FEC4208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644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ED3839-AB1A-C754-9FEC-EBED79F55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E918B1-C72E-3E89-681A-77A1DD34AF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64B450-ABCC-337B-366A-7E694231FE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68D5E8-594E-4B45-931C-589D9C15C98D}" type="datetimeFigureOut">
              <a:rPr lang="en-IN" smtClean="0"/>
              <a:t>22-01-2025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F534F8-6789-8EF4-9A6E-2FB7D9DD12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2B882F-19A9-D640-1D8B-452B2DA628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BFA8CC-0D02-4571-86BD-107FEC4208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5537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zaRkONvyGr8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tackoverflow.com/questions/12346326/cap-theorem-availability-and-partition-tolerance" TargetMode="External"/><Relationship Id="rId2" Type="http://schemas.openxmlformats.org/officeDocument/2006/relationships/hyperlink" Target="https://www.nexsoftsys.com/articles/CAP-theorem-database-dbms.html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CC5F-D58A-D16D-98F8-8E70310F1E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System Design Case Studies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9EB3A9-C95B-B520-2060-E5C260D0857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Ayan Sengupta</a:t>
            </a:r>
          </a:p>
        </p:txBody>
      </p:sp>
    </p:spTree>
    <p:extLst>
      <p:ext uri="{BB962C8B-B14F-4D97-AF65-F5344CB8AC3E}">
        <p14:creationId xmlns:p14="http://schemas.microsoft.com/office/powerpoint/2010/main" val="19996688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FEB4B-1E10-DAB6-6367-048D59A5C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81932"/>
          </a:xfrm>
        </p:spPr>
        <p:txBody>
          <a:bodyPr>
            <a:normAutofit fontScale="90000"/>
          </a:bodyPr>
          <a:lstStyle/>
          <a:p>
            <a:r>
              <a:rPr lang="en-IN" b="1" i="0" dirty="0">
                <a:effectLst/>
                <a:latin typeface="__Source_Sans_3_a605e5"/>
              </a:rPr>
              <a:t>Functional vs. Non-functional Requirements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8B6F76-F16B-20F4-75A8-C25E25720ABC}"/>
              </a:ext>
            </a:extLst>
          </p:cNvPr>
          <p:cNvSpPr txBox="1"/>
          <p:nvPr/>
        </p:nvSpPr>
        <p:spPr>
          <a:xfrm>
            <a:off x="838200" y="947058"/>
            <a:ext cx="10820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Functional Requirements </a:t>
            </a:r>
            <a:r>
              <a:rPr lang="en-IN" dirty="0"/>
              <a:t>: </a:t>
            </a:r>
            <a:r>
              <a:rPr lang="en-US" b="0" i="0" dirty="0">
                <a:solidFill>
                  <a:srgbClr val="0070C0"/>
                </a:solidFill>
                <a:effectLst/>
                <a:latin typeface="__Source_Sans_3_a605e5"/>
              </a:rPr>
              <a:t>what</a:t>
            </a:r>
            <a:r>
              <a:rPr lang="en-US" b="0" i="0" dirty="0">
                <a:effectLst/>
                <a:latin typeface="__Source_Sans_3_a605e5"/>
              </a:rPr>
              <a:t> a system is supposed to do?</a:t>
            </a:r>
          </a:p>
          <a:p>
            <a:r>
              <a:rPr lang="en-IN" b="1" dirty="0"/>
              <a:t>Non-Functional Requirements </a:t>
            </a:r>
            <a:r>
              <a:rPr lang="en-IN" dirty="0"/>
              <a:t>: </a:t>
            </a:r>
            <a:r>
              <a:rPr lang="en-US" b="0" i="0" dirty="0">
                <a:effectLst/>
                <a:latin typeface="__Source_Sans_3_a605e5"/>
              </a:rPr>
              <a:t>They are related to the </a:t>
            </a:r>
            <a:r>
              <a:rPr lang="en-US" b="0" i="0" dirty="0">
                <a:solidFill>
                  <a:srgbClr val="0070C0"/>
                </a:solidFill>
                <a:effectLst/>
                <a:latin typeface="__Source_Sans_3_a605e5"/>
              </a:rPr>
              <a:t>quality</a:t>
            </a:r>
            <a:r>
              <a:rPr lang="en-US" b="0" i="0" dirty="0">
                <a:effectLst/>
                <a:latin typeface="__Source_Sans_3_a605e5"/>
              </a:rPr>
              <a:t> attributes of the system.</a:t>
            </a: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A52E89-73AA-1F9F-C6E0-37A9F1622F64}"/>
              </a:ext>
            </a:extLst>
          </p:cNvPr>
          <p:cNvSpPr txBox="1"/>
          <p:nvPr/>
        </p:nvSpPr>
        <p:spPr>
          <a:xfrm>
            <a:off x="838200" y="1876202"/>
            <a:ext cx="10711543" cy="44681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3555"/>
              </a:spcBef>
              <a:spcAft>
                <a:spcPts val="1500"/>
              </a:spcAft>
            </a:pPr>
            <a:r>
              <a:rPr lang="en-US" sz="1600" b="1" i="0" dirty="0">
                <a:effectLst/>
                <a:latin typeface="__Source_Sans_3_a605e5"/>
              </a:rPr>
              <a:t>In System Design Interviews</a:t>
            </a:r>
          </a:p>
          <a:p>
            <a:pPr algn="l">
              <a:lnSpc>
                <a:spcPts val="2400"/>
              </a:lnSpc>
              <a:spcAft>
                <a:spcPts val="1290"/>
              </a:spcAft>
            </a:pPr>
            <a:r>
              <a:rPr lang="en-US" sz="1600" b="0" i="0" dirty="0">
                <a:effectLst/>
                <a:latin typeface="__Source_Sans_3_a605e5"/>
              </a:rPr>
              <a:t>When you're in a system design interview, here's how you can handle these requirements:</a:t>
            </a:r>
          </a:p>
          <a:p>
            <a:pPr algn="l">
              <a:lnSpc>
                <a:spcPts val="2400"/>
              </a:lnSpc>
              <a:spcAft>
                <a:spcPts val="1290"/>
              </a:spcAft>
              <a:buFont typeface="+mj-lt"/>
              <a:buAutoNum type="arabicPeriod"/>
            </a:pPr>
            <a:r>
              <a:rPr lang="en-US" sz="1600" b="1" i="0" dirty="0">
                <a:effectLst/>
                <a:latin typeface="__Source_Sans_3_a605e5"/>
              </a:rPr>
              <a:t>Clarify Requirements</a:t>
            </a:r>
            <a:r>
              <a:rPr lang="en-US" sz="1600" b="0" i="0" dirty="0">
                <a:effectLst/>
                <a:latin typeface="__Source_Sans_3_a605e5"/>
              </a:rPr>
              <a:t>: Start by asking questions to understand both functional and non-functional requirements. Interviewers often leave these </a:t>
            </a:r>
            <a:r>
              <a:rPr lang="en-US" sz="1600" b="0" i="0" dirty="0">
                <a:solidFill>
                  <a:srgbClr val="0070C0"/>
                </a:solidFill>
                <a:effectLst/>
                <a:latin typeface="__Source_Sans_3_a605e5"/>
              </a:rPr>
              <a:t>vague</a:t>
            </a:r>
            <a:r>
              <a:rPr lang="en-US" sz="1600" b="0" i="0" dirty="0">
                <a:effectLst/>
                <a:latin typeface="__Source_Sans_3_a605e5"/>
              </a:rPr>
              <a:t> to see if you'll probe for more details.</a:t>
            </a:r>
          </a:p>
          <a:p>
            <a:pPr algn="l">
              <a:lnSpc>
                <a:spcPts val="2400"/>
              </a:lnSpc>
              <a:spcAft>
                <a:spcPts val="1290"/>
              </a:spcAft>
              <a:buFont typeface="+mj-lt"/>
              <a:buAutoNum type="arabicPeriod"/>
            </a:pPr>
            <a:r>
              <a:rPr lang="en-US" sz="1600" b="1" i="0" dirty="0">
                <a:effectLst/>
                <a:latin typeface="__Source_Sans_3_a605e5"/>
              </a:rPr>
              <a:t>Prioritize</a:t>
            </a:r>
            <a:r>
              <a:rPr lang="en-US" sz="1600" b="0" i="0" dirty="0">
                <a:effectLst/>
                <a:latin typeface="__Source_Sans_3_a605e5"/>
              </a:rPr>
              <a:t>: Not all requirements are equally important. Identify which ones are </a:t>
            </a:r>
            <a:r>
              <a:rPr lang="en-US" sz="1600" b="0" i="0" dirty="0">
                <a:solidFill>
                  <a:srgbClr val="0070C0"/>
                </a:solidFill>
                <a:effectLst/>
                <a:latin typeface="__Source_Sans_3_a605e5"/>
              </a:rPr>
              <a:t>critical</a:t>
            </a:r>
            <a:r>
              <a:rPr lang="en-US" sz="1600" b="0" i="0" dirty="0">
                <a:effectLst/>
                <a:latin typeface="__Source_Sans_3_a605e5"/>
              </a:rPr>
              <a:t> for the system’s success.</a:t>
            </a:r>
          </a:p>
          <a:p>
            <a:pPr algn="l">
              <a:lnSpc>
                <a:spcPts val="2400"/>
              </a:lnSpc>
              <a:spcAft>
                <a:spcPts val="1290"/>
              </a:spcAft>
              <a:buFont typeface="+mj-lt"/>
              <a:buAutoNum type="arabicPeriod"/>
            </a:pPr>
            <a:r>
              <a:rPr lang="en-US" sz="1600" b="1" i="0" dirty="0">
                <a:effectLst/>
                <a:latin typeface="__Source_Sans_3_a605e5"/>
              </a:rPr>
              <a:t>Trade-offs</a:t>
            </a:r>
            <a:r>
              <a:rPr lang="en-US" sz="1600" b="0" i="0" dirty="0">
                <a:effectLst/>
                <a:latin typeface="__Source_Sans_3_a605e5"/>
              </a:rPr>
              <a:t>: Discuss </a:t>
            </a:r>
            <a:r>
              <a:rPr lang="en-US" sz="1600" b="0" i="0" dirty="0">
                <a:solidFill>
                  <a:srgbClr val="0070C0"/>
                </a:solidFill>
                <a:effectLst/>
                <a:latin typeface="__Source_Sans_3_a605e5"/>
              </a:rPr>
              <a:t>trade-offs</a:t>
            </a:r>
            <a:r>
              <a:rPr lang="en-US" sz="1600" b="0" i="0" dirty="0">
                <a:effectLst/>
                <a:latin typeface="__Source_Sans_3_a605e5"/>
              </a:rPr>
              <a:t> related to different architectural decisions, especially concerning non-functional requirements. For example, a system highly optimized for read operations might have slower write operations.</a:t>
            </a:r>
          </a:p>
          <a:p>
            <a:pPr algn="l">
              <a:lnSpc>
                <a:spcPts val="2400"/>
              </a:lnSpc>
              <a:spcAft>
                <a:spcPts val="1290"/>
              </a:spcAft>
              <a:buFont typeface="+mj-lt"/>
              <a:buAutoNum type="arabicPeriod"/>
            </a:pPr>
            <a:r>
              <a:rPr lang="en-US" sz="1600" b="1" i="0" dirty="0">
                <a:effectLst/>
                <a:latin typeface="__Source_Sans_3_a605e5"/>
              </a:rPr>
              <a:t>Use Real-World Examples</a:t>
            </a:r>
            <a:r>
              <a:rPr lang="en-US" sz="1600" b="0" i="0" dirty="0">
                <a:effectLst/>
                <a:latin typeface="__Source_Sans_3_a605e5"/>
              </a:rPr>
              <a:t>: If you can, relate your points to real-world systems or your past experiences. This shows practical understanding.</a:t>
            </a:r>
          </a:p>
          <a:p>
            <a:pPr algn="l">
              <a:lnSpc>
                <a:spcPts val="2400"/>
              </a:lnSpc>
              <a:spcAft>
                <a:spcPts val="1290"/>
              </a:spcAft>
              <a:buFont typeface="+mj-lt"/>
              <a:buAutoNum type="arabicPeriod"/>
            </a:pPr>
            <a:r>
              <a:rPr lang="en-US" sz="1600" b="1" i="0" dirty="0">
                <a:effectLst/>
                <a:latin typeface="__Source_Sans_3_a605e5"/>
              </a:rPr>
              <a:t>Balance</a:t>
            </a:r>
            <a:r>
              <a:rPr lang="en-US" sz="1600" b="0" i="0" dirty="0">
                <a:effectLst/>
                <a:latin typeface="__Source_Sans_3_a605e5"/>
              </a:rPr>
              <a:t>: Ensure you're not focusing too much on one type of requirement over the other. A well-rounded approach is often necessary.</a:t>
            </a:r>
          </a:p>
        </p:txBody>
      </p:sp>
    </p:spTree>
    <p:extLst>
      <p:ext uri="{BB962C8B-B14F-4D97-AF65-F5344CB8AC3E}">
        <p14:creationId xmlns:p14="http://schemas.microsoft.com/office/powerpoint/2010/main" val="2893947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38375-0A3D-76B5-A04B-1FA346B04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73075"/>
          </a:xfrm>
        </p:spPr>
        <p:txBody>
          <a:bodyPr>
            <a:normAutofit fontScale="90000"/>
          </a:bodyPr>
          <a:lstStyle/>
          <a:p>
            <a:r>
              <a:rPr lang="en-IN" b="1" i="0" dirty="0">
                <a:effectLst/>
                <a:latin typeface="__Source_Sans_3_a605e5"/>
              </a:rPr>
              <a:t>Back-of-the-Envelope Estimations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42831D-1C70-54DD-A47E-4DC19A97B885}"/>
              </a:ext>
            </a:extLst>
          </p:cNvPr>
          <p:cNvSpPr txBox="1"/>
          <p:nvPr/>
        </p:nvSpPr>
        <p:spPr>
          <a:xfrm>
            <a:off x="653142" y="940110"/>
            <a:ext cx="11364687" cy="5526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1290"/>
              </a:spcAft>
              <a:buFont typeface="+mj-lt"/>
              <a:buAutoNum type="arabicPeriod"/>
            </a:pPr>
            <a:r>
              <a:rPr lang="en-US" b="1" i="0" dirty="0">
                <a:effectLst/>
                <a:latin typeface="__Source_Sans_3_a605e5"/>
              </a:rPr>
              <a:t> Load estimation:</a:t>
            </a:r>
            <a:r>
              <a:rPr lang="en-US" b="0" i="0" dirty="0">
                <a:effectLst/>
                <a:latin typeface="__Source_Sans_3_a605e5"/>
              </a:rPr>
              <a:t> Predict the expected number of </a:t>
            </a:r>
            <a:r>
              <a:rPr lang="en-US" b="0" i="0" dirty="0">
                <a:solidFill>
                  <a:srgbClr val="0070C0"/>
                </a:solidFill>
                <a:effectLst/>
                <a:latin typeface="__Source_Sans_3_a605e5"/>
              </a:rPr>
              <a:t>requests per second</a:t>
            </a:r>
            <a:r>
              <a:rPr lang="en-US" b="0" i="0" dirty="0">
                <a:effectLst/>
                <a:latin typeface="__Source_Sans_3_a605e5"/>
              </a:rPr>
              <a:t>, </a:t>
            </a:r>
            <a:r>
              <a:rPr lang="en-US" b="0" i="0" dirty="0">
                <a:solidFill>
                  <a:srgbClr val="0070C0"/>
                </a:solidFill>
                <a:effectLst/>
                <a:latin typeface="__Source_Sans_3_a605e5"/>
              </a:rPr>
              <a:t>data volume, or user traffic </a:t>
            </a:r>
            <a:r>
              <a:rPr lang="en-US" b="0" i="0" dirty="0">
                <a:effectLst/>
                <a:latin typeface="__Source_Sans_3_a605e5"/>
              </a:rPr>
              <a:t>for the system. Example : 100 million DAU * 10 posts/user = 1 billion posts/day. 1 billion posts/day / 86,400 seconds/day ≈ 11,574 requests/second</a:t>
            </a:r>
          </a:p>
          <a:p>
            <a:pPr algn="l">
              <a:lnSpc>
                <a:spcPts val="2400"/>
              </a:lnSpc>
              <a:spcAft>
                <a:spcPts val="1290"/>
              </a:spcAft>
              <a:buFont typeface="+mj-lt"/>
              <a:buAutoNum type="arabicPeriod"/>
            </a:pPr>
            <a:r>
              <a:rPr lang="en-US" b="1" i="0" dirty="0">
                <a:effectLst/>
                <a:latin typeface="__Source_Sans_3_a605e5"/>
              </a:rPr>
              <a:t> Storage estimation:</a:t>
            </a:r>
            <a:r>
              <a:rPr lang="en-US" b="0" i="0" dirty="0">
                <a:effectLst/>
                <a:latin typeface="__Source_Sans_3_a605e5"/>
              </a:rPr>
              <a:t> Estimate the </a:t>
            </a:r>
            <a:r>
              <a:rPr lang="en-US" b="0" i="0" dirty="0">
                <a:solidFill>
                  <a:srgbClr val="0070C0"/>
                </a:solidFill>
                <a:effectLst/>
                <a:latin typeface="__Source_Sans_3_a605e5"/>
              </a:rPr>
              <a:t>amount of storage </a:t>
            </a:r>
            <a:r>
              <a:rPr lang="en-US" b="0" i="0" dirty="0">
                <a:effectLst/>
                <a:latin typeface="__Source_Sans_3_a605e5"/>
              </a:rPr>
              <a:t>required to handle the data generated by the system. Example : 500 million users * 2 photos/user * 2 MB/photo = 2,000,000,000 MB/day</a:t>
            </a:r>
          </a:p>
          <a:p>
            <a:pPr algn="l">
              <a:lnSpc>
                <a:spcPts val="2400"/>
              </a:lnSpc>
              <a:spcAft>
                <a:spcPts val="1290"/>
              </a:spcAft>
              <a:buFont typeface="+mj-lt"/>
              <a:buAutoNum type="arabicPeriod"/>
            </a:pPr>
            <a:r>
              <a:rPr lang="en-US" b="1" i="0" dirty="0">
                <a:effectLst/>
                <a:latin typeface="__Source_Sans_3_a605e5"/>
              </a:rPr>
              <a:t> Bandwidth estimation:</a:t>
            </a:r>
            <a:r>
              <a:rPr lang="en-US" b="0" i="0" dirty="0">
                <a:effectLst/>
                <a:latin typeface="__Source_Sans_3_a605e5"/>
              </a:rPr>
              <a:t> Determine the </a:t>
            </a:r>
            <a:r>
              <a:rPr lang="en-US" b="0" i="0" dirty="0">
                <a:solidFill>
                  <a:srgbClr val="0070C0"/>
                </a:solidFill>
                <a:effectLst/>
                <a:latin typeface="__Source_Sans_3_a605e5"/>
              </a:rPr>
              <a:t>network bandwidth </a:t>
            </a:r>
            <a:r>
              <a:rPr lang="en-US" b="0" i="0" dirty="0">
                <a:effectLst/>
                <a:latin typeface="__Source_Sans_3_a605e5"/>
              </a:rPr>
              <a:t>needed to support the expected traffic and data transfer. Example : 10 million users * 4 Mbps = 40,000,000 Mbps</a:t>
            </a:r>
          </a:p>
          <a:p>
            <a:pPr algn="l">
              <a:lnSpc>
                <a:spcPts val="2400"/>
              </a:lnSpc>
              <a:spcAft>
                <a:spcPts val="1290"/>
              </a:spcAft>
              <a:buFont typeface="+mj-lt"/>
              <a:buAutoNum type="arabicPeriod"/>
            </a:pPr>
            <a:r>
              <a:rPr lang="en-US" b="1" i="0" dirty="0">
                <a:effectLst/>
                <a:latin typeface="__Source_Sans_3_a605e5"/>
              </a:rPr>
              <a:t> Latency estimation:</a:t>
            </a:r>
            <a:r>
              <a:rPr lang="en-US" b="0" i="0" dirty="0">
                <a:effectLst/>
                <a:latin typeface="__Source_Sans_3_a605e5"/>
              </a:rPr>
              <a:t> Predict the </a:t>
            </a:r>
            <a:r>
              <a:rPr lang="en-US" b="0" i="0" dirty="0">
                <a:solidFill>
                  <a:srgbClr val="0070C0"/>
                </a:solidFill>
                <a:effectLst/>
                <a:latin typeface="__Source_Sans_3_a605e5"/>
              </a:rPr>
              <a:t>response time and latency </a:t>
            </a:r>
            <a:r>
              <a:rPr lang="en-US" b="0" i="0" dirty="0">
                <a:effectLst/>
                <a:latin typeface="__Source_Sans_3_a605e5"/>
              </a:rPr>
              <a:t>of the system based on its architecture and components.</a:t>
            </a:r>
          </a:p>
          <a:p>
            <a:pPr algn="l">
              <a:lnSpc>
                <a:spcPts val="2400"/>
              </a:lnSpc>
              <a:spcAft>
                <a:spcPts val="1290"/>
              </a:spcAft>
              <a:buFont typeface="+mj-lt"/>
              <a:buAutoNum type="arabicPeriod"/>
            </a:pPr>
            <a:r>
              <a:rPr lang="en-US" b="1" i="0" dirty="0">
                <a:effectLst/>
                <a:latin typeface="__Source_Sans_3_a605e5"/>
              </a:rPr>
              <a:t> Resource estimation:</a:t>
            </a:r>
            <a:r>
              <a:rPr lang="en-US" b="0" i="0" dirty="0">
                <a:effectLst/>
                <a:latin typeface="__Source_Sans_3_a605e5"/>
              </a:rPr>
              <a:t> Estimate the </a:t>
            </a:r>
            <a:r>
              <a:rPr lang="en-US" b="0" i="0" dirty="0">
                <a:solidFill>
                  <a:srgbClr val="0070C0"/>
                </a:solidFill>
                <a:effectLst/>
                <a:latin typeface="__Source_Sans_3_a605e5"/>
              </a:rPr>
              <a:t>number of servers, CPUs, or memory </a:t>
            </a:r>
            <a:r>
              <a:rPr lang="en-US" b="0" i="0" dirty="0">
                <a:effectLst/>
                <a:latin typeface="__Source_Sans_3_a605e5"/>
              </a:rPr>
              <a:t>required to handle the load and maintain desired performance levels. Example :  </a:t>
            </a:r>
          </a:p>
          <a:p>
            <a:pPr lvl="1" indent="-285750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__Source_Sans_3_a605e5"/>
              </a:rPr>
              <a:t>Example : We are designing a web application that receives 10,000 requests per second, with each request requiring 10ms of CPU time. </a:t>
            </a:r>
          </a:p>
          <a:p>
            <a:pPr lvl="1" indent="-285750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__Source_Sans_3_a605e5"/>
              </a:rPr>
              <a:t>Total CPU time per second: 10,000 requests/second * 10ms/request = 100,000ms/second. </a:t>
            </a:r>
          </a:p>
          <a:p>
            <a:pPr lvl="1" indent="-285750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__Source_Sans_3_a605e5"/>
              </a:rPr>
              <a:t>Assuming each CPU core can handle 1,000ms of processing per second, the number of cores required would be: 100,000ms/second / 1,000ms/core = 100 cores</a:t>
            </a:r>
          </a:p>
        </p:txBody>
      </p:sp>
    </p:spTree>
    <p:extLst>
      <p:ext uri="{BB962C8B-B14F-4D97-AF65-F5344CB8AC3E}">
        <p14:creationId xmlns:p14="http://schemas.microsoft.com/office/powerpoint/2010/main" val="2801622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F5B0-4250-462F-352C-9CFEA110F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288018"/>
          </a:xfrm>
        </p:spPr>
        <p:txBody>
          <a:bodyPr>
            <a:normAutofit fontScale="90000"/>
          </a:bodyPr>
          <a:lstStyle/>
          <a:p>
            <a:r>
              <a:rPr lang="en-IN" dirty="0"/>
              <a:t>Some useful metrics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777AD0-0DFD-514F-4666-11767E9BA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223" y="1148868"/>
            <a:ext cx="4737937" cy="2280132"/>
          </a:xfrm>
          <a:prstGeom prst="rect">
            <a:avLst/>
          </a:prstGeom>
        </p:spPr>
      </p:pic>
      <p:pic>
        <p:nvPicPr>
          <p:cNvPr id="2050" name="Picture 2" descr="Image">
            <a:extLst>
              <a:ext uri="{FF2B5EF4-FFF2-40B4-BE49-F238E27FC236}">
                <a16:creationId xmlns:a16="http://schemas.microsoft.com/office/drawing/2014/main" id="{A8449277-B967-C617-50D6-81C1E8916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1521" y="125185"/>
            <a:ext cx="6910479" cy="6607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910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19E1C-12F8-07FD-0CDE-C7CA7D78D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943" y="376010"/>
            <a:ext cx="10515600" cy="625475"/>
          </a:xfrm>
        </p:spPr>
        <p:txBody>
          <a:bodyPr>
            <a:normAutofit fontScale="90000"/>
          </a:bodyPr>
          <a:lstStyle/>
          <a:p>
            <a:pPr>
              <a:lnSpc>
                <a:spcPts val="2700"/>
              </a:lnSpc>
              <a:spcAft>
                <a:spcPts val="1500"/>
              </a:spcAft>
            </a:pPr>
            <a:r>
              <a:rPr lang="en-US" b="1" i="0" dirty="0">
                <a:effectLst/>
                <a:latin typeface="__Source_Sans_3_a605e5"/>
              </a:rPr>
              <a:t>Key Characteristics of Distributed Systems</a:t>
            </a:r>
            <a:br>
              <a:rPr lang="en-US" b="1" i="0" dirty="0">
                <a:effectLst/>
                <a:latin typeface="__Source_Sans_3_a605e5"/>
              </a:rPr>
            </a:br>
            <a:br>
              <a:rPr lang="en-US" b="0" i="0" dirty="0">
                <a:solidFill>
                  <a:srgbClr val="000000"/>
                </a:solidFill>
                <a:effectLst/>
                <a:latin typeface="__Source_Sans_3_a605e5"/>
              </a:rPr>
            </a:b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D82319-7875-385F-E48A-429E2A98FCD2}"/>
              </a:ext>
            </a:extLst>
          </p:cNvPr>
          <p:cNvSpPr txBox="1"/>
          <p:nvPr/>
        </p:nvSpPr>
        <p:spPr>
          <a:xfrm>
            <a:off x="2209799" y="816819"/>
            <a:ext cx="79683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__Source_Sans_3_a605e5"/>
              </a:rPr>
              <a:t>Scalability, Reliability, Availability, Efficiency, and Manageability (</a:t>
            </a:r>
            <a:r>
              <a:rPr lang="en-US" b="0" i="0" dirty="0">
                <a:effectLst/>
                <a:highlight>
                  <a:srgbClr val="FFFF00"/>
                </a:highlight>
                <a:latin typeface="__Source_Sans_3_a605e5"/>
              </a:rPr>
              <a:t>SAREM</a:t>
            </a:r>
            <a:r>
              <a:rPr lang="en-US" b="0" i="0" dirty="0">
                <a:effectLst/>
                <a:latin typeface="__Source_Sans_3_a605e5"/>
              </a:rPr>
              <a:t>)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274EB4-883C-9D56-5487-4F12702482B9}"/>
              </a:ext>
            </a:extLst>
          </p:cNvPr>
          <p:cNvSpPr txBox="1"/>
          <p:nvPr/>
        </p:nvSpPr>
        <p:spPr>
          <a:xfrm>
            <a:off x="1023258" y="1442294"/>
            <a:ext cx="1063534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  <a:latin typeface="__Source_Sans_3_a605e5"/>
              </a:rPr>
              <a:t>Scalability</a:t>
            </a:r>
            <a:r>
              <a:rPr lang="en-US" b="0" i="0" dirty="0">
                <a:effectLst/>
                <a:latin typeface="__Source_Sans_3_a605e5"/>
              </a:rPr>
              <a:t> is the </a:t>
            </a:r>
            <a:r>
              <a:rPr lang="en-US" b="0" i="0" dirty="0">
                <a:solidFill>
                  <a:schemeClr val="accent1"/>
                </a:solidFill>
                <a:effectLst/>
                <a:latin typeface="__Source_Sans_3_a605e5"/>
              </a:rPr>
              <a:t>capability</a:t>
            </a:r>
            <a:r>
              <a:rPr lang="en-US" b="0" i="0" dirty="0">
                <a:effectLst/>
                <a:latin typeface="__Source_Sans_3_a605e5"/>
              </a:rPr>
              <a:t> of a system, process, or a network to grow and </a:t>
            </a:r>
            <a:r>
              <a:rPr lang="en-US" b="0" i="0" dirty="0">
                <a:solidFill>
                  <a:schemeClr val="accent1"/>
                </a:solidFill>
                <a:effectLst/>
                <a:latin typeface="__Source_Sans_3_a605e5"/>
              </a:rPr>
              <a:t>manage increased demand.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__Source_Sans_3_a605e5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  <a:latin typeface="__Source_Sans_3_a605e5"/>
              </a:rPr>
              <a:t>Reliability</a:t>
            </a:r>
            <a:r>
              <a:rPr lang="en-US" b="0" i="0" dirty="0">
                <a:effectLst/>
                <a:latin typeface="__Source_Sans_3_a605e5"/>
              </a:rPr>
              <a:t> refers to the ability of a system to </a:t>
            </a:r>
            <a:r>
              <a:rPr lang="en-US" b="0" i="0" dirty="0">
                <a:solidFill>
                  <a:schemeClr val="accent1"/>
                </a:solidFill>
                <a:effectLst/>
                <a:latin typeface="__Source_Sans_3_a605e5"/>
              </a:rPr>
              <a:t>continue operating correctly and effectively </a:t>
            </a:r>
            <a:r>
              <a:rPr lang="en-US" b="0" i="0" dirty="0">
                <a:effectLst/>
                <a:latin typeface="__Source_Sans_3_a605e5"/>
              </a:rPr>
              <a:t>in the presence of faults, errors, or failures. A related concept is </a:t>
            </a:r>
            <a:r>
              <a:rPr lang="en-US" b="1" i="0" dirty="0">
                <a:effectLst/>
                <a:latin typeface="__Source_Sans_3_a605e5"/>
              </a:rPr>
              <a:t>Fault Tolerance</a:t>
            </a:r>
            <a:r>
              <a:rPr lang="en-US" b="0" i="0" dirty="0">
                <a:effectLst/>
                <a:latin typeface="__Source_Sans_3_a605e5"/>
              </a:rPr>
              <a:t>, which is the system’s </a:t>
            </a:r>
            <a:r>
              <a:rPr lang="en-US" b="0" i="0" dirty="0">
                <a:solidFill>
                  <a:schemeClr val="accent1"/>
                </a:solidFill>
                <a:effectLst/>
                <a:latin typeface="__Source_Sans_3_a605e5"/>
              </a:rPr>
              <a:t>ability to continue operating</a:t>
            </a:r>
            <a:r>
              <a:rPr lang="en-US" b="0" i="0" dirty="0">
                <a:effectLst/>
                <a:latin typeface="__Source_Sans_3_a605e5"/>
              </a:rPr>
              <a:t> (possibly at a reduced level) even when one or more of its components fail.</a:t>
            </a:r>
            <a:endParaRPr lang="en-IN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3DE6070-07F0-7A1D-D0F6-6128E5F74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1658443"/>
              </p:ext>
            </p:extLst>
          </p:nvPr>
        </p:nvGraphicFramePr>
        <p:xfrm>
          <a:off x="685801" y="3166269"/>
          <a:ext cx="10493828" cy="2874913"/>
        </p:xfrm>
        <a:graphic>
          <a:graphicData uri="http://schemas.openxmlformats.org/drawingml/2006/table">
            <a:tbl>
              <a:tblPr/>
              <a:tblGrid>
                <a:gridCol w="1339638">
                  <a:extLst>
                    <a:ext uri="{9D8B030D-6E8A-4147-A177-3AD203B41FA5}">
                      <a16:colId xmlns:a16="http://schemas.microsoft.com/office/drawing/2014/main" val="915080018"/>
                    </a:ext>
                  </a:extLst>
                </a:gridCol>
                <a:gridCol w="5135277">
                  <a:extLst>
                    <a:ext uri="{9D8B030D-6E8A-4147-A177-3AD203B41FA5}">
                      <a16:colId xmlns:a16="http://schemas.microsoft.com/office/drawing/2014/main" val="3616953893"/>
                    </a:ext>
                  </a:extLst>
                </a:gridCol>
                <a:gridCol w="4018913">
                  <a:extLst>
                    <a:ext uri="{9D8B030D-6E8A-4147-A177-3AD203B41FA5}">
                      <a16:colId xmlns:a16="http://schemas.microsoft.com/office/drawing/2014/main" val="2602457255"/>
                    </a:ext>
                  </a:extLst>
                </a:gridCol>
              </a:tblGrid>
              <a:tr h="338868">
                <a:tc>
                  <a:txBody>
                    <a:bodyPr/>
                    <a:lstStyle/>
                    <a:p>
                      <a:pPr algn="l" fontAlgn="b"/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__Source_Sans_3_a605e5"/>
                        </a:rPr>
                        <a:t>Reliability 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__Source_Sans_3_a605e5"/>
                        </a:rPr>
                        <a:t>Fault Tolerance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609814"/>
                  </a:ext>
                </a:extLst>
              </a:tr>
              <a:tr h="634011">
                <a:tc>
                  <a:txBody>
                    <a:bodyPr/>
                    <a:lstStyle/>
                    <a:p>
                      <a:pPr algn="ctr" fontAlgn="b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__Source_Sans_3_a605e5"/>
                        </a:rPr>
                        <a:t>Scope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focuses on the end-to-end correctness and consistency of the entire system’s operation over time.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focuses on the system’s ability to continue operating when individual components fail.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6948683"/>
                  </a:ext>
                </a:extLst>
              </a:tr>
              <a:tr h="951017">
                <a:tc>
                  <a:txBody>
                    <a:bodyPr/>
                    <a:lstStyle/>
                    <a:p>
                      <a:pPr algn="ctr" fontAlgn="b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__Source_Sans_3_a605e5"/>
                        </a:rPr>
                        <a:t>Perspective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 primarily a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user-centric concept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: Can the system consistently meet the user’s expectations over time?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 more of a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system-centric concept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: How does the system handle internal failures or component breakdowns?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8422730"/>
                  </a:ext>
                </a:extLst>
              </a:tr>
              <a:tr h="951017">
                <a:tc>
                  <a:txBody>
                    <a:bodyPr/>
                    <a:lstStyle/>
                    <a:p>
                      <a:pPr algn="ctr" fontAlgn="b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__Source_Sans_3_a605e5"/>
                        </a:rPr>
                        <a:t>Measurement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 often measured in terms of uptime, error rates, or mean time between failures (MTBF).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 often measured by how quickly and effectively the system detects, isolates, and recovers from failures (e.g., failover times).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0377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3028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F8EF3-7086-33C8-A177-6913C1568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17DFC-5B56-CB64-FC8B-CE1DB4365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943" y="376010"/>
            <a:ext cx="10515600" cy="625475"/>
          </a:xfrm>
        </p:spPr>
        <p:txBody>
          <a:bodyPr>
            <a:normAutofit fontScale="90000"/>
          </a:bodyPr>
          <a:lstStyle/>
          <a:p>
            <a:pPr>
              <a:lnSpc>
                <a:spcPts val="2700"/>
              </a:lnSpc>
              <a:spcAft>
                <a:spcPts val="1500"/>
              </a:spcAft>
            </a:pPr>
            <a:r>
              <a:rPr lang="en-US" b="1" i="0" dirty="0">
                <a:effectLst/>
                <a:latin typeface="__Source_Sans_3_a605e5"/>
              </a:rPr>
              <a:t>Key Characteristics of Distributed Systems</a:t>
            </a:r>
            <a:br>
              <a:rPr lang="en-US" b="1" i="0" dirty="0">
                <a:effectLst/>
                <a:latin typeface="__Source_Sans_3_a605e5"/>
              </a:rPr>
            </a:br>
            <a:br>
              <a:rPr lang="en-US" b="0" i="0" dirty="0">
                <a:solidFill>
                  <a:srgbClr val="000000"/>
                </a:solidFill>
                <a:effectLst/>
                <a:latin typeface="__Source_Sans_3_a605e5"/>
              </a:rPr>
            </a:b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3BB9F9-A88F-45C6-4E57-48E1EF921A91}"/>
              </a:ext>
            </a:extLst>
          </p:cNvPr>
          <p:cNvSpPr txBox="1"/>
          <p:nvPr/>
        </p:nvSpPr>
        <p:spPr>
          <a:xfrm>
            <a:off x="2209799" y="816819"/>
            <a:ext cx="79683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__Source_Sans_3_a605e5"/>
              </a:rPr>
              <a:t>Scalability, Reliability, Availability, Efficiency, and Manageability (</a:t>
            </a:r>
            <a:r>
              <a:rPr lang="en-US" b="0" i="0" dirty="0">
                <a:effectLst/>
                <a:highlight>
                  <a:srgbClr val="FFFF00"/>
                </a:highlight>
                <a:latin typeface="__Source_Sans_3_a605e5"/>
              </a:rPr>
              <a:t>SAREM</a:t>
            </a:r>
            <a:r>
              <a:rPr lang="en-US" b="0" i="0" dirty="0">
                <a:effectLst/>
                <a:latin typeface="__Source_Sans_3_a605e5"/>
              </a:rPr>
              <a:t>)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BADB4D-2F4D-C81B-F2D3-5A3C67A1D3FE}"/>
              </a:ext>
            </a:extLst>
          </p:cNvPr>
          <p:cNvSpPr txBox="1"/>
          <p:nvPr/>
        </p:nvSpPr>
        <p:spPr>
          <a:xfrm>
            <a:off x="1110343" y="2041009"/>
            <a:ext cx="1063534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  <a:latin typeface="__Source_Sans_3_a605e5"/>
              </a:rPr>
              <a:t>Availability</a:t>
            </a:r>
            <a:r>
              <a:rPr lang="en-US" b="0" i="0" dirty="0">
                <a:effectLst/>
                <a:latin typeface="__Source_Sans_3_a605e5"/>
              </a:rPr>
              <a:t> is the time a system remains </a:t>
            </a:r>
            <a:r>
              <a:rPr lang="en-US" b="0" i="0" dirty="0">
                <a:solidFill>
                  <a:schemeClr val="accent1"/>
                </a:solidFill>
                <a:effectLst/>
                <a:latin typeface="__Source_Sans_3_a605e5"/>
              </a:rPr>
              <a:t>operational</a:t>
            </a:r>
            <a:r>
              <a:rPr lang="en-US" b="0" i="0" dirty="0">
                <a:effectLst/>
                <a:latin typeface="__Source_Sans_3_a605e5"/>
              </a:rPr>
              <a:t> to perform its required function in a specific period. </a:t>
            </a:r>
            <a:r>
              <a:rPr lang="en-US" b="0" i="0" dirty="0">
                <a:solidFill>
                  <a:schemeClr val="accent1"/>
                </a:solidFill>
                <a:effectLst/>
                <a:latin typeface="__Source_Sans_3_a605e5"/>
              </a:rPr>
              <a:t>If a system is reliable, it is available. However, if it is available, it is not necessarily reliable.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1"/>
              </a:solidFill>
              <a:latin typeface="__Source_Sans_3_a605e5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__Source_Sans_3_a605e5"/>
              </a:rPr>
              <a:t>E</a:t>
            </a:r>
            <a:r>
              <a:rPr lang="en-US" b="1" i="0" dirty="0">
                <a:effectLst/>
                <a:latin typeface="__Source_Sans_3_a605e5"/>
              </a:rPr>
              <a:t>fficiency</a:t>
            </a:r>
            <a:r>
              <a:rPr lang="en-US" b="0" i="0" dirty="0">
                <a:effectLst/>
                <a:latin typeface="__Source_Sans_3_a605e5"/>
              </a:rPr>
              <a:t> : Two standard measures of its efficiency are the </a:t>
            </a:r>
            <a:r>
              <a:rPr lang="en-US" b="0" i="0" dirty="0">
                <a:solidFill>
                  <a:schemeClr val="accent1"/>
                </a:solidFill>
                <a:effectLst/>
                <a:latin typeface="__Source_Sans_3_a605e5"/>
              </a:rPr>
              <a:t>response time (or latency) </a:t>
            </a:r>
            <a:r>
              <a:rPr lang="en-US" b="0" i="0" dirty="0">
                <a:effectLst/>
                <a:latin typeface="__Source_Sans_3_a605e5"/>
              </a:rPr>
              <a:t>that denotes the delay to obtain the first item and the </a:t>
            </a:r>
            <a:r>
              <a:rPr lang="en-US" b="0" i="0" dirty="0">
                <a:solidFill>
                  <a:schemeClr val="accent1"/>
                </a:solidFill>
                <a:effectLst/>
                <a:latin typeface="__Source_Sans_3_a605e5"/>
              </a:rPr>
              <a:t>throughput (or bandwidth) </a:t>
            </a:r>
            <a:r>
              <a:rPr lang="en-US" b="0" i="0" dirty="0">
                <a:effectLst/>
                <a:latin typeface="__Source_Sans_3_a605e5"/>
              </a:rPr>
              <a:t>which denotes the number of items delivered in a given time unit (e.g., a second).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1"/>
              </a:solidFill>
              <a:latin typeface="__Source_Sans_3_a605e5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__Source_Sans_3_a605e5"/>
              </a:rPr>
              <a:t>M</a:t>
            </a:r>
            <a:r>
              <a:rPr lang="en-US" b="1" i="0" dirty="0">
                <a:effectLst/>
                <a:latin typeface="__Source_Sans_3_a605e5"/>
              </a:rPr>
              <a:t>anageability</a:t>
            </a:r>
            <a:r>
              <a:rPr lang="en-US" b="0" i="0" dirty="0">
                <a:effectLst/>
                <a:latin typeface="__Source_Sans_3_a605e5"/>
              </a:rPr>
              <a:t> is the simplicity and </a:t>
            </a:r>
            <a:r>
              <a:rPr lang="en-US" b="0" i="0" dirty="0">
                <a:solidFill>
                  <a:schemeClr val="accent1"/>
                </a:solidFill>
                <a:effectLst/>
                <a:latin typeface="__Source_Sans_3_a605e5"/>
              </a:rPr>
              <a:t>speed</a:t>
            </a:r>
            <a:r>
              <a:rPr lang="en-US" b="0" i="0" dirty="0">
                <a:effectLst/>
                <a:latin typeface="__Source_Sans_3_a605e5"/>
              </a:rPr>
              <a:t> with which a system </a:t>
            </a:r>
            <a:r>
              <a:rPr lang="en-US" b="0" i="0" dirty="0">
                <a:solidFill>
                  <a:schemeClr val="accent1"/>
                </a:solidFill>
                <a:effectLst/>
                <a:latin typeface="__Source_Sans_3_a605e5"/>
              </a:rPr>
              <a:t>can be repaired </a:t>
            </a:r>
            <a:r>
              <a:rPr lang="en-US" b="0" i="0" dirty="0">
                <a:effectLst/>
                <a:latin typeface="__Source_Sans_3_a605e5"/>
              </a:rPr>
              <a:t>or maintained.</a:t>
            </a:r>
            <a:endParaRPr lang="en-IN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5972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A6B7E-CBDE-CE95-FBD5-C96BDF2B9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1046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Load Balancing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5EE8E2-2E15-BD3F-514F-C9AB46A98E5C}"/>
              </a:ext>
            </a:extLst>
          </p:cNvPr>
          <p:cNvSpPr txBox="1"/>
          <p:nvPr/>
        </p:nvSpPr>
        <p:spPr>
          <a:xfrm>
            <a:off x="1643743" y="3113314"/>
            <a:ext cx="7326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See separate deck</a:t>
            </a:r>
          </a:p>
        </p:txBody>
      </p:sp>
    </p:spTree>
    <p:extLst>
      <p:ext uri="{BB962C8B-B14F-4D97-AF65-F5344CB8AC3E}">
        <p14:creationId xmlns:p14="http://schemas.microsoft.com/office/powerpoint/2010/main" val="2346177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C6CB7-014F-E943-5BD5-38EE298DE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955"/>
            <a:ext cx="10515600" cy="65813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Caching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5BD254-7251-36BB-1630-14F6D3839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71" y="993193"/>
            <a:ext cx="5174416" cy="447013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11D9C7-9BBD-BAF8-B3B3-34C193A179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993193"/>
            <a:ext cx="5129492" cy="21238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2F52CA9-1B98-C1E9-2DF3-F112FA489AA9}"/>
              </a:ext>
            </a:extLst>
          </p:cNvPr>
          <p:cNvSpPr txBox="1"/>
          <p:nvPr/>
        </p:nvSpPr>
        <p:spPr>
          <a:xfrm>
            <a:off x="6291943" y="3429000"/>
            <a:ext cx="47352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Write Through Read Through </a:t>
            </a:r>
          </a:p>
          <a:p>
            <a:r>
              <a:rPr lang="en-IN" dirty="0"/>
              <a:t>Write Back Read Aside</a:t>
            </a:r>
          </a:p>
          <a:p>
            <a:r>
              <a:rPr lang="en-IN" dirty="0"/>
              <a:t>Write Around Read Through (Most common)</a:t>
            </a:r>
          </a:p>
          <a:p>
            <a:r>
              <a:rPr lang="en-IN" dirty="0"/>
              <a:t>Write Around Read Aside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3121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29DFD-E6BE-E8E4-AB42-4224D11AC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29532"/>
          </a:xfrm>
        </p:spPr>
        <p:txBody>
          <a:bodyPr>
            <a:normAutofit fontScale="90000"/>
          </a:bodyPr>
          <a:lstStyle/>
          <a:p>
            <a:r>
              <a:rPr lang="en-IN" dirty="0"/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31228227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B4E21-768C-B013-7A56-B8F1DFE57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07761"/>
          </a:xfrm>
        </p:spPr>
        <p:txBody>
          <a:bodyPr>
            <a:normAutofit fontScale="90000"/>
          </a:bodyPr>
          <a:lstStyle/>
          <a:p>
            <a:r>
              <a:rPr lang="en-IN" dirty="0"/>
              <a:t>Proxy</a:t>
            </a:r>
          </a:p>
        </p:txBody>
      </p:sp>
      <p:pic>
        <p:nvPicPr>
          <p:cNvPr id="6146" name="Picture 2" descr="A forward proxy">
            <a:extLst>
              <a:ext uri="{FF2B5EF4-FFF2-40B4-BE49-F238E27FC236}">
                <a16:creationId xmlns:a16="http://schemas.microsoft.com/office/drawing/2014/main" id="{2103A35C-7098-FB5B-86A5-F44D17B508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7716" y="798261"/>
            <a:ext cx="6610404" cy="1923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ED3EAE-24F5-7766-589F-D737D6015304}"/>
              </a:ext>
            </a:extLst>
          </p:cNvPr>
          <p:cNvSpPr txBox="1"/>
          <p:nvPr/>
        </p:nvSpPr>
        <p:spPr>
          <a:xfrm>
            <a:off x="1807029" y="967103"/>
            <a:ext cx="21118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1" dirty="0">
                <a:effectLst/>
                <a:latin typeface="__Source_Sans_3_a605e5"/>
              </a:rPr>
              <a:t>A forward proxy can hide the identity of the client from the server by sending requests on behalf of the client. Example : Squid, ProxySG</a:t>
            </a:r>
            <a:endParaRPr lang="en-IN" dirty="0"/>
          </a:p>
        </p:txBody>
      </p:sp>
      <p:pic>
        <p:nvPicPr>
          <p:cNvPr id="6148" name="Picture 4" descr="A reverse proxy">
            <a:extLst>
              <a:ext uri="{FF2B5EF4-FFF2-40B4-BE49-F238E27FC236}">
                <a16:creationId xmlns:a16="http://schemas.microsoft.com/office/drawing/2014/main" id="{2817EB39-919A-F9A9-3C87-829008726C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2120" y="3064763"/>
            <a:ext cx="6096000" cy="3286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DAA11F-7148-8FCE-B1BF-9E29369C7098}"/>
              </a:ext>
            </a:extLst>
          </p:cNvPr>
          <p:cNvSpPr txBox="1"/>
          <p:nvPr/>
        </p:nvSpPr>
        <p:spPr>
          <a:xfrm>
            <a:off x="1807030" y="3929743"/>
            <a:ext cx="211182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__Source_Sans_3_a605e5"/>
              </a:rPr>
              <a:t>R</a:t>
            </a:r>
            <a:r>
              <a:rPr lang="en-US" b="0" i="0" dirty="0">
                <a:effectLst/>
                <a:latin typeface="__Source_Sans_3_a605e5"/>
              </a:rPr>
              <a:t>everse proxy hides the server's identity. Example : Nginx,</a:t>
            </a:r>
            <a:r>
              <a:rPr lang="en-US" dirty="0">
                <a:latin typeface="__Source_Sans_3_a605e5"/>
              </a:rPr>
              <a:t> HAProxy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8225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C845E-982A-439C-DB42-F9E7CAA30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428" y="75405"/>
            <a:ext cx="10515600" cy="980509"/>
          </a:xfrm>
        </p:spPr>
        <p:txBody>
          <a:bodyPr/>
          <a:lstStyle/>
          <a:p>
            <a:r>
              <a:rPr lang="en-IN" dirty="0"/>
              <a:t>CAP Theorem in databases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BFD9A72-ADCB-431B-16A0-2E5B6BF966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943" y="944270"/>
            <a:ext cx="5867400" cy="442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Image">
            <a:extLst>
              <a:ext uri="{FF2B5EF4-FFF2-40B4-BE49-F238E27FC236}">
                <a16:creationId xmlns:a16="http://schemas.microsoft.com/office/drawing/2014/main" id="{43E8B6BC-C5D4-427A-4978-483E1E84E2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9271" y="1926770"/>
            <a:ext cx="5015032" cy="3284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2E76B3C-C6AC-A681-EC25-5FD9D05909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06" y="5373395"/>
            <a:ext cx="4840352" cy="139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2502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67C42-0A7F-9FA3-7B7C-C1B014CEB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772" y="212726"/>
            <a:ext cx="10515600" cy="353332"/>
          </a:xfrm>
        </p:spPr>
        <p:txBody>
          <a:bodyPr>
            <a:normAutofit fontScale="90000"/>
          </a:bodyPr>
          <a:lstStyle/>
          <a:p>
            <a:r>
              <a:rPr lang="en-IN" dirty="0"/>
              <a:t>Consistent Hashing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C40096-79B5-E941-3FEF-83ECCD7B977E}"/>
              </a:ext>
            </a:extLst>
          </p:cNvPr>
          <p:cNvSpPr txBox="1"/>
          <p:nvPr/>
        </p:nvSpPr>
        <p:spPr>
          <a:xfrm>
            <a:off x="402772" y="961349"/>
            <a:ext cx="11397342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333333"/>
                </a:solidFill>
                <a:effectLst/>
                <a:latin typeface="Assistant" panose="020F0502020204030204" pitchFamily="2" charset="-79"/>
                <a:cs typeface="Assistant" panose="020F0502020204030204" pitchFamily="2" charset="-79"/>
              </a:rPr>
              <a:t>Is used </a:t>
            </a:r>
            <a:r>
              <a:rPr lang="en-US" b="0" i="0" dirty="0">
                <a:solidFill>
                  <a:srgbClr val="333333"/>
                </a:solidFill>
                <a:effectLst/>
                <a:highlight>
                  <a:srgbClr val="FFFF00"/>
                </a:highlight>
                <a:latin typeface="Assistant" panose="020F0502020204030204" pitchFamily="2" charset="-79"/>
                <a:cs typeface="Assistant" panose="020F0502020204030204" pitchFamily="2" charset="-79"/>
              </a:rPr>
              <a:t>for load balancing, data distribution, caching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333333"/>
                </a:solidFill>
                <a:effectLst/>
                <a:latin typeface="Assistant" panose="020F0502020204030204" pitchFamily="2" charset="-79"/>
                <a:cs typeface="Assistant" panose="020F0502020204030204" pitchFamily="2" charset="-79"/>
              </a:rPr>
              <a:t>Hash Functions are any functions that map value from an arbitrarily sized domain to another </a:t>
            </a:r>
            <a:r>
              <a:rPr lang="en-US" b="0" i="0" dirty="0">
                <a:solidFill>
                  <a:schemeClr val="accent1"/>
                </a:solidFill>
                <a:effectLst/>
                <a:latin typeface="Assistant" panose="020F0502020204030204" pitchFamily="2" charset="-79"/>
                <a:cs typeface="Assistant" panose="020F0502020204030204" pitchFamily="2" charset="-79"/>
              </a:rPr>
              <a:t>fixed-sized</a:t>
            </a:r>
            <a:r>
              <a:rPr lang="en-US" b="0" i="0" dirty="0">
                <a:solidFill>
                  <a:srgbClr val="333333"/>
                </a:solidFill>
                <a:effectLst/>
                <a:latin typeface="Assistant" panose="020F0502020204030204" pitchFamily="2" charset="-79"/>
                <a:cs typeface="Assistant" panose="020F0502020204030204" pitchFamily="2" charset="-79"/>
              </a:rPr>
              <a:t> domain</a:t>
            </a:r>
            <a:r>
              <a:rPr lang="en-US" dirty="0">
                <a:solidFill>
                  <a:srgbClr val="333333"/>
                </a:solidFill>
                <a:latin typeface="Assistant" panose="020F0502020204030204" pitchFamily="2" charset="-79"/>
                <a:cs typeface="Assistant" panose="020F0502020204030204" pitchFamily="2" charset="-79"/>
              </a:rPr>
              <a:t>. For example </a:t>
            </a:r>
            <a:r>
              <a:rPr lang="en-US" dirty="0">
                <a:solidFill>
                  <a:schemeClr val="accent1"/>
                </a:solidFill>
                <a:latin typeface="Assistant" panose="020F0502020204030204" pitchFamily="2" charset="-79"/>
                <a:cs typeface="Assistant" panose="020F0502020204030204" pitchFamily="2" charset="-79"/>
              </a:rPr>
              <a:t>modulo N restricts hashed domain to a range [0, N-1]. </a:t>
            </a:r>
            <a:r>
              <a:rPr lang="en-US" dirty="0">
                <a:latin typeface="Assistant" panose="020F0502020204030204" pitchFamily="2" charset="-79"/>
                <a:cs typeface="Assistant" panose="020F0502020204030204" pitchFamily="2" charset="-79"/>
              </a:rPr>
              <a:t>This range will be used as consistent hashing circular 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ssistant" panose="020F0502020204030204" pitchFamily="2" charset="-79"/>
                <a:cs typeface="Assistant" panose="020F0502020204030204" pitchFamily="2" charset="-79"/>
              </a:rPr>
              <a:t>Requests are hashed to find a corresponding position on the ring. h(r1) = v1, h(r2) = v2 etc. Similarly server ids can also be hashed with the same hash function (or different function) to find a position on the ring. h(s1) = v3, h(s2) = v4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ssistant" panose="020F0502020204030204" pitchFamily="2" charset="-79"/>
                <a:cs typeface="Assistant" panose="020F0502020204030204" pitchFamily="2" charset="-79"/>
              </a:rPr>
              <a:t>For a value v we find the nearest server s (clockwise) on the ring!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Adding new node and removing existing node doesn’t require too much data redistribution.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The above works theoretically with the assumption that requests gets evenly distributed with the hash function. But practically we often see skewed distribution.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To solve this we can use virtual servers (or </a:t>
            </a:r>
            <a:r>
              <a:rPr lang="en-IN" dirty="0" err="1"/>
              <a:t>Vnode</a:t>
            </a:r>
            <a:r>
              <a:rPr lang="en-IN" dirty="0"/>
              <a:t>) instead of physical server to map requests. The idea is to create virtual id v in the ring which maps to a physical server. This way we </a:t>
            </a:r>
            <a:r>
              <a:rPr lang="en-IN" dirty="0" err="1"/>
              <a:t>achive</a:t>
            </a:r>
            <a:r>
              <a:rPr lang="en-IN" dirty="0"/>
              <a:t> more uniform distribution as well lesser impact when adding/removing nodes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hlinkClick r:id="rId2"/>
              </a:rPr>
              <a:t>https://www.youtube.com/watch?v=zaRkONvyGr8</a:t>
            </a:r>
            <a:r>
              <a:rPr lang="en-IN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5782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E2538-AFD5-96DC-AA27-16DBE66DB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References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BD9758-4745-BA60-2A0A-1DEDB4EEC3BF}"/>
              </a:ext>
            </a:extLst>
          </p:cNvPr>
          <p:cNvSpPr txBox="1"/>
          <p:nvPr/>
        </p:nvSpPr>
        <p:spPr>
          <a:xfrm>
            <a:off x="3037114" y="3073177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hlinkClick r:id="rId2"/>
              </a:rPr>
              <a:t>https://www.designgurus.io/course-play/grokking-the-system-design-interview/doc/what-is-a-system-design-interview</a:t>
            </a:r>
          </a:p>
          <a:p>
            <a:endParaRPr lang="en-IN" dirty="0">
              <a:hlinkClick r:id="rId2"/>
            </a:endParaRPr>
          </a:p>
          <a:p>
            <a:r>
              <a:rPr lang="en-IN" dirty="0">
                <a:hlinkClick r:id="rId2"/>
              </a:rPr>
              <a:t>https://www.nexsoftsys.com/articles/CAP-theorem-database-dbms.html</a:t>
            </a:r>
            <a:endParaRPr lang="en-IN" dirty="0"/>
          </a:p>
          <a:p>
            <a:endParaRPr lang="en-IN" dirty="0"/>
          </a:p>
          <a:p>
            <a:r>
              <a:rPr lang="en-IN" dirty="0">
                <a:hlinkClick r:id="rId3"/>
              </a:rPr>
              <a:t>https://stackoverflow.com/questions/12346326/cap-theorem-availability-and-partition-tolerance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2350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</TotalTime>
  <Words>1129</Words>
  <Application>Microsoft Office PowerPoint</Application>
  <PresentationFormat>Widescreen</PresentationFormat>
  <Paragraphs>74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__Source_Sans_3_a605e5</vt:lpstr>
      <vt:lpstr>Arial</vt:lpstr>
      <vt:lpstr>Assistant</vt:lpstr>
      <vt:lpstr>Calibri</vt:lpstr>
      <vt:lpstr>Calibri Light</vt:lpstr>
      <vt:lpstr>Office Theme</vt:lpstr>
      <vt:lpstr>System Design Case Studies</vt:lpstr>
      <vt:lpstr>Functional vs. Non-functional Requirements</vt:lpstr>
      <vt:lpstr>Back-of-the-Envelope Estimations</vt:lpstr>
      <vt:lpstr>Some useful metrics</vt:lpstr>
      <vt:lpstr>Key Characteristics of Distributed Systems  </vt:lpstr>
      <vt:lpstr>Key Characteristics of Distributed Systems  </vt:lpstr>
      <vt:lpstr>Load Balancing</vt:lpstr>
      <vt:lpstr>Caching</vt:lpstr>
      <vt:lpstr>Data</vt:lpstr>
      <vt:lpstr>Proxy</vt:lpstr>
      <vt:lpstr>CAP Theorem in databases</vt:lpstr>
      <vt:lpstr>Consistent Hashing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Urmisha Sengupta</dc:creator>
  <cp:lastModifiedBy>Urmisha Sengupta</cp:lastModifiedBy>
  <cp:revision>81</cp:revision>
  <dcterms:created xsi:type="dcterms:W3CDTF">2025-01-22T04:36:50Z</dcterms:created>
  <dcterms:modified xsi:type="dcterms:W3CDTF">2025-01-22T14:33:09Z</dcterms:modified>
</cp:coreProperties>
</file>