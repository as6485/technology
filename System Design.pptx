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9" r:id="rId9"/>
    <p:sldId id="263" r:id="rId10"/>
    <p:sldId id="264" r:id="rId11"/>
    <p:sldId id="265" r:id="rId12"/>
    <p:sldId id="266" r:id="rId13"/>
    <p:sldId id="268" r:id="rId14"/>
    <p:sldId id="271" r:id="rId15"/>
    <p:sldId id="286" r:id="rId16"/>
    <p:sldId id="285" r:id="rId17"/>
    <p:sldId id="269" r:id="rId18"/>
    <p:sldId id="272" r:id="rId19"/>
    <p:sldId id="274" r:id="rId20"/>
    <p:sldId id="275" r:id="rId21"/>
    <p:sldId id="276" r:id="rId22"/>
    <p:sldId id="277" r:id="rId23"/>
    <p:sldId id="280" r:id="rId24"/>
    <p:sldId id="282" r:id="rId25"/>
    <p:sldId id="281" r:id="rId26"/>
    <p:sldId id="283" r:id="rId27"/>
    <p:sldId id="284" r:id="rId28"/>
    <p:sldId id="278" r:id="rId29"/>
    <p:sldId id="26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DB9EF-A992-8FA1-420E-EBD6329F0E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A10BFAE-BE2E-9BA4-8F9D-C5FE32702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8211E0-C516-1AD2-A50E-093D69E632DA}"/>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5" name="Footer Placeholder 4">
            <a:extLst>
              <a:ext uri="{FF2B5EF4-FFF2-40B4-BE49-F238E27FC236}">
                <a16:creationId xmlns:a16="http://schemas.microsoft.com/office/drawing/2014/main" id="{FFB4FDF2-24EF-E29F-034F-8733CE1622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39F6FF-AF56-0389-86D9-6A4596ADE71A}"/>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2774768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87F14-9F94-27FA-37E4-19F6F33FB5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FFB449-78DF-7FEA-2685-8E0FEC7774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B3CD2F-214F-E01E-1E8A-EC436EB0C20A}"/>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5" name="Footer Placeholder 4">
            <a:extLst>
              <a:ext uri="{FF2B5EF4-FFF2-40B4-BE49-F238E27FC236}">
                <a16:creationId xmlns:a16="http://schemas.microsoft.com/office/drawing/2014/main" id="{6226BB99-20ED-E86C-21D8-45154645F1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122A4F-47AB-033A-626B-1101431ACA6A}"/>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3947765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6B753-4272-CD0A-61F8-99AECD6280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B0E4E2-C162-27AF-DC3C-14FF79B1B4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A3BB17-A7FA-BBA9-178A-4834A4FF842A}"/>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5" name="Footer Placeholder 4">
            <a:extLst>
              <a:ext uri="{FF2B5EF4-FFF2-40B4-BE49-F238E27FC236}">
                <a16:creationId xmlns:a16="http://schemas.microsoft.com/office/drawing/2014/main" id="{E3D51F70-AFC1-A314-38F1-7177E94193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7B5899-36BC-D4F5-0E72-45554FA70E83}"/>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2368830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C065-3C04-8711-74D9-A7E231AC07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BF805F-00BD-2829-127F-3A0AB8279F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BF5CD7-03C6-6678-E5BE-A4F616192B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12E39D7-CF01-CA3D-6E54-32423BD6F99C}"/>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6" name="Footer Placeholder 5">
            <a:extLst>
              <a:ext uri="{FF2B5EF4-FFF2-40B4-BE49-F238E27FC236}">
                <a16:creationId xmlns:a16="http://schemas.microsoft.com/office/drawing/2014/main" id="{6D113DBA-C7FF-A2B1-401A-6FF41EBD3F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69BB52-443C-8871-9200-BF4F0A15654A}"/>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942747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74A8F-9945-E644-757A-DE07F6706F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82BF84-2241-F548-45EF-D275CEDF5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F632E7-D0F8-9949-94FC-A9FF0EEEC3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81FDB85-9169-2FBF-E84D-CB37262301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0E3B47-6531-B340-9F43-823C0B0568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9EFF2E-2864-0A8F-4861-468B63D67A81}"/>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8" name="Footer Placeholder 7">
            <a:extLst>
              <a:ext uri="{FF2B5EF4-FFF2-40B4-BE49-F238E27FC236}">
                <a16:creationId xmlns:a16="http://schemas.microsoft.com/office/drawing/2014/main" id="{5301EAEF-8611-46D8-E457-483C8E16BD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2C655E7-908F-43AD-53FB-83E27F66C1D9}"/>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1839456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24DD-8B90-B774-CD6F-B3CE3451EF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C19CE47-D51B-4A47-26D4-3AC9C884531A}"/>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4" name="Footer Placeholder 3">
            <a:extLst>
              <a:ext uri="{FF2B5EF4-FFF2-40B4-BE49-F238E27FC236}">
                <a16:creationId xmlns:a16="http://schemas.microsoft.com/office/drawing/2014/main" id="{D3EAEFE0-E361-EA7F-4993-8595A7D7C51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B86F41-48C1-49AA-6CEB-AD84604D137B}"/>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2023125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6B40D1-6452-79B2-72EF-83C7003A2328}"/>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3" name="Footer Placeholder 2">
            <a:extLst>
              <a:ext uri="{FF2B5EF4-FFF2-40B4-BE49-F238E27FC236}">
                <a16:creationId xmlns:a16="http://schemas.microsoft.com/office/drawing/2014/main" id="{75AE7D59-4BE6-97C5-526D-D7895C678B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A83D02A-49F7-85F2-C4A8-32E6BF82140B}"/>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1618327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B5F74-003C-857C-60CA-D088CAFF6D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1AFFBE-4C98-1CD5-720C-58ADF69F28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6CCF36-2BB7-093D-AF6C-8B4270A65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02A638-EF25-7923-4963-4E8C0220E7A0}"/>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6" name="Footer Placeholder 5">
            <a:extLst>
              <a:ext uri="{FF2B5EF4-FFF2-40B4-BE49-F238E27FC236}">
                <a16:creationId xmlns:a16="http://schemas.microsoft.com/office/drawing/2014/main" id="{4A6439BC-789B-4570-2E20-820E4D2A96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4AFAC5-6ACA-D0B7-F334-8A31E8718076}"/>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14655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DDF38-414B-8146-52CC-AB896080DE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5A201C-48BD-6A08-1484-98C7713D11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E837B29-9CFD-3689-5333-9EE0E45EB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12190-86F5-DF3B-004D-3307C1F810F5}"/>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6" name="Footer Placeholder 5">
            <a:extLst>
              <a:ext uri="{FF2B5EF4-FFF2-40B4-BE49-F238E27FC236}">
                <a16:creationId xmlns:a16="http://schemas.microsoft.com/office/drawing/2014/main" id="{5EE3160C-E282-6F8B-5197-BAB1D83B36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AD357A-5445-6E8F-0C7D-4FD5B422BF93}"/>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1623070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CC39-1749-4F4F-34E4-961FF9DCCF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FCCEFF-A431-F71E-28F3-CDBC2B2E0E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0686D9-3D51-FA5C-7179-E39EC782EB44}"/>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5" name="Footer Placeholder 4">
            <a:extLst>
              <a:ext uri="{FF2B5EF4-FFF2-40B4-BE49-F238E27FC236}">
                <a16:creationId xmlns:a16="http://schemas.microsoft.com/office/drawing/2014/main" id="{C4594C7D-AD07-4C8D-A487-B76CA058F3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E22A82-3C5F-7EA7-D798-EFD6BEBE429F}"/>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289978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4B3E13-73F2-E59A-7B32-A5F7EFC8DC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CB4187-23E7-5A51-53BE-4DE8509D77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1367E9-E608-8DEA-B669-EA3D2EA90020}"/>
              </a:ext>
            </a:extLst>
          </p:cNvPr>
          <p:cNvSpPr>
            <a:spLocks noGrp="1"/>
          </p:cNvSpPr>
          <p:nvPr>
            <p:ph type="dt" sz="half" idx="10"/>
          </p:nvPr>
        </p:nvSpPr>
        <p:spPr/>
        <p:txBody>
          <a:bodyPr/>
          <a:lstStyle/>
          <a:p>
            <a:fld id="{4E68D5E8-594E-4B45-931C-589D9C15C98D}" type="datetimeFigureOut">
              <a:rPr lang="en-IN" smtClean="0"/>
              <a:t>09-04-2025</a:t>
            </a:fld>
            <a:endParaRPr lang="en-IN"/>
          </a:p>
        </p:txBody>
      </p:sp>
      <p:sp>
        <p:nvSpPr>
          <p:cNvPr id="5" name="Footer Placeholder 4">
            <a:extLst>
              <a:ext uri="{FF2B5EF4-FFF2-40B4-BE49-F238E27FC236}">
                <a16:creationId xmlns:a16="http://schemas.microsoft.com/office/drawing/2014/main" id="{90294799-59FC-2BA0-AD52-9F297C4174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138A71-B493-6E3D-6511-C395A02B8911}"/>
              </a:ext>
            </a:extLst>
          </p:cNvPr>
          <p:cNvSpPr>
            <a:spLocks noGrp="1"/>
          </p:cNvSpPr>
          <p:nvPr>
            <p:ph type="sldNum" sz="quarter" idx="12"/>
          </p:nvPr>
        </p:nvSpPr>
        <p:spPr/>
        <p:txBody>
          <a:bodyPr/>
          <a:lstStyle/>
          <a:p>
            <a:fld id="{BDBFA8CC-0D02-4571-86BD-107FEC420807}" type="slidenum">
              <a:rPr lang="en-IN" smtClean="0"/>
              <a:t>‹#›</a:t>
            </a:fld>
            <a:endParaRPr lang="en-IN"/>
          </a:p>
        </p:txBody>
      </p:sp>
    </p:spTree>
    <p:extLst>
      <p:ext uri="{BB962C8B-B14F-4D97-AF65-F5344CB8AC3E}">
        <p14:creationId xmlns:p14="http://schemas.microsoft.com/office/powerpoint/2010/main" val="2996445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ED3839-AB1A-C754-9FEC-EBED79F55B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E918B1-C72E-3E89-681A-77A1DD34AF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64B450-ABCC-337B-366A-7E694231FE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68D5E8-594E-4B45-931C-589D9C15C98D}" type="datetimeFigureOut">
              <a:rPr lang="en-IN" smtClean="0"/>
              <a:t>09-04-2025</a:t>
            </a:fld>
            <a:endParaRPr lang="en-IN"/>
          </a:p>
        </p:txBody>
      </p:sp>
      <p:sp>
        <p:nvSpPr>
          <p:cNvPr id="5" name="Footer Placeholder 4">
            <a:extLst>
              <a:ext uri="{FF2B5EF4-FFF2-40B4-BE49-F238E27FC236}">
                <a16:creationId xmlns:a16="http://schemas.microsoft.com/office/drawing/2014/main" id="{94F534F8-6789-8EF4-9A6E-2FB7D9DD12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B2B882F-19A9-D640-1D8B-452B2DA628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BFA8CC-0D02-4571-86BD-107FEC420807}" type="slidenum">
              <a:rPr lang="en-IN" smtClean="0"/>
              <a:t>‹#›</a:t>
            </a:fld>
            <a:endParaRPr lang="en-IN"/>
          </a:p>
        </p:txBody>
      </p:sp>
    </p:spTree>
    <p:extLst>
      <p:ext uri="{BB962C8B-B14F-4D97-AF65-F5344CB8AC3E}">
        <p14:creationId xmlns:p14="http://schemas.microsoft.com/office/powerpoint/2010/main" val="2465537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hyperlink" Target="https://www.youtube.com/watch?v=zaRkONvyGr8"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Probabilistic" TargetMode="External"/><Relationship Id="rId2" Type="http://schemas.openxmlformats.org/officeDocument/2006/relationships/hyperlink" Target="https://en.wikipedia.org/wiki/Computing" TargetMode="Externa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hyperlink" Target="https://en.wikipedia.org/wiki/Type_I_and_type_II_errors" TargetMode="External"/><Relationship Id="rId4" Type="http://schemas.openxmlformats.org/officeDocument/2006/relationships/hyperlink" Target="https://en.wikipedia.org/wiki/Data_structure"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en.wikipedia.org/wiki/Write-ahead_logging#cite_note-3" TargetMode="External"/><Relationship Id="rId3" Type="http://schemas.openxmlformats.org/officeDocument/2006/relationships/hyperlink" Target="https://en.wikipedia.org/wiki/Atomicity_(database_systems)" TargetMode="External"/><Relationship Id="rId7" Type="http://schemas.openxmlformats.org/officeDocument/2006/relationships/hyperlink" Target="https://en.wikipedia.org/wiki/Write-ahead_logging#cite_note-Hellerstein_Stonebraker_Hamilton_p.-1" TargetMode="External"/><Relationship Id="rId2" Type="http://schemas.openxmlformats.org/officeDocument/2006/relationships/hyperlink" Target="https://en.wikipedia.org/wiki/Computer_science" TargetMode="External"/><Relationship Id="rId1" Type="http://schemas.openxmlformats.org/officeDocument/2006/relationships/slideLayout" Target="../slideLayouts/slideLayout6.xml"/><Relationship Id="rId6" Type="http://schemas.openxmlformats.org/officeDocument/2006/relationships/hyperlink" Target="https://en.wikipedia.org/wiki/Database_system" TargetMode="External"/><Relationship Id="rId5" Type="http://schemas.openxmlformats.org/officeDocument/2006/relationships/hyperlink" Target="https://en.wikipedia.org/wiki/ACID" TargetMode="External"/><Relationship Id="rId4" Type="http://schemas.openxmlformats.org/officeDocument/2006/relationships/hyperlink" Target="https://en.wikipedia.org/wiki/Durability_(database_systems)" TargetMode="External"/><Relationship Id="rId9" Type="http://schemas.openxmlformats.org/officeDocument/2006/relationships/hyperlink" Target="https://www.youtube.com/watch?v=wI4hKwl1Cn4"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hyperlink" Target="https://www.hellointerview.com/learn/system-design/problem-breakdowns/ticketmaster" TargetMode="Externa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www.youtube.com/watch?v=2X2SO3Y-af8" TargetMode="Externa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hyperlink" Target="https://www.youtube.com/watch?v=7AMRfNKwuYo"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stackoverflow.com/questions/12346326/cap-theorem-availability-and-partition-tolerance" TargetMode="External"/><Relationship Id="rId2" Type="http://schemas.openxmlformats.org/officeDocument/2006/relationships/hyperlink" Target="https://www.nexsoftsys.com/articles/CAP-theorem-database-dbms.html"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CC5F-D58A-D16D-98F8-8E70310F1E60}"/>
              </a:ext>
            </a:extLst>
          </p:cNvPr>
          <p:cNvSpPr>
            <a:spLocks noGrp="1"/>
          </p:cNvSpPr>
          <p:nvPr>
            <p:ph type="ctrTitle"/>
          </p:nvPr>
        </p:nvSpPr>
        <p:spPr/>
        <p:txBody>
          <a:bodyPr/>
          <a:lstStyle/>
          <a:p>
            <a:r>
              <a:rPr lang="en-IN" dirty="0"/>
              <a:t>System Design Case Studies</a:t>
            </a:r>
          </a:p>
        </p:txBody>
      </p:sp>
      <p:sp>
        <p:nvSpPr>
          <p:cNvPr id="3" name="Subtitle 2">
            <a:extLst>
              <a:ext uri="{FF2B5EF4-FFF2-40B4-BE49-F238E27FC236}">
                <a16:creationId xmlns:a16="http://schemas.microsoft.com/office/drawing/2014/main" id="{419EB3A9-C95B-B520-2060-E5C260D08572}"/>
              </a:ext>
            </a:extLst>
          </p:cNvPr>
          <p:cNvSpPr>
            <a:spLocks noGrp="1"/>
          </p:cNvSpPr>
          <p:nvPr>
            <p:ph type="subTitle" idx="1"/>
          </p:nvPr>
        </p:nvSpPr>
        <p:spPr/>
        <p:txBody>
          <a:bodyPr/>
          <a:lstStyle/>
          <a:p>
            <a:r>
              <a:rPr lang="en-IN" dirty="0"/>
              <a:t>Ayan Sengupta</a:t>
            </a:r>
          </a:p>
        </p:txBody>
      </p:sp>
    </p:spTree>
    <p:extLst>
      <p:ext uri="{BB962C8B-B14F-4D97-AF65-F5344CB8AC3E}">
        <p14:creationId xmlns:p14="http://schemas.microsoft.com/office/powerpoint/2010/main" val="1999668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EB4B-1E10-DAB6-6367-048D59A5C60F}"/>
              </a:ext>
            </a:extLst>
          </p:cNvPr>
          <p:cNvSpPr>
            <a:spLocks noGrp="1"/>
          </p:cNvSpPr>
          <p:nvPr>
            <p:ph type="title"/>
          </p:nvPr>
        </p:nvSpPr>
        <p:spPr>
          <a:xfrm>
            <a:off x="838200" y="365126"/>
            <a:ext cx="10515600" cy="581932"/>
          </a:xfrm>
        </p:spPr>
        <p:txBody>
          <a:bodyPr>
            <a:normAutofit fontScale="90000"/>
          </a:bodyPr>
          <a:lstStyle/>
          <a:p>
            <a:r>
              <a:rPr lang="en-IN" b="1" i="0" dirty="0">
                <a:effectLst/>
                <a:latin typeface="__Source_Sans_3_a605e5"/>
              </a:rPr>
              <a:t>Functional vs. Non-functional Requirements</a:t>
            </a:r>
            <a:endParaRPr lang="en-IN" dirty="0"/>
          </a:p>
        </p:txBody>
      </p:sp>
      <p:sp>
        <p:nvSpPr>
          <p:cNvPr id="4" name="TextBox 3">
            <a:extLst>
              <a:ext uri="{FF2B5EF4-FFF2-40B4-BE49-F238E27FC236}">
                <a16:creationId xmlns:a16="http://schemas.microsoft.com/office/drawing/2014/main" id="{B98B6F76-F16B-20F4-75A8-C25E25720ABC}"/>
              </a:ext>
            </a:extLst>
          </p:cNvPr>
          <p:cNvSpPr txBox="1"/>
          <p:nvPr/>
        </p:nvSpPr>
        <p:spPr>
          <a:xfrm>
            <a:off x="838200" y="947058"/>
            <a:ext cx="10820400" cy="646331"/>
          </a:xfrm>
          <a:prstGeom prst="rect">
            <a:avLst/>
          </a:prstGeom>
          <a:noFill/>
        </p:spPr>
        <p:txBody>
          <a:bodyPr wrap="square">
            <a:spAutoFit/>
          </a:bodyPr>
          <a:lstStyle/>
          <a:p>
            <a:r>
              <a:rPr lang="en-IN" b="1" dirty="0"/>
              <a:t>Functional Requirements </a:t>
            </a:r>
            <a:r>
              <a:rPr lang="en-IN" dirty="0"/>
              <a:t>: </a:t>
            </a:r>
            <a:r>
              <a:rPr lang="en-US" b="0" i="0" dirty="0">
                <a:solidFill>
                  <a:srgbClr val="0070C0"/>
                </a:solidFill>
                <a:effectLst/>
                <a:latin typeface="__Source_Sans_3_a605e5"/>
              </a:rPr>
              <a:t>what</a:t>
            </a:r>
            <a:r>
              <a:rPr lang="en-US" b="0" i="0" dirty="0">
                <a:effectLst/>
                <a:latin typeface="__Source_Sans_3_a605e5"/>
              </a:rPr>
              <a:t> a system is supposed to do?</a:t>
            </a:r>
          </a:p>
          <a:p>
            <a:r>
              <a:rPr lang="en-IN" b="1" dirty="0"/>
              <a:t>Non-Functional Requirements </a:t>
            </a:r>
            <a:r>
              <a:rPr lang="en-IN" dirty="0"/>
              <a:t>: </a:t>
            </a:r>
            <a:r>
              <a:rPr lang="en-US" b="0" i="0" dirty="0">
                <a:effectLst/>
                <a:latin typeface="__Source_Sans_3_a605e5"/>
              </a:rPr>
              <a:t>They are related to the </a:t>
            </a:r>
            <a:r>
              <a:rPr lang="en-US" b="0" i="0" dirty="0">
                <a:solidFill>
                  <a:srgbClr val="0070C0"/>
                </a:solidFill>
                <a:effectLst/>
                <a:latin typeface="__Source_Sans_3_a605e5"/>
              </a:rPr>
              <a:t>quality</a:t>
            </a:r>
            <a:r>
              <a:rPr lang="en-US" b="0" i="0" dirty="0">
                <a:effectLst/>
                <a:latin typeface="__Source_Sans_3_a605e5"/>
              </a:rPr>
              <a:t> attributes of the system.</a:t>
            </a:r>
            <a:endParaRPr lang="en-IN" dirty="0"/>
          </a:p>
        </p:txBody>
      </p:sp>
      <p:sp>
        <p:nvSpPr>
          <p:cNvPr id="9" name="TextBox 8">
            <a:extLst>
              <a:ext uri="{FF2B5EF4-FFF2-40B4-BE49-F238E27FC236}">
                <a16:creationId xmlns:a16="http://schemas.microsoft.com/office/drawing/2014/main" id="{DFA52E89-73AA-1F9F-C6E0-37A9F1622F64}"/>
              </a:ext>
            </a:extLst>
          </p:cNvPr>
          <p:cNvSpPr txBox="1"/>
          <p:nvPr/>
        </p:nvSpPr>
        <p:spPr>
          <a:xfrm>
            <a:off x="838200" y="1876202"/>
            <a:ext cx="10711543" cy="4468146"/>
          </a:xfrm>
          <a:prstGeom prst="rect">
            <a:avLst/>
          </a:prstGeom>
          <a:noFill/>
        </p:spPr>
        <p:txBody>
          <a:bodyPr wrap="square">
            <a:spAutoFit/>
          </a:bodyPr>
          <a:lstStyle/>
          <a:p>
            <a:pPr algn="l">
              <a:lnSpc>
                <a:spcPts val="2250"/>
              </a:lnSpc>
              <a:spcBef>
                <a:spcPts val="3555"/>
              </a:spcBef>
              <a:spcAft>
                <a:spcPts val="1500"/>
              </a:spcAft>
            </a:pPr>
            <a:r>
              <a:rPr lang="en-US" sz="1600" b="1" i="0" dirty="0">
                <a:effectLst/>
                <a:latin typeface="__Source_Sans_3_a605e5"/>
              </a:rPr>
              <a:t>In System Design Interviews</a:t>
            </a:r>
          </a:p>
          <a:p>
            <a:pPr algn="l">
              <a:lnSpc>
                <a:spcPts val="2400"/>
              </a:lnSpc>
              <a:spcAft>
                <a:spcPts val="1290"/>
              </a:spcAft>
            </a:pPr>
            <a:r>
              <a:rPr lang="en-US" sz="1600" b="0" i="0" dirty="0">
                <a:effectLst/>
                <a:latin typeface="__Source_Sans_3_a605e5"/>
              </a:rPr>
              <a:t>When you're in a system design interview, here's how you can handle these requirements:</a:t>
            </a:r>
          </a:p>
          <a:p>
            <a:pPr algn="l">
              <a:lnSpc>
                <a:spcPts val="2400"/>
              </a:lnSpc>
              <a:spcAft>
                <a:spcPts val="1290"/>
              </a:spcAft>
              <a:buFont typeface="+mj-lt"/>
              <a:buAutoNum type="arabicPeriod"/>
            </a:pPr>
            <a:r>
              <a:rPr lang="en-US" sz="1600" b="1" i="0" dirty="0">
                <a:effectLst/>
                <a:latin typeface="__Source_Sans_3_a605e5"/>
              </a:rPr>
              <a:t>Clarify Requirements</a:t>
            </a:r>
            <a:r>
              <a:rPr lang="en-US" sz="1600" b="0" i="0" dirty="0">
                <a:effectLst/>
                <a:latin typeface="__Source_Sans_3_a605e5"/>
              </a:rPr>
              <a:t>: Start by asking questions to understand both functional and non-functional requirements. Interviewers often leave these </a:t>
            </a:r>
            <a:r>
              <a:rPr lang="en-US" sz="1600" b="0" i="0" dirty="0">
                <a:solidFill>
                  <a:srgbClr val="0070C0"/>
                </a:solidFill>
                <a:effectLst/>
                <a:latin typeface="__Source_Sans_3_a605e5"/>
              </a:rPr>
              <a:t>vague</a:t>
            </a:r>
            <a:r>
              <a:rPr lang="en-US" sz="1600" b="0" i="0" dirty="0">
                <a:effectLst/>
                <a:latin typeface="__Source_Sans_3_a605e5"/>
              </a:rPr>
              <a:t> to see if you'll probe for more details.</a:t>
            </a:r>
          </a:p>
          <a:p>
            <a:pPr algn="l">
              <a:lnSpc>
                <a:spcPts val="2400"/>
              </a:lnSpc>
              <a:spcAft>
                <a:spcPts val="1290"/>
              </a:spcAft>
              <a:buFont typeface="+mj-lt"/>
              <a:buAutoNum type="arabicPeriod"/>
            </a:pPr>
            <a:r>
              <a:rPr lang="en-US" sz="1600" b="1" i="0" dirty="0">
                <a:effectLst/>
                <a:latin typeface="__Source_Sans_3_a605e5"/>
              </a:rPr>
              <a:t>Prioritize</a:t>
            </a:r>
            <a:r>
              <a:rPr lang="en-US" sz="1600" b="0" i="0" dirty="0">
                <a:effectLst/>
                <a:latin typeface="__Source_Sans_3_a605e5"/>
              </a:rPr>
              <a:t>: Not all requirements are equally important. Identify which ones are </a:t>
            </a:r>
            <a:r>
              <a:rPr lang="en-US" sz="1600" b="0" i="0" dirty="0">
                <a:solidFill>
                  <a:srgbClr val="0070C0"/>
                </a:solidFill>
                <a:effectLst/>
                <a:latin typeface="__Source_Sans_3_a605e5"/>
              </a:rPr>
              <a:t>critical</a:t>
            </a:r>
            <a:r>
              <a:rPr lang="en-US" sz="1600" b="0" i="0" dirty="0">
                <a:effectLst/>
                <a:latin typeface="__Source_Sans_3_a605e5"/>
              </a:rPr>
              <a:t> for the system’s success.</a:t>
            </a:r>
          </a:p>
          <a:p>
            <a:pPr algn="l">
              <a:lnSpc>
                <a:spcPts val="2400"/>
              </a:lnSpc>
              <a:spcAft>
                <a:spcPts val="1290"/>
              </a:spcAft>
              <a:buFont typeface="+mj-lt"/>
              <a:buAutoNum type="arabicPeriod"/>
            </a:pPr>
            <a:r>
              <a:rPr lang="en-US" sz="1600" b="1" i="0" dirty="0">
                <a:effectLst/>
                <a:latin typeface="__Source_Sans_3_a605e5"/>
              </a:rPr>
              <a:t>Trade-offs</a:t>
            </a:r>
            <a:r>
              <a:rPr lang="en-US" sz="1600" b="0" i="0" dirty="0">
                <a:effectLst/>
                <a:latin typeface="__Source_Sans_3_a605e5"/>
              </a:rPr>
              <a:t>: Discuss </a:t>
            </a:r>
            <a:r>
              <a:rPr lang="en-US" sz="1600" b="0" i="0" dirty="0">
                <a:solidFill>
                  <a:srgbClr val="0070C0"/>
                </a:solidFill>
                <a:effectLst/>
                <a:latin typeface="__Source_Sans_3_a605e5"/>
              </a:rPr>
              <a:t>trade-offs</a:t>
            </a:r>
            <a:r>
              <a:rPr lang="en-US" sz="1600" b="0" i="0" dirty="0">
                <a:effectLst/>
                <a:latin typeface="__Source_Sans_3_a605e5"/>
              </a:rPr>
              <a:t> related to different architectural decisions, especially concerning non-functional requirements. For example, a system highly optimized for read operations might have slower write operations.</a:t>
            </a:r>
          </a:p>
          <a:p>
            <a:pPr algn="l">
              <a:lnSpc>
                <a:spcPts val="2400"/>
              </a:lnSpc>
              <a:spcAft>
                <a:spcPts val="1290"/>
              </a:spcAft>
              <a:buFont typeface="+mj-lt"/>
              <a:buAutoNum type="arabicPeriod"/>
            </a:pPr>
            <a:r>
              <a:rPr lang="en-US" sz="1600" b="1" i="0" dirty="0">
                <a:effectLst/>
                <a:latin typeface="__Source_Sans_3_a605e5"/>
              </a:rPr>
              <a:t>Use Real-World Examples</a:t>
            </a:r>
            <a:r>
              <a:rPr lang="en-US" sz="1600" b="0" i="0" dirty="0">
                <a:effectLst/>
                <a:latin typeface="__Source_Sans_3_a605e5"/>
              </a:rPr>
              <a:t>: If you can, relate your points to real-world systems or your past experiences. This shows practical understanding.</a:t>
            </a:r>
          </a:p>
          <a:p>
            <a:pPr algn="l">
              <a:lnSpc>
                <a:spcPts val="2400"/>
              </a:lnSpc>
              <a:spcAft>
                <a:spcPts val="1290"/>
              </a:spcAft>
              <a:buFont typeface="+mj-lt"/>
              <a:buAutoNum type="arabicPeriod"/>
            </a:pPr>
            <a:r>
              <a:rPr lang="en-US" sz="1600" b="1" i="0" dirty="0">
                <a:effectLst/>
                <a:latin typeface="__Source_Sans_3_a605e5"/>
              </a:rPr>
              <a:t>Balance</a:t>
            </a:r>
            <a:r>
              <a:rPr lang="en-US" sz="1600" b="0" i="0" dirty="0">
                <a:effectLst/>
                <a:latin typeface="__Source_Sans_3_a605e5"/>
              </a:rPr>
              <a:t>: Ensure you're not focusing too much on one type of requirement over the other. A well-rounded approach is often necessary.</a:t>
            </a:r>
          </a:p>
        </p:txBody>
      </p:sp>
    </p:spTree>
    <p:extLst>
      <p:ext uri="{BB962C8B-B14F-4D97-AF65-F5344CB8AC3E}">
        <p14:creationId xmlns:p14="http://schemas.microsoft.com/office/powerpoint/2010/main" val="2893947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38375-0A3D-76B5-A04B-1FA346B04DB1}"/>
              </a:ext>
            </a:extLst>
          </p:cNvPr>
          <p:cNvSpPr>
            <a:spLocks noGrp="1"/>
          </p:cNvSpPr>
          <p:nvPr>
            <p:ph type="title"/>
          </p:nvPr>
        </p:nvSpPr>
        <p:spPr>
          <a:xfrm>
            <a:off x="838200" y="365125"/>
            <a:ext cx="10515600" cy="473075"/>
          </a:xfrm>
        </p:spPr>
        <p:txBody>
          <a:bodyPr>
            <a:normAutofit fontScale="90000"/>
          </a:bodyPr>
          <a:lstStyle/>
          <a:p>
            <a:r>
              <a:rPr lang="en-IN" b="1" i="0" dirty="0">
                <a:effectLst/>
                <a:latin typeface="__Source_Sans_3_a605e5"/>
              </a:rPr>
              <a:t>Back-of-the-Envelope Estimations</a:t>
            </a:r>
            <a:endParaRPr lang="en-IN" dirty="0"/>
          </a:p>
        </p:txBody>
      </p:sp>
      <p:sp>
        <p:nvSpPr>
          <p:cNvPr id="4" name="TextBox 3">
            <a:extLst>
              <a:ext uri="{FF2B5EF4-FFF2-40B4-BE49-F238E27FC236}">
                <a16:creationId xmlns:a16="http://schemas.microsoft.com/office/drawing/2014/main" id="{B742831D-1C70-54DD-A47E-4DC19A97B885}"/>
              </a:ext>
            </a:extLst>
          </p:cNvPr>
          <p:cNvSpPr txBox="1"/>
          <p:nvPr/>
        </p:nvSpPr>
        <p:spPr>
          <a:xfrm>
            <a:off x="653142" y="940110"/>
            <a:ext cx="11364687" cy="5526513"/>
          </a:xfrm>
          <a:prstGeom prst="rect">
            <a:avLst/>
          </a:prstGeom>
          <a:noFill/>
        </p:spPr>
        <p:txBody>
          <a:bodyPr wrap="square">
            <a:spAutoFit/>
          </a:bodyPr>
          <a:lstStyle/>
          <a:p>
            <a:pPr algn="l">
              <a:lnSpc>
                <a:spcPts val="2400"/>
              </a:lnSpc>
              <a:spcAft>
                <a:spcPts val="1290"/>
              </a:spcAft>
              <a:buFont typeface="+mj-lt"/>
              <a:buAutoNum type="arabicPeriod"/>
            </a:pPr>
            <a:r>
              <a:rPr lang="en-US" b="1" i="0" dirty="0">
                <a:effectLst/>
                <a:latin typeface="__Source_Sans_3_a605e5"/>
              </a:rPr>
              <a:t> Load estimation:</a:t>
            </a:r>
            <a:r>
              <a:rPr lang="en-US" b="0" i="0" dirty="0">
                <a:effectLst/>
                <a:latin typeface="__Source_Sans_3_a605e5"/>
              </a:rPr>
              <a:t> Predict the expected number of </a:t>
            </a:r>
            <a:r>
              <a:rPr lang="en-US" b="0" i="0" dirty="0">
                <a:solidFill>
                  <a:srgbClr val="0070C0"/>
                </a:solidFill>
                <a:effectLst/>
                <a:latin typeface="__Source_Sans_3_a605e5"/>
              </a:rPr>
              <a:t>requests per second</a:t>
            </a:r>
            <a:r>
              <a:rPr lang="en-US" b="0" i="0" dirty="0">
                <a:effectLst/>
                <a:latin typeface="__Source_Sans_3_a605e5"/>
              </a:rPr>
              <a:t>, </a:t>
            </a:r>
            <a:r>
              <a:rPr lang="en-US" b="0" i="0" dirty="0">
                <a:solidFill>
                  <a:srgbClr val="0070C0"/>
                </a:solidFill>
                <a:effectLst/>
                <a:latin typeface="__Source_Sans_3_a605e5"/>
              </a:rPr>
              <a:t>data volume, or user traffic </a:t>
            </a:r>
            <a:r>
              <a:rPr lang="en-US" b="0" i="0" dirty="0">
                <a:effectLst/>
                <a:latin typeface="__Source_Sans_3_a605e5"/>
              </a:rPr>
              <a:t>for the system. Example : 100 million DAU * 10 posts/user = 1 billion posts/day. 1 billion posts/day / 86,400 seconds/day ≈ 11,574 requests/second</a:t>
            </a:r>
          </a:p>
          <a:p>
            <a:pPr algn="l">
              <a:lnSpc>
                <a:spcPts val="2400"/>
              </a:lnSpc>
              <a:spcAft>
                <a:spcPts val="1290"/>
              </a:spcAft>
              <a:buFont typeface="+mj-lt"/>
              <a:buAutoNum type="arabicPeriod"/>
            </a:pPr>
            <a:r>
              <a:rPr lang="en-US" b="1" i="0" dirty="0">
                <a:effectLst/>
                <a:latin typeface="__Source_Sans_3_a605e5"/>
              </a:rPr>
              <a:t> Storage estimation:</a:t>
            </a:r>
            <a:r>
              <a:rPr lang="en-US" b="0" i="0" dirty="0">
                <a:effectLst/>
                <a:latin typeface="__Source_Sans_3_a605e5"/>
              </a:rPr>
              <a:t> Estimate the </a:t>
            </a:r>
            <a:r>
              <a:rPr lang="en-US" b="0" i="0" dirty="0">
                <a:solidFill>
                  <a:srgbClr val="0070C0"/>
                </a:solidFill>
                <a:effectLst/>
                <a:latin typeface="__Source_Sans_3_a605e5"/>
              </a:rPr>
              <a:t>amount of storage </a:t>
            </a:r>
            <a:r>
              <a:rPr lang="en-US" b="0" i="0" dirty="0">
                <a:effectLst/>
                <a:latin typeface="__Source_Sans_3_a605e5"/>
              </a:rPr>
              <a:t>required to handle the data generated by the system. Example : 500 million users * 2 photos/user * 2 MB/photo = 2,000,000,000 MB/day</a:t>
            </a:r>
          </a:p>
          <a:p>
            <a:pPr algn="l">
              <a:lnSpc>
                <a:spcPts val="2400"/>
              </a:lnSpc>
              <a:spcAft>
                <a:spcPts val="1290"/>
              </a:spcAft>
              <a:buFont typeface="+mj-lt"/>
              <a:buAutoNum type="arabicPeriod"/>
            </a:pPr>
            <a:r>
              <a:rPr lang="en-US" b="1" i="0" dirty="0">
                <a:effectLst/>
                <a:latin typeface="__Source_Sans_3_a605e5"/>
              </a:rPr>
              <a:t> Bandwidth estimation:</a:t>
            </a:r>
            <a:r>
              <a:rPr lang="en-US" b="0" i="0" dirty="0">
                <a:effectLst/>
                <a:latin typeface="__Source_Sans_3_a605e5"/>
              </a:rPr>
              <a:t> Determine the </a:t>
            </a:r>
            <a:r>
              <a:rPr lang="en-US" b="0" i="0" dirty="0">
                <a:solidFill>
                  <a:srgbClr val="0070C0"/>
                </a:solidFill>
                <a:effectLst/>
                <a:latin typeface="__Source_Sans_3_a605e5"/>
              </a:rPr>
              <a:t>network bandwidth </a:t>
            </a:r>
            <a:r>
              <a:rPr lang="en-US" b="0" i="0" dirty="0">
                <a:effectLst/>
                <a:latin typeface="__Source_Sans_3_a605e5"/>
              </a:rPr>
              <a:t>needed to support the expected traffic and data transfer. Example : 10 million users * 4 Mbps = 40,000,000 Mbps</a:t>
            </a:r>
          </a:p>
          <a:p>
            <a:pPr algn="l">
              <a:lnSpc>
                <a:spcPts val="2400"/>
              </a:lnSpc>
              <a:spcAft>
                <a:spcPts val="1290"/>
              </a:spcAft>
              <a:buFont typeface="+mj-lt"/>
              <a:buAutoNum type="arabicPeriod"/>
            </a:pPr>
            <a:r>
              <a:rPr lang="en-US" b="1" i="0" dirty="0">
                <a:effectLst/>
                <a:latin typeface="__Source_Sans_3_a605e5"/>
              </a:rPr>
              <a:t> Latency estimation:</a:t>
            </a:r>
            <a:r>
              <a:rPr lang="en-US" b="0" i="0" dirty="0">
                <a:effectLst/>
                <a:latin typeface="__Source_Sans_3_a605e5"/>
              </a:rPr>
              <a:t> Predict the </a:t>
            </a:r>
            <a:r>
              <a:rPr lang="en-US" b="0" i="0" dirty="0">
                <a:solidFill>
                  <a:srgbClr val="0070C0"/>
                </a:solidFill>
                <a:effectLst/>
                <a:latin typeface="__Source_Sans_3_a605e5"/>
              </a:rPr>
              <a:t>response time and latency </a:t>
            </a:r>
            <a:r>
              <a:rPr lang="en-US" b="0" i="0" dirty="0">
                <a:effectLst/>
                <a:latin typeface="__Source_Sans_3_a605e5"/>
              </a:rPr>
              <a:t>of the system based on its architecture and components.</a:t>
            </a:r>
          </a:p>
          <a:p>
            <a:pPr algn="l">
              <a:lnSpc>
                <a:spcPts val="2400"/>
              </a:lnSpc>
              <a:spcAft>
                <a:spcPts val="1290"/>
              </a:spcAft>
              <a:buFont typeface="+mj-lt"/>
              <a:buAutoNum type="arabicPeriod"/>
            </a:pPr>
            <a:r>
              <a:rPr lang="en-US" b="1" i="0" dirty="0">
                <a:effectLst/>
                <a:latin typeface="__Source_Sans_3_a605e5"/>
              </a:rPr>
              <a:t> Resource estimation:</a:t>
            </a:r>
            <a:r>
              <a:rPr lang="en-US" b="0" i="0" dirty="0">
                <a:effectLst/>
                <a:latin typeface="__Source_Sans_3_a605e5"/>
              </a:rPr>
              <a:t> Estimate the </a:t>
            </a:r>
            <a:r>
              <a:rPr lang="en-US" b="0" i="0" dirty="0">
                <a:solidFill>
                  <a:srgbClr val="0070C0"/>
                </a:solidFill>
                <a:effectLst/>
                <a:latin typeface="__Source_Sans_3_a605e5"/>
              </a:rPr>
              <a:t>number of servers, CPUs, or memory </a:t>
            </a:r>
            <a:r>
              <a:rPr lang="en-US" b="0" i="0" dirty="0">
                <a:effectLst/>
                <a:latin typeface="__Source_Sans_3_a605e5"/>
              </a:rPr>
              <a:t>required to handle the load and maintain desired performance levels. Example :  </a:t>
            </a:r>
          </a:p>
          <a:p>
            <a:pPr lvl="1" indent="-285750">
              <a:lnSpc>
                <a:spcPts val="2400"/>
              </a:lnSpc>
              <a:buFont typeface="Arial" panose="020B0604020202020204" pitchFamily="34" charset="0"/>
              <a:buChar char="•"/>
            </a:pPr>
            <a:r>
              <a:rPr lang="en-US" b="0" i="0" dirty="0">
                <a:effectLst/>
                <a:latin typeface="__Source_Sans_3_a605e5"/>
              </a:rPr>
              <a:t>Example : We are designing a web application that receives 10,000 requests per second, with each request requiring 10ms of CPU time. </a:t>
            </a:r>
          </a:p>
          <a:p>
            <a:pPr lvl="1" indent="-285750">
              <a:lnSpc>
                <a:spcPts val="2400"/>
              </a:lnSpc>
              <a:buFont typeface="Arial" panose="020B0604020202020204" pitchFamily="34" charset="0"/>
              <a:buChar char="•"/>
            </a:pPr>
            <a:r>
              <a:rPr lang="en-US" b="0" i="0" dirty="0">
                <a:effectLst/>
                <a:latin typeface="__Source_Sans_3_a605e5"/>
              </a:rPr>
              <a:t>Total CPU time per second: 10,000 requests/second * 10ms/request = 100,000ms/second. </a:t>
            </a:r>
          </a:p>
          <a:p>
            <a:pPr lvl="1" indent="-285750">
              <a:lnSpc>
                <a:spcPts val="2400"/>
              </a:lnSpc>
              <a:buFont typeface="Arial" panose="020B0604020202020204" pitchFamily="34" charset="0"/>
              <a:buChar char="•"/>
            </a:pPr>
            <a:r>
              <a:rPr lang="en-US" b="0" i="0" dirty="0">
                <a:effectLst/>
                <a:latin typeface="__Source_Sans_3_a605e5"/>
              </a:rPr>
              <a:t>Assuming each CPU core can handle 1,000ms of processing per second, the number of cores required would be: 100,000ms/second / 1,000ms/core = 100 cores</a:t>
            </a:r>
          </a:p>
        </p:txBody>
      </p:sp>
    </p:spTree>
    <p:extLst>
      <p:ext uri="{BB962C8B-B14F-4D97-AF65-F5344CB8AC3E}">
        <p14:creationId xmlns:p14="http://schemas.microsoft.com/office/powerpoint/2010/main" val="2801622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7F5B0-4250-462F-352C-9CFEA110F8EC}"/>
              </a:ext>
            </a:extLst>
          </p:cNvPr>
          <p:cNvSpPr>
            <a:spLocks noGrp="1"/>
          </p:cNvSpPr>
          <p:nvPr>
            <p:ph type="title"/>
          </p:nvPr>
        </p:nvSpPr>
        <p:spPr>
          <a:xfrm>
            <a:off x="838200" y="365126"/>
            <a:ext cx="10515600" cy="288018"/>
          </a:xfrm>
        </p:spPr>
        <p:txBody>
          <a:bodyPr>
            <a:normAutofit fontScale="90000"/>
          </a:bodyPr>
          <a:lstStyle/>
          <a:p>
            <a:r>
              <a:rPr lang="en-IN" dirty="0"/>
              <a:t>Some useful metrics</a:t>
            </a:r>
          </a:p>
        </p:txBody>
      </p:sp>
      <p:pic>
        <p:nvPicPr>
          <p:cNvPr id="6" name="Picture 5">
            <a:extLst>
              <a:ext uri="{FF2B5EF4-FFF2-40B4-BE49-F238E27FC236}">
                <a16:creationId xmlns:a16="http://schemas.microsoft.com/office/drawing/2014/main" id="{EB777AD0-0DFD-514F-4666-11767E9BAE2A}"/>
              </a:ext>
            </a:extLst>
          </p:cNvPr>
          <p:cNvPicPr>
            <a:picLocks noChangeAspect="1"/>
          </p:cNvPicPr>
          <p:nvPr/>
        </p:nvPicPr>
        <p:blipFill>
          <a:blip r:embed="rId2"/>
          <a:stretch>
            <a:fillRect/>
          </a:stretch>
        </p:blipFill>
        <p:spPr>
          <a:xfrm>
            <a:off x="346223" y="1148868"/>
            <a:ext cx="4737937" cy="2280132"/>
          </a:xfrm>
          <a:prstGeom prst="rect">
            <a:avLst/>
          </a:prstGeom>
        </p:spPr>
      </p:pic>
      <p:pic>
        <p:nvPicPr>
          <p:cNvPr id="2050" name="Picture 2" descr="Image">
            <a:extLst>
              <a:ext uri="{FF2B5EF4-FFF2-40B4-BE49-F238E27FC236}">
                <a16:creationId xmlns:a16="http://schemas.microsoft.com/office/drawing/2014/main" id="{A8449277-B967-C617-50D6-81C1E8916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1521" y="125185"/>
            <a:ext cx="6910479" cy="6607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910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19E1C-12F8-07FD-0CDE-C7CA7D78DEFF}"/>
              </a:ext>
            </a:extLst>
          </p:cNvPr>
          <p:cNvSpPr>
            <a:spLocks noGrp="1"/>
          </p:cNvSpPr>
          <p:nvPr>
            <p:ph type="title"/>
          </p:nvPr>
        </p:nvSpPr>
        <p:spPr>
          <a:xfrm>
            <a:off x="1338943" y="376010"/>
            <a:ext cx="10515600" cy="625475"/>
          </a:xfrm>
        </p:spPr>
        <p:txBody>
          <a:bodyPr>
            <a:normAutofit fontScale="90000"/>
          </a:bodyPr>
          <a:lstStyle/>
          <a:p>
            <a:pPr>
              <a:lnSpc>
                <a:spcPts val="2700"/>
              </a:lnSpc>
              <a:spcAft>
                <a:spcPts val="1500"/>
              </a:spcAft>
            </a:pPr>
            <a:r>
              <a:rPr lang="en-US" b="1" i="0" dirty="0">
                <a:effectLst/>
                <a:latin typeface="__Source_Sans_3_a605e5"/>
              </a:rPr>
              <a:t>Key Characteristics of Distributed Systems</a:t>
            </a:r>
            <a:br>
              <a:rPr lang="en-US" b="1" i="0" dirty="0">
                <a:effectLst/>
                <a:latin typeface="__Source_Sans_3_a605e5"/>
              </a:rPr>
            </a:br>
            <a:br>
              <a:rPr lang="en-US" b="0" i="0" dirty="0">
                <a:solidFill>
                  <a:srgbClr val="000000"/>
                </a:solidFill>
                <a:effectLst/>
                <a:latin typeface="__Source_Sans_3_a605e5"/>
              </a:rPr>
            </a:br>
            <a:endParaRPr lang="en-IN" dirty="0"/>
          </a:p>
        </p:txBody>
      </p:sp>
      <p:sp>
        <p:nvSpPr>
          <p:cNvPr id="4" name="TextBox 3">
            <a:extLst>
              <a:ext uri="{FF2B5EF4-FFF2-40B4-BE49-F238E27FC236}">
                <a16:creationId xmlns:a16="http://schemas.microsoft.com/office/drawing/2014/main" id="{5FD82319-7875-385F-E48A-429E2A98FCD2}"/>
              </a:ext>
            </a:extLst>
          </p:cNvPr>
          <p:cNvSpPr txBox="1"/>
          <p:nvPr/>
        </p:nvSpPr>
        <p:spPr>
          <a:xfrm>
            <a:off x="2209799" y="816819"/>
            <a:ext cx="7968343" cy="369332"/>
          </a:xfrm>
          <a:prstGeom prst="rect">
            <a:avLst/>
          </a:prstGeom>
          <a:noFill/>
        </p:spPr>
        <p:txBody>
          <a:bodyPr wrap="square">
            <a:spAutoFit/>
          </a:bodyPr>
          <a:lstStyle/>
          <a:p>
            <a:r>
              <a:rPr lang="en-US" b="0" i="0" dirty="0">
                <a:effectLst/>
                <a:latin typeface="__Source_Sans_3_a605e5"/>
              </a:rPr>
              <a:t>Scalability, Reliability, Availability, Efficiency, and Manageability (</a:t>
            </a:r>
            <a:r>
              <a:rPr lang="en-US" b="0" i="0" dirty="0">
                <a:effectLst/>
                <a:highlight>
                  <a:srgbClr val="FFFF00"/>
                </a:highlight>
                <a:latin typeface="__Source_Sans_3_a605e5"/>
              </a:rPr>
              <a:t>SAREM</a:t>
            </a:r>
            <a:r>
              <a:rPr lang="en-US" b="0" i="0" dirty="0">
                <a:effectLst/>
                <a:latin typeface="__Source_Sans_3_a605e5"/>
              </a:rPr>
              <a:t>)</a:t>
            </a:r>
            <a:endParaRPr lang="en-IN" dirty="0"/>
          </a:p>
        </p:txBody>
      </p:sp>
      <p:sp>
        <p:nvSpPr>
          <p:cNvPr id="6" name="TextBox 5">
            <a:extLst>
              <a:ext uri="{FF2B5EF4-FFF2-40B4-BE49-F238E27FC236}">
                <a16:creationId xmlns:a16="http://schemas.microsoft.com/office/drawing/2014/main" id="{ED274EB4-883C-9D56-5487-4F12702482B9}"/>
              </a:ext>
            </a:extLst>
          </p:cNvPr>
          <p:cNvSpPr txBox="1"/>
          <p:nvPr/>
        </p:nvSpPr>
        <p:spPr>
          <a:xfrm>
            <a:off x="1023258" y="1442294"/>
            <a:ext cx="10635342" cy="1477328"/>
          </a:xfrm>
          <a:prstGeom prst="rect">
            <a:avLst/>
          </a:prstGeom>
          <a:noFill/>
        </p:spPr>
        <p:txBody>
          <a:bodyPr wrap="square">
            <a:spAutoFit/>
          </a:bodyPr>
          <a:lstStyle/>
          <a:p>
            <a:pPr marL="285750" indent="-285750">
              <a:buFont typeface="Arial" panose="020B0604020202020204" pitchFamily="34" charset="0"/>
              <a:buChar char="•"/>
            </a:pPr>
            <a:r>
              <a:rPr lang="en-US" b="1" i="0" dirty="0">
                <a:effectLst/>
                <a:latin typeface="__Source_Sans_3_a605e5"/>
              </a:rPr>
              <a:t>Scalability</a:t>
            </a:r>
            <a:r>
              <a:rPr lang="en-US" b="0" i="0" dirty="0">
                <a:effectLst/>
                <a:latin typeface="__Source_Sans_3_a605e5"/>
              </a:rPr>
              <a:t> is the </a:t>
            </a:r>
            <a:r>
              <a:rPr lang="en-US" b="0" i="0" dirty="0">
                <a:solidFill>
                  <a:schemeClr val="accent1"/>
                </a:solidFill>
                <a:effectLst/>
                <a:latin typeface="__Source_Sans_3_a605e5"/>
              </a:rPr>
              <a:t>capability</a:t>
            </a:r>
            <a:r>
              <a:rPr lang="en-US" b="0" i="0" dirty="0">
                <a:effectLst/>
                <a:latin typeface="__Source_Sans_3_a605e5"/>
              </a:rPr>
              <a:t> of a system, process, or a network to grow and </a:t>
            </a:r>
            <a:r>
              <a:rPr lang="en-US" b="0" i="0" dirty="0">
                <a:solidFill>
                  <a:schemeClr val="accent1"/>
                </a:solidFill>
                <a:effectLst/>
                <a:latin typeface="__Source_Sans_3_a605e5"/>
              </a:rPr>
              <a:t>manage increased demand.</a:t>
            </a:r>
          </a:p>
          <a:p>
            <a:pPr marL="285750" indent="-285750">
              <a:buFont typeface="Arial" panose="020B0604020202020204" pitchFamily="34" charset="0"/>
              <a:buChar char="•"/>
            </a:pPr>
            <a:endParaRPr lang="en-US" dirty="0">
              <a:latin typeface="__Source_Sans_3_a605e5"/>
            </a:endParaRPr>
          </a:p>
          <a:p>
            <a:pPr marL="285750" indent="-285750">
              <a:buFont typeface="Arial" panose="020B0604020202020204" pitchFamily="34" charset="0"/>
              <a:buChar char="•"/>
            </a:pPr>
            <a:r>
              <a:rPr lang="en-US" b="1" i="0" dirty="0">
                <a:effectLst/>
                <a:latin typeface="__Source_Sans_3_a605e5"/>
              </a:rPr>
              <a:t>Reliability</a:t>
            </a:r>
            <a:r>
              <a:rPr lang="en-US" b="0" i="0" dirty="0">
                <a:effectLst/>
                <a:latin typeface="__Source_Sans_3_a605e5"/>
              </a:rPr>
              <a:t> refers to the ability of a system to </a:t>
            </a:r>
            <a:r>
              <a:rPr lang="en-US" b="0" i="0" dirty="0">
                <a:solidFill>
                  <a:schemeClr val="accent1"/>
                </a:solidFill>
                <a:effectLst/>
                <a:latin typeface="__Source_Sans_3_a605e5"/>
              </a:rPr>
              <a:t>continue operating correctly and effectively </a:t>
            </a:r>
            <a:r>
              <a:rPr lang="en-US" b="0" i="0" dirty="0">
                <a:effectLst/>
                <a:latin typeface="__Source_Sans_3_a605e5"/>
              </a:rPr>
              <a:t>in the presence of faults, errors, or failures. A related concept is </a:t>
            </a:r>
            <a:r>
              <a:rPr lang="en-US" b="1" i="0" dirty="0">
                <a:effectLst/>
                <a:latin typeface="__Source_Sans_3_a605e5"/>
              </a:rPr>
              <a:t>Fault Tolerance</a:t>
            </a:r>
            <a:r>
              <a:rPr lang="en-US" b="0" i="0" dirty="0">
                <a:effectLst/>
                <a:latin typeface="__Source_Sans_3_a605e5"/>
              </a:rPr>
              <a:t>, which is the system’s </a:t>
            </a:r>
            <a:r>
              <a:rPr lang="en-US" b="0" i="0" dirty="0">
                <a:solidFill>
                  <a:schemeClr val="accent1"/>
                </a:solidFill>
                <a:effectLst/>
                <a:latin typeface="__Source_Sans_3_a605e5"/>
              </a:rPr>
              <a:t>ability to continue operating</a:t>
            </a:r>
            <a:r>
              <a:rPr lang="en-US" b="0" i="0" dirty="0">
                <a:effectLst/>
                <a:latin typeface="__Source_Sans_3_a605e5"/>
              </a:rPr>
              <a:t> (possibly at a reduced level) even when one or more of its components fail.</a:t>
            </a:r>
            <a:endParaRPr lang="en-IN" dirty="0"/>
          </a:p>
        </p:txBody>
      </p:sp>
      <p:graphicFrame>
        <p:nvGraphicFramePr>
          <p:cNvPr id="10" name="Table 9">
            <a:extLst>
              <a:ext uri="{FF2B5EF4-FFF2-40B4-BE49-F238E27FC236}">
                <a16:creationId xmlns:a16="http://schemas.microsoft.com/office/drawing/2014/main" id="{C3DE6070-07F0-7A1D-D0F6-6128E5F74977}"/>
              </a:ext>
            </a:extLst>
          </p:cNvPr>
          <p:cNvGraphicFramePr>
            <a:graphicFrameLocks noGrp="1"/>
          </p:cNvGraphicFramePr>
          <p:nvPr>
            <p:extLst>
              <p:ext uri="{D42A27DB-BD31-4B8C-83A1-F6EECF244321}">
                <p14:modId xmlns:p14="http://schemas.microsoft.com/office/powerpoint/2010/main" val="2081658443"/>
              </p:ext>
            </p:extLst>
          </p:nvPr>
        </p:nvGraphicFramePr>
        <p:xfrm>
          <a:off x="685801" y="3166269"/>
          <a:ext cx="10493828" cy="2874913"/>
        </p:xfrm>
        <a:graphic>
          <a:graphicData uri="http://schemas.openxmlformats.org/drawingml/2006/table">
            <a:tbl>
              <a:tblPr/>
              <a:tblGrid>
                <a:gridCol w="1339638">
                  <a:extLst>
                    <a:ext uri="{9D8B030D-6E8A-4147-A177-3AD203B41FA5}">
                      <a16:colId xmlns:a16="http://schemas.microsoft.com/office/drawing/2014/main" val="915080018"/>
                    </a:ext>
                  </a:extLst>
                </a:gridCol>
                <a:gridCol w="5135277">
                  <a:extLst>
                    <a:ext uri="{9D8B030D-6E8A-4147-A177-3AD203B41FA5}">
                      <a16:colId xmlns:a16="http://schemas.microsoft.com/office/drawing/2014/main" val="3616953893"/>
                    </a:ext>
                  </a:extLst>
                </a:gridCol>
                <a:gridCol w="4018913">
                  <a:extLst>
                    <a:ext uri="{9D8B030D-6E8A-4147-A177-3AD203B41FA5}">
                      <a16:colId xmlns:a16="http://schemas.microsoft.com/office/drawing/2014/main" val="2602457255"/>
                    </a:ext>
                  </a:extLst>
                </a:gridCol>
              </a:tblGrid>
              <a:tr h="338868">
                <a:tc>
                  <a:txBody>
                    <a:bodyPr/>
                    <a:lstStyle/>
                    <a:p>
                      <a:pPr algn="l" fontAlgn="b"/>
                      <a:endParaRPr lang="en-IN" sz="1100" b="0" i="0" u="none" strike="noStrike" dirty="0">
                        <a:solidFill>
                          <a:srgbClr val="000000"/>
                        </a:solidFill>
                        <a:effectLst/>
                        <a:latin typeface="Calibri" panose="020F0502020204030204" pitchFamily="34" charset="0"/>
                      </a:endParaRPr>
                    </a:p>
                  </a:txBody>
                  <a:tcPr marL="6350" marR="6350" marT="6350" marB="0" anchor="b">
                    <a:lnL>
                      <a:noFill/>
                    </a:lnL>
                    <a:lnR>
                      <a:noFill/>
                    </a:lnR>
                    <a:lnT>
                      <a:noFill/>
                    </a:lnT>
                    <a:lnB>
                      <a:noFill/>
                    </a:lnB>
                    <a:noFill/>
                  </a:tcPr>
                </a:tc>
                <a:tc>
                  <a:txBody>
                    <a:bodyPr/>
                    <a:lstStyle/>
                    <a:p>
                      <a:pPr algn="l" fontAlgn="ctr"/>
                      <a:r>
                        <a:rPr lang="en-IN" sz="1200" b="1" i="0" u="none" strike="noStrike">
                          <a:solidFill>
                            <a:srgbClr val="000000"/>
                          </a:solidFill>
                          <a:effectLst/>
                          <a:latin typeface="__Source_Sans_3_a605e5"/>
                        </a:rPr>
                        <a:t>Reliability </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en-IN" sz="1200" b="1" i="0" u="none" strike="noStrike">
                          <a:solidFill>
                            <a:srgbClr val="000000"/>
                          </a:solidFill>
                          <a:effectLst/>
                          <a:latin typeface="__Source_Sans_3_a605e5"/>
                        </a:rPr>
                        <a:t>Fault Tolerance</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1375609814"/>
                  </a:ext>
                </a:extLst>
              </a:tr>
              <a:tr h="634011">
                <a:tc>
                  <a:txBody>
                    <a:bodyPr/>
                    <a:lstStyle/>
                    <a:p>
                      <a:pPr algn="ctr" fontAlgn="b"/>
                      <a:r>
                        <a:rPr lang="en-IN" sz="1000" b="1" i="0" u="none" strike="noStrike">
                          <a:solidFill>
                            <a:srgbClr val="000000"/>
                          </a:solidFill>
                          <a:effectLst/>
                          <a:latin typeface="__Source_Sans_3_a605e5"/>
                        </a:rPr>
                        <a:t>Scope</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focuses on the end-to-end correctness and consistency of the entire system’s operation over time.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focuses on the system’s ability to continue operating when individual components fail.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948683"/>
                  </a:ext>
                </a:extLst>
              </a:tr>
              <a:tr h="951017">
                <a:tc>
                  <a:txBody>
                    <a:bodyPr/>
                    <a:lstStyle/>
                    <a:p>
                      <a:pPr algn="ctr" fontAlgn="b"/>
                      <a:r>
                        <a:rPr lang="en-IN" sz="1000" b="1" i="0" u="none" strike="noStrike">
                          <a:solidFill>
                            <a:srgbClr val="000000"/>
                          </a:solidFill>
                          <a:effectLst/>
                          <a:latin typeface="__Source_Sans_3_a605e5"/>
                        </a:rPr>
                        <a:t>Perspective</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dirty="0">
                          <a:solidFill>
                            <a:srgbClr val="000000"/>
                          </a:solidFill>
                          <a:effectLst/>
                          <a:latin typeface="Calibri" panose="020F0502020204030204" pitchFamily="34" charset="0"/>
                        </a:rPr>
                        <a:t>is primarily a </a:t>
                      </a:r>
                      <a:r>
                        <a:rPr lang="en-US" sz="1100" b="0" i="0" u="none" strike="noStrike" dirty="0">
                          <a:solidFill>
                            <a:srgbClr val="000000"/>
                          </a:solidFill>
                          <a:effectLst/>
                          <a:highlight>
                            <a:srgbClr val="FFFF00"/>
                          </a:highlight>
                          <a:latin typeface="Calibri" panose="020F0502020204030204" pitchFamily="34" charset="0"/>
                        </a:rPr>
                        <a:t>user-centric concept</a:t>
                      </a:r>
                      <a:r>
                        <a:rPr lang="en-US" sz="1100" b="0" i="0" u="none" strike="noStrike" dirty="0">
                          <a:solidFill>
                            <a:srgbClr val="000000"/>
                          </a:solidFill>
                          <a:effectLst/>
                          <a:latin typeface="Calibri" panose="020F0502020204030204" pitchFamily="34" charset="0"/>
                        </a:rPr>
                        <a:t>: Can the system consistently meet the user’s expectations over time?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is more of a </a:t>
                      </a:r>
                      <a:r>
                        <a:rPr lang="en-US" sz="1100" b="0" i="0" u="none" strike="noStrike" dirty="0">
                          <a:solidFill>
                            <a:srgbClr val="000000"/>
                          </a:solidFill>
                          <a:effectLst/>
                          <a:highlight>
                            <a:srgbClr val="FFFF00"/>
                          </a:highlight>
                          <a:latin typeface="Calibri" panose="020F0502020204030204" pitchFamily="34" charset="0"/>
                        </a:rPr>
                        <a:t>system-centric concept</a:t>
                      </a:r>
                      <a:r>
                        <a:rPr lang="en-US" sz="1100" b="0" i="0" u="none" strike="noStrike" dirty="0">
                          <a:solidFill>
                            <a:srgbClr val="000000"/>
                          </a:solidFill>
                          <a:effectLst/>
                          <a:latin typeface="Calibri" panose="020F0502020204030204" pitchFamily="34" charset="0"/>
                        </a:rPr>
                        <a:t>: How does the system handle internal failures or component breakdowns?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8422730"/>
                  </a:ext>
                </a:extLst>
              </a:tr>
              <a:tr h="951017">
                <a:tc>
                  <a:txBody>
                    <a:bodyPr/>
                    <a:lstStyle/>
                    <a:p>
                      <a:pPr algn="ctr" fontAlgn="b"/>
                      <a:r>
                        <a:rPr lang="en-IN" sz="1000" b="1" i="0" u="none" strike="noStrike">
                          <a:solidFill>
                            <a:srgbClr val="000000"/>
                          </a:solidFill>
                          <a:effectLst/>
                          <a:latin typeface="__Source_Sans_3_a605e5"/>
                        </a:rPr>
                        <a:t>Measurement</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Calibri" panose="020F0502020204030204" pitchFamily="34" charset="0"/>
                        </a:rPr>
                        <a:t>is often measured in terms of uptime, error rates, or mean time between failures (MTBF).</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is often measured by how quickly and effectively the system detects, isolates, and recovers from failures (e.g., failover times).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2037749"/>
                  </a:ext>
                </a:extLst>
              </a:tr>
            </a:tbl>
          </a:graphicData>
        </a:graphic>
      </p:graphicFrame>
    </p:spTree>
    <p:extLst>
      <p:ext uri="{BB962C8B-B14F-4D97-AF65-F5344CB8AC3E}">
        <p14:creationId xmlns:p14="http://schemas.microsoft.com/office/powerpoint/2010/main" val="2433028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F8EF3-7086-33C8-A177-6913C1568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17DFC-5B56-CB64-FC8B-CE1DB4365677}"/>
              </a:ext>
            </a:extLst>
          </p:cNvPr>
          <p:cNvSpPr>
            <a:spLocks noGrp="1"/>
          </p:cNvSpPr>
          <p:nvPr>
            <p:ph type="title"/>
          </p:nvPr>
        </p:nvSpPr>
        <p:spPr>
          <a:xfrm>
            <a:off x="1338943" y="376010"/>
            <a:ext cx="10515600" cy="625475"/>
          </a:xfrm>
        </p:spPr>
        <p:txBody>
          <a:bodyPr>
            <a:normAutofit fontScale="90000"/>
          </a:bodyPr>
          <a:lstStyle/>
          <a:p>
            <a:pPr>
              <a:lnSpc>
                <a:spcPts val="2700"/>
              </a:lnSpc>
              <a:spcAft>
                <a:spcPts val="1500"/>
              </a:spcAft>
            </a:pPr>
            <a:r>
              <a:rPr lang="en-US" b="1" i="0" dirty="0">
                <a:effectLst/>
                <a:latin typeface="__Source_Sans_3_a605e5"/>
              </a:rPr>
              <a:t>Key Characteristics of Distributed Systems</a:t>
            </a:r>
            <a:br>
              <a:rPr lang="en-US" b="1" i="0" dirty="0">
                <a:effectLst/>
                <a:latin typeface="__Source_Sans_3_a605e5"/>
              </a:rPr>
            </a:br>
            <a:br>
              <a:rPr lang="en-US" b="0" i="0" dirty="0">
                <a:solidFill>
                  <a:srgbClr val="000000"/>
                </a:solidFill>
                <a:effectLst/>
                <a:latin typeface="__Source_Sans_3_a605e5"/>
              </a:rPr>
            </a:br>
            <a:endParaRPr lang="en-IN" dirty="0"/>
          </a:p>
        </p:txBody>
      </p:sp>
      <p:sp>
        <p:nvSpPr>
          <p:cNvPr id="4" name="TextBox 3">
            <a:extLst>
              <a:ext uri="{FF2B5EF4-FFF2-40B4-BE49-F238E27FC236}">
                <a16:creationId xmlns:a16="http://schemas.microsoft.com/office/drawing/2014/main" id="{363BB9F9-A88F-45C6-4E57-48E1EF921A91}"/>
              </a:ext>
            </a:extLst>
          </p:cNvPr>
          <p:cNvSpPr txBox="1"/>
          <p:nvPr/>
        </p:nvSpPr>
        <p:spPr>
          <a:xfrm>
            <a:off x="2209799" y="816819"/>
            <a:ext cx="7968343" cy="369332"/>
          </a:xfrm>
          <a:prstGeom prst="rect">
            <a:avLst/>
          </a:prstGeom>
          <a:noFill/>
        </p:spPr>
        <p:txBody>
          <a:bodyPr wrap="square">
            <a:spAutoFit/>
          </a:bodyPr>
          <a:lstStyle/>
          <a:p>
            <a:r>
              <a:rPr lang="en-US" b="0" i="0" dirty="0">
                <a:effectLst/>
                <a:latin typeface="__Source_Sans_3_a605e5"/>
              </a:rPr>
              <a:t>Scalability, Reliability, Availability, Efficiency, and Manageability (</a:t>
            </a:r>
            <a:r>
              <a:rPr lang="en-US" b="0" i="0" dirty="0">
                <a:effectLst/>
                <a:highlight>
                  <a:srgbClr val="FFFF00"/>
                </a:highlight>
                <a:latin typeface="__Source_Sans_3_a605e5"/>
              </a:rPr>
              <a:t>SAREM</a:t>
            </a:r>
            <a:r>
              <a:rPr lang="en-US" b="0" i="0" dirty="0">
                <a:effectLst/>
                <a:latin typeface="__Source_Sans_3_a605e5"/>
              </a:rPr>
              <a:t>)</a:t>
            </a:r>
            <a:endParaRPr lang="en-IN" dirty="0"/>
          </a:p>
        </p:txBody>
      </p:sp>
      <p:sp>
        <p:nvSpPr>
          <p:cNvPr id="6" name="TextBox 5">
            <a:extLst>
              <a:ext uri="{FF2B5EF4-FFF2-40B4-BE49-F238E27FC236}">
                <a16:creationId xmlns:a16="http://schemas.microsoft.com/office/drawing/2014/main" id="{D7BADB4D-2F4D-C81B-F2D3-5A3C67A1D3FE}"/>
              </a:ext>
            </a:extLst>
          </p:cNvPr>
          <p:cNvSpPr txBox="1"/>
          <p:nvPr/>
        </p:nvSpPr>
        <p:spPr>
          <a:xfrm>
            <a:off x="1110343" y="2041009"/>
            <a:ext cx="10635342" cy="2308324"/>
          </a:xfrm>
          <a:prstGeom prst="rect">
            <a:avLst/>
          </a:prstGeom>
          <a:noFill/>
        </p:spPr>
        <p:txBody>
          <a:bodyPr wrap="square">
            <a:spAutoFit/>
          </a:bodyPr>
          <a:lstStyle/>
          <a:p>
            <a:pPr marL="285750" indent="-285750">
              <a:buFont typeface="Arial" panose="020B0604020202020204" pitchFamily="34" charset="0"/>
              <a:buChar char="•"/>
            </a:pPr>
            <a:r>
              <a:rPr lang="en-US" b="1" i="0" dirty="0">
                <a:effectLst/>
                <a:latin typeface="__Source_Sans_3_a605e5"/>
              </a:rPr>
              <a:t>Availability</a:t>
            </a:r>
            <a:r>
              <a:rPr lang="en-US" b="0" i="0" dirty="0">
                <a:effectLst/>
                <a:latin typeface="__Source_Sans_3_a605e5"/>
              </a:rPr>
              <a:t> is the time a system remains </a:t>
            </a:r>
            <a:r>
              <a:rPr lang="en-US" b="0" i="0" dirty="0">
                <a:solidFill>
                  <a:schemeClr val="accent1"/>
                </a:solidFill>
                <a:effectLst/>
                <a:latin typeface="__Source_Sans_3_a605e5"/>
              </a:rPr>
              <a:t>operational</a:t>
            </a:r>
            <a:r>
              <a:rPr lang="en-US" b="0" i="0" dirty="0">
                <a:effectLst/>
                <a:latin typeface="__Source_Sans_3_a605e5"/>
              </a:rPr>
              <a:t> to perform its required function in a specific period. </a:t>
            </a:r>
            <a:r>
              <a:rPr lang="en-US" b="0" i="0" dirty="0">
                <a:solidFill>
                  <a:schemeClr val="accent1"/>
                </a:solidFill>
                <a:effectLst/>
                <a:latin typeface="__Source_Sans_3_a605e5"/>
              </a:rPr>
              <a:t>If a system is reliable, it is available. However, if it is available, it is not necessarily reliable. </a:t>
            </a:r>
          </a:p>
          <a:p>
            <a:pPr marL="285750" indent="-285750">
              <a:buFont typeface="Arial" panose="020B0604020202020204" pitchFamily="34" charset="0"/>
              <a:buChar char="•"/>
            </a:pPr>
            <a:endParaRPr lang="en-US" dirty="0">
              <a:solidFill>
                <a:schemeClr val="accent1"/>
              </a:solidFill>
              <a:latin typeface="__Source_Sans_3_a605e5"/>
            </a:endParaRPr>
          </a:p>
          <a:p>
            <a:pPr marL="285750" indent="-285750">
              <a:buFont typeface="Arial" panose="020B0604020202020204" pitchFamily="34" charset="0"/>
              <a:buChar char="•"/>
            </a:pPr>
            <a:r>
              <a:rPr lang="en-US" b="1" dirty="0">
                <a:latin typeface="__Source_Sans_3_a605e5"/>
              </a:rPr>
              <a:t>E</a:t>
            </a:r>
            <a:r>
              <a:rPr lang="en-US" b="1" i="0" dirty="0">
                <a:effectLst/>
                <a:latin typeface="__Source_Sans_3_a605e5"/>
              </a:rPr>
              <a:t>fficiency</a:t>
            </a:r>
            <a:r>
              <a:rPr lang="en-US" b="0" i="0" dirty="0">
                <a:effectLst/>
                <a:latin typeface="__Source_Sans_3_a605e5"/>
              </a:rPr>
              <a:t> : Two standard measures of its efficiency are the </a:t>
            </a:r>
            <a:r>
              <a:rPr lang="en-US" b="0" i="0" dirty="0">
                <a:solidFill>
                  <a:schemeClr val="accent1"/>
                </a:solidFill>
                <a:effectLst/>
                <a:latin typeface="__Source_Sans_3_a605e5"/>
              </a:rPr>
              <a:t>response time (or latency) </a:t>
            </a:r>
            <a:r>
              <a:rPr lang="en-US" b="0" i="0" dirty="0">
                <a:effectLst/>
                <a:latin typeface="__Source_Sans_3_a605e5"/>
              </a:rPr>
              <a:t>that denotes the delay to obtain the first item and the </a:t>
            </a:r>
            <a:r>
              <a:rPr lang="en-US" b="0" i="0" dirty="0">
                <a:solidFill>
                  <a:schemeClr val="accent1"/>
                </a:solidFill>
                <a:effectLst/>
                <a:latin typeface="__Source_Sans_3_a605e5"/>
              </a:rPr>
              <a:t>throughput (or bandwidth) </a:t>
            </a:r>
            <a:r>
              <a:rPr lang="en-US" b="0" i="0" dirty="0">
                <a:effectLst/>
                <a:latin typeface="__Source_Sans_3_a605e5"/>
              </a:rPr>
              <a:t>which denotes the number of items delivered in a given time unit (e.g., a second).</a:t>
            </a:r>
          </a:p>
          <a:p>
            <a:pPr marL="285750" indent="-285750">
              <a:buFont typeface="Arial" panose="020B0604020202020204" pitchFamily="34" charset="0"/>
              <a:buChar char="•"/>
            </a:pPr>
            <a:endParaRPr lang="en-US" dirty="0">
              <a:solidFill>
                <a:schemeClr val="accent1"/>
              </a:solidFill>
              <a:latin typeface="__Source_Sans_3_a605e5"/>
            </a:endParaRPr>
          </a:p>
          <a:p>
            <a:pPr marL="285750" indent="-285750">
              <a:buFont typeface="Arial" panose="020B0604020202020204" pitchFamily="34" charset="0"/>
              <a:buChar char="•"/>
            </a:pPr>
            <a:r>
              <a:rPr lang="en-US" b="1" dirty="0">
                <a:latin typeface="__Source_Sans_3_a605e5"/>
              </a:rPr>
              <a:t>M</a:t>
            </a:r>
            <a:r>
              <a:rPr lang="en-US" b="1" i="0" dirty="0">
                <a:effectLst/>
                <a:latin typeface="__Source_Sans_3_a605e5"/>
              </a:rPr>
              <a:t>anageability</a:t>
            </a:r>
            <a:r>
              <a:rPr lang="en-US" b="0" i="0" dirty="0">
                <a:effectLst/>
                <a:latin typeface="__Source_Sans_3_a605e5"/>
              </a:rPr>
              <a:t> is the simplicity and </a:t>
            </a:r>
            <a:r>
              <a:rPr lang="en-US" b="0" i="0" dirty="0">
                <a:solidFill>
                  <a:schemeClr val="accent1"/>
                </a:solidFill>
                <a:effectLst/>
                <a:latin typeface="__Source_Sans_3_a605e5"/>
              </a:rPr>
              <a:t>speed</a:t>
            </a:r>
            <a:r>
              <a:rPr lang="en-US" b="0" i="0" dirty="0">
                <a:effectLst/>
                <a:latin typeface="__Source_Sans_3_a605e5"/>
              </a:rPr>
              <a:t> with which a system </a:t>
            </a:r>
            <a:r>
              <a:rPr lang="en-US" b="0" i="0" dirty="0">
                <a:solidFill>
                  <a:schemeClr val="accent1"/>
                </a:solidFill>
                <a:effectLst/>
                <a:latin typeface="__Source_Sans_3_a605e5"/>
              </a:rPr>
              <a:t>can be repaired </a:t>
            </a:r>
            <a:r>
              <a:rPr lang="en-US" b="0" i="0" dirty="0">
                <a:effectLst/>
                <a:latin typeface="__Source_Sans_3_a605e5"/>
              </a:rPr>
              <a:t>or maintained.</a:t>
            </a:r>
            <a:endParaRPr lang="en-IN" dirty="0">
              <a:solidFill>
                <a:schemeClr val="accent1"/>
              </a:solidFill>
            </a:endParaRPr>
          </a:p>
        </p:txBody>
      </p:sp>
    </p:spTree>
    <p:extLst>
      <p:ext uri="{BB962C8B-B14F-4D97-AF65-F5344CB8AC3E}">
        <p14:creationId xmlns:p14="http://schemas.microsoft.com/office/powerpoint/2010/main" val="114597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A6B7E-CBDE-CE95-FBD5-C96BDF2B9298}"/>
              </a:ext>
            </a:extLst>
          </p:cNvPr>
          <p:cNvSpPr>
            <a:spLocks noGrp="1"/>
          </p:cNvSpPr>
          <p:nvPr>
            <p:ph type="title"/>
          </p:nvPr>
        </p:nvSpPr>
        <p:spPr>
          <a:xfrm>
            <a:off x="838200" y="365126"/>
            <a:ext cx="10515600" cy="571046"/>
          </a:xfrm>
        </p:spPr>
        <p:txBody>
          <a:bodyPr>
            <a:normAutofit fontScale="90000"/>
          </a:bodyPr>
          <a:lstStyle/>
          <a:p>
            <a:pPr algn="ctr"/>
            <a:r>
              <a:rPr lang="en-IN" dirty="0"/>
              <a:t>Load Balancing</a:t>
            </a:r>
          </a:p>
        </p:txBody>
      </p:sp>
      <p:sp>
        <p:nvSpPr>
          <p:cNvPr id="6" name="TextBox 5">
            <a:extLst>
              <a:ext uri="{FF2B5EF4-FFF2-40B4-BE49-F238E27FC236}">
                <a16:creationId xmlns:a16="http://schemas.microsoft.com/office/drawing/2014/main" id="{055EE8E2-2E15-BD3F-514F-C9AB46A98E5C}"/>
              </a:ext>
            </a:extLst>
          </p:cNvPr>
          <p:cNvSpPr txBox="1"/>
          <p:nvPr/>
        </p:nvSpPr>
        <p:spPr>
          <a:xfrm>
            <a:off x="1643743" y="3113314"/>
            <a:ext cx="7326086" cy="369332"/>
          </a:xfrm>
          <a:prstGeom prst="rect">
            <a:avLst/>
          </a:prstGeom>
          <a:noFill/>
        </p:spPr>
        <p:txBody>
          <a:bodyPr wrap="square" rtlCol="0">
            <a:spAutoFit/>
          </a:bodyPr>
          <a:lstStyle/>
          <a:p>
            <a:r>
              <a:rPr lang="en-IN" dirty="0"/>
              <a:t>See separate deck</a:t>
            </a:r>
          </a:p>
        </p:txBody>
      </p:sp>
    </p:spTree>
    <p:extLst>
      <p:ext uri="{BB962C8B-B14F-4D97-AF65-F5344CB8AC3E}">
        <p14:creationId xmlns:p14="http://schemas.microsoft.com/office/powerpoint/2010/main" val="2346177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FB1F-3765-211C-679F-CE22484C5D88}"/>
              </a:ext>
            </a:extLst>
          </p:cNvPr>
          <p:cNvSpPr>
            <a:spLocks noGrp="1"/>
          </p:cNvSpPr>
          <p:nvPr>
            <p:ph type="title"/>
          </p:nvPr>
        </p:nvSpPr>
        <p:spPr>
          <a:xfrm>
            <a:off x="838200" y="365125"/>
            <a:ext cx="10515600" cy="462189"/>
          </a:xfrm>
        </p:spPr>
        <p:txBody>
          <a:bodyPr>
            <a:normAutofit fontScale="90000"/>
          </a:bodyPr>
          <a:lstStyle/>
          <a:p>
            <a:r>
              <a:rPr lang="en-IN" dirty="0"/>
              <a:t>API Architecture Styles</a:t>
            </a:r>
          </a:p>
        </p:txBody>
      </p:sp>
      <p:pic>
        <p:nvPicPr>
          <p:cNvPr id="4" name="Picture 3">
            <a:extLst>
              <a:ext uri="{FF2B5EF4-FFF2-40B4-BE49-F238E27FC236}">
                <a16:creationId xmlns:a16="http://schemas.microsoft.com/office/drawing/2014/main" id="{6CAA060D-75C5-0105-8C06-506076E45866}"/>
              </a:ext>
            </a:extLst>
          </p:cNvPr>
          <p:cNvPicPr>
            <a:picLocks noChangeAspect="1"/>
          </p:cNvPicPr>
          <p:nvPr/>
        </p:nvPicPr>
        <p:blipFill>
          <a:blip r:embed="rId2"/>
          <a:stretch>
            <a:fillRect/>
          </a:stretch>
        </p:blipFill>
        <p:spPr>
          <a:xfrm>
            <a:off x="693885" y="1539875"/>
            <a:ext cx="6554137" cy="4953000"/>
          </a:xfrm>
          <a:prstGeom prst="rect">
            <a:avLst/>
          </a:prstGeom>
        </p:spPr>
      </p:pic>
      <p:sp>
        <p:nvSpPr>
          <p:cNvPr id="5" name="TextBox 4">
            <a:extLst>
              <a:ext uri="{FF2B5EF4-FFF2-40B4-BE49-F238E27FC236}">
                <a16:creationId xmlns:a16="http://schemas.microsoft.com/office/drawing/2014/main" id="{35C9F97A-CC16-9BBC-7B1D-58ED36CC33CD}"/>
              </a:ext>
            </a:extLst>
          </p:cNvPr>
          <p:cNvSpPr txBox="1"/>
          <p:nvPr/>
        </p:nvSpPr>
        <p:spPr>
          <a:xfrm>
            <a:off x="7707086" y="1632857"/>
            <a:ext cx="4376057" cy="923330"/>
          </a:xfrm>
          <a:prstGeom prst="rect">
            <a:avLst/>
          </a:prstGeom>
          <a:noFill/>
        </p:spPr>
        <p:txBody>
          <a:bodyPr wrap="square" rtlCol="0">
            <a:spAutoFit/>
          </a:bodyPr>
          <a:lstStyle/>
          <a:p>
            <a:r>
              <a:rPr lang="en-IN" dirty="0"/>
              <a:t>GraphQL - </a:t>
            </a:r>
            <a:r>
              <a:rPr lang="en-US" b="0" i="0" dirty="0">
                <a:solidFill>
                  <a:srgbClr val="171717"/>
                </a:solidFill>
                <a:effectLst/>
                <a:latin typeface="-apple-system"/>
              </a:rPr>
              <a:t>let's clients fetch only the data they need, which avoids over-fetching or under-fetching of data.</a:t>
            </a:r>
            <a:endParaRPr lang="en-IN" dirty="0"/>
          </a:p>
        </p:txBody>
      </p:sp>
    </p:spTree>
    <p:extLst>
      <p:ext uri="{BB962C8B-B14F-4D97-AF65-F5344CB8AC3E}">
        <p14:creationId xmlns:p14="http://schemas.microsoft.com/office/powerpoint/2010/main" val="77267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C6CB7-014F-E943-5BD5-38EE298DEFC0}"/>
              </a:ext>
            </a:extLst>
          </p:cNvPr>
          <p:cNvSpPr>
            <a:spLocks noGrp="1"/>
          </p:cNvSpPr>
          <p:nvPr>
            <p:ph type="title"/>
          </p:nvPr>
        </p:nvSpPr>
        <p:spPr>
          <a:xfrm>
            <a:off x="838200" y="190955"/>
            <a:ext cx="10515600" cy="658132"/>
          </a:xfrm>
        </p:spPr>
        <p:txBody>
          <a:bodyPr>
            <a:normAutofit fontScale="90000"/>
          </a:bodyPr>
          <a:lstStyle/>
          <a:p>
            <a:pPr algn="ctr"/>
            <a:r>
              <a:rPr lang="en-IN" dirty="0"/>
              <a:t>Caching</a:t>
            </a:r>
          </a:p>
        </p:txBody>
      </p:sp>
      <p:pic>
        <p:nvPicPr>
          <p:cNvPr id="4" name="Picture 3">
            <a:extLst>
              <a:ext uri="{FF2B5EF4-FFF2-40B4-BE49-F238E27FC236}">
                <a16:creationId xmlns:a16="http://schemas.microsoft.com/office/drawing/2014/main" id="{F95BD254-7251-36BB-1630-14F6D38396A9}"/>
              </a:ext>
            </a:extLst>
          </p:cNvPr>
          <p:cNvPicPr>
            <a:picLocks noChangeAspect="1"/>
          </p:cNvPicPr>
          <p:nvPr/>
        </p:nvPicPr>
        <p:blipFill>
          <a:blip r:embed="rId2"/>
          <a:stretch>
            <a:fillRect/>
          </a:stretch>
        </p:blipFill>
        <p:spPr>
          <a:xfrm>
            <a:off x="322871" y="993193"/>
            <a:ext cx="5174416" cy="4470132"/>
          </a:xfrm>
          <a:prstGeom prst="rect">
            <a:avLst/>
          </a:prstGeom>
        </p:spPr>
      </p:pic>
      <p:pic>
        <p:nvPicPr>
          <p:cNvPr id="6" name="Picture 5">
            <a:extLst>
              <a:ext uri="{FF2B5EF4-FFF2-40B4-BE49-F238E27FC236}">
                <a16:creationId xmlns:a16="http://schemas.microsoft.com/office/drawing/2014/main" id="{5411D9C7-9BBD-BAF8-B3B3-34C193A179D7}"/>
              </a:ext>
            </a:extLst>
          </p:cNvPr>
          <p:cNvPicPr>
            <a:picLocks noChangeAspect="1"/>
          </p:cNvPicPr>
          <p:nvPr/>
        </p:nvPicPr>
        <p:blipFill>
          <a:blip r:embed="rId3"/>
          <a:stretch>
            <a:fillRect/>
          </a:stretch>
        </p:blipFill>
        <p:spPr>
          <a:xfrm>
            <a:off x="6096000" y="993193"/>
            <a:ext cx="5129492" cy="2123846"/>
          </a:xfrm>
          <a:prstGeom prst="rect">
            <a:avLst/>
          </a:prstGeom>
        </p:spPr>
      </p:pic>
      <p:sp>
        <p:nvSpPr>
          <p:cNvPr id="7" name="TextBox 6">
            <a:extLst>
              <a:ext uri="{FF2B5EF4-FFF2-40B4-BE49-F238E27FC236}">
                <a16:creationId xmlns:a16="http://schemas.microsoft.com/office/drawing/2014/main" id="{C2F52CA9-1B98-C1E9-2DF3-F112FA489AA9}"/>
              </a:ext>
            </a:extLst>
          </p:cNvPr>
          <p:cNvSpPr txBox="1"/>
          <p:nvPr/>
        </p:nvSpPr>
        <p:spPr>
          <a:xfrm>
            <a:off x="6291943" y="3429000"/>
            <a:ext cx="4735286" cy="1477328"/>
          </a:xfrm>
          <a:prstGeom prst="rect">
            <a:avLst/>
          </a:prstGeom>
          <a:noFill/>
        </p:spPr>
        <p:txBody>
          <a:bodyPr wrap="square" rtlCol="0">
            <a:spAutoFit/>
          </a:bodyPr>
          <a:lstStyle/>
          <a:p>
            <a:r>
              <a:rPr lang="en-IN" dirty="0"/>
              <a:t>Write Through Read Through </a:t>
            </a:r>
          </a:p>
          <a:p>
            <a:r>
              <a:rPr lang="en-IN" dirty="0"/>
              <a:t>Write Back Read Aside</a:t>
            </a:r>
          </a:p>
          <a:p>
            <a:r>
              <a:rPr lang="en-IN" dirty="0"/>
              <a:t>Write Around Read Through (Most common)</a:t>
            </a:r>
          </a:p>
          <a:p>
            <a:r>
              <a:rPr lang="en-IN" dirty="0"/>
              <a:t>Write Around Read Aside</a:t>
            </a:r>
          </a:p>
          <a:p>
            <a:endParaRPr lang="en-IN" dirty="0"/>
          </a:p>
        </p:txBody>
      </p:sp>
    </p:spTree>
    <p:extLst>
      <p:ext uri="{BB962C8B-B14F-4D97-AF65-F5344CB8AC3E}">
        <p14:creationId xmlns:p14="http://schemas.microsoft.com/office/powerpoint/2010/main" val="3943121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29DFD-E6BE-E8E4-AB42-4224D11AC106}"/>
              </a:ext>
            </a:extLst>
          </p:cNvPr>
          <p:cNvSpPr>
            <a:spLocks noGrp="1"/>
          </p:cNvSpPr>
          <p:nvPr>
            <p:ph type="title"/>
          </p:nvPr>
        </p:nvSpPr>
        <p:spPr>
          <a:xfrm>
            <a:off x="838200" y="365126"/>
            <a:ext cx="10515600" cy="429532"/>
          </a:xfrm>
        </p:spPr>
        <p:txBody>
          <a:bodyPr>
            <a:normAutofit fontScale="90000"/>
          </a:bodyPr>
          <a:lstStyle/>
          <a:p>
            <a:r>
              <a:rPr lang="en-IN" dirty="0"/>
              <a:t>Data</a:t>
            </a:r>
          </a:p>
        </p:txBody>
      </p:sp>
    </p:spTree>
    <p:extLst>
      <p:ext uri="{BB962C8B-B14F-4D97-AF65-F5344CB8AC3E}">
        <p14:creationId xmlns:p14="http://schemas.microsoft.com/office/powerpoint/2010/main" val="3122822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B4E21-768C-B013-7A56-B8F1DFE57063}"/>
              </a:ext>
            </a:extLst>
          </p:cNvPr>
          <p:cNvSpPr>
            <a:spLocks noGrp="1"/>
          </p:cNvSpPr>
          <p:nvPr>
            <p:ph type="title"/>
          </p:nvPr>
        </p:nvSpPr>
        <p:spPr>
          <a:xfrm>
            <a:off x="838200" y="365125"/>
            <a:ext cx="10515600" cy="407761"/>
          </a:xfrm>
        </p:spPr>
        <p:txBody>
          <a:bodyPr>
            <a:normAutofit fontScale="90000"/>
          </a:bodyPr>
          <a:lstStyle/>
          <a:p>
            <a:r>
              <a:rPr lang="en-IN" dirty="0"/>
              <a:t>Proxy</a:t>
            </a:r>
          </a:p>
        </p:txBody>
      </p:sp>
      <p:pic>
        <p:nvPicPr>
          <p:cNvPr id="6146" name="Picture 2" descr="A forward proxy">
            <a:extLst>
              <a:ext uri="{FF2B5EF4-FFF2-40B4-BE49-F238E27FC236}">
                <a16:creationId xmlns:a16="http://schemas.microsoft.com/office/drawing/2014/main" id="{2103A35C-7098-FB5B-86A5-F44D17B508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7716" y="798261"/>
            <a:ext cx="6610404" cy="19231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ED3EAE-24F5-7766-589F-D737D6015304}"/>
              </a:ext>
            </a:extLst>
          </p:cNvPr>
          <p:cNvSpPr txBox="1"/>
          <p:nvPr/>
        </p:nvSpPr>
        <p:spPr>
          <a:xfrm>
            <a:off x="1807029" y="967103"/>
            <a:ext cx="2111828" cy="2308324"/>
          </a:xfrm>
          <a:prstGeom prst="rect">
            <a:avLst/>
          </a:prstGeom>
          <a:noFill/>
        </p:spPr>
        <p:txBody>
          <a:bodyPr wrap="square">
            <a:spAutoFit/>
          </a:bodyPr>
          <a:lstStyle/>
          <a:p>
            <a:r>
              <a:rPr lang="en-US" b="0" i="1" dirty="0">
                <a:effectLst/>
                <a:latin typeface="__Source_Sans_3_a605e5"/>
              </a:rPr>
              <a:t>A forward proxy can hide the identity of the client from the server by sending requests on behalf of the client. Example : Squid, ProxySG</a:t>
            </a:r>
            <a:endParaRPr lang="en-IN" dirty="0"/>
          </a:p>
        </p:txBody>
      </p:sp>
      <p:pic>
        <p:nvPicPr>
          <p:cNvPr id="6148" name="Picture 4" descr="A reverse proxy">
            <a:extLst>
              <a:ext uri="{FF2B5EF4-FFF2-40B4-BE49-F238E27FC236}">
                <a16:creationId xmlns:a16="http://schemas.microsoft.com/office/drawing/2014/main" id="{2817EB39-919A-F9A9-3C87-829008726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2120" y="3064763"/>
            <a:ext cx="6096000" cy="32865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3DAA11F-7148-8FCE-B1BF-9E29369C7098}"/>
              </a:ext>
            </a:extLst>
          </p:cNvPr>
          <p:cNvSpPr txBox="1"/>
          <p:nvPr/>
        </p:nvSpPr>
        <p:spPr>
          <a:xfrm>
            <a:off x="1807030" y="3929743"/>
            <a:ext cx="2111828" cy="1200329"/>
          </a:xfrm>
          <a:prstGeom prst="rect">
            <a:avLst/>
          </a:prstGeom>
          <a:noFill/>
        </p:spPr>
        <p:txBody>
          <a:bodyPr wrap="square">
            <a:spAutoFit/>
          </a:bodyPr>
          <a:lstStyle/>
          <a:p>
            <a:r>
              <a:rPr lang="en-US" dirty="0">
                <a:latin typeface="__Source_Sans_3_a605e5"/>
              </a:rPr>
              <a:t>R</a:t>
            </a:r>
            <a:r>
              <a:rPr lang="en-US" b="0" i="0" dirty="0">
                <a:effectLst/>
                <a:latin typeface="__Source_Sans_3_a605e5"/>
              </a:rPr>
              <a:t>everse proxy hides the server's identity. Example : Nginx,</a:t>
            </a:r>
            <a:r>
              <a:rPr lang="en-US" dirty="0">
                <a:latin typeface="__Source_Sans_3_a605e5"/>
              </a:rPr>
              <a:t> HAProxy</a:t>
            </a:r>
            <a:endParaRPr lang="en-IN" dirty="0"/>
          </a:p>
        </p:txBody>
      </p:sp>
    </p:spTree>
    <p:extLst>
      <p:ext uri="{BB962C8B-B14F-4D97-AF65-F5344CB8AC3E}">
        <p14:creationId xmlns:p14="http://schemas.microsoft.com/office/powerpoint/2010/main" val="359822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C845E-982A-439C-DB42-F9E7CAA30CE0}"/>
              </a:ext>
            </a:extLst>
          </p:cNvPr>
          <p:cNvSpPr>
            <a:spLocks noGrp="1"/>
          </p:cNvSpPr>
          <p:nvPr>
            <p:ph type="title"/>
          </p:nvPr>
        </p:nvSpPr>
        <p:spPr>
          <a:xfrm>
            <a:off x="435428" y="75405"/>
            <a:ext cx="10515600" cy="980509"/>
          </a:xfrm>
        </p:spPr>
        <p:txBody>
          <a:bodyPr/>
          <a:lstStyle/>
          <a:p>
            <a:r>
              <a:rPr lang="en-IN" dirty="0"/>
              <a:t>CAP Theorem in databases</a:t>
            </a:r>
          </a:p>
        </p:txBody>
      </p:sp>
      <p:pic>
        <p:nvPicPr>
          <p:cNvPr id="7170" name="Picture 2">
            <a:extLst>
              <a:ext uri="{FF2B5EF4-FFF2-40B4-BE49-F238E27FC236}">
                <a16:creationId xmlns:a16="http://schemas.microsoft.com/office/drawing/2014/main" id="{5BFD9A72-ADCB-431B-16A0-2E5B6BF966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943" y="944270"/>
            <a:ext cx="5867400" cy="44291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a:extLst>
              <a:ext uri="{FF2B5EF4-FFF2-40B4-BE49-F238E27FC236}">
                <a16:creationId xmlns:a16="http://schemas.microsoft.com/office/drawing/2014/main" id="{43E8B6BC-C5D4-427A-4978-483E1E84E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9271" y="1926770"/>
            <a:ext cx="5015032" cy="328469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82E76B3C-C6AC-A681-EC25-5FD9D059093D}"/>
              </a:ext>
            </a:extLst>
          </p:cNvPr>
          <p:cNvPicPr>
            <a:picLocks noChangeAspect="1"/>
          </p:cNvPicPr>
          <p:nvPr/>
        </p:nvPicPr>
        <p:blipFill>
          <a:blip r:embed="rId4"/>
          <a:stretch>
            <a:fillRect/>
          </a:stretch>
        </p:blipFill>
        <p:spPr>
          <a:xfrm>
            <a:off x="1059706" y="5373395"/>
            <a:ext cx="4840352" cy="1397955"/>
          </a:xfrm>
          <a:prstGeom prst="rect">
            <a:avLst/>
          </a:prstGeom>
        </p:spPr>
      </p:pic>
    </p:spTree>
    <p:extLst>
      <p:ext uri="{BB962C8B-B14F-4D97-AF65-F5344CB8AC3E}">
        <p14:creationId xmlns:p14="http://schemas.microsoft.com/office/powerpoint/2010/main" val="2913250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67C42-0A7F-9FA3-7B7C-C1B014CEBC6A}"/>
              </a:ext>
            </a:extLst>
          </p:cNvPr>
          <p:cNvSpPr>
            <a:spLocks noGrp="1"/>
          </p:cNvSpPr>
          <p:nvPr>
            <p:ph type="title"/>
          </p:nvPr>
        </p:nvSpPr>
        <p:spPr>
          <a:xfrm>
            <a:off x="402772" y="212726"/>
            <a:ext cx="10515600" cy="353332"/>
          </a:xfrm>
        </p:spPr>
        <p:txBody>
          <a:bodyPr>
            <a:normAutofit fontScale="90000"/>
          </a:bodyPr>
          <a:lstStyle/>
          <a:p>
            <a:r>
              <a:rPr lang="en-IN" dirty="0"/>
              <a:t>Consistent Hashing</a:t>
            </a:r>
          </a:p>
        </p:txBody>
      </p:sp>
      <p:sp>
        <p:nvSpPr>
          <p:cNvPr id="4" name="TextBox 3">
            <a:extLst>
              <a:ext uri="{FF2B5EF4-FFF2-40B4-BE49-F238E27FC236}">
                <a16:creationId xmlns:a16="http://schemas.microsoft.com/office/drawing/2014/main" id="{23C40096-79B5-E941-3FEF-83ECCD7B977E}"/>
              </a:ext>
            </a:extLst>
          </p:cNvPr>
          <p:cNvSpPr txBox="1"/>
          <p:nvPr/>
        </p:nvSpPr>
        <p:spPr>
          <a:xfrm>
            <a:off x="402772" y="961349"/>
            <a:ext cx="11397342" cy="5355312"/>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333333"/>
                </a:solidFill>
                <a:effectLst/>
                <a:latin typeface="Assistant" panose="020F0502020204030204" pitchFamily="2" charset="-79"/>
                <a:cs typeface="Assistant" panose="020F0502020204030204" pitchFamily="2" charset="-79"/>
              </a:rPr>
              <a:t>Is used </a:t>
            </a:r>
            <a:r>
              <a:rPr lang="en-US" b="0" i="0" dirty="0">
                <a:solidFill>
                  <a:srgbClr val="333333"/>
                </a:solidFill>
                <a:effectLst/>
                <a:highlight>
                  <a:srgbClr val="FFFF00"/>
                </a:highlight>
                <a:latin typeface="Assistant" panose="020F0502020204030204" pitchFamily="2" charset="-79"/>
                <a:cs typeface="Assistant" panose="020F0502020204030204" pitchFamily="2" charset="-79"/>
              </a:rPr>
              <a:t>for load balancing, data distribution, caching etc.</a:t>
            </a:r>
          </a:p>
          <a:p>
            <a:pPr marL="285750" indent="-285750">
              <a:buFont typeface="Arial" panose="020B0604020202020204" pitchFamily="34" charset="0"/>
              <a:buChar char="•"/>
            </a:pPr>
            <a:r>
              <a:rPr lang="en-US" b="0" i="0" dirty="0">
                <a:solidFill>
                  <a:srgbClr val="333333"/>
                </a:solidFill>
                <a:effectLst/>
                <a:latin typeface="Assistant" panose="020F0502020204030204" pitchFamily="2" charset="-79"/>
                <a:cs typeface="Assistant" panose="020F0502020204030204" pitchFamily="2" charset="-79"/>
              </a:rPr>
              <a:t>Hash Functions are any functions that map value from an arbitrarily sized domain to another </a:t>
            </a:r>
            <a:r>
              <a:rPr lang="en-US" b="0" i="0" dirty="0">
                <a:solidFill>
                  <a:schemeClr val="accent1"/>
                </a:solidFill>
                <a:effectLst/>
                <a:latin typeface="Assistant" panose="020F0502020204030204" pitchFamily="2" charset="-79"/>
                <a:cs typeface="Assistant" panose="020F0502020204030204" pitchFamily="2" charset="-79"/>
              </a:rPr>
              <a:t>fixed-sized</a:t>
            </a:r>
            <a:r>
              <a:rPr lang="en-US" b="0" i="0" dirty="0">
                <a:solidFill>
                  <a:srgbClr val="333333"/>
                </a:solidFill>
                <a:effectLst/>
                <a:latin typeface="Assistant" panose="020F0502020204030204" pitchFamily="2" charset="-79"/>
                <a:cs typeface="Assistant" panose="020F0502020204030204" pitchFamily="2" charset="-79"/>
              </a:rPr>
              <a:t> domain</a:t>
            </a:r>
            <a:r>
              <a:rPr lang="en-US" dirty="0">
                <a:solidFill>
                  <a:srgbClr val="333333"/>
                </a:solidFill>
                <a:latin typeface="Assistant" panose="020F0502020204030204" pitchFamily="2" charset="-79"/>
                <a:cs typeface="Assistant" panose="020F0502020204030204" pitchFamily="2" charset="-79"/>
              </a:rPr>
              <a:t>. For Similarly, </a:t>
            </a:r>
            <a:r>
              <a:rPr lang="en-US" dirty="0">
                <a:solidFill>
                  <a:schemeClr val="accent1"/>
                </a:solidFill>
                <a:latin typeface="Assistant" panose="020F0502020204030204" pitchFamily="2" charset="-79"/>
                <a:cs typeface="Assistant" panose="020F0502020204030204" pitchFamily="2" charset="-79"/>
              </a:rPr>
              <a:t>modulo N restricts hashed domain to a range [0, N-1]. </a:t>
            </a:r>
            <a:r>
              <a:rPr lang="en-US" dirty="0">
                <a:latin typeface="Assistant" panose="020F0502020204030204" pitchFamily="2" charset="-79"/>
                <a:cs typeface="Assistant" panose="020F0502020204030204" pitchFamily="2" charset="-79"/>
              </a:rPr>
              <a:t>This range will be used as consistent hashing circular ring</a:t>
            </a:r>
          </a:p>
          <a:p>
            <a:pPr marL="285750" indent="-285750">
              <a:buFont typeface="Arial" panose="020B0604020202020204" pitchFamily="34" charset="0"/>
              <a:buChar char="•"/>
            </a:pPr>
            <a:r>
              <a:rPr lang="en-US" dirty="0">
                <a:latin typeface="Assistant" panose="020F0502020204030204" pitchFamily="2" charset="-79"/>
                <a:cs typeface="Assistant" panose="020F0502020204030204" pitchFamily="2" charset="-79"/>
              </a:rPr>
              <a:t>Requests are hashed to find a corresponding position on the ring. h(r1) = v1, h(r2) = v2 etc. Similarly server ids can also be hashed with the same hash function (or different function) to find a position on the ring. h(s1) = v3, h(s2) = v4 etc.</a:t>
            </a:r>
          </a:p>
          <a:p>
            <a:pPr marL="285750" indent="-285750">
              <a:buFont typeface="Arial" panose="020B0604020202020204" pitchFamily="34" charset="0"/>
              <a:buChar char="•"/>
            </a:pPr>
            <a:r>
              <a:rPr lang="en-US" dirty="0">
                <a:latin typeface="Assistant" panose="020F0502020204030204" pitchFamily="2" charset="-79"/>
                <a:cs typeface="Assistant" panose="020F0502020204030204" pitchFamily="2" charset="-79"/>
              </a:rPr>
              <a:t>For a value v we find the nearest server s (clockwise) on the ring!</a:t>
            </a:r>
          </a:p>
          <a:p>
            <a:pPr marL="285750" indent="-285750">
              <a:buFont typeface="Arial" panose="020B0604020202020204" pitchFamily="34" charset="0"/>
              <a:buChar char="•"/>
            </a:pPr>
            <a:r>
              <a:rPr lang="en-IN" dirty="0"/>
              <a:t>Adding new node and removing existing node doesn’t require too much data redistribution.</a:t>
            </a:r>
          </a:p>
          <a:p>
            <a:pPr marL="285750" indent="-285750">
              <a:buFont typeface="Arial" panose="020B0604020202020204" pitchFamily="34" charset="0"/>
              <a:buChar char="•"/>
            </a:pPr>
            <a:r>
              <a:rPr lang="en-IN" dirty="0"/>
              <a:t>The above works theoretically with the assumption that requests gets evenly distributed with the hash function. But practically we often see skewed distribution.</a:t>
            </a:r>
          </a:p>
          <a:p>
            <a:pPr marL="285750" indent="-285750">
              <a:buFont typeface="Arial" panose="020B0604020202020204" pitchFamily="34" charset="0"/>
              <a:buChar char="•"/>
            </a:pPr>
            <a:r>
              <a:rPr lang="en-IN" dirty="0"/>
              <a:t>To solve this we can use virtual servers (or </a:t>
            </a:r>
            <a:r>
              <a:rPr lang="en-IN" dirty="0" err="1"/>
              <a:t>Vnode</a:t>
            </a:r>
            <a:r>
              <a:rPr lang="en-IN" dirty="0"/>
              <a:t>) instead of physical server to map requests. The idea is to create virtual id v in the ring which maps to a physical server. This way we achieve more uniform distribution as well lesser impact when adding/removing nodes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hlinkClick r:id="rId2"/>
              </a:rPr>
              <a:t>https://www.youtube.com/watch?v=zaRkONvyGr8</a:t>
            </a:r>
            <a:r>
              <a:rPr lang="en-IN"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625782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0A24A-FA7C-9F17-18B3-0506F39287EB}"/>
              </a:ext>
            </a:extLst>
          </p:cNvPr>
          <p:cNvSpPr>
            <a:spLocks noGrp="1"/>
          </p:cNvSpPr>
          <p:nvPr>
            <p:ph type="title"/>
          </p:nvPr>
        </p:nvSpPr>
        <p:spPr>
          <a:xfrm>
            <a:off x="533400" y="82097"/>
            <a:ext cx="10515600" cy="429532"/>
          </a:xfrm>
        </p:spPr>
        <p:txBody>
          <a:bodyPr>
            <a:normAutofit fontScale="90000"/>
          </a:bodyPr>
          <a:lstStyle/>
          <a:p>
            <a:r>
              <a:rPr lang="en-IN" dirty="0"/>
              <a:t>Bloom filter</a:t>
            </a:r>
          </a:p>
        </p:txBody>
      </p:sp>
      <p:sp>
        <p:nvSpPr>
          <p:cNvPr id="4" name="TextBox 3">
            <a:extLst>
              <a:ext uri="{FF2B5EF4-FFF2-40B4-BE49-F238E27FC236}">
                <a16:creationId xmlns:a16="http://schemas.microsoft.com/office/drawing/2014/main" id="{109D3E06-FE51-D44A-474C-EDD9C3F3D846}"/>
              </a:ext>
            </a:extLst>
          </p:cNvPr>
          <p:cNvSpPr txBox="1"/>
          <p:nvPr/>
        </p:nvSpPr>
        <p:spPr>
          <a:xfrm>
            <a:off x="533400" y="738617"/>
            <a:ext cx="11582400" cy="6186309"/>
          </a:xfrm>
          <a:prstGeom prst="rect">
            <a:avLst/>
          </a:prstGeom>
          <a:noFill/>
        </p:spPr>
        <p:txBody>
          <a:bodyPr wrap="square">
            <a:spAutoFit/>
          </a:bodyPr>
          <a:lstStyle/>
          <a:p>
            <a:pPr marL="285750" indent="-285750">
              <a:buFont typeface="Arial" panose="020B0604020202020204" pitchFamily="34" charset="0"/>
              <a:buChar char="•"/>
            </a:pPr>
            <a:r>
              <a:rPr lang="en-IN" i="0" dirty="0">
                <a:solidFill>
                  <a:srgbClr val="202122"/>
                </a:solidFill>
                <a:effectLst/>
                <a:latin typeface="Arial" panose="020B0604020202020204" pitchFamily="34" charset="0"/>
              </a:rPr>
              <a:t>In </a:t>
            </a:r>
            <a:r>
              <a:rPr lang="en-IN" i="0" u="none" strike="noStrike" dirty="0">
                <a:effectLst/>
                <a:latin typeface="Arial" panose="020B0604020202020204" pitchFamily="34" charset="0"/>
                <a:hlinkClick r:id="rId2" tooltip="Computing"/>
              </a:rPr>
              <a:t>computing</a:t>
            </a:r>
            <a:r>
              <a:rPr lang="en-IN" i="0" dirty="0">
                <a:solidFill>
                  <a:srgbClr val="202122"/>
                </a:solidFill>
                <a:effectLst/>
                <a:latin typeface="Arial" panose="020B0604020202020204" pitchFamily="34" charset="0"/>
              </a:rPr>
              <a:t>, a Bloom filter is a space-efficient </a:t>
            </a:r>
            <a:r>
              <a:rPr lang="en-IN" i="0" u="none" strike="noStrike" dirty="0">
                <a:effectLst/>
                <a:latin typeface="Arial" panose="020B0604020202020204" pitchFamily="34" charset="0"/>
                <a:hlinkClick r:id="rId3" tooltip="Probabilistic"/>
              </a:rPr>
              <a:t>probabilistic</a:t>
            </a:r>
            <a:r>
              <a:rPr lang="en-IN" i="0" dirty="0">
                <a:solidFill>
                  <a:srgbClr val="202122"/>
                </a:solidFill>
                <a:effectLst/>
                <a:latin typeface="Arial" panose="020B0604020202020204" pitchFamily="34" charset="0"/>
              </a:rPr>
              <a:t> </a:t>
            </a:r>
            <a:r>
              <a:rPr lang="en-IN" i="0" u="none" strike="noStrike" dirty="0">
                <a:effectLst/>
                <a:latin typeface="Arial" panose="020B0604020202020204" pitchFamily="34" charset="0"/>
                <a:hlinkClick r:id="rId4" tooltip="Data structure"/>
              </a:rPr>
              <a:t>data structure</a:t>
            </a:r>
            <a:endParaRPr lang="en-IN" i="0" u="none" strike="noStrike" dirty="0">
              <a:effectLst/>
              <a:latin typeface="Arial" panose="020B0604020202020204" pitchFamily="34" charset="0"/>
            </a:endParaRPr>
          </a:p>
          <a:p>
            <a:pPr marL="285750" indent="-285750">
              <a:buFont typeface="Arial" panose="020B0604020202020204" pitchFamily="34" charset="0"/>
              <a:buChar char="•"/>
            </a:pPr>
            <a:r>
              <a:rPr lang="en-US" i="0" dirty="0">
                <a:solidFill>
                  <a:srgbClr val="202122"/>
                </a:solidFill>
                <a:effectLst/>
                <a:latin typeface="Arial" panose="020B0604020202020204" pitchFamily="34" charset="0"/>
              </a:rPr>
              <a:t>returns either "possibly in set" or "definitely not in set".</a:t>
            </a:r>
            <a:endParaRPr lang="en-IN" dirty="0">
              <a:solidFill>
                <a:srgbClr val="202122"/>
              </a:solidFill>
              <a:latin typeface="Arial" panose="020B0604020202020204" pitchFamily="34" charset="0"/>
            </a:endParaRPr>
          </a:p>
          <a:p>
            <a:pPr marL="285750" indent="-285750">
              <a:buFont typeface="Arial" panose="020B0604020202020204" pitchFamily="34" charset="0"/>
              <a:buChar char="•"/>
            </a:pPr>
            <a:r>
              <a:rPr lang="en-US" i="0" u="none" strike="noStrike" dirty="0">
                <a:effectLst/>
                <a:latin typeface="Arial" panose="020B0604020202020204" pitchFamily="34" charset="0"/>
                <a:hlinkClick r:id="rId5" tooltip="Type I and type II errors"/>
              </a:rPr>
              <a:t>False positive</a:t>
            </a:r>
            <a:r>
              <a:rPr lang="en-US" i="0" dirty="0">
                <a:solidFill>
                  <a:srgbClr val="202122"/>
                </a:solidFill>
                <a:effectLst/>
                <a:latin typeface="Arial" panose="020B0604020202020204" pitchFamily="34" charset="0"/>
              </a:rPr>
              <a:t> matches are possible,</a:t>
            </a:r>
          </a:p>
          <a:p>
            <a:pPr marL="285750" indent="-285750">
              <a:buFont typeface="Arial" panose="020B0604020202020204" pitchFamily="34" charset="0"/>
              <a:buChar char="•"/>
            </a:pPr>
            <a:r>
              <a:rPr lang="en-IN" i="0" u="none" strike="noStrike" dirty="0">
                <a:effectLst/>
                <a:latin typeface="Arial" panose="020B0604020202020204" pitchFamily="34" charset="0"/>
                <a:hlinkClick r:id="rId5" tooltip="Type I and type II errors"/>
              </a:rPr>
              <a:t>false negatives</a:t>
            </a:r>
            <a:r>
              <a:rPr lang="en-IN" i="0" dirty="0">
                <a:solidFill>
                  <a:srgbClr val="202122"/>
                </a:solidFill>
                <a:effectLst/>
                <a:latin typeface="Arial" panose="020B0604020202020204" pitchFamily="34" charset="0"/>
              </a:rPr>
              <a:t> are not</a:t>
            </a:r>
          </a:p>
          <a:p>
            <a:pPr marL="285750" indent="-285750">
              <a:buFont typeface="Arial" panose="020B0604020202020204" pitchFamily="34" charset="0"/>
              <a:buChar char="•"/>
            </a:pPr>
            <a:r>
              <a:rPr lang="en-IN" dirty="0">
                <a:solidFill>
                  <a:srgbClr val="202122"/>
                </a:solidFill>
                <a:latin typeface="Arial" panose="020B0604020202020204" pitchFamily="34" charset="0"/>
              </a:rPr>
              <a:t>Have a bit array of m bits</a:t>
            </a:r>
          </a:p>
          <a:p>
            <a:pPr marL="285750" indent="-285750">
              <a:buFont typeface="Arial" panose="020B0604020202020204" pitchFamily="34" charset="0"/>
              <a:buChar char="•"/>
            </a:pPr>
            <a:r>
              <a:rPr lang="en-IN" dirty="0">
                <a:solidFill>
                  <a:srgbClr val="202122"/>
                </a:solidFill>
                <a:latin typeface="Arial" panose="020B0604020202020204" pitchFamily="34" charset="0"/>
              </a:rPr>
              <a:t>And k hash functions</a:t>
            </a:r>
          </a:p>
          <a:p>
            <a:pPr marL="285750" indent="-285750">
              <a:buFont typeface="Arial" panose="020B0604020202020204" pitchFamily="34" charset="0"/>
              <a:buChar char="•"/>
            </a:pPr>
            <a:r>
              <a:rPr lang="en-IN" dirty="0">
                <a:solidFill>
                  <a:srgbClr val="202122"/>
                </a:solidFill>
                <a:latin typeface="Arial" panose="020B0604020202020204" pitchFamily="34" charset="0"/>
              </a:rPr>
              <a:t>Say we have 3 hash functions (and mod of that) will set bits 1, 4, and 7</a:t>
            </a:r>
          </a:p>
          <a:p>
            <a:pPr marL="742950" lvl="1" indent="-285750">
              <a:buFont typeface="Arial" panose="020B0604020202020204" pitchFamily="34" charset="0"/>
              <a:buChar char="•"/>
            </a:pPr>
            <a:r>
              <a:rPr lang="en-IN" dirty="0">
                <a:solidFill>
                  <a:srgbClr val="202122"/>
                </a:solidFill>
                <a:latin typeface="Arial" panose="020B0604020202020204" pitchFamily="34" charset="0"/>
              </a:rPr>
              <a:t>h1(“data”) % 10 = 1</a:t>
            </a:r>
          </a:p>
          <a:p>
            <a:pPr marL="742950" lvl="1" indent="-285750">
              <a:buFont typeface="Arial" panose="020B0604020202020204" pitchFamily="34" charset="0"/>
              <a:buChar char="•"/>
            </a:pPr>
            <a:r>
              <a:rPr lang="en-IN" dirty="0">
                <a:solidFill>
                  <a:srgbClr val="202122"/>
                </a:solidFill>
                <a:latin typeface="Arial" panose="020B0604020202020204" pitchFamily="34" charset="0"/>
              </a:rPr>
              <a:t>h2(“data”) % 10 = 4</a:t>
            </a:r>
          </a:p>
          <a:p>
            <a:pPr marL="742950" lvl="1" indent="-285750">
              <a:buFont typeface="Arial" panose="020B0604020202020204" pitchFamily="34" charset="0"/>
              <a:buChar char="•"/>
            </a:pPr>
            <a:r>
              <a:rPr lang="en-IN" dirty="0">
                <a:solidFill>
                  <a:srgbClr val="202122"/>
                </a:solidFill>
                <a:latin typeface="Arial" panose="020B0604020202020204" pitchFamily="34" charset="0"/>
              </a:rPr>
              <a:t>h3(“data”) % 10 = 7</a:t>
            </a:r>
          </a:p>
          <a:p>
            <a:pPr marL="742950" lvl="1" indent="-285750">
              <a:buFont typeface="Arial" panose="020B0604020202020204" pitchFamily="34" charset="0"/>
              <a:buChar char="•"/>
            </a:pPr>
            <a:endParaRPr lang="en-IN" dirty="0">
              <a:solidFill>
                <a:srgbClr val="202122"/>
              </a:solidFill>
              <a:latin typeface="Arial" panose="020B0604020202020204" pitchFamily="34" charset="0"/>
            </a:endParaRPr>
          </a:p>
          <a:p>
            <a:pPr marL="285750" indent="-285750">
              <a:buFont typeface="Arial" panose="020B0604020202020204" pitchFamily="34" charset="0"/>
              <a:buChar char="•"/>
            </a:pPr>
            <a:r>
              <a:rPr lang="en-IN" dirty="0">
                <a:solidFill>
                  <a:srgbClr val="202122"/>
                </a:solidFill>
                <a:latin typeface="Arial" panose="020B0604020202020204" pitchFamily="34" charset="0"/>
              </a:rPr>
              <a:t>When searching for “data” we apply the same hash functions and check the bits. </a:t>
            </a:r>
          </a:p>
          <a:p>
            <a:pPr marL="285750" indent="-285750">
              <a:buFont typeface="Arial" panose="020B0604020202020204" pitchFamily="34" charset="0"/>
              <a:buChar char="•"/>
            </a:pPr>
            <a:r>
              <a:rPr lang="en-US" dirty="0">
                <a:solidFill>
                  <a:srgbClr val="202122"/>
                </a:solidFill>
                <a:latin typeface="Arial" panose="020B0604020202020204" pitchFamily="34" charset="0"/>
              </a:rPr>
              <a:t>If all the bits are set then we can say that “data” is </a:t>
            </a:r>
            <a:r>
              <a:rPr lang="en-US" dirty="0">
                <a:solidFill>
                  <a:srgbClr val="202122"/>
                </a:solidFill>
                <a:highlight>
                  <a:srgbClr val="FFFF00"/>
                </a:highlight>
                <a:latin typeface="Arial" panose="020B0604020202020204" pitchFamily="34" charset="0"/>
              </a:rPr>
              <a:t>probably present. </a:t>
            </a:r>
          </a:p>
          <a:p>
            <a:pPr marL="285750" indent="-285750">
              <a:buFont typeface="Arial" panose="020B0604020202020204" pitchFamily="34" charset="0"/>
              <a:buChar char="•"/>
            </a:pPr>
            <a:r>
              <a:rPr lang="en-US" dirty="0">
                <a:solidFill>
                  <a:srgbClr val="202122"/>
                </a:solidFill>
                <a:latin typeface="Arial" panose="020B0604020202020204" pitchFamily="34" charset="0"/>
              </a:rPr>
              <a:t>If any of the bit at these indices are 0 then “geeks” is </a:t>
            </a:r>
            <a:r>
              <a:rPr lang="en-US" dirty="0">
                <a:solidFill>
                  <a:srgbClr val="202122"/>
                </a:solidFill>
                <a:highlight>
                  <a:srgbClr val="FFFF00"/>
                </a:highlight>
                <a:latin typeface="Arial" panose="020B0604020202020204" pitchFamily="34" charset="0"/>
              </a:rPr>
              <a:t>definitely not present. </a:t>
            </a:r>
          </a:p>
          <a:p>
            <a:pPr marL="285750" indent="-285750">
              <a:buFont typeface="Arial" panose="020B0604020202020204" pitchFamily="34" charset="0"/>
              <a:buChar char="•"/>
            </a:pPr>
            <a:endParaRPr lang="en-US" dirty="0">
              <a:solidFill>
                <a:srgbClr val="202122"/>
              </a:solidFill>
              <a:latin typeface="Arial" panose="020B0604020202020204" pitchFamily="34" charset="0"/>
            </a:endParaRPr>
          </a:p>
          <a:p>
            <a:pPr marL="285750" indent="-285750">
              <a:buFont typeface="Arial" panose="020B0604020202020204" pitchFamily="34" charset="0"/>
              <a:buChar char="•"/>
            </a:pPr>
            <a:r>
              <a:rPr lang="en-US" dirty="0">
                <a:solidFill>
                  <a:srgbClr val="202122"/>
                </a:solidFill>
                <a:latin typeface="Arial" panose="020B0604020202020204" pitchFamily="34" charset="0"/>
              </a:rPr>
              <a:t>Example : </a:t>
            </a:r>
          </a:p>
          <a:p>
            <a:pPr marL="742950" lvl="1" indent="-285750">
              <a:buFont typeface="Arial" panose="020B0604020202020204" pitchFamily="34" charset="0"/>
              <a:buChar char="•"/>
            </a:pPr>
            <a:r>
              <a:rPr lang="en-US" dirty="0">
                <a:solidFill>
                  <a:srgbClr val="202122"/>
                </a:solidFill>
                <a:latin typeface="Arial" panose="020B0604020202020204" pitchFamily="34" charset="0"/>
              </a:rPr>
              <a:t>New email signup, check if an email already exists!</a:t>
            </a:r>
          </a:p>
          <a:p>
            <a:pPr marL="742950" lvl="1" indent="-285750">
              <a:buFont typeface="Arial" panose="020B0604020202020204" pitchFamily="34" charset="0"/>
              <a:buChar char="•"/>
            </a:pPr>
            <a:r>
              <a:rPr lang="en-US" b="0" i="0" dirty="0">
                <a:solidFill>
                  <a:srgbClr val="202122"/>
                </a:solidFill>
                <a:effectLst/>
                <a:latin typeface="Arial" panose="020B0604020202020204" pitchFamily="34" charset="0"/>
              </a:rPr>
              <a:t>One-hit-wonders are web objects requested by users just once, Using a Bloom filter to detect the second request for a web object and caching that object only on its second request prevents one-hit wonders from entering the disk cache, significantly reducing disk workload and increasing disk cache hit rates</a:t>
            </a:r>
            <a:endParaRPr lang="en-IN" dirty="0">
              <a:solidFill>
                <a:srgbClr val="202122"/>
              </a:solidFill>
              <a:latin typeface="Arial" panose="020B0604020202020204" pitchFamily="34" charset="0"/>
            </a:endParaRPr>
          </a:p>
          <a:p>
            <a:pPr marL="285750" indent="-285750">
              <a:buFont typeface="Arial" panose="020B0604020202020204" pitchFamily="34" charset="0"/>
              <a:buChar char="•"/>
            </a:pPr>
            <a:endParaRPr lang="en-IN" dirty="0">
              <a:solidFill>
                <a:srgbClr val="202122"/>
              </a:solidFill>
              <a:highlight>
                <a:srgbClr val="FFFF00"/>
              </a:highlight>
              <a:latin typeface="Arial" panose="020B0604020202020204" pitchFamily="34" charset="0"/>
            </a:endParaRPr>
          </a:p>
          <a:p>
            <a:pPr marL="285750" indent="-285750">
              <a:buFont typeface="Arial" panose="020B0604020202020204" pitchFamily="34" charset="0"/>
              <a:buChar char="•"/>
            </a:pPr>
            <a:endParaRPr lang="en-IN" dirty="0"/>
          </a:p>
        </p:txBody>
      </p:sp>
      <p:pic>
        <p:nvPicPr>
          <p:cNvPr id="2050" name="Picture 2" descr="Lightbox">
            <a:extLst>
              <a:ext uri="{FF2B5EF4-FFF2-40B4-BE49-F238E27FC236}">
                <a16:creationId xmlns:a16="http://schemas.microsoft.com/office/drawing/2014/main" id="{4482E7F4-2EC6-DA56-D4DB-E27769B4DA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6506" y="2895600"/>
            <a:ext cx="285750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2012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F635B-F9BB-9602-3357-5A0BD421F8D1}"/>
              </a:ext>
            </a:extLst>
          </p:cNvPr>
          <p:cNvSpPr>
            <a:spLocks noGrp="1"/>
          </p:cNvSpPr>
          <p:nvPr>
            <p:ph type="title"/>
          </p:nvPr>
        </p:nvSpPr>
        <p:spPr>
          <a:xfrm>
            <a:off x="315685" y="299812"/>
            <a:ext cx="10515600" cy="146504"/>
          </a:xfrm>
        </p:spPr>
        <p:txBody>
          <a:bodyPr>
            <a:normAutofit fontScale="90000"/>
          </a:bodyPr>
          <a:lstStyle/>
          <a:p>
            <a:r>
              <a:rPr lang="en-IN" dirty="0"/>
              <a:t>Write Ahead Log</a:t>
            </a:r>
          </a:p>
        </p:txBody>
      </p:sp>
      <p:sp>
        <p:nvSpPr>
          <p:cNvPr id="4" name="TextBox 3">
            <a:extLst>
              <a:ext uri="{FF2B5EF4-FFF2-40B4-BE49-F238E27FC236}">
                <a16:creationId xmlns:a16="http://schemas.microsoft.com/office/drawing/2014/main" id="{72DE4EDF-B474-712A-E857-FBD1970F796B}"/>
              </a:ext>
            </a:extLst>
          </p:cNvPr>
          <p:cNvSpPr txBox="1"/>
          <p:nvPr/>
        </p:nvSpPr>
        <p:spPr>
          <a:xfrm>
            <a:off x="838200" y="1587864"/>
            <a:ext cx="9557657" cy="3785652"/>
          </a:xfrm>
          <a:prstGeom prst="rect">
            <a:avLst/>
          </a:prstGeom>
          <a:noFill/>
        </p:spPr>
        <p:txBody>
          <a:bodyPr wrap="square">
            <a:spAutoFit/>
          </a:bodyPr>
          <a:lstStyle/>
          <a:p>
            <a:r>
              <a:rPr lang="en-US" b="0" i="0" dirty="0">
                <a:solidFill>
                  <a:srgbClr val="202122"/>
                </a:solidFill>
                <a:effectLst/>
                <a:latin typeface="Arial" panose="020B0604020202020204" pitchFamily="34" charset="0"/>
              </a:rPr>
              <a:t>In </a:t>
            </a:r>
            <a:r>
              <a:rPr lang="en-US" b="0" i="0" u="none" strike="noStrike" dirty="0">
                <a:solidFill>
                  <a:srgbClr val="3366CC"/>
                </a:solidFill>
                <a:effectLst/>
                <a:latin typeface="Arial" panose="020B0604020202020204" pitchFamily="34" charset="0"/>
                <a:hlinkClick r:id="rId2" tooltip="Computer science"/>
              </a:rPr>
              <a:t>computer science</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write-ahead logging</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WAL</a:t>
            </a:r>
            <a:r>
              <a:rPr lang="en-US" b="0" i="0" dirty="0">
                <a:solidFill>
                  <a:srgbClr val="202122"/>
                </a:solidFill>
                <a:effectLst/>
                <a:latin typeface="Arial" panose="020B0604020202020204" pitchFamily="34" charset="0"/>
              </a:rPr>
              <a:t>) is a family of techniques for providing </a:t>
            </a:r>
            <a:r>
              <a:rPr lang="en-US" b="0" i="0" u="none" strike="noStrike" dirty="0">
                <a:solidFill>
                  <a:srgbClr val="3366CC"/>
                </a:solidFill>
                <a:effectLst/>
                <a:latin typeface="Arial" panose="020B0604020202020204" pitchFamily="34" charset="0"/>
                <a:hlinkClick r:id="rId3" tooltip="Atomicity (database systems)"/>
              </a:rPr>
              <a:t>atomicity</a:t>
            </a:r>
            <a:r>
              <a:rPr lang="en-US" b="0" i="0" dirty="0">
                <a:solidFill>
                  <a:srgbClr val="202122"/>
                </a:solidFill>
                <a:effectLst/>
                <a:latin typeface="Arial" panose="020B0604020202020204" pitchFamily="34" charset="0"/>
              </a:rPr>
              <a:t> and </a:t>
            </a:r>
            <a:r>
              <a:rPr lang="en-US" b="0" i="0" u="none" strike="noStrike" dirty="0">
                <a:solidFill>
                  <a:srgbClr val="3366CC"/>
                </a:solidFill>
                <a:effectLst/>
                <a:latin typeface="Arial" panose="020B0604020202020204" pitchFamily="34" charset="0"/>
                <a:hlinkClick r:id="rId4" tooltip="Durability (database systems)"/>
              </a:rPr>
              <a:t>durability</a:t>
            </a:r>
            <a:r>
              <a:rPr lang="en-US" b="0" i="0" dirty="0">
                <a:solidFill>
                  <a:srgbClr val="202122"/>
                </a:solidFill>
                <a:effectLst/>
                <a:latin typeface="Arial" panose="020B0604020202020204" pitchFamily="34" charset="0"/>
              </a:rPr>
              <a:t> (two of the </a:t>
            </a:r>
            <a:r>
              <a:rPr lang="en-US" b="0" i="0" u="none" strike="noStrike" dirty="0">
                <a:solidFill>
                  <a:srgbClr val="3366CC"/>
                </a:solidFill>
                <a:effectLst/>
                <a:latin typeface="Arial" panose="020B0604020202020204" pitchFamily="34" charset="0"/>
                <a:hlinkClick r:id="rId5" tooltip="ACID"/>
              </a:rPr>
              <a:t>ACID</a:t>
            </a:r>
            <a:r>
              <a:rPr lang="en-US" b="0" i="0" dirty="0">
                <a:solidFill>
                  <a:srgbClr val="202122"/>
                </a:solidFill>
                <a:effectLst/>
                <a:latin typeface="Arial" panose="020B0604020202020204" pitchFamily="34" charset="0"/>
              </a:rPr>
              <a:t> properties) in </a:t>
            </a:r>
            <a:r>
              <a:rPr lang="en-US" b="0" i="0" u="none" strike="noStrike" dirty="0">
                <a:solidFill>
                  <a:srgbClr val="3366CC"/>
                </a:solidFill>
                <a:effectLst/>
                <a:latin typeface="Arial" panose="020B0604020202020204" pitchFamily="34" charset="0"/>
                <a:hlinkClick r:id="rId6" tooltip="Database system"/>
              </a:rPr>
              <a:t>database systems</a:t>
            </a:r>
            <a:r>
              <a:rPr lang="en-US" b="0" i="0" dirty="0">
                <a:solidFill>
                  <a:srgbClr val="202122"/>
                </a:solidFill>
                <a:effectLst/>
                <a:latin typeface="Arial" panose="020B0604020202020204" pitchFamily="34" charset="0"/>
              </a:rPr>
              <a:t>.</a:t>
            </a:r>
            <a:r>
              <a:rPr lang="en-US" b="0" i="0" u="none" strike="noStrike" baseline="30000" dirty="0">
                <a:solidFill>
                  <a:srgbClr val="3366CC"/>
                </a:solidFill>
                <a:effectLst/>
                <a:latin typeface="Arial" panose="020B0604020202020204" pitchFamily="34" charset="0"/>
                <a:hlinkClick r:id="rId7"/>
              </a:rPr>
              <a:t>[1]</a:t>
            </a:r>
            <a:endParaRPr lang="en-US" b="0" i="0" u="none" strike="noStrike" baseline="30000" dirty="0">
              <a:solidFill>
                <a:srgbClr val="3366CC"/>
              </a:solidFill>
              <a:effectLst/>
              <a:latin typeface="Arial" panose="020B0604020202020204" pitchFamily="34" charset="0"/>
            </a:endParaRPr>
          </a:p>
          <a:p>
            <a:endParaRPr lang="en-US" baseline="30000" dirty="0">
              <a:solidFill>
                <a:srgbClr val="3366CC"/>
              </a:solidFill>
              <a:latin typeface="Arial" panose="020B0604020202020204" pitchFamily="34" charset="0"/>
            </a:endParaRPr>
          </a:p>
          <a:p>
            <a:endParaRPr lang="en-US" baseline="30000" dirty="0">
              <a:solidFill>
                <a:srgbClr val="3366CC"/>
              </a:solidFill>
              <a:latin typeface="Arial" panose="020B0604020202020204" pitchFamily="34" charset="0"/>
            </a:endParaRPr>
          </a:p>
          <a:p>
            <a:endParaRPr lang="en-US" baseline="30000" dirty="0">
              <a:solidFill>
                <a:srgbClr val="3366CC"/>
              </a:solidFill>
              <a:latin typeface="Arial" panose="020B0604020202020204" pitchFamily="34" charset="0"/>
            </a:endParaRPr>
          </a:p>
          <a:p>
            <a:pPr algn="l">
              <a:buNone/>
            </a:pPr>
            <a:r>
              <a:rPr lang="en-US" b="0" i="0" dirty="0">
                <a:solidFill>
                  <a:srgbClr val="202122"/>
                </a:solidFill>
                <a:effectLst/>
                <a:latin typeface="Arial" panose="020B0604020202020204" pitchFamily="34" charset="0"/>
              </a:rPr>
              <a:t>The main functionality of a write-ahead log can be summarized as:</a:t>
            </a:r>
            <a:r>
              <a:rPr lang="en-US" b="0" i="0" u="none" strike="noStrike" baseline="30000" dirty="0">
                <a:solidFill>
                  <a:srgbClr val="3366CC"/>
                </a:solidFill>
                <a:effectLst/>
                <a:latin typeface="Arial" panose="020B0604020202020204" pitchFamily="34" charset="0"/>
                <a:hlinkClick r:id="rId8"/>
              </a:rPr>
              <a:t>[3]</a:t>
            </a:r>
            <a:endParaRPr lang="en-US" b="0" i="0" dirty="0">
              <a:solidFill>
                <a:srgbClr val="202122"/>
              </a:solidFill>
              <a:effectLst/>
              <a:latin typeface="Arial" panose="020B0604020202020204" pitchFamily="34" charset="0"/>
            </a:endParaRPr>
          </a:p>
          <a:p>
            <a:pPr algn="l">
              <a:buFont typeface="Arial" panose="020B0604020202020204" pitchFamily="34" charset="0"/>
              <a:buChar char="•"/>
            </a:pPr>
            <a:r>
              <a:rPr lang="en-US" b="0" i="0" dirty="0">
                <a:solidFill>
                  <a:srgbClr val="202122"/>
                </a:solidFill>
                <a:effectLst/>
                <a:latin typeface="Arial" panose="020B0604020202020204" pitchFamily="34" charset="0"/>
              </a:rPr>
              <a:t>Allow the page cache to buffer updates to disk-resident pages while ensuring durability semantics in the larger context of a database system.</a:t>
            </a:r>
          </a:p>
          <a:p>
            <a:pPr algn="l">
              <a:buFont typeface="Arial" panose="020B0604020202020204" pitchFamily="34" charset="0"/>
              <a:buChar char="•"/>
            </a:pPr>
            <a:r>
              <a:rPr lang="en-US" b="0" i="0" dirty="0">
                <a:solidFill>
                  <a:srgbClr val="202122"/>
                </a:solidFill>
                <a:effectLst/>
                <a:latin typeface="Arial" panose="020B0604020202020204" pitchFamily="34" charset="0"/>
              </a:rPr>
              <a:t>Persist all operations on disk until the cached copies of pages affected by these operations are synchronized on disk. Every operation that modifies the database state has to be logged on disk before the contents on the associated pages can be modified</a:t>
            </a:r>
          </a:p>
          <a:p>
            <a:pPr algn="l">
              <a:buFont typeface="Arial" panose="020B0604020202020204" pitchFamily="34" charset="0"/>
              <a:buChar char="•"/>
            </a:pPr>
            <a:r>
              <a:rPr lang="en-US" b="0" i="0" dirty="0">
                <a:solidFill>
                  <a:srgbClr val="202122"/>
                </a:solidFill>
                <a:effectLst/>
                <a:latin typeface="Arial" panose="020B0604020202020204" pitchFamily="34" charset="0"/>
              </a:rPr>
              <a:t>Allow lost in-memory changes to be reconstructed from the operation log in case of a crash.</a:t>
            </a:r>
          </a:p>
          <a:p>
            <a:endParaRPr lang="en-US" baseline="30000" dirty="0">
              <a:solidFill>
                <a:srgbClr val="3366CC"/>
              </a:solidFill>
              <a:latin typeface="Arial" panose="020B0604020202020204" pitchFamily="34" charset="0"/>
            </a:endParaRPr>
          </a:p>
          <a:p>
            <a:endParaRPr lang="en-US" baseline="30000" dirty="0">
              <a:solidFill>
                <a:srgbClr val="3366CC"/>
              </a:solidFill>
              <a:latin typeface="Arial" panose="020B0604020202020204" pitchFamily="34" charset="0"/>
            </a:endParaRPr>
          </a:p>
          <a:p>
            <a:r>
              <a:rPr lang="en-IN">
                <a:hlinkClick r:id="rId9"/>
              </a:rPr>
              <a:t>https://www.youtube.com/watch?v=wI4hKwl1Cn4</a:t>
            </a:r>
            <a:r>
              <a:rPr lang="en-IN"/>
              <a:t> </a:t>
            </a:r>
            <a:endParaRPr lang="en-IN" dirty="0"/>
          </a:p>
        </p:txBody>
      </p:sp>
    </p:spTree>
    <p:extLst>
      <p:ext uri="{BB962C8B-B14F-4D97-AF65-F5344CB8AC3E}">
        <p14:creationId xmlns:p14="http://schemas.microsoft.com/office/powerpoint/2010/main" val="2794040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7F200B-B8E0-9814-1C44-9FA081EC30BF}"/>
              </a:ext>
            </a:extLst>
          </p:cNvPr>
          <p:cNvPicPr>
            <a:picLocks noChangeAspect="1"/>
          </p:cNvPicPr>
          <p:nvPr/>
        </p:nvPicPr>
        <p:blipFill>
          <a:blip r:embed="rId2"/>
          <a:stretch>
            <a:fillRect/>
          </a:stretch>
        </p:blipFill>
        <p:spPr>
          <a:xfrm>
            <a:off x="3246182" y="13811"/>
            <a:ext cx="6897063" cy="6830378"/>
          </a:xfrm>
          <a:prstGeom prst="rect">
            <a:avLst/>
          </a:prstGeom>
        </p:spPr>
      </p:pic>
    </p:spTree>
    <p:extLst>
      <p:ext uri="{BB962C8B-B14F-4D97-AF65-F5344CB8AC3E}">
        <p14:creationId xmlns:p14="http://schemas.microsoft.com/office/powerpoint/2010/main" val="1925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76B14-68BB-EC39-A4D9-9C368E17F98D}"/>
              </a:ext>
            </a:extLst>
          </p:cNvPr>
          <p:cNvSpPr>
            <a:spLocks noGrp="1"/>
          </p:cNvSpPr>
          <p:nvPr>
            <p:ph type="title"/>
          </p:nvPr>
        </p:nvSpPr>
        <p:spPr>
          <a:xfrm>
            <a:off x="838200" y="365126"/>
            <a:ext cx="10515600" cy="500288"/>
          </a:xfrm>
        </p:spPr>
        <p:txBody>
          <a:bodyPr>
            <a:normAutofit fontScale="90000"/>
          </a:bodyPr>
          <a:lstStyle/>
          <a:p>
            <a:r>
              <a:rPr lang="en-IN" dirty="0"/>
              <a:t>URL shortening - </a:t>
            </a:r>
            <a:r>
              <a:rPr lang="en-IN" dirty="0" err="1"/>
              <a:t>TinyURL</a:t>
            </a:r>
            <a:endParaRPr lang="en-IN" dirty="0"/>
          </a:p>
        </p:txBody>
      </p:sp>
      <p:sp>
        <p:nvSpPr>
          <p:cNvPr id="3" name="TextBox 2">
            <a:extLst>
              <a:ext uri="{FF2B5EF4-FFF2-40B4-BE49-F238E27FC236}">
                <a16:creationId xmlns:a16="http://schemas.microsoft.com/office/drawing/2014/main" id="{866C6020-F2D0-1BCF-2521-A285CA6111D2}"/>
              </a:ext>
            </a:extLst>
          </p:cNvPr>
          <p:cNvSpPr txBox="1"/>
          <p:nvPr/>
        </p:nvSpPr>
        <p:spPr>
          <a:xfrm>
            <a:off x="1240971" y="1284514"/>
            <a:ext cx="2667000" cy="1477328"/>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IN" dirty="0"/>
              <a:t>Shorten URL</a:t>
            </a:r>
          </a:p>
          <a:p>
            <a:pPr marL="285750" indent="-285750">
              <a:buFont typeface="Arial" panose="020B0604020202020204" pitchFamily="34" charset="0"/>
              <a:buChar char="•"/>
            </a:pPr>
            <a:r>
              <a:rPr lang="en-US" dirty="0">
                <a:latin typeface="__Source_Sans_3_a605e5"/>
              </a:rPr>
              <a:t>R</a:t>
            </a:r>
            <a:r>
              <a:rPr lang="en-US" b="0" i="0" dirty="0">
                <a:effectLst/>
                <a:latin typeface="__Source_Sans_3_a605e5"/>
              </a:rPr>
              <a:t>edirect to original link</a:t>
            </a:r>
          </a:p>
          <a:p>
            <a:pPr marL="285750" indent="-285750">
              <a:buFont typeface="Arial" panose="020B0604020202020204" pitchFamily="34" charset="0"/>
              <a:buChar char="•"/>
            </a:pPr>
            <a:r>
              <a:rPr lang="en-IN" dirty="0">
                <a:latin typeface="__Source_Sans_3_a605e5"/>
              </a:rPr>
              <a:t>C</a:t>
            </a:r>
            <a:r>
              <a:rPr lang="en-IN" b="0" i="0" dirty="0">
                <a:effectLst/>
                <a:latin typeface="__Source_Sans_3_a605e5"/>
              </a:rPr>
              <a:t>ustom short link</a:t>
            </a:r>
          </a:p>
          <a:p>
            <a:pPr marL="285750" indent="-285750">
              <a:buFont typeface="Arial" panose="020B0604020202020204" pitchFamily="34" charset="0"/>
              <a:buChar char="•"/>
            </a:pPr>
            <a:r>
              <a:rPr lang="en-IN" dirty="0">
                <a:latin typeface="__Source_Sans_3_a605e5"/>
              </a:rPr>
              <a:t>Expiration</a:t>
            </a:r>
            <a:endParaRPr lang="en-IN" dirty="0"/>
          </a:p>
        </p:txBody>
      </p:sp>
      <p:sp>
        <p:nvSpPr>
          <p:cNvPr id="4" name="TextBox 3">
            <a:extLst>
              <a:ext uri="{FF2B5EF4-FFF2-40B4-BE49-F238E27FC236}">
                <a16:creationId xmlns:a16="http://schemas.microsoft.com/office/drawing/2014/main" id="{4B77986F-415F-84A2-D3FA-FD6630B1C868}"/>
              </a:ext>
            </a:extLst>
          </p:cNvPr>
          <p:cNvSpPr txBox="1"/>
          <p:nvPr/>
        </p:nvSpPr>
        <p:spPr>
          <a:xfrm>
            <a:off x="4974771" y="1284514"/>
            <a:ext cx="5976258" cy="1477328"/>
          </a:xfrm>
          <a:prstGeom prst="rect">
            <a:avLst/>
          </a:prstGeom>
          <a:noFill/>
        </p:spPr>
        <p:txBody>
          <a:bodyPr wrap="square" rtlCol="0">
            <a:spAutoFit/>
          </a:bodyPr>
          <a:lstStyle/>
          <a:p>
            <a:r>
              <a:rPr lang="en-IN" dirty="0"/>
              <a:t>Highlights</a:t>
            </a:r>
          </a:p>
          <a:p>
            <a:pPr marL="285750" indent="-285750">
              <a:buFont typeface="Arial" panose="020B0604020202020204" pitchFamily="34" charset="0"/>
              <a:buChar char="•"/>
            </a:pPr>
            <a:r>
              <a:rPr lang="en-IN" dirty="0"/>
              <a:t>We can use a hash function to shorten an arbitrary length URL to a fixed size URL</a:t>
            </a:r>
          </a:p>
          <a:p>
            <a:pPr marL="285750" indent="-285750">
              <a:buFont typeface="Arial" panose="020B0604020202020204" pitchFamily="34" charset="0"/>
              <a:buChar char="•"/>
            </a:pPr>
            <a:r>
              <a:rPr lang="en-IN" dirty="0"/>
              <a:t>We have to redirect requests with http response 301, 302, 308</a:t>
            </a:r>
          </a:p>
        </p:txBody>
      </p:sp>
    </p:spTree>
    <p:extLst>
      <p:ext uri="{BB962C8B-B14F-4D97-AF65-F5344CB8AC3E}">
        <p14:creationId xmlns:p14="http://schemas.microsoft.com/office/powerpoint/2010/main" val="1766448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961F-544D-85D1-41D3-D02FF1A928BD}"/>
              </a:ext>
            </a:extLst>
          </p:cNvPr>
          <p:cNvSpPr>
            <a:spLocks noGrp="1"/>
          </p:cNvSpPr>
          <p:nvPr>
            <p:ph type="title"/>
          </p:nvPr>
        </p:nvSpPr>
        <p:spPr>
          <a:xfrm>
            <a:off x="838200" y="365126"/>
            <a:ext cx="10515600" cy="527504"/>
          </a:xfrm>
        </p:spPr>
        <p:txBody>
          <a:bodyPr>
            <a:normAutofit fontScale="90000"/>
          </a:bodyPr>
          <a:lstStyle/>
          <a:p>
            <a:r>
              <a:rPr lang="en-IN" dirty="0"/>
              <a:t>Image sharing - Instagram</a:t>
            </a:r>
          </a:p>
        </p:txBody>
      </p:sp>
      <p:sp>
        <p:nvSpPr>
          <p:cNvPr id="3" name="TextBox 2">
            <a:extLst>
              <a:ext uri="{FF2B5EF4-FFF2-40B4-BE49-F238E27FC236}">
                <a16:creationId xmlns:a16="http://schemas.microsoft.com/office/drawing/2014/main" id="{52508389-A991-01A9-EA84-890AB5625B37}"/>
              </a:ext>
            </a:extLst>
          </p:cNvPr>
          <p:cNvSpPr txBox="1"/>
          <p:nvPr/>
        </p:nvSpPr>
        <p:spPr>
          <a:xfrm>
            <a:off x="1251857" y="1338504"/>
            <a:ext cx="2928257" cy="4247317"/>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IN" dirty="0"/>
              <a:t>Upload Photos</a:t>
            </a:r>
          </a:p>
          <a:p>
            <a:pPr marL="285750" indent="-285750">
              <a:buFont typeface="Arial" panose="020B0604020202020204" pitchFamily="34" charset="0"/>
              <a:buChar char="•"/>
            </a:pPr>
            <a:r>
              <a:rPr lang="en-IN" dirty="0"/>
              <a:t>Search user</a:t>
            </a:r>
          </a:p>
          <a:p>
            <a:pPr marL="285750" indent="-285750">
              <a:buFont typeface="Arial" panose="020B0604020202020204" pitchFamily="34" charset="0"/>
              <a:buChar char="•"/>
            </a:pPr>
            <a:r>
              <a:rPr lang="en-IN" b="0" i="0" dirty="0">
                <a:effectLst/>
                <a:latin typeface="__Source_Sans_3_a605e5"/>
              </a:rPr>
              <a:t>follow other users.</a:t>
            </a:r>
          </a:p>
          <a:p>
            <a:pPr marL="285750" indent="-285750">
              <a:buFont typeface="Arial" panose="020B0604020202020204" pitchFamily="34" charset="0"/>
              <a:buChar char="•"/>
            </a:pPr>
            <a:r>
              <a:rPr lang="en-IN" b="0" i="0" dirty="0">
                <a:effectLst/>
                <a:latin typeface="__Source_Sans_3_a605e5"/>
              </a:rPr>
              <a:t>News Feed </a:t>
            </a:r>
          </a:p>
          <a:p>
            <a:pPr marL="285750" indent="-285750">
              <a:buFont typeface="Arial" panose="020B0604020202020204" pitchFamily="34" charset="0"/>
              <a:buChar char="•"/>
            </a:pPr>
            <a:endParaRPr lang="en-IN" dirty="0">
              <a:latin typeface="__Source_Sans_3_a605e5"/>
            </a:endParaRPr>
          </a:p>
          <a:p>
            <a:r>
              <a:rPr lang="en-IN" dirty="0">
                <a:latin typeface="__Source_Sans_3_a605e5"/>
              </a:rPr>
              <a:t>NFR</a:t>
            </a:r>
          </a:p>
          <a:p>
            <a:pPr marL="285750" indent="-285750">
              <a:buFont typeface="Arial" panose="020B0604020202020204" pitchFamily="34" charset="0"/>
              <a:buChar char="•"/>
            </a:pPr>
            <a:r>
              <a:rPr lang="en-IN" dirty="0">
                <a:latin typeface="__Source_Sans_3_a605e5"/>
              </a:rPr>
              <a:t>1B DAU</a:t>
            </a:r>
          </a:p>
          <a:p>
            <a:pPr marL="285750" indent="-285750">
              <a:buFont typeface="Arial" panose="020B0604020202020204" pitchFamily="34" charset="0"/>
              <a:buChar char="•"/>
            </a:pPr>
            <a:r>
              <a:rPr lang="en-IN" dirty="0">
                <a:latin typeface="__Source_Sans_3_a605e5"/>
              </a:rPr>
              <a:t>Upload 1 photo / day</a:t>
            </a:r>
          </a:p>
          <a:p>
            <a:pPr marL="285750" indent="-285750">
              <a:buFont typeface="Arial" panose="020B0604020202020204" pitchFamily="34" charset="0"/>
              <a:buChar char="•"/>
            </a:pPr>
            <a:r>
              <a:rPr lang="en-IN" dirty="0">
                <a:latin typeface="__Source_Sans_3_a605e5"/>
              </a:rPr>
              <a:t>Highly Available 99.99%</a:t>
            </a:r>
          </a:p>
          <a:p>
            <a:pPr marL="285750" indent="-285750">
              <a:buFont typeface="Arial" panose="020B0604020202020204" pitchFamily="34" charset="0"/>
              <a:buChar char="•"/>
            </a:pPr>
            <a:r>
              <a:rPr lang="en-IN" dirty="0">
                <a:latin typeface="__Source_Sans_3_a605e5"/>
              </a:rPr>
              <a:t>Performance 500ms @ 99</a:t>
            </a:r>
            <a:r>
              <a:rPr lang="en-IN" baseline="30000" dirty="0">
                <a:latin typeface="__Source_Sans_3_a605e5"/>
              </a:rPr>
              <a:t>th</a:t>
            </a:r>
            <a:r>
              <a:rPr lang="en-IN" dirty="0">
                <a:latin typeface="__Source_Sans_3_a605e5"/>
              </a:rPr>
              <a:t> percentile</a:t>
            </a:r>
          </a:p>
          <a:p>
            <a:pPr marL="285750" indent="-285750">
              <a:buFont typeface="Arial" panose="020B0604020202020204" pitchFamily="34" charset="0"/>
              <a:buChar char="•"/>
            </a:pPr>
            <a:endParaRPr lang="en-IN" dirty="0">
              <a:latin typeface="__Source_Sans_3_a605e5"/>
            </a:endParaRPr>
          </a:p>
          <a:p>
            <a:endParaRPr lang="en-IN" dirty="0"/>
          </a:p>
          <a:p>
            <a:endParaRPr lang="en-IN" dirty="0"/>
          </a:p>
        </p:txBody>
      </p:sp>
      <p:sp>
        <p:nvSpPr>
          <p:cNvPr id="6" name="TextBox 5">
            <a:extLst>
              <a:ext uri="{FF2B5EF4-FFF2-40B4-BE49-F238E27FC236}">
                <a16:creationId xmlns:a16="http://schemas.microsoft.com/office/drawing/2014/main" id="{E59801ED-0BD2-A893-F086-FF9CF9E6AACC}"/>
              </a:ext>
            </a:extLst>
          </p:cNvPr>
          <p:cNvSpPr txBox="1"/>
          <p:nvPr/>
        </p:nvSpPr>
        <p:spPr>
          <a:xfrm>
            <a:off x="4441372" y="1426029"/>
            <a:ext cx="5334000" cy="1754326"/>
          </a:xfrm>
          <a:prstGeom prst="rect">
            <a:avLst/>
          </a:prstGeom>
          <a:noFill/>
        </p:spPr>
        <p:txBody>
          <a:bodyPr wrap="square" rtlCol="0">
            <a:spAutoFit/>
          </a:bodyPr>
          <a:lstStyle/>
          <a:p>
            <a:r>
              <a:rPr lang="en-IN" b="1" dirty="0"/>
              <a:t>Highlights</a:t>
            </a:r>
            <a:r>
              <a:rPr lang="en-IN" dirty="0"/>
              <a:t>: </a:t>
            </a:r>
          </a:p>
          <a:p>
            <a:r>
              <a:rPr lang="en-IN" dirty="0"/>
              <a:t>Updating timeline of each user whenever there is an Influencer posts  stresses the Timeline service. Instead we can store them in separate KV store say Influencer posts. Timeline service can merge them when responding to a user’s timeline request.</a:t>
            </a:r>
          </a:p>
        </p:txBody>
      </p:sp>
    </p:spTree>
    <p:extLst>
      <p:ext uri="{BB962C8B-B14F-4D97-AF65-F5344CB8AC3E}">
        <p14:creationId xmlns:p14="http://schemas.microsoft.com/office/powerpoint/2010/main" val="2114890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440EE-13F4-62F7-D861-2388663C7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12B69-7903-FE80-9AFF-14AD29485736}"/>
              </a:ext>
            </a:extLst>
          </p:cNvPr>
          <p:cNvSpPr>
            <a:spLocks noGrp="1"/>
          </p:cNvSpPr>
          <p:nvPr>
            <p:ph type="title"/>
          </p:nvPr>
        </p:nvSpPr>
        <p:spPr>
          <a:xfrm>
            <a:off x="838200" y="365126"/>
            <a:ext cx="10515600" cy="527504"/>
          </a:xfrm>
        </p:spPr>
        <p:txBody>
          <a:bodyPr>
            <a:normAutofit fontScale="90000"/>
          </a:bodyPr>
          <a:lstStyle/>
          <a:p>
            <a:r>
              <a:rPr lang="en-IN" dirty="0"/>
              <a:t>Dropbox</a:t>
            </a:r>
          </a:p>
        </p:txBody>
      </p:sp>
      <p:sp>
        <p:nvSpPr>
          <p:cNvPr id="3" name="TextBox 2">
            <a:extLst>
              <a:ext uri="{FF2B5EF4-FFF2-40B4-BE49-F238E27FC236}">
                <a16:creationId xmlns:a16="http://schemas.microsoft.com/office/drawing/2014/main" id="{3E5F4568-0BED-3C04-46B6-2776FC9F520F}"/>
              </a:ext>
            </a:extLst>
          </p:cNvPr>
          <p:cNvSpPr txBox="1"/>
          <p:nvPr/>
        </p:nvSpPr>
        <p:spPr>
          <a:xfrm>
            <a:off x="1426028" y="1500339"/>
            <a:ext cx="2928257" cy="3693319"/>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IN" dirty="0"/>
              <a:t>upload files</a:t>
            </a:r>
          </a:p>
          <a:p>
            <a:pPr marL="285750" indent="-285750">
              <a:buFont typeface="Arial" panose="020B0604020202020204" pitchFamily="34" charset="0"/>
              <a:buChar char="•"/>
            </a:pPr>
            <a:r>
              <a:rPr lang="en-IN" dirty="0">
                <a:latin typeface="__Source_Sans_3_a605e5"/>
              </a:rPr>
              <a:t>download files</a:t>
            </a:r>
          </a:p>
          <a:p>
            <a:pPr marL="285750" indent="-285750">
              <a:buFont typeface="Arial" panose="020B0604020202020204" pitchFamily="34" charset="0"/>
              <a:buChar char="•"/>
            </a:pPr>
            <a:r>
              <a:rPr lang="en-IN" dirty="0">
                <a:latin typeface="__Source_Sans_3_a605e5"/>
              </a:rPr>
              <a:t>share files</a:t>
            </a:r>
          </a:p>
          <a:p>
            <a:pPr marL="285750" indent="-285750">
              <a:buFont typeface="Arial" panose="020B0604020202020204" pitchFamily="34" charset="0"/>
              <a:buChar char="•"/>
            </a:pPr>
            <a:r>
              <a:rPr lang="en-US" dirty="0">
                <a:latin typeface="__Source_Sans_3_a605e5"/>
              </a:rPr>
              <a:t>synchronize the data between user all devices</a:t>
            </a:r>
            <a:endParaRPr lang="en-IN" dirty="0">
              <a:latin typeface="__Source_Sans_3_a605e5"/>
            </a:endParaRPr>
          </a:p>
          <a:p>
            <a:r>
              <a:rPr lang="en-IN" dirty="0">
                <a:latin typeface="__Source_Sans_3_a605e5"/>
              </a:rPr>
              <a:t>NFR</a:t>
            </a:r>
          </a:p>
          <a:p>
            <a:pPr marL="285750" indent="-285750">
              <a:buFont typeface="Arial" panose="020B0604020202020204" pitchFamily="34" charset="0"/>
              <a:buChar char="•"/>
            </a:pPr>
            <a:r>
              <a:rPr lang="en-IN" dirty="0">
                <a:latin typeface="__Source_Sans_3_a605e5"/>
              </a:rPr>
              <a:t>1M DAU</a:t>
            </a:r>
          </a:p>
          <a:p>
            <a:pPr marL="285750" indent="-285750">
              <a:buFont typeface="Arial" panose="020B0604020202020204" pitchFamily="34" charset="0"/>
              <a:buChar char="•"/>
            </a:pPr>
            <a:r>
              <a:rPr lang="en-IN" dirty="0">
                <a:latin typeface="__Source_Sans_3_a605e5"/>
              </a:rPr>
              <a:t>Upload 10 files</a:t>
            </a:r>
          </a:p>
          <a:p>
            <a:pPr marL="285750" indent="-285750">
              <a:buFont typeface="Arial" panose="020B0604020202020204" pitchFamily="34" charset="0"/>
              <a:buChar char="•"/>
            </a:pPr>
            <a:r>
              <a:rPr lang="en-IN" dirty="0">
                <a:latin typeface="__Source_Sans_3_a605e5"/>
              </a:rPr>
              <a:t>Each of 100mb</a:t>
            </a:r>
          </a:p>
          <a:p>
            <a:pPr marL="285750" indent="-285750">
              <a:buFont typeface="Arial" panose="020B0604020202020204" pitchFamily="34" charset="0"/>
              <a:buChar char="•"/>
            </a:pPr>
            <a:r>
              <a:rPr lang="en-IN" dirty="0">
                <a:latin typeface="__Source_Sans_3_a605e5"/>
              </a:rPr>
              <a:t>Total 1M </a:t>
            </a:r>
            <a:r>
              <a:rPr lang="en-IN" dirty="0" err="1">
                <a:latin typeface="__Source_Sans_3_a605e5"/>
              </a:rPr>
              <a:t>gb</a:t>
            </a:r>
            <a:r>
              <a:rPr lang="en-IN" dirty="0">
                <a:latin typeface="__Source_Sans_3_a605e5"/>
              </a:rPr>
              <a:t> /day</a:t>
            </a:r>
          </a:p>
          <a:p>
            <a:endParaRPr lang="en-IN" dirty="0"/>
          </a:p>
          <a:p>
            <a:endParaRPr lang="en-IN" dirty="0"/>
          </a:p>
        </p:txBody>
      </p:sp>
      <p:sp>
        <p:nvSpPr>
          <p:cNvPr id="4" name="TextBox 3">
            <a:extLst>
              <a:ext uri="{FF2B5EF4-FFF2-40B4-BE49-F238E27FC236}">
                <a16:creationId xmlns:a16="http://schemas.microsoft.com/office/drawing/2014/main" id="{5B5D166F-A583-8762-EE1B-0D295D3C9E35}"/>
              </a:ext>
            </a:extLst>
          </p:cNvPr>
          <p:cNvSpPr txBox="1"/>
          <p:nvPr/>
        </p:nvSpPr>
        <p:spPr>
          <a:xfrm>
            <a:off x="7043057" y="1317172"/>
            <a:ext cx="3537857" cy="3970318"/>
          </a:xfrm>
          <a:prstGeom prst="rect">
            <a:avLst/>
          </a:prstGeom>
          <a:noFill/>
        </p:spPr>
        <p:txBody>
          <a:bodyPr wrap="square" rtlCol="0">
            <a:spAutoFit/>
          </a:bodyPr>
          <a:lstStyle/>
          <a:p>
            <a:r>
              <a:rPr lang="en-US" b="1" dirty="0"/>
              <a:t>Highlights</a:t>
            </a:r>
          </a:p>
          <a:p>
            <a:pPr marL="285750" indent="-285750">
              <a:buFont typeface="Arial" panose="020B0604020202020204" pitchFamily="34" charset="0"/>
              <a:buChar char="•"/>
            </a:pPr>
            <a:r>
              <a:rPr lang="en-US" dirty="0"/>
              <a:t>The client application requests a Presigned URL from the Upload Service. The server generates the Presigned URL by interacting with the S3 service, creating a unique token for the specific upload operation. These URLs grant temporary, secure access to upload a specific file to a designated S3 bucket. Allows clients to bypass the server for direct communication with the storage layer.</a:t>
            </a:r>
            <a:endParaRPr lang="en-IN" dirty="0"/>
          </a:p>
        </p:txBody>
      </p:sp>
    </p:spTree>
    <p:extLst>
      <p:ext uri="{BB962C8B-B14F-4D97-AF65-F5344CB8AC3E}">
        <p14:creationId xmlns:p14="http://schemas.microsoft.com/office/powerpoint/2010/main" val="961440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6FF62-74FD-518F-BBA1-FA71FF72D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AEE6C-67A8-FBB7-FB27-FFA1040BAF8F}"/>
              </a:ext>
            </a:extLst>
          </p:cNvPr>
          <p:cNvSpPr>
            <a:spLocks noGrp="1"/>
          </p:cNvSpPr>
          <p:nvPr>
            <p:ph type="title"/>
          </p:nvPr>
        </p:nvSpPr>
        <p:spPr>
          <a:xfrm>
            <a:off x="838200" y="365126"/>
            <a:ext cx="10515600" cy="527504"/>
          </a:xfrm>
        </p:spPr>
        <p:txBody>
          <a:bodyPr>
            <a:normAutofit fontScale="90000"/>
          </a:bodyPr>
          <a:lstStyle/>
          <a:p>
            <a:r>
              <a:rPr lang="en-IN" dirty="0"/>
              <a:t>Instant Messaging</a:t>
            </a:r>
          </a:p>
        </p:txBody>
      </p:sp>
      <p:sp>
        <p:nvSpPr>
          <p:cNvPr id="3" name="TextBox 2">
            <a:extLst>
              <a:ext uri="{FF2B5EF4-FFF2-40B4-BE49-F238E27FC236}">
                <a16:creationId xmlns:a16="http://schemas.microsoft.com/office/drawing/2014/main" id="{EC9C544A-50EC-4D34-6FF5-05365EA03866}"/>
              </a:ext>
            </a:extLst>
          </p:cNvPr>
          <p:cNvSpPr txBox="1"/>
          <p:nvPr/>
        </p:nvSpPr>
        <p:spPr>
          <a:xfrm>
            <a:off x="1426028" y="1500339"/>
            <a:ext cx="2928257" cy="3970318"/>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IN" dirty="0"/>
              <a:t>1-to-1 direct messages</a:t>
            </a:r>
          </a:p>
          <a:p>
            <a:pPr marL="285750" indent="-285750">
              <a:buFont typeface="Arial" panose="020B0604020202020204" pitchFamily="34" charset="0"/>
              <a:buChar char="•"/>
            </a:pPr>
            <a:r>
              <a:rPr lang="en-IN" dirty="0">
                <a:latin typeface="__Source_Sans_3_a605e5"/>
              </a:rPr>
              <a:t>Group messages</a:t>
            </a:r>
          </a:p>
          <a:p>
            <a:pPr marL="285750" indent="-285750">
              <a:buFont typeface="Arial" panose="020B0604020202020204" pitchFamily="34" charset="0"/>
              <a:buChar char="•"/>
            </a:pPr>
            <a:r>
              <a:rPr lang="en-IN" dirty="0">
                <a:latin typeface="__Source_Sans_3_a605e5"/>
              </a:rPr>
              <a:t>Online/offline users</a:t>
            </a:r>
          </a:p>
          <a:p>
            <a:pPr marL="285750" indent="-285750">
              <a:buFont typeface="Arial" panose="020B0604020202020204" pitchFamily="34" charset="0"/>
              <a:buChar char="•"/>
            </a:pPr>
            <a:r>
              <a:rPr lang="en-IN" b="0" i="0" dirty="0">
                <a:effectLst/>
                <a:latin typeface="__Source_Sans_3_a605e5"/>
              </a:rPr>
              <a:t>chat history</a:t>
            </a:r>
            <a:endParaRPr lang="en-IN" dirty="0">
              <a:latin typeface="__Source_Sans_3_a605e5"/>
            </a:endParaRPr>
          </a:p>
          <a:p>
            <a:r>
              <a:rPr lang="en-IN" dirty="0">
                <a:latin typeface="__Source_Sans_3_a605e5"/>
              </a:rPr>
              <a:t>NFR</a:t>
            </a:r>
          </a:p>
          <a:p>
            <a:pPr marL="285750" indent="-285750">
              <a:buFont typeface="Arial" panose="020B0604020202020204" pitchFamily="34" charset="0"/>
              <a:buChar char="•"/>
            </a:pPr>
            <a:r>
              <a:rPr lang="en-IN" dirty="0">
                <a:latin typeface="__Source_Sans_3_a605e5"/>
              </a:rPr>
              <a:t>500M DAU</a:t>
            </a:r>
          </a:p>
          <a:p>
            <a:pPr marL="285750" indent="-285750">
              <a:buFont typeface="Arial" panose="020B0604020202020204" pitchFamily="34" charset="0"/>
              <a:buChar char="•"/>
            </a:pPr>
            <a:r>
              <a:rPr lang="en-US" b="0" i="0" dirty="0">
                <a:effectLst/>
                <a:latin typeface="__Source_Sans_3_a605e5"/>
              </a:rPr>
              <a:t>each user sends 40 messages daily; this gives us 20 billion messages per day.</a:t>
            </a:r>
          </a:p>
          <a:p>
            <a:pPr marL="285750" indent="-285750">
              <a:buFont typeface="Arial" panose="020B0604020202020204" pitchFamily="34" charset="0"/>
              <a:buChar char="•"/>
            </a:pPr>
            <a:r>
              <a:rPr lang="en-US" b="0" i="0" dirty="0">
                <a:effectLst/>
                <a:latin typeface="__Source_Sans_3_a605e5"/>
              </a:rPr>
              <a:t>20 billion messages * 100 bytes =&gt; 2 TB/day</a:t>
            </a:r>
            <a:endParaRPr lang="en-IN" dirty="0"/>
          </a:p>
          <a:p>
            <a:endParaRPr lang="en-IN" dirty="0"/>
          </a:p>
        </p:txBody>
      </p:sp>
      <p:sp>
        <p:nvSpPr>
          <p:cNvPr id="4" name="TextBox 3">
            <a:extLst>
              <a:ext uri="{FF2B5EF4-FFF2-40B4-BE49-F238E27FC236}">
                <a16:creationId xmlns:a16="http://schemas.microsoft.com/office/drawing/2014/main" id="{EB1D2D7F-BA5D-379B-3649-43BC1FE7C8D9}"/>
              </a:ext>
            </a:extLst>
          </p:cNvPr>
          <p:cNvSpPr txBox="1"/>
          <p:nvPr/>
        </p:nvSpPr>
        <p:spPr>
          <a:xfrm>
            <a:off x="4669972" y="1085297"/>
            <a:ext cx="6096000" cy="2031325"/>
          </a:xfrm>
          <a:prstGeom prst="rect">
            <a:avLst/>
          </a:prstGeom>
          <a:noFill/>
        </p:spPr>
        <p:txBody>
          <a:bodyPr wrap="square" rtlCol="0">
            <a:spAutoFit/>
          </a:bodyPr>
          <a:lstStyle/>
          <a:p>
            <a:r>
              <a:rPr lang="en-IN" dirty="0"/>
              <a:t>Highlights</a:t>
            </a:r>
          </a:p>
          <a:p>
            <a:endParaRPr lang="en-IN" dirty="0"/>
          </a:p>
          <a:p>
            <a:pPr marL="285750" indent="-285750">
              <a:buFont typeface="Arial" panose="020B0604020202020204" pitchFamily="34" charset="0"/>
              <a:buChar char="•"/>
            </a:pPr>
            <a:r>
              <a:rPr lang="en-IN" dirty="0"/>
              <a:t>P2P vs Chat Server</a:t>
            </a:r>
          </a:p>
          <a:p>
            <a:pPr marL="285750" indent="-285750">
              <a:buFont typeface="Arial" panose="020B0604020202020204" pitchFamily="34" charset="0"/>
              <a:buChar char="•"/>
            </a:pPr>
            <a:r>
              <a:rPr lang="en-IN" dirty="0"/>
              <a:t>Polling vs bidirectional sockets</a:t>
            </a:r>
          </a:p>
          <a:p>
            <a:pPr marL="742950" lvl="1" indent="-285750">
              <a:buFont typeface="Arial" panose="020B0604020202020204" pitchFamily="34" charset="0"/>
              <a:buChar char="•"/>
            </a:pPr>
            <a:r>
              <a:rPr lang="en-IN" dirty="0"/>
              <a:t>But we need </a:t>
            </a:r>
            <a:r>
              <a:rPr lang="en-IN" b="1" dirty="0"/>
              <a:t>a connection manager </a:t>
            </a:r>
            <a:r>
              <a:rPr lang="en-IN" dirty="0"/>
              <a:t>service as well to keep track which client is connected to which server</a:t>
            </a:r>
          </a:p>
          <a:p>
            <a:pPr marL="285750" indent="-285750">
              <a:buFont typeface="Arial" panose="020B0604020202020204" pitchFamily="34" charset="0"/>
              <a:buChar char="•"/>
            </a:pPr>
            <a:endParaRPr lang="en-IN" dirty="0"/>
          </a:p>
        </p:txBody>
      </p:sp>
      <p:graphicFrame>
        <p:nvGraphicFramePr>
          <p:cNvPr id="5" name="Table 4">
            <a:extLst>
              <a:ext uri="{FF2B5EF4-FFF2-40B4-BE49-F238E27FC236}">
                <a16:creationId xmlns:a16="http://schemas.microsoft.com/office/drawing/2014/main" id="{F3C57E71-F313-FFAA-0B62-D9CD56545815}"/>
              </a:ext>
            </a:extLst>
          </p:cNvPr>
          <p:cNvGraphicFramePr>
            <a:graphicFrameLocks noGrp="1"/>
          </p:cNvGraphicFramePr>
          <p:nvPr>
            <p:extLst>
              <p:ext uri="{D42A27DB-BD31-4B8C-83A1-F6EECF244321}">
                <p14:modId xmlns:p14="http://schemas.microsoft.com/office/powerpoint/2010/main" val="1444540163"/>
              </p:ext>
            </p:extLst>
          </p:nvPr>
        </p:nvGraphicFramePr>
        <p:xfrm>
          <a:off x="4786085" y="3116622"/>
          <a:ext cx="6926943" cy="3302646"/>
        </p:xfrm>
        <a:graphic>
          <a:graphicData uri="http://schemas.openxmlformats.org/drawingml/2006/table">
            <a:tbl>
              <a:tblPr firstRow="1" bandRow="1">
                <a:tableStyleId>{5C22544A-7EE6-4342-B048-85BDC9FD1C3A}</a:tableStyleId>
              </a:tblPr>
              <a:tblGrid>
                <a:gridCol w="2308981">
                  <a:extLst>
                    <a:ext uri="{9D8B030D-6E8A-4147-A177-3AD203B41FA5}">
                      <a16:colId xmlns:a16="http://schemas.microsoft.com/office/drawing/2014/main" val="3819199887"/>
                    </a:ext>
                  </a:extLst>
                </a:gridCol>
                <a:gridCol w="2308981">
                  <a:extLst>
                    <a:ext uri="{9D8B030D-6E8A-4147-A177-3AD203B41FA5}">
                      <a16:colId xmlns:a16="http://schemas.microsoft.com/office/drawing/2014/main" val="1754617584"/>
                    </a:ext>
                  </a:extLst>
                </a:gridCol>
                <a:gridCol w="2308981">
                  <a:extLst>
                    <a:ext uri="{9D8B030D-6E8A-4147-A177-3AD203B41FA5}">
                      <a16:colId xmlns:a16="http://schemas.microsoft.com/office/drawing/2014/main" val="1989456393"/>
                    </a:ext>
                  </a:extLst>
                </a:gridCol>
              </a:tblGrid>
              <a:tr h="645483">
                <a:tc>
                  <a:txBody>
                    <a:bodyPr/>
                    <a:lstStyle/>
                    <a:p>
                      <a:endParaRPr lang="en-IN"/>
                    </a:p>
                  </a:txBody>
                  <a:tcPr/>
                </a:tc>
                <a:tc>
                  <a:txBody>
                    <a:bodyPr/>
                    <a:lstStyle/>
                    <a:p>
                      <a:r>
                        <a:rPr lang="en-IN" dirty="0"/>
                        <a:t>Advantages</a:t>
                      </a:r>
                    </a:p>
                  </a:txBody>
                  <a:tcPr/>
                </a:tc>
                <a:tc>
                  <a:txBody>
                    <a:bodyPr/>
                    <a:lstStyle/>
                    <a:p>
                      <a:r>
                        <a:rPr lang="en-IN" dirty="0"/>
                        <a:t>Disadvantages</a:t>
                      </a:r>
                    </a:p>
                  </a:txBody>
                  <a:tcPr/>
                </a:tc>
                <a:extLst>
                  <a:ext uri="{0D108BD9-81ED-4DB2-BD59-A6C34878D82A}">
                    <a16:rowId xmlns:a16="http://schemas.microsoft.com/office/drawing/2014/main" val="2617958142"/>
                  </a:ext>
                </a:extLst>
              </a:tr>
              <a:tr h="645483">
                <a:tc>
                  <a:txBody>
                    <a:bodyPr/>
                    <a:lstStyle/>
                    <a:p>
                      <a:r>
                        <a:rPr lang="en-IN" dirty="0"/>
                        <a:t>P2P</a:t>
                      </a:r>
                    </a:p>
                  </a:txBody>
                  <a:tcPr/>
                </a:tc>
                <a:tc>
                  <a:txBody>
                    <a:bodyPr/>
                    <a:lstStyle/>
                    <a:p>
                      <a:pPr marL="285750" indent="-285750">
                        <a:buFont typeface="Arial" panose="020B0604020202020204" pitchFamily="34" charset="0"/>
                        <a:buChar char="•"/>
                      </a:pPr>
                      <a:r>
                        <a:rPr lang="en-IN" dirty="0"/>
                        <a:t>Doesn’t stress the central platform</a:t>
                      </a:r>
                    </a:p>
                  </a:txBody>
                  <a:tcPr/>
                </a:tc>
                <a:tc>
                  <a:txBody>
                    <a:bodyPr/>
                    <a:lstStyle/>
                    <a:p>
                      <a:pPr marL="285750" indent="-285750">
                        <a:buFont typeface="Arial" panose="020B0604020202020204" pitchFamily="34" charset="0"/>
                        <a:buChar char="•"/>
                      </a:pPr>
                      <a:r>
                        <a:rPr lang="en-IN" dirty="0"/>
                        <a:t>Concurrent connections in group chats might overwhelm the node</a:t>
                      </a:r>
                    </a:p>
                    <a:p>
                      <a:pPr marL="285750" indent="-285750">
                        <a:buFont typeface="Arial" panose="020B0604020202020204" pitchFamily="34" charset="0"/>
                        <a:buChar char="•"/>
                      </a:pPr>
                      <a:r>
                        <a:rPr lang="en-IN" dirty="0"/>
                        <a:t>Offline users don’t get the messages</a:t>
                      </a:r>
                    </a:p>
                  </a:txBody>
                  <a:tcPr/>
                </a:tc>
                <a:extLst>
                  <a:ext uri="{0D108BD9-81ED-4DB2-BD59-A6C34878D82A}">
                    <a16:rowId xmlns:a16="http://schemas.microsoft.com/office/drawing/2014/main" val="1873414790"/>
                  </a:ext>
                </a:extLst>
              </a:tr>
              <a:tr h="645483">
                <a:tc>
                  <a:txBody>
                    <a:bodyPr/>
                    <a:lstStyle/>
                    <a:p>
                      <a:r>
                        <a:rPr lang="en-IN" dirty="0"/>
                        <a:t>Centralized approach</a:t>
                      </a:r>
                    </a:p>
                  </a:txBody>
                  <a:tcPr/>
                </a:tc>
                <a:tc>
                  <a:txBody>
                    <a:bodyPr/>
                    <a:lstStyle/>
                    <a:p>
                      <a:pPr marL="285750" indent="-285750">
                        <a:buFont typeface="Arial" panose="020B0604020202020204" pitchFamily="34" charset="0"/>
                        <a:buChar char="•"/>
                      </a:pPr>
                      <a:r>
                        <a:rPr lang="en-IN" dirty="0"/>
                        <a:t>Offline users</a:t>
                      </a:r>
                    </a:p>
                  </a:txBody>
                  <a:tcPr/>
                </a:tc>
                <a:tc>
                  <a:txBody>
                    <a:bodyPr/>
                    <a:lstStyle/>
                    <a:p>
                      <a:pPr marL="285750" indent="-285750">
                        <a:buFont typeface="Arial" panose="020B0604020202020204" pitchFamily="34" charset="0"/>
                        <a:buChar char="•"/>
                      </a:pPr>
                      <a:r>
                        <a:rPr lang="en-IN" dirty="0"/>
                        <a:t>Costly and bit slower</a:t>
                      </a:r>
                    </a:p>
                  </a:txBody>
                  <a:tcPr/>
                </a:tc>
                <a:extLst>
                  <a:ext uri="{0D108BD9-81ED-4DB2-BD59-A6C34878D82A}">
                    <a16:rowId xmlns:a16="http://schemas.microsoft.com/office/drawing/2014/main" val="2966025034"/>
                  </a:ext>
                </a:extLst>
              </a:tr>
            </a:tbl>
          </a:graphicData>
        </a:graphic>
      </p:graphicFrame>
    </p:spTree>
    <p:extLst>
      <p:ext uri="{BB962C8B-B14F-4D97-AF65-F5344CB8AC3E}">
        <p14:creationId xmlns:p14="http://schemas.microsoft.com/office/powerpoint/2010/main" val="2883924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44B6D-EAFB-6031-8185-37CA07ACB90F}"/>
              </a:ext>
            </a:extLst>
          </p:cNvPr>
          <p:cNvSpPr>
            <a:spLocks noGrp="1"/>
          </p:cNvSpPr>
          <p:nvPr>
            <p:ph type="title"/>
          </p:nvPr>
        </p:nvSpPr>
        <p:spPr>
          <a:xfrm>
            <a:off x="544286" y="169183"/>
            <a:ext cx="10515600" cy="331561"/>
          </a:xfrm>
        </p:spPr>
        <p:txBody>
          <a:bodyPr>
            <a:normAutofit fontScale="90000"/>
          </a:bodyPr>
          <a:lstStyle/>
          <a:p>
            <a:r>
              <a:rPr lang="en-IN" dirty="0"/>
              <a:t>Twitter (X)</a:t>
            </a:r>
          </a:p>
        </p:txBody>
      </p:sp>
      <p:sp>
        <p:nvSpPr>
          <p:cNvPr id="5" name="TextBox 4">
            <a:extLst>
              <a:ext uri="{FF2B5EF4-FFF2-40B4-BE49-F238E27FC236}">
                <a16:creationId xmlns:a16="http://schemas.microsoft.com/office/drawing/2014/main" id="{DFE4B6EF-C417-A9D6-64D9-7AEA73A5D03B}"/>
              </a:ext>
            </a:extLst>
          </p:cNvPr>
          <p:cNvSpPr txBox="1"/>
          <p:nvPr/>
        </p:nvSpPr>
        <p:spPr>
          <a:xfrm>
            <a:off x="1426028" y="1500339"/>
            <a:ext cx="6183086" cy="3693319"/>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IN" dirty="0"/>
              <a:t>Tweet (text, image, video)</a:t>
            </a:r>
          </a:p>
          <a:p>
            <a:pPr marL="285750" indent="-285750">
              <a:buFont typeface="Arial" panose="020B0604020202020204" pitchFamily="34" charset="0"/>
              <a:buChar char="•"/>
            </a:pPr>
            <a:r>
              <a:rPr lang="en-IN" dirty="0">
                <a:latin typeface="__Source_Sans_3_a605e5"/>
              </a:rPr>
              <a:t>Follow other users</a:t>
            </a:r>
          </a:p>
          <a:p>
            <a:pPr marL="285750" indent="-285750">
              <a:buFont typeface="Arial" panose="020B0604020202020204" pitchFamily="34" charset="0"/>
              <a:buChar char="•"/>
            </a:pPr>
            <a:r>
              <a:rPr lang="en-IN" dirty="0">
                <a:latin typeface="__Source_Sans_3_a605e5"/>
              </a:rPr>
              <a:t>New Feed</a:t>
            </a:r>
          </a:p>
          <a:p>
            <a:r>
              <a:rPr lang="en-IN" dirty="0">
                <a:latin typeface="__Source_Sans_3_a605e5"/>
              </a:rPr>
              <a:t>NFR</a:t>
            </a:r>
          </a:p>
          <a:p>
            <a:pPr marL="285750" indent="-285750">
              <a:buFont typeface="Arial" panose="020B0604020202020204" pitchFamily="34" charset="0"/>
              <a:buChar char="•"/>
            </a:pPr>
            <a:r>
              <a:rPr lang="en-IN" dirty="0">
                <a:latin typeface="__Source_Sans_3_a605e5"/>
              </a:rPr>
              <a:t>200M DAU</a:t>
            </a:r>
          </a:p>
          <a:p>
            <a:pPr marL="285750" indent="-285750">
              <a:buFont typeface="Arial" panose="020B0604020202020204" pitchFamily="34" charset="0"/>
              <a:buChar char="•"/>
            </a:pPr>
            <a:r>
              <a:rPr lang="en-US" dirty="0">
                <a:latin typeface="__Source_Sans_3_a605e5"/>
              </a:rPr>
              <a:t>each reads an average of 100 tweets per day. That’s around 200M * 100 = 2B reads daily.</a:t>
            </a:r>
          </a:p>
          <a:p>
            <a:pPr marL="285750" indent="-285750">
              <a:buFont typeface="Arial" panose="020B0604020202020204" pitchFamily="34" charset="0"/>
              <a:buChar char="•"/>
            </a:pPr>
            <a:r>
              <a:rPr lang="en-US" dirty="0">
                <a:latin typeface="__Source_Sans_3_a605e5"/>
              </a:rPr>
              <a:t>average 10 tweets per user per  day, that’s 200M * 10 = 2B new tweets daily.</a:t>
            </a:r>
          </a:p>
          <a:p>
            <a:pPr marL="285750" indent="-285750">
              <a:buFont typeface="Arial" panose="020B0604020202020204" pitchFamily="34" charset="0"/>
              <a:buChar char="•"/>
            </a:pPr>
            <a:r>
              <a:rPr lang="en-US" b="0" i="0" dirty="0">
                <a:solidFill>
                  <a:srgbClr val="242424"/>
                </a:solidFill>
                <a:effectLst/>
                <a:latin typeface="source-serif-pro"/>
              </a:rPr>
              <a:t>Each tweet size can be 1KB on average if it’s text-only</a:t>
            </a:r>
            <a:endParaRPr lang="en-US" b="0" i="0" dirty="0">
              <a:solidFill>
                <a:srgbClr val="242424"/>
              </a:solidFill>
              <a:effectLst/>
              <a:latin typeface="__Source_Sans_3_a605e5"/>
            </a:endParaRPr>
          </a:p>
          <a:p>
            <a:pPr marL="285750" indent="-285750">
              <a:buFont typeface="Arial" panose="020B0604020202020204" pitchFamily="34" charset="0"/>
              <a:buChar char="•"/>
            </a:pPr>
            <a:r>
              <a:rPr lang="en-US" b="0" i="0" dirty="0">
                <a:solidFill>
                  <a:srgbClr val="242424"/>
                </a:solidFill>
                <a:effectLst/>
                <a:latin typeface="source-serif-pro"/>
              </a:rPr>
              <a:t>200M * 1MB = 20 petabytes of data read daily.</a:t>
            </a:r>
            <a:endParaRPr lang="en-IN" dirty="0">
              <a:latin typeface="__Source_Sans_3_a605e5"/>
            </a:endParaRPr>
          </a:p>
          <a:p>
            <a:endParaRPr lang="en-IN" dirty="0"/>
          </a:p>
        </p:txBody>
      </p:sp>
      <p:sp>
        <p:nvSpPr>
          <p:cNvPr id="6" name="TextBox 5">
            <a:extLst>
              <a:ext uri="{FF2B5EF4-FFF2-40B4-BE49-F238E27FC236}">
                <a16:creationId xmlns:a16="http://schemas.microsoft.com/office/drawing/2014/main" id="{C6BFC7FC-3B18-F978-3688-01573785C908}"/>
              </a:ext>
            </a:extLst>
          </p:cNvPr>
          <p:cNvSpPr txBox="1"/>
          <p:nvPr/>
        </p:nvSpPr>
        <p:spPr>
          <a:xfrm>
            <a:off x="7609114" y="1500339"/>
            <a:ext cx="2993572" cy="1477328"/>
          </a:xfrm>
          <a:prstGeom prst="rect">
            <a:avLst/>
          </a:prstGeom>
          <a:noFill/>
        </p:spPr>
        <p:txBody>
          <a:bodyPr wrap="square" rtlCol="0">
            <a:spAutoFit/>
          </a:bodyPr>
          <a:lstStyle/>
          <a:p>
            <a:r>
              <a:rPr lang="en-IN" dirty="0"/>
              <a:t>Highlights</a:t>
            </a:r>
          </a:p>
          <a:p>
            <a:endParaRPr lang="en-IN" dirty="0"/>
          </a:p>
          <a:p>
            <a:pPr marL="285750" indent="-285750">
              <a:buFont typeface="Arial" panose="020B0604020202020204" pitchFamily="34" charset="0"/>
              <a:buChar char="•"/>
            </a:pPr>
            <a:r>
              <a:rPr lang="en-IN" dirty="0"/>
              <a:t>Read heavy system. Important to separate read database vs write database</a:t>
            </a:r>
          </a:p>
        </p:txBody>
      </p:sp>
    </p:spTree>
    <p:extLst>
      <p:ext uri="{BB962C8B-B14F-4D97-AF65-F5344CB8AC3E}">
        <p14:creationId xmlns:p14="http://schemas.microsoft.com/office/powerpoint/2010/main" val="2533146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53DA2-3DB6-59E5-6AF9-7B5F42C28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39CF4-6D5E-D9DD-1E1F-F3CE85AF6DF9}"/>
              </a:ext>
            </a:extLst>
          </p:cNvPr>
          <p:cNvSpPr>
            <a:spLocks noGrp="1"/>
          </p:cNvSpPr>
          <p:nvPr>
            <p:ph type="title"/>
          </p:nvPr>
        </p:nvSpPr>
        <p:spPr>
          <a:xfrm>
            <a:off x="544286" y="169183"/>
            <a:ext cx="10515600" cy="331561"/>
          </a:xfrm>
        </p:spPr>
        <p:txBody>
          <a:bodyPr>
            <a:normAutofit fontScale="90000"/>
          </a:bodyPr>
          <a:lstStyle/>
          <a:p>
            <a:r>
              <a:rPr lang="en-IN" dirty="0"/>
              <a:t>YouTube</a:t>
            </a:r>
          </a:p>
        </p:txBody>
      </p:sp>
      <p:sp>
        <p:nvSpPr>
          <p:cNvPr id="5" name="TextBox 4">
            <a:extLst>
              <a:ext uri="{FF2B5EF4-FFF2-40B4-BE49-F238E27FC236}">
                <a16:creationId xmlns:a16="http://schemas.microsoft.com/office/drawing/2014/main" id="{563F8B82-D702-0CD6-5452-090BCD68CF3C}"/>
              </a:ext>
            </a:extLst>
          </p:cNvPr>
          <p:cNvSpPr txBox="1"/>
          <p:nvPr/>
        </p:nvSpPr>
        <p:spPr>
          <a:xfrm>
            <a:off x="1426028" y="1500339"/>
            <a:ext cx="4321629" cy="3693319"/>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IN" dirty="0">
                <a:latin typeface="__Source_Sans_3_a605e5"/>
              </a:rPr>
              <a:t>Upload videos (with metadata)</a:t>
            </a:r>
          </a:p>
          <a:p>
            <a:pPr marL="285750" indent="-285750">
              <a:buFont typeface="Arial" panose="020B0604020202020204" pitchFamily="34" charset="0"/>
              <a:buChar char="•"/>
            </a:pPr>
            <a:r>
              <a:rPr lang="en-IN" dirty="0">
                <a:latin typeface="__Source_Sans_3_a605e5"/>
              </a:rPr>
              <a:t>Watch videos</a:t>
            </a:r>
          </a:p>
          <a:p>
            <a:pPr marL="285750" indent="-285750">
              <a:buFont typeface="Arial" panose="020B0604020202020204" pitchFamily="34" charset="0"/>
              <a:buChar char="•"/>
            </a:pPr>
            <a:r>
              <a:rPr lang="en-IN" dirty="0">
                <a:latin typeface="__Source_Sans_3_a605e5"/>
              </a:rPr>
              <a:t>Search</a:t>
            </a:r>
          </a:p>
          <a:p>
            <a:pPr marL="285750" indent="-285750">
              <a:buFont typeface="Arial" panose="020B0604020202020204" pitchFamily="34" charset="0"/>
              <a:buChar char="•"/>
            </a:pPr>
            <a:r>
              <a:rPr lang="en-IN" dirty="0">
                <a:latin typeface="__Source_Sans_3_a605e5"/>
              </a:rPr>
              <a:t>Recommendations</a:t>
            </a:r>
          </a:p>
          <a:p>
            <a:pPr marL="285750" indent="-285750">
              <a:buFont typeface="Arial" panose="020B0604020202020204" pitchFamily="34" charset="0"/>
              <a:buChar char="•"/>
            </a:pPr>
            <a:endParaRPr lang="en-IN" dirty="0">
              <a:latin typeface="__Source_Sans_3_a605e5"/>
            </a:endParaRPr>
          </a:p>
          <a:p>
            <a:r>
              <a:rPr lang="en-IN" dirty="0">
                <a:latin typeface="__Source_Sans_3_a605e5"/>
              </a:rPr>
              <a:t>NFR</a:t>
            </a:r>
          </a:p>
          <a:p>
            <a:pPr marL="285750" indent="-285750">
              <a:buFont typeface="Arial" panose="020B0604020202020204" pitchFamily="34" charset="0"/>
              <a:buChar char="•"/>
            </a:pPr>
            <a:r>
              <a:rPr lang="en-IN" dirty="0">
                <a:latin typeface="__Source_Sans_3_a605e5"/>
              </a:rPr>
              <a:t>1B DAU</a:t>
            </a:r>
          </a:p>
          <a:p>
            <a:pPr marL="285750" indent="-285750">
              <a:buFont typeface="Arial" panose="020B0604020202020204" pitchFamily="34" charset="0"/>
              <a:buChar char="•"/>
            </a:pPr>
            <a:r>
              <a:rPr lang="en-IN" dirty="0">
                <a:latin typeface="__Source_Sans_3_a605e5"/>
              </a:rPr>
              <a:t>1:100 upload : watch</a:t>
            </a:r>
          </a:p>
          <a:p>
            <a:pPr marL="285750" indent="-285750">
              <a:buFont typeface="Arial" panose="020B0604020202020204" pitchFamily="34" charset="0"/>
              <a:buChar char="•"/>
            </a:pPr>
            <a:r>
              <a:rPr lang="en-IN" dirty="0">
                <a:latin typeface="__Source_Sans_3_a605e5"/>
              </a:rPr>
              <a:t>50M uploads</a:t>
            </a:r>
          </a:p>
          <a:p>
            <a:pPr marL="285750" indent="-285750">
              <a:buFont typeface="Arial" panose="020B0604020202020204" pitchFamily="34" charset="0"/>
              <a:buChar char="•"/>
            </a:pPr>
            <a:r>
              <a:rPr lang="en-IN" dirty="0">
                <a:latin typeface="__Source_Sans_3_a605e5"/>
              </a:rPr>
              <a:t>Availability over Consistency</a:t>
            </a:r>
          </a:p>
          <a:p>
            <a:pPr marL="285750" indent="-285750">
              <a:buFont typeface="Arial" panose="020B0604020202020204" pitchFamily="34" charset="0"/>
              <a:buChar char="•"/>
            </a:pPr>
            <a:r>
              <a:rPr lang="en-IN" dirty="0">
                <a:latin typeface="__Source_Sans_3_a605e5"/>
              </a:rPr>
              <a:t>Minimize buffering</a:t>
            </a:r>
          </a:p>
          <a:p>
            <a:endParaRPr lang="en-IN" dirty="0"/>
          </a:p>
        </p:txBody>
      </p:sp>
      <p:sp>
        <p:nvSpPr>
          <p:cNvPr id="6" name="TextBox 5">
            <a:extLst>
              <a:ext uri="{FF2B5EF4-FFF2-40B4-BE49-F238E27FC236}">
                <a16:creationId xmlns:a16="http://schemas.microsoft.com/office/drawing/2014/main" id="{8A661FD9-1042-77CB-5048-2642D277802C}"/>
              </a:ext>
            </a:extLst>
          </p:cNvPr>
          <p:cNvSpPr txBox="1"/>
          <p:nvPr/>
        </p:nvSpPr>
        <p:spPr>
          <a:xfrm>
            <a:off x="7609114" y="1500339"/>
            <a:ext cx="2993572" cy="2308324"/>
          </a:xfrm>
          <a:prstGeom prst="rect">
            <a:avLst/>
          </a:prstGeom>
          <a:noFill/>
        </p:spPr>
        <p:txBody>
          <a:bodyPr wrap="square" rtlCol="0">
            <a:spAutoFit/>
          </a:bodyPr>
          <a:lstStyle/>
          <a:p>
            <a:r>
              <a:rPr lang="en-IN" dirty="0"/>
              <a:t>Highlights</a:t>
            </a:r>
          </a:p>
          <a:p>
            <a:pPr marL="285750" indent="-285750">
              <a:buFont typeface="Arial" panose="020B0604020202020204" pitchFamily="34" charset="0"/>
              <a:buChar char="•"/>
            </a:pPr>
            <a:r>
              <a:rPr lang="en-IN" dirty="0"/>
              <a:t>Encoding 50M uploads / day ???</a:t>
            </a:r>
          </a:p>
          <a:p>
            <a:pPr marL="285750" indent="-285750">
              <a:buFont typeface="Arial" panose="020B0604020202020204" pitchFamily="34" charset="0"/>
              <a:buChar char="•"/>
            </a:pPr>
            <a:r>
              <a:rPr lang="en-IN" dirty="0"/>
              <a:t>Videos are loaded in chunks when watched</a:t>
            </a:r>
          </a:p>
          <a:p>
            <a:pPr marL="285750" indent="-285750">
              <a:buFont typeface="Arial" panose="020B0604020202020204" pitchFamily="34" charset="0"/>
              <a:buChar char="•"/>
            </a:pPr>
            <a:r>
              <a:rPr lang="en-IN" dirty="0"/>
              <a:t>Adaptive Bit rate to minimize buffering</a:t>
            </a:r>
          </a:p>
          <a:p>
            <a:pPr marL="285750" indent="-285750">
              <a:buFont typeface="Arial" panose="020B0604020202020204" pitchFamily="34" charset="0"/>
              <a:buChar char="•"/>
            </a:pPr>
            <a:r>
              <a:rPr lang="en-IN" dirty="0"/>
              <a:t>CDN</a:t>
            </a:r>
          </a:p>
        </p:txBody>
      </p:sp>
    </p:spTree>
    <p:extLst>
      <p:ext uri="{BB962C8B-B14F-4D97-AF65-F5344CB8AC3E}">
        <p14:creationId xmlns:p14="http://schemas.microsoft.com/office/powerpoint/2010/main" val="2196438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3CF71-DD09-E0A0-1376-49293DCD7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A2041-101F-9BCC-4B20-EA66F1F22849}"/>
              </a:ext>
            </a:extLst>
          </p:cNvPr>
          <p:cNvSpPr>
            <a:spLocks noGrp="1"/>
          </p:cNvSpPr>
          <p:nvPr>
            <p:ph type="title"/>
          </p:nvPr>
        </p:nvSpPr>
        <p:spPr>
          <a:xfrm>
            <a:off x="544286" y="169183"/>
            <a:ext cx="10515600" cy="331561"/>
          </a:xfrm>
        </p:spPr>
        <p:txBody>
          <a:bodyPr>
            <a:normAutofit fontScale="90000"/>
          </a:bodyPr>
          <a:lstStyle/>
          <a:p>
            <a:r>
              <a:rPr lang="en-IN" dirty="0"/>
              <a:t>Google Type Ahead Suggestion</a:t>
            </a:r>
          </a:p>
        </p:txBody>
      </p:sp>
      <p:sp>
        <p:nvSpPr>
          <p:cNvPr id="5" name="TextBox 4">
            <a:extLst>
              <a:ext uri="{FF2B5EF4-FFF2-40B4-BE49-F238E27FC236}">
                <a16:creationId xmlns:a16="http://schemas.microsoft.com/office/drawing/2014/main" id="{704A2B80-6794-481D-9410-9BCA6F40812E}"/>
              </a:ext>
            </a:extLst>
          </p:cNvPr>
          <p:cNvSpPr txBox="1"/>
          <p:nvPr/>
        </p:nvSpPr>
        <p:spPr>
          <a:xfrm>
            <a:off x="1426028" y="1500339"/>
            <a:ext cx="4321629" cy="1477328"/>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US" b="0" i="0" dirty="0">
                <a:effectLst/>
                <a:latin typeface="__Source_Sans_3_a605e5"/>
              </a:rPr>
              <a:t>suggest top k terms starting with whatever the user has typed</a:t>
            </a:r>
            <a:endParaRPr lang="en-IN" dirty="0">
              <a:latin typeface="__Source_Sans_3_a605e5"/>
            </a:endParaRPr>
          </a:p>
          <a:p>
            <a:r>
              <a:rPr lang="en-IN" dirty="0">
                <a:latin typeface="__Source_Sans_3_a605e5"/>
              </a:rPr>
              <a:t>NFR</a:t>
            </a:r>
          </a:p>
          <a:p>
            <a:pPr marL="285750" indent="-285750">
              <a:buFont typeface="Arial" panose="020B0604020202020204" pitchFamily="34" charset="0"/>
              <a:buChar char="•"/>
            </a:pPr>
            <a:r>
              <a:rPr lang="en-IN" dirty="0">
                <a:latin typeface="__Source_Sans_3_a605e5"/>
              </a:rPr>
              <a:t>5B daily searches</a:t>
            </a:r>
          </a:p>
        </p:txBody>
      </p:sp>
      <p:sp>
        <p:nvSpPr>
          <p:cNvPr id="6" name="TextBox 5">
            <a:extLst>
              <a:ext uri="{FF2B5EF4-FFF2-40B4-BE49-F238E27FC236}">
                <a16:creationId xmlns:a16="http://schemas.microsoft.com/office/drawing/2014/main" id="{C0145748-674D-ED55-EA6E-2A7D7D75FEA7}"/>
              </a:ext>
            </a:extLst>
          </p:cNvPr>
          <p:cNvSpPr txBox="1"/>
          <p:nvPr/>
        </p:nvSpPr>
        <p:spPr>
          <a:xfrm>
            <a:off x="7609114" y="1500339"/>
            <a:ext cx="2993572" cy="3139321"/>
          </a:xfrm>
          <a:prstGeom prst="rect">
            <a:avLst/>
          </a:prstGeom>
          <a:noFill/>
        </p:spPr>
        <p:txBody>
          <a:bodyPr wrap="square" rtlCol="0">
            <a:spAutoFit/>
          </a:bodyPr>
          <a:lstStyle/>
          <a:p>
            <a:r>
              <a:rPr lang="en-IN" dirty="0"/>
              <a:t>Highlights</a:t>
            </a:r>
          </a:p>
          <a:p>
            <a:pPr marL="285750" indent="-285750">
              <a:buFont typeface="Arial" panose="020B0604020202020204" pitchFamily="34" charset="0"/>
              <a:buChar char="•"/>
            </a:pPr>
            <a:r>
              <a:rPr lang="en-IN" dirty="0"/>
              <a:t>Use a Trie</a:t>
            </a:r>
          </a:p>
          <a:p>
            <a:pPr marL="285750" indent="-285750">
              <a:buFont typeface="Arial" panose="020B0604020202020204" pitchFamily="34" charset="0"/>
              <a:buChar char="•"/>
            </a:pPr>
            <a:r>
              <a:rPr lang="en-IN" dirty="0"/>
              <a:t>Instead of evaluating the trie for every request we can  store Top k suggestions at each node</a:t>
            </a:r>
          </a:p>
          <a:p>
            <a:pPr marL="285750" indent="-285750">
              <a:buFont typeface="Arial" panose="020B0604020202020204" pitchFamily="34" charset="0"/>
              <a:buChar char="•"/>
            </a:pPr>
            <a:r>
              <a:rPr lang="en-IN" dirty="0"/>
              <a:t>We can store the trie in distributed memory database </a:t>
            </a:r>
            <a:r>
              <a:rPr lang="en-IN"/>
              <a:t>(like Redis)</a:t>
            </a: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680385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84996-0E45-E515-ACA6-9DDAD59C6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7C3B26-5585-E8A3-1D82-71D40CE5DC89}"/>
              </a:ext>
            </a:extLst>
          </p:cNvPr>
          <p:cNvSpPr>
            <a:spLocks noGrp="1"/>
          </p:cNvSpPr>
          <p:nvPr>
            <p:ph type="title"/>
          </p:nvPr>
        </p:nvSpPr>
        <p:spPr>
          <a:xfrm>
            <a:off x="544286" y="169183"/>
            <a:ext cx="10515600" cy="331561"/>
          </a:xfrm>
        </p:spPr>
        <p:txBody>
          <a:bodyPr>
            <a:normAutofit fontScale="90000"/>
          </a:bodyPr>
          <a:lstStyle/>
          <a:p>
            <a:r>
              <a:rPr lang="en-IN" dirty="0"/>
              <a:t>Uber/Lyft</a:t>
            </a:r>
          </a:p>
        </p:txBody>
      </p:sp>
      <p:sp>
        <p:nvSpPr>
          <p:cNvPr id="5" name="TextBox 4">
            <a:extLst>
              <a:ext uri="{FF2B5EF4-FFF2-40B4-BE49-F238E27FC236}">
                <a16:creationId xmlns:a16="http://schemas.microsoft.com/office/drawing/2014/main" id="{307AD575-3EFE-F076-AC56-464E478C4E59}"/>
              </a:ext>
            </a:extLst>
          </p:cNvPr>
          <p:cNvSpPr txBox="1"/>
          <p:nvPr/>
        </p:nvSpPr>
        <p:spPr>
          <a:xfrm>
            <a:off x="1426028" y="1500339"/>
            <a:ext cx="4321629" cy="2862322"/>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US" b="0" i="0" dirty="0">
                <a:effectLst/>
                <a:latin typeface="__Source_Sans_3_a605e5"/>
              </a:rPr>
              <a:t>Drivers need to regularly notify the service about their current location</a:t>
            </a:r>
          </a:p>
          <a:p>
            <a:pPr marL="285750" indent="-285750">
              <a:buFont typeface="Arial" panose="020B0604020202020204" pitchFamily="34" charset="0"/>
              <a:buChar char="•"/>
            </a:pPr>
            <a:r>
              <a:rPr lang="en-US" b="0" i="0" dirty="0">
                <a:effectLst/>
                <a:latin typeface="__Source_Sans_3_a605e5"/>
              </a:rPr>
              <a:t>Passengers get to see all the nearby available drivers.</a:t>
            </a:r>
          </a:p>
          <a:p>
            <a:pPr marL="285750" indent="-285750">
              <a:buFont typeface="Arial" panose="020B0604020202020204" pitchFamily="34" charset="0"/>
              <a:buChar char="•"/>
            </a:pPr>
            <a:r>
              <a:rPr lang="en-US" b="0" i="0" dirty="0">
                <a:effectLst/>
                <a:latin typeface="__Source_Sans_3_a605e5"/>
              </a:rPr>
              <a:t>Customer can request a ride </a:t>
            </a:r>
          </a:p>
          <a:p>
            <a:pPr marL="285750" indent="-285750">
              <a:buFont typeface="Arial" panose="020B0604020202020204" pitchFamily="34" charset="0"/>
              <a:buChar char="•"/>
            </a:pPr>
            <a:r>
              <a:rPr lang="en-US" b="0" i="0" dirty="0">
                <a:effectLst/>
                <a:latin typeface="__Source_Sans_3_a605e5"/>
              </a:rPr>
              <a:t>driver and a customer accept a ride</a:t>
            </a:r>
            <a:endParaRPr lang="en-US" dirty="0">
              <a:latin typeface="__Source_Sans_3_a605e5"/>
            </a:endParaRPr>
          </a:p>
          <a:p>
            <a:pPr marL="285750" indent="-285750">
              <a:buFont typeface="Arial" panose="020B0604020202020204" pitchFamily="34" charset="0"/>
              <a:buChar char="•"/>
            </a:pPr>
            <a:r>
              <a:rPr lang="en-US" b="0" i="0" dirty="0">
                <a:effectLst/>
                <a:latin typeface="__Source_Sans_3_a605e5"/>
              </a:rPr>
              <a:t>driver marks the journey complete</a:t>
            </a:r>
            <a:endParaRPr lang="en-IN" dirty="0"/>
          </a:p>
          <a:p>
            <a:r>
              <a:rPr lang="en-IN" dirty="0">
                <a:latin typeface="__Source_Sans_3_a605e5"/>
              </a:rPr>
              <a:t>NFR</a:t>
            </a:r>
          </a:p>
          <a:p>
            <a:pPr marL="285750" indent="-285750">
              <a:buFont typeface="Arial" panose="020B0604020202020204" pitchFamily="34" charset="0"/>
              <a:buChar char="•"/>
            </a:pPr>
            <a:r>
              <a:rPr lang="en-IN" b="0" i="0" dirty="0">
                <a:effectLst/>
                <a:latin typeface="__Source_Sans_3_a605e5"/>
              </a:rPr>
              <a:t>1M daily rides</a:t>
            </a:r>
            <a:endParaRPr lang="en-IN" dirty="0">
              <a:latin typeface="__Source_Sans_3_a605e5"/>
            </a:endParaRPr>
          </a:p>
        </p:txBody>
      </p:sp>
      <p:sp>
        <p:nvSpPr>
          <p:cNvPr id="6" name="TextBox 5">
            <a:extLst>
              <a:ext uri="{FF2B5EF4-FFF2-40B4-BE49-F238E27FC236}">
                <a16:creationId xmlns:a16="http://schemas.microsoft.com/office/drawing/2014/main" id="{D84C875B-C8D5-4277-6B13-ED1C6E08B352}"/>
              </a:ext>
            </a:extLst>
          </p:cNvPr>
          <p:cNvSpPr txBox="1"/>
          <p:nvPr/>
        </p:nvSpPr>
        <p:spPr>
          <a:xfrm>
            <a:off x="5540829" y="1166842"/>
            <a:ext cx="5519057" cy="5078313"/>
          </a:xfrm>
          <a:prstGeom prst="rect">
            <a:avLst/>
          </a:prstGeom>
          <a:noFill/>
        </p:spPr>
        <p:txBody>
          <a:bodyPr wrap="square" rtlCol="0">
            <a:spAutoFit/>
          </a:bodyPr>
          <a:lstStyle/>
          <a:p>
            <a:r>
              <a:rPr lang="en-IN" dirty="0"/>
              <a:t>Highlights</a:t>
            </a:r>
          </a:p>
          <a:p>
            <a:pPr marL="285750" indent="-285750">
              <a:buFont typeface="Arial" panose="020B0604020202020204" pitchFamily="34" charset="0"/>
              <a:buChar char="•"/>
            </a:pPr>
            <a:r>
              <a:rPr lang="en-IN" dirty="0"/>
              <a:t>Driver Service will use WebSocket to update location every 5 sec. Once a ride is accepted, rider will also connect with WebSocket to get near real time updates of the driver.</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Instead of using Lat/Long to find the distance between two points we use ….. </a:t>
            </a:r>
            <a:r>
              <a:rPr lang="en-IN" b="1" dirty="0"/>
              <a:t>Geohash</a:t>
            </a:r>
            <a:r>
              <a:rPr lang="en-IN" dirty="0"/>
              <a:t> is a base 32 alphanumeric system that divides the earth into 32 regions recursively. 6 chars are enough to represent a 1-2km area. Now we can quickly find adjacent areas because they will share the same first few chars. Example : a1b2c3 could be adjacent to a1b2c4</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endParaRPr lang="en-IN"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4013172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845FD-22DD-797E-9836-81D078093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9E231-C66C-AAF5-2886-74E59F989988}"/>
              </a:ext>
            </a:extLst>
          </p:cNvPr>
          <p:cNvSpPr>
            <a:spLocks noGrp="1"/>
          </p:cNvSpPr>
          <p:nvPr>
            <p:ph type="title"/>
          </p:nvPr>
        </p:nvSpPr>
        <p:spPr>
          <a:xfrm>
            <a:off x="544286" y="169183"/>
            <a:ext cx="10515600" cy="331561"/>
          </a:xfrm>
        </p:spPr>
        <p:txBody>
          <a:bodyPr>
            <a:normAutofit fontScale="90000"/>
          </a:bodyPr>
          <a:lstStyle/>
          <a:p>
            <a:r>
              <a:rPr lang="en-IN" dirty="0"/>
              <a:t>Rate Limiter</a:t>
            </a:r>
          </a:p>
        </p:txBody>
      </p:sp>
      <p:sp>
        <p:nvSpPr>
          <p:cNvPr id="5" name="TextBox 4">
            <a:extLst>
              <a:ext uri="{FF2B5EF4-FFF2-40B4-BE49-F238E27FC236}">
                <a16:creationId xmlns:a16="http://schemas.microsoft.com/office/drawing/2014/main" id="{39B8E072-9816-A87E-ED96-448C2F00F9CB}"/>
              </a:ext>
            </a:extLst>
          </p:cNvPr>
          <p:cNvSpPr txBox="1"/>
          <p:nvPr/>
        </p:nvSpPr>
        <p:spPr>
          <a:xfrm>
            <a:off x="544286" y="675232"/>
            <a:ext cx="4321629" cy="2031325"/>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US" b="0" i="1" dirty="0">
                <a:solidFill>
                  <a:srgbClr val="242424"/>
                </a:solidFill>
                <a:effectLst/>
                <a:latin typeface="source-serif-pro"/>
              </a:rPr>
              <a:t>limits the number of client requests allowed to be sent over a specified period. If the API request count exceeds the threshold defined by the rate limiter, all the excess calls are blocked (</a:t>
            </a:r>
            <a:r>
              <a:rPr lang="en-IN" b="0" i="1" dirty="0">
                <a:solidFill>
                  <a:srgbClr val="242424"/>
                </a:solidFill>
                <a:effectLst/>
                <a:latin typeface="__Source_Sans_3_a605e5"/>
              </a:rPr>
              <a:t>Returns a 429 response Too many requests)</a:t>
            </a:r>
            <a:endParaRPr lang="en-IN" dirty="0">
              <a:latin typeface="__Source_Sans_3_a605e5"/>
            </a:endParaRPr>
          </a:p>
        </p:txBody>
      </p:sp>
      <p:pic>
        <p:nvPicPr>
          <p:cNvPr id="4" name="Picture 3">
            <a:extLst>
              <a:ext uri="{FF2B5EF4-FFF2-40B4-BE49-F238E27FC236}">
                <a16:creationId xmlns:a16="http://schemas.microsoft.com/office/drawing/2014/main" id="{DE3038F6-C89A-8B6A-03A1-832FA196C28A}"/>
              </a:ext>
            </a:extLst>
          </p:cNvPr>
          <p:cNvPicPr>
            <a:picLocks noChangeAspect="1"/>
          </p:cNvPicPr>
          <p:nvPr/>
        </p:nvPicPr>
        <p:blipFill>
          <a:blip r:embed="rId2"/>
          <a:stretch>
            <a:fillRect/>
          </a:stretch>
        </p:blipFill>
        <p:spPr>
          <a:xfrm>
            <a:off x="4963886" y="169183"/>
            <a:ext cx="3801112" cy="2662365"/>
          </a:xfrm>
          <a:prstGeom prst="rect">
            <a:avLst/>
          </a:prstGeom>
        </p:spPr>
      </p:pic>
      <p:pic>
        <p:nvPicPr>
          <p:cNvPr id="8" name="Picture 7">
            <a:extLst>
              <a:ext uri="{FF2B5EF4-FFF2-40B4-BE49-F238E27FC236}">
                <a16:creationId xmlns:a16="http://schemas.microsoft.com/office/drawing/2014/main" id="{6A94AA73-A154-AD48-319F-2CB8B162A9B3}"/>
              </a:ext>
            </a:extLst>
          </p:cNvPr>
          <p:cNvPicPr>
            <a:picLocks noChangeAspect="1"/>
          </p:cNvPicPr>
          <p:nvPr/>
        </p:nvPicPr>
        <p:blipFill>
          <a:blip r:embed="rId3"/>
          <a:stretch>
            <a:fillRect/>
          </a:stretch>
        </p:blipFill>
        <p:spPr>
          <a:xfrm>
            <a:off x="974874" y="3040361"/>
            <a:ext cx="3801113" cy="3013901"/>
          </a:xfrm>
          <a:prstGeom prst="rect">
            <a:avLst/>
          </a:prstGeom>
        </p:spPr>
      </p:pic>
      <p:pic>
        <p:nvPicPr>
          <p:cNvPr id="10" name="Picture 9">
            <a:extLst>
              <a:ext uri="{FF2B5EF4-FFF2-40B4-BE49-F238E27FC236}">
                <a16:creationId xmlns:a16="http://schemas.microsoft.com/office/drawing/2014/main" id="{0A09420E-251A-975C-6F1B-81C2E83C6995}"/>
              </a:ext>
            </a:extLst>
          </p:cNvPr>
          <p:cNvPicPr>
            <a:picLocks noChangeAspect="1"/>
          </p:cNvPicPr>
          <p:nvPr/>
        </p:nvPicPr>
        <p:blipFill>
          <a:blip r:embed="rId4"/>
          <a:stretch>
            <a:fillRect/>
          </a:stretch>
        </p:blipFill>
        <p:spPr>
          <a:xfrm>
            <a:off x="8403771" y="3191036"/>
            <a:ext cx="3079087" cy="3270443"/>
          </a:xfrm>
          <a:prstGeom prst="rect">
            <a:avLst/>
          </a:prstGeom>
        </p:spPr>
      </p:pic>
    </p:spTree>
    <p:extLst>
      <p:ext uri="{BB962C8B-B14F-4D97-AF65-F5344CB8AC3E}">
        <p14:creationId xmlns:p14="http://schemas.microsoft.com/office/powerpoint/2010/main" val="1615855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C27AE-2A3D-626F-E8E7-077D325E0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24BD0-F135-3EC3-E9D9-0BE11B8459EA}"/>
              </a:ext>
            </a:extLst>
          </p:cNvPr>
          <p:cNvSpPr>
            <a:spLocks noGrp="1"/>
          </p:cNvSpPr>
          <p:nvPr>
            <p:ph type="title"/>
          </p:nvPr>
        </p:nvSpPr>
        <p:spPr>
          <a:xfrm>
            <a:off x="544286" y="169183"/>
            <a:ext cx="10515600" cy="331561"/>
          </a:xfrm>
        </p:spPr>
        <p:txBody>
          <a:bodyPr>
            <a:normAutofit fontScale="90000"/>
          </a:bodyPr>
          <a:lstStyle/>
          <a:p>
            <a:r>
              <a:rPr lang="en-IN" dirty="0"/>
              <a:t>Ticketmaster</a:t>
            </a:r>
          </a:p>
        </p:txBody>
      </p:sp>
      <p:sp>
        <p:nvSpPr>
          <p:cNvPr id="5" name="TextBox 4">
            <a:extLst>
              <a:ext uri="{FF2B5EF4-FFF2-40B4-BE49-F238E27FC236}">
                <a16:creationId xmlns:a16="http://schemas.microsoft.com/office/drawing/2014/main" id="{F6F8F7C8-B7A3-E2A7-82E6-C3727B533BAC}"/>
              </a:ext>
            </a:extLst>
          </p:cNvPr>
          <p:cNvSpPr txBox="1"/>
          <p:nvPr/>
        </p:nvSpPr>
        <p:spPr>
          <a:xfrm>
            <a:off x="859971" y="956053"/>
            <a:ext cx="4321629" cy="3693319"/>
          </a:xfrm>
          <a:prstGeom prst="rect">
            <a:avLst/>
          </a:prstGeom>
          <a:noFill/>
        </p:spPr>
        <p:txBody>
          <a:bodyPr wrap="square" rtlCol="0">
            <a:spAutoFit/>
          </a:bodyPr>
          <a:lstStyle/>
          <a:p>
            <a:r>
              <a:rPr lang="en-IN" dirty="0"/>
              <a:t>FR</a:t>
            </a:r>
          </a:p>
          <a:p>
            <a:pPr marL="285750" indent="-285750">
              <a:buFont typeface="Arial" panose="020B0604020202020204" pitchFamily="34" charset="0"/>
              <a:buChar char="•"/>
            </a:pPr>
            <a:r>
              <a:rPr lang="en-US" b="0" i="0" dirty="0">
                <a:effectLst/>
                <a:latin typeface="__Source_Sans_3_a605e5"/>
              </a:rPr>
              <a:t>show the user the seating arrangement of the cinema hall</a:t>
            </a:r>
          </a:p>
          <a:p>
            <a:pPr marL="285750" indent="-285750">
              <a:buFont typeface="Arial" panose="020B0604020202020204" pitchFamily="34" charset="0"/>
              <a:buChar char="•"/>
            </a:pPr>
            <a:r>
              <a:rPr lang="en-US" b="0" i="0" dirty="0">
                <a:effectLst/>
                <a:latin typeface="__Source_Sans_3_a605e5"/>
              </a:rPr>
              <a:t>user should be able to choose a particular event and book their tickets.</a:t>
            </a:r>
          </a:p>
          <a:p>
            <a:pPr marL="285750" indent="-285750">
              <a:buFont typeface="Arial" panose="020B0604020202020204" pitchFamily="34" charset="0"/>
              <a:buChar char="•"/>
            </a:pPr>
            <a:r>
              <a:rPr lang="en-US" b="0" i="0" dirty="0">
                <a:effectLst/>
                <a:latin typeface="__Source_Sans_3_a605e5"/>
              </a:rPr>
              <a:t>user should be able to distinguish available seats from booked ones.</a:t>
            </a:r>
          </a:p>
          <a:p>
            <a:pPr marL="285750" indent="-285750">
              <a:buFont typeface="Arial" panose="020B0604020202020204" pitchFamily="34" charset="0"/>
              <a:buChar char="•"/>
            </a:pPr>
            <a:r>
              <a:rPr lang="en-US" b="0" i="0" dirty="0">
                <a:effectLst/>
                <a:latin typeface="__Source_Sans_3_a605e5"/>
              </a:rPr>
              <a:t>Users should be able to put a hold on the seats for five minutes before they make a payment to finalize the booking.</a:t>
            </a:r>
          </a:p>
          <a:p>
            <a:pPr marL="285750" indent="-285750">
              <a:buFont typeface="Arial" panose="020B0604020202020204" pitchFamily="34" charset="0"/>
              <a:buChar char="•"/>
            </a:pPr>
            <a:endParaRPr lang="en-IN" dirty="0"/>
          </a:p>
          <a:p>
            <a:r>
              <a:rPr lang="en-IN" dirty="0">
                <a:latin typeface="__Source_Sans_3_a605e5"/>
              </a:rPr>
              <a:t>NFR</a:t>
            </a:r>
          </a:p>
          <a:p>
            <a:pPr marL="285750" indent="-285750">
              <a:buFont typeface="Arial" panose="020B0604020202020204" pitchFamily="34" charset="0"/>
              <a:buChar char="•"/>
            </a:pPr>
            <a:r>
              <a:rPr lang="en-IN" b="0" i="0" dirty="0">
                <a:effectLst/>
                <a:latin typeface="__Source_Sans_3_a605e5"/>
              </a:rPr>
              <a:t>1M daily rides</a:t>
            </a:r>
            <a:endParaRPr lang="en-IN" dirty="0">
              <a:latin typeface="__Source_Sans_3_a605e5"/>
            </a:endParaRPr>
          </a:p>
        </p:txBody>
      </p:sp>
      <p:sp>
        <p:nvSpPr>
          <p:cNvPr id="6" name="TextBox 5">
            <a:extLst>
              <a:ext uri="{FF2B5EF4-FFF2-40B4-BE49-F238E27FC236}">
                <a16:creationId xmlns:a16="http://schemas.microsoft.com/office/drawing/2014/main" id="{B6ADDB55-917E-A381-25F8-6850879AC71B}"/>
              </a:ext>
            </a:extLst>
          </p:cNvPr>
          <p:cNvSpPr txBox="1"/>
          <p:nvPr/>
        </p:nvSpPr>
        <p:spPr>
          <a:xfrm>
            <a:off x="5072743" y="147413"/>
            <a:ext cx="6749142" cy="6463308"/>
          </a:xfrm>
          <a:prstGeom prst="rect">
            <a:avLst/>
          </a:prstGeom>
          <a:noFill/>
        </p:spPr>
        <p:txBody>
          <a:bodyPr wrap="square" rtlCol="0">
            <a:spAutoFit/>
          </a:bodyPr>
          <a:lstStyle/>
          <a:p>
            <a:r>
              <a:rPr lang="en-IN" dirty="0"/>
              <a:t>Highlights</a:t>
            </a:r>
          </a:p>
          <a:p>
            <a:endParaRPr lang="en-IN" dirty="0"/>
          </a:p>
          <a:p>
            <a:pPr marL="285750" indent="-285750">
              <a:buFont typeface="Arial" panose="020B0604020202020204" pitchFamily="34" charset="0"/>
              <a:buChar char="•"/>
            </a:pPr>
            <a:r>
              <a:rPr lang="en-IN" dirty="0"/>
              <a:t>Avoid Conflict Free Booking : </a:t>
            </a:r>
          </a:p>
          <a:p>
            <a:pPr marL="742950" lvl="1" indent="-285750">
              <a:buFont typeface="Arial" panose="020B0604020202020204" pitchFamily="34" charset="0"/>
              <a:buChar char="•"/>
            </a:pPr>
            <a:r>
              <a:rPr lang="en-IN" u="sng" dirty="0"/>
              <a:t>Bad Solution </a:t>
            </a:r>
            <a:r>
              <a:rPr lang="en-IN" dirty="0"/>
              <a:t>: optimistic locking like SELECT FOR UPDATE</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r>
              <a:rPr lang="en-US" u="sng" dirty="0"/>
              <a:t>Great Solution </a:t>
            </a:r>
            <a:r>
              <a:rPr lang="en-US" dirty="0"/>
              <a:t>: status of any given ticket is the combination of two attributes: whether it’s </a:t>
            </a:r>
            <a:r>
              <a:rPr lang="en-US" b="1" dirty="0"/>
              <a:t>Available</a:t>
            </a:r>
            <a:r>
              <a:rPr lang="en-US" dirty="0"/>
              <a:t> OR whether it's been reserved but the </a:t>
            </a:r>
            <a:r>
              <a:rPr lang="en-US" b="1" dirty="0"/>
              <a:t>TTL has expired</a:t>
            </a:r>
            <a:r>
              <a:rPr lang="en-US" dirty="0"/>
              <a:t>.</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u="sng" dirty="0"/>
              <a:t>Great Solution </a:t>
            </a:r>
            <a:r>
              <a:rPr lang="en-US" dirty="0"/>
              <a:t>: Distributed lock management using </a:t>
            </a:r>
            <a:r>
              <a:rPr lang="en-US" b="1" dirty="0"/>
              <a:t>Redis</a:t>
            </a:r>
            <a:r>
              <a:rPr lang="en-US" dirty="0"/>
              <a:t>. The Booking Service will lock that ticket by adding it to our Redis Distributed Lock with a TTL of 10 minutes</a:t>
            </a:r>
            <a:endParaRPr lang="en-IN" dirty="0"/>
          </a:p>
          <a:p>
            <a:endParaRPr lang="en-IN" dirty="0"/>
          </a:p>
          <a:p>
            <a:endParaRPr lang="en-IN" dirty="0"/>
          </a:p>
          <a:p>
            <a:pPr marL="285750" indent="-285750">
              <a:buFont typeface="Arial" panose="020B0604020202020204" pitchFamily="34" charset="0"/>
              <a:buChar char="•"/>
            </a:pPr>
            <a:r>
              <a:rPr lang="en-IN" dirty="0"/>
              <a:t>Seat Map : for </a:t>
            </a:r>
            <a:r>
              <a:rPr lang="en-US" dirty="0"/>
              <a:t>popular events, the loaded seat map will go stale quickly. </a:t>
            </a:r>
          </a:p>
          <a:p>
            <a:pPr marL="742950" lvl="1" indent="-285750">
              <a:buFont typeface="Arial" panose="020B0604020202020204" pitchFamily="34" charset="0"/>
              <a:buChar char="•"/>
            </a:pPr>
            <a:r>
              <a:rPr lang="en-US" dirty="0"/>
              <a:t>To ensure that the seat map is always up to date, we can use </a:t>
            </a:r>
            <a:r>
              <a:rPr lang="en-US" b="1" dirty="0"/>
              <a:t>Server-Sent Events (SSE) </a:t>
            </a:r>
            <a:r>
              <a:rPr lang="en-US" dirty="0"/>
              <a:t>to push updates to the client in real-time. </a:t>
            </a:r>
          </a:p>
          <a:p>
            <a:pPr marL="742950" lvl="1" indent="-285750">
              <a:buFont typeface="Arial" panose="020B0604020202020204" pitchFamily="34" charset="0"/>
              <a:buChar char="•"/>
            </a:pPr>
            <a:r>
              <a:rPr lang="en-US" dirty="0"/>
              <a:t>For extremely popular events, we can implement an admin enabled </a:t>
            </a:r>
            <a:r>
              <a:rPr lang="en-US" b="1" dirty="0"/>
              <a:t>virtual waiting queue system </a:t>
            </a:r>
            <a:r>
              <a:rPr lang="en-US" dirty="0"/>
              <a:t>to manage user access during times of exceptionally high demand. (Taylor Swift case)</a:t>
            </a:r>
            <a:endParaRPr lang="en-IN" dirty="0"/>
          </a:p>
          <a:p>
            <a:pPr marL="285750" indent="-285750">
              <a:buFont typeface="Arial" panose="020B0604020202020204" pitchFamily="34" charset="0"/>
              <a:buChar char="•"/>
            </a:pPr>
            <a:endParaRPr lang="en-IN" dirty="0"/>
          </a:p>
        </p:txBody>
      </p:sp>
      <p:sp>
        <p:nvSpPr>
          <p:cNvPr id="4" name="TextBox 3">
            <a:extLst>
              <a:ext uri="{FF2B5EF4-FFF2-40B4-BE49-F238E27FC236}">
                <a16:creationId xmlns:a16="http://schemas.microsoft.com/office/drawing/2014/main" id="{5FC349F5-4E1E-4A94-0699-B51DD3118B18}"/>
              </a:ext>
            </a:extLst>
          </p:cNvPr>
          <p:cNvSpPr txBox="1"/>
          <p:nvPr/>
        </p:nvSpPr>
        <p:spPr>
          <a:xfrm>
            <a:off x="859971" y="5255616"/>
            <a:ext cx="6096000" cy="646331"/>
          </a:xfrm>
          <a:prstGeom prst="rect">
            <a:avLst/>
          </a:prstGeom>
          <a:noFill/>
        </p:spPr>
        <p:txBody>
          <a:bodyPr wrap="square">
            <a:spAutoFit/>
          </a:bodyPr>
          <a:lstStyle/>
          <a:p>
            <a:r>
              <a:rPr lang="en-IN" dirty="0">
                <a:hlinkClick r:id="rId2"/>
              </a:rPr>
              <a:t>https://www.hellointerview.com/learn/system-design/problem-breakdowns/ticketmaster</a:t>
            </a:r>
            <a:r>
              <a:rPr lang="en-IN" dirty="0"/>
              <a:t> </a:t>
            </a:r>
          </a:p>
        </p:txBody>
      </p:sp>
    </p:spTree>
    <p:extLst>
      <p:ext uri="{BB962C8B-B14F-4D97-AF65-F5344CB8AC3E}">
        <p14:creationId xmlns:p14="http://schemas.microsoft.com/office/powerpoint/2010/main" val="1105108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7796-762F-0C98-5074-54F035F6281F}"/>
              </a:ext>
            </a:extLst>
          </p:cNvPr>
          <p:cNvSpPr>
            <a:spLocks noGrp="1"/>
          </p:cNvSpPr>
          <p:nvPr>
            <p:ph type="title"/>
          </p:nvPr>
        </p:nvSpPr>
        <p:spPr>
          <a:xfrm>
            <a:off x="489857" y="212726"/>
            <a:ext cx="10515600" cy="266246"/>
          </a:xfrm>
        </p:spPr>
        <p:txBody>
          <a:bodyPr>
            <a:normAutofit fontScale="90000"/>
          </a:bodyPr>
          <a:lstStyle/>
          <a:p>
            <a:r>
              <a:rPr lang="en-IN" dirty="0"/>
              <a:t>DynamoDB</a:t>
            </a:r>
          </a:p>
        </p:txBody>
      </p:sp>
      <p:sp>
        <p:nvSpPr>
          <p:cNvPr id="3" name="TextBox 2">
            <a:extLst>
              <a:ext uri="{FF2B5EF4-FFF2-40B4-BE49-F238E27FC236}">
                <a16:creationId xmlns:a16="http://schemas.microsoft.com/office/drawing/2014/main" id="{768AF154-1428-858D-A0FB-09F074293E2C}"/>
              </a:ext>
            </a:extLst>
          </p:cNvPr>
          <p:cNvSpPr txBox="1"/>
          <p:nvPr/>
        </p:nvSpPr>
        <p:spPr>
          <a:xfrm>
            <a:off x="859971" y="956053"/>
            <a:ext cx="10624458" cy="4801314"/>
          </a:xfrm>
          <a:prstGeom prst="rect">
            <a:avLst/>
          </a:prstGeom>
          <a:noFill/>
        </p:spPr>
        <p:txBody>
          <a:bodyPr wrap="square" rtlCol="0">
            <a:spAutoFit/>
          </a:bodyPr>
          <a:lstStyle/>
          <a:p>
            <a:r>
              <a:rPr lang="en-IN" b="1" dirty="0"/>
              <a:t>Highlights</a:t>
            </a:r>
          </a:p>
          <a:p>
            <a:endParaRPr lang="en-IN" dirty="0">
              <a:latin typeface="__Source_Sans_3_a605e5"/>
            </a:endParaRPr>
          </a:p>
          <a:p>
            <a:r>
              <a:rPr lang="en-IN" b="1" dirty="0">
                <a:latin typeface="__Source_Sans_3_a605e5"/>
              </a:rPr>
              <a:t>1&gt; How to partition and query the data?</a:t>
            </a:r>
          </a:p>
          <a:p>
            <a:pPr marL="285750" indent="-285750">
              <a:buFont typeface="Arial" panose="020B0604020202020204" pitchFamily="34" charset="0"/>
              <a:buChar char="•"/>
            </a:pPr>
            <a:r>
              <a:rPr lang="en-IN" b="1" dirty="0">
                <a:latin typeface="__Source_Sans_3_a605e5"/>
              </a:rPr>
              <a:t>Partition Key </a:t>
            </a:r>
            <a:r>
              <a:rPr lang="en-IN" dirty="0">
                <a:latin typeface="__Source_Sans_3_a605e5"/>
              </a:rPr>
              <a:t>: unique identifier that determines items physical storage location through hashing (say </a:t>
            </a:r>
            <a:r>
              <a:rPr lang="en-IN" b="1" dirty="0">
                <a:latin typeface="__Source_Sans_3_a605e5"/>
              </a:rPr>
              <a:t>Consistent Hashing</a:t>
            </a:r>
            <a:r>
              <a:rPr lang="en-IN" dirty="0">
                <a:latin typeface="__Source_Sans_3_a605e5"/>
              </a:rPr>
              <a:t>)</a:t>
            </a:r>
          </a:p>
          <a:p>
            <a:pPr marL="285750" indent="-285750">
              <a:buFont typeface="Arial" panose="020B0604020202020204" pitchFamily="34" charset="0"/>
              <a:buChar char="•"/>
            </a:pPr>
            <a:r>
              <a:rPr lang="en-IN" b="1" dirty="0">
                <a:latin typeface="__Source_Sans_3_a605e5"/>
              </a:rPr>
              <a:t>Sort Key </a:t>
            </a:r>
            <a:r>
              <a:rPr lang="en-IN" dirty="0">
                <a:latin typeface="__Source_Sans_3_a605e5"/>
              </a:rPr>
              <a:t>: (Optional) Secondary attribute that enables ordering and range queries within a partition. We can have a </a:t>
            </a:r>
            <a:r>
              <a:rPr lang="en-IN" dirty="0" err="1">
                <a:latin typeface="__Source_Sans_3_a605e5"/>
              </a:rPr>
              <a:t>Btree</a:t>
            </a:r>
            <a:r>
              <a:rPr lang="en-IN" dirty="0">
                <a:latin typeface="__Source_Sans_3_a605e5"/>
              </a:rPr>
              <a:t> index for this.</a:t>
            </a:r>
          </a:p>
          <a:p>
            <a:pPr marL="285750" indent="-285750">
              <a:buFont typeface="Arial" panose="020B0604020202020204" pitchFamily="34" charset="0"/>
              <a:buChar char="•"/>
            </a:pPr>
            <a:r>
              <a:rPr lang="en-IN" b="1" dirty="0">
                <a:latin typeface="__Source_Sans_3_a605e5"/>
              </a:rPr>
              <a:t>Primary Key </a:t>
            </a:r>
            <a:r>
              <a:rPr lang="en-IN" dirty="0">
                <a:latin typeface="__Source_Sans_3_a605e5"/>
              </a:rPr>
              <a:t>: Partition Key : Sort Key</a:t>
            </a:r>
          </a:p>
          <a:p>
            <a:pPr marL="285750" indent="-285750">
              <a:buFont typeface="Arial" panose="020B0604020202020204" pitchFamily="34" charset="0"/>
              <a:buChar char="•"/>
            </a:pPr>
            <a:r>
              <a:rPr lang="en-IN" b="1" dirty="0">
                <a:latin typeface="__Source_Sans_3_a605e5"/>
              </a:rPr>
              <a:t>Local Secondary Index </a:t>
            </a:r>
            <a:r>
              <a:rPr lang="en-IN" dirty="0">
                <a:latin typeface="__Source_Sans_3_a605e5"/>
              </a:rPr>
              <a:t>: Same partition key as the original table but different sort key</a:t>
            </a:r>
          </a:p>
          <a:p>
            <a:pPr marL="285750" indent="-285750">
              <a:buFont typeface="Arial" panose="020B0604020202020204" pitchFamily="34" charset="0"/>
              <a:buChar char="•"/>
            </a:pPr>
            <a:r>
              <a:rPr lang="en-IN" b="1" dirty="0">
                <a:latin typeface="__Source_Sans_3_a605e5"/>
              </a:rPr>
              <a:t>Global Secondary Index </a:t>
            </a:r>
            <a:r>
              <a:rPr lang="en-IN" dirty="0">
                <a:latin typeface="__Source_Sans_3_a605e5"/>
              </a:rPr>
              <a:t>: Different partition key from table to query by any other attribute. (Similar to an index in RDBMS).</a:t>
            </a:r>
          </a:p>
          <a:p>
            <a:pPr marL="285750" indent="-285750">
              <a:buFont typeface="Arial" panose="020B0604020202020204" pitchFamily="34" charset="0"/>
              <a:buChar char="•"/>
            </a:pPr>
            <a:endParaRPr lang="en-IN" dirty="0">
              <a:latin typeface="__Source_Sans_3_a605e5"/>
            </a:endParaRPr>
          </a:p>
          <a:p>
            <a:r>
              <a:rPr lang="en-IN" b="1" dirty="0">
                <a:latin typeface="__Source_Sans_3_a605e5"/>
              </a:rPr>
              <a:t>2&gt; Eventually Consistency </a:t>
            </a:r>
            <a:r>
              <a:rPr lang="en-IN" dirty="0">
                <a:latin typeface="__Source_Sans_3_a605e5"/>
              </a:rPr>
              <a:t>is default in DynamoDB. Which means each writes to a leader is eventually replicated to read replicase. But we can choose </a:t>
            </a:r>
            <a:r>
              <a:rPr lang="en-IN" b="1" dirty="0">
                <a:latin typeface="__Source_Sans_3_a605e5"/>
              </a:rPr>
              <a:t>Strong Consistency </a:t>
            </a:r>
            <a:r>
              <a:rPr lang="en-IN" dirty="0">
                <a:latin typeface="__Source_Sans_3_a605e5"/>
              </a:rPr>
              <a:t>instead of this, which means reads are from the leader node only (performance lags)</a:t>
            </a:r>
          </a:p>
          <a:p>
            <a:r>
              <a:rPr lang="en-IN" dirty="0">
                <a:latin typeface="__Source_Sans_3_a605e5"/>
              </a:rPr>
              <a:t> </a:t>
            </a:r>
          </a:p>
          <a:p>
            <a:pPr marL="285750" indent="-285750">
              <a:buFont typeface="Arial" panose="020B0604020202020204" pitchFamily="34" charset="0"/>
              <a:buChar char="•"/>
            </a:pPr>
            <a:endParaRPr lang="en-IN" dirty="0">
              <a:latin typeface="__Source_Sans_3_a605e5"/>
            </a:endParaRPr>
          </a:p>
        </p:txBody>
      </p:sp>
      <p:sp>
        <p:nvSpPr>
          <p:cNvPr id="5" name="TextBox 4">
            <a:extLst>
              <a:ext uri="{FF2B5EF4-FFF2-40B4-BE49-F238E27FC236}">
                <a16:creationId xmlns:a16="http://schemas.microsoft.com/office/drawing/2014/main" id="{D04FE745-A981-3173-7DCF-2299777D11B7}"/>
              </a:ext>
            </a:extLst>
          </p:cNvPr>
          <p:cNvSpPr txBox="1"/>
          <p:nvPr/>
        </p:nvSpPr>
        <p:spPr>
          <a:xfrm>
            <a:off x="576943" y="6074620"/>
            <a:ext cx="6096000" cy="369332"/>
          </a:xfrm>
          <a:prstGeom prst="rect">
            <a:avLst/>
          </a:prstGeom>
          <a:noFill/>
        </p:spPr>
        <p:txBody>
          <a:bodyPr wrap="square">
            <a:spAutoFit/>
          </a:bodyPr>
          <a:lstStyle/>
          <a:p>
            <a:r>
              <a:rPr lang="en-IN" dirty="0">
                <a:hlinkClick r:id="rId2"/>
              </a:rPr>
              <a:t>https://www.youtube.com/watch?v=2X2SO3Y-af8</a:t>
            </a:r>
            <a:r>
              <a:rPr lang="en-IN" dirty="0"/>
              <a:t> </a:t>
            </a:r>
          </a:p>
        </p:txBody>
      </p:sp>
    </p:spTree>
    <p:extLst>
      <p:ext uri="{BB962C8B-B14F-4D97-AF65-F5344CB8AC3E}">
        <p14:creationId xmlns:p14="http://schemas.microsoft.com/office/powerpoint/2010/main" val="3172749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2A7D8-FA09-66B4-813C-0A8033968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60B22-856E-6840-306D-782404C76245}"/>
              </a:ext>
            </a:extLst>
          </p:cNvPr>
          <p:cNvSpPr>
            <a:spLocks noGrp="1"/>
          </p:cNvSpPr>
          <p:nvPr>
            <p:ph type="title"/>
          </p:nvPr>
        </p:nvSpPr>
        <p:spPr>
          <a:xfrm>
            <a:off x="544286" y="169183"/>
            <a:ext cx="10515600" cy="331561"/>
          </a:xfrm>
        </p:spPr>
        <p:txBody>
          <a:bodyPr>
            <a:normAutofit fontScale="90000"/>
          </a:bodyPr>
          <a:lstStyle/>
          <a:p>
            <a:r>
              <a:rPr lang="en-IN" dirty="0"/>
              <a:t>Live Streaming</a:t>
            </a:r>
          </a:p>
        </p:txBody>
      </p:sp>
      <p:sp>
        <p:nvSpPr>
          <p:cNvPr id="6" name="TextBox 5">
            <a:extLst>
              <a:ext uri="{FF2B5EF4-FFF2-40B4-BE49-F238E27FC236}">
                <a16:creationId xmlns:a16="http://schemas.microsoft.com/office/drawing/2014/main" id="{FE9E1E65-0334-577D-D4F3-5C30097006BA}"/>
              </a:ext>
            </a:extLst>
          </p:cNvPr>
          <p:cNvSpPr txBox="1"/>
          <p:nvPr/>
        </p:nvSpPr>
        <p:spPr>
          <a:xfrm>
            <a:off x="5802086" y="500744"/>
            <a:ext cx="6183086" cy="3139321"/>
          </a:xfrm>
          <a:prstGeom prst="rect">
            <a:avLst/>
          </a:prstGeom>
          <a:noFill/>
        </p:spPr>
        <p:txBody>
          <a:bodyPr wrap="square" rtlCol="0">
            <a:spAutoFit/>
          </a:bodyPr>
          <a:lstStyle/>
          <a:p>
            <a:r>
              <a:rPr lang="en-IN" dirty="0"/>
              <a:t>Highlights</a:t>
            </a:r>
          </a:p>
          <a:p>
            <a:pPr marL="285750" indent="-285750">
              <a:buFont typeface="Arial" panose="020B0604020202020204" pitchFamily="34" charset="0"/>
              <a:buChar char="•"/>
            </a:pPr>
            <a:r>
              <a:rPr lang="en-IN" b="1" dirty="0"/>
              <a:t>RTMP</a:t>
            </a:r>
            <a:r>
              <a:rPr lang="en-IN" dirty="0"/>
              <a:t> (TCP based) – </a:t>
            </a:r>
            <a:r>
              <a:rPr lang="en-IN" b="1" dirty="0"/>
              <a:t>Real Time Messaging Platform</a:t>
            </a:r>
          </a:p>
          <a:p>
            <a:pPr marL="285750" indent="-285750">
              <a:buFont typeface="Arial" panose="020B0604020202020204" pitchFamily="34" charset="0"/>
              <a:buChar char="•"/>
            </a:pPr>
            <a:r>
              <a:rPr lang="en-IN" b="1" dirty="0"/>
              <a:t>SRT</a:t>
            </a:r>
            <a:r>
              <a:rPr lang="en-IN" dirty="0"/>
              <a:t> (UDP based) – </a:t>
            </a:r>
            <a:r>
              <a:rPr lang="en-IN" b="1" dirty="0"/>
              <a:t>Secure Reliable Transport</a:t>
            </a:r>
            <a:r>
              <a:rPr lang="en-IN" dirty="0"/>
              <a:t>. Not adopted widely yet</a:t>
            </a:r>
          </a:p>
          <a:p>
            <a:pPr marL="285750" indent="-285750">
              <a:buFont typeface="Arial" panose="020B0604020202020204" pitchFamily="34" charset="0"/>
              <a:buChar char="•"/>
            </a:pPr>
            <a:r>
              <a:rPr lang="en-IN" dirty="0"/>
              <a:t>Transcoded to different resolutions and bit rates</a:t>
            </a:r>
          </a:p>
          <a:p>
            <a:pPr marL="285750" indent="-285750">
              <a:buFont typeface="Arial" panose="020B0604020202020204" pitchFamily="34" charset="0"/>
              <a:buChar char="•"/>
            </a:pPr>
            <a:r>
              <a:rPr lang="en-IN" dirty="0"/>
              <a:t>Segmentation chunks them into smaller pieces</a:t>
            </a:r>
          </a:p>
          <a:p>
            <a:pPr marL="285750" indent="-285750">
              <a:buFont typeface="Arial" panose="020B0604020202020204" pitchFamily="34" charset="0"/>
              <a:buChar char="•"/>
            </a:pPr>
            <a:r>
              <a:rPr lang="en-IN" dirty="0"/>
              <a:t>Packaging packs these to different formats that the video players can understand like HLS or DASH</a:t>
            </a:r>
          </a:p>
          <a:p>
            <a:pPr marL="742950" lvl="1" indent="-285750">
              <a:buFont typeface="Arial" panose="020B0604020202020204" pitchFamily="34" charset="0"/>
              <a:buChar char="•"/>
            </a:pPr>
            <a:r>
              <a:rPr lang="en-IN" dirty="0"/>
              <a:t>HLS – HTTP Live Streaming (manifest and video chunks)</a:t>
            </a:r>
          </a:p>
          <a:p>
            <a:pPr marL="742950" lvl="1" indent="-285750">
              <a:buFont typeface="Arial" panose="020B0604020202020204" pitchFamily="34" charset="0"/>
              <a:buChar char="•"/>
            </a:pPr>
            <a:r>
              <a:rPr lang="en-IN" dirty="0"/>
              <a:t>DASH - Dynamic Adaptive Streaming over HTTP</a:t>
            </a:r>
          </a:p>
          <a:p>
            <a:pPr marL="285750" indent="-285750">
              <a:buFont typeface="Arial" panose="020B0604020202020204" pitchFamily="34" charset="0"/>
              <a:buChar char="•"/>
            </a:pPr>
            <a:r>
              <a:rPr lang="en-IN" dirty="0"/>
              <a:t>Glass to glass latency of 20 seconds is normal</a:t>
            </a:r>
          </a:p>
        </p:txBody>
      </p:sp>
      <p:pic>
        <p:nvPicPr>
          <p:cNvPr id="4" name="Picture 3">
            <a:extLst>
              <a:ext uri="{FF2B5EF4-FFF2-40B4-BE49-F238E27FC236}">
                <a16:creationId xmlns:a16="http://schemas.microsoft.com/office/drawing/2014/main" id="{82C3DCA0-9D09-9384-48D6-6EC815AB15BC}"/>
              </a:ext>
            </a:extLst>
          </p:cNvPr>
          <p:cNvPicPr>
            <a:picLocks noChangeAspect="1"/>
          </p:cNvPicPr>
          <p:nvPr/>
        </p:nvPicPr>
        <p:blipFill>
          <a:blip r:embed="rId2"/>
          <a:stretch>
            <a:fillRect/>
          </a:stretch>
        </p:blipFill>
        <p:spPr>
          <a:xfrm>
            <a:off x="226415" y="1665516"/>
            <a:ext cx="5401500" cy="3067482"/>
          </a:xfrm>
          <a:prstGeom prst="rect">
            <a:avLst/>
          </a:prstGeom>
        </p:spPr>
      </p:pic>
      <p:pic>
        <p:nvPicPr>
          <p:cNvPr id="8" name="Picture 7">
            <a:extLst>
              <a:ext uri="{FF2B5EF4-FFF2-40B4-BE49-F238E27FC236}">
                <a16:creationId xmlns:a16="http://schemas.microsoft.com/office/drawing/2014/main" id="{97754192-1870-5ECE-FD69-E270773826B5}"/>
              </a:ext>
            </a:extLst>
          </p:cNvPr>
          <p:cNvPicPr>
            <a:picLocks noChangeAspect="1"/>
          </p:cNvPicPr>
          <p:nvPr/>
        </p:nvPicPr>
        <p:blipFill>
          <a:blip r:embed="rId3"/>
          <a:stretch>
            <a:fillRect/>
          </a:stretch>
        </p:blipFill>
        <p:spPr>
          <a:xfrm>
            <a:off x="6751898" y="3937254"/>
            <a:ext cx="3935120" cy="2751563"/>
          </a:xfrm>
          <a:prstGeom prst="rect">
            <a:avLst/>
          </a:prstGeom>
        </p:spPr>
      </p:pic>
      <p:sp>
        <p:nvSpPr>
          <p:cNvPr id="10" name="TextBox 9">
            <a:extLst>
              <a:ext uri="{FF2B5EF4-FFF2-40B4-BE49-F238E27FC236}">
                <a16:creationId xmlns:a16="http://schemas.microsoft.com/office/drawing/2014/main" id="{7089430A-0441-C055-A02C-D4762EE36EFC}"/>
              </a:ext>
            </a:extLst>
          </p:cNvPr>
          <p:cNvSpPr txBox="1"/>
          <p:nvPr/>
        </p:nvSpPr>
        <p:spPr>
          <a:xfrm>
            <a:off x="93907" y="5313035"/>
            <a:ext cx="6096000" cy="369332"/>
          </a:xfrm>
          <a:prstGeom prst="rect">
            <a:avLst/>
          </a:prstGeom>
          <a:noFill/>
        </p:spPr>
        <p:txBody>
          <a:bodyPr wrap="square">
            <a:spAutoFit/>
          </a:bodyPr>
          <a:lstStyle/>
          <a:p>
            <a:r>
              <a:rPr lang="en-IN" dirty="0">
                <a:hlinkClick r:id="rId4"/>
              </a:rPr>
              <a:t>https://www.youtube.com/watch?v=7AMRfNKwuYo</a:t>
            </a:r>
            <a:r>
              <a:rPr lang="en-IN" dirty="0"/>
              <a:t> </a:t>
            </a:r>
          </a:p>
        </p:txBody>
      </p:sp>
    </p:spTree>
    <p:extLst>
      <p:ext uri="{BB962C8B-B14F-4D97-AF65-F5344CB8AC3E}">
        <p14:creationId xmlns:p14="http://schemas.microsoft.com/office/powerpoint/2010/main" val="177812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E2538-AFD5-96DC-AA27-16DBE66DBB71}"/>
              </a:ext>
            </a:extLst>
          </p:cNvPr>
          <p:cNvSpPr>
            <a:spLocks noGrp="1"/>
          </p:cNvSpPr>
          <p:nvPr>
            <p:ph type="title"/>
          </p:nvPr>
        </p:nvSpPr>
        <p:spPr/>
        <p:txBody>
          <a:bodyPr/>
          <a:lstStyle/>
          <a:p>
            <a:r>
              <a:rPr lang="en-IN" dirty="0"/>
              <a:t>References</a:t>
            </a:r>
          </a:p>
        </p:txBody>
      </p:sp>
      <p:sp>
        <p:nvSpPr>
          <p:cNvPr id="4" name="TextBox 3">
            <a:extLst>
              <a:ext uri="{FF2B5EF4-FFF2-40B4-BE49-F238E27FC236}">
                <a16:creationId xmlns:a16="http://schemas.microsoft.com/office/drawing/2014/main" id="{FFBD9758-4745-BA60-2A0A-1DEDB4EEC3BF}"/>
              </a:ext>
            </a:extLst>
          </p:cNvPr>
          <p:cNvSpPr txBox="1"/>
          <p:nvPr/>
        </p:nvSpPr>
        <p:spPr>
          <a:xfrm>
            <a:off x="3037114" y="3073177"/>
            <a:ext cx="6096000" cy="2585323"/>
          </a:xfrm>
          <a:prstGeom prst="rect">
            <a:avLst/>
          </a:prstGeom>
          <a:noFill/>
        </p:spPr>
        <p:txBody>
          <a:bodyPr wrap="square">
            <a:spAutoFit/>
          </a:bodyPr>
          <a:lstStyle/>
          <a:p>
            <a:r>
              <a:rPr lang="en-IN" dirty="0">
                <a:hlinkClick r:id="rId2"/>
              </a:rPr>
              <a:t>https://www.designgurus.io/course-play/grokking-the-system-design-interview/doc/what-is-a-system-design-interview</a:t>
            </a:r>
          </a:p>
          <a:p>
            <a:endParaRPr lang="en-IN" dirty="0">
              <a:hlinkClick r:id="rId2"/>
            </a:endParaRPr>
          </a:p>
          <a:p>
            <a:r>
              <a:rPr lang="en-IN" dirty="0">
                <a:hlinkClick r:id="rId2"/>
              </a:rPr>
              <a:t>https://www.nexsoftsys.com/articles/CAP-theorem-database-dbms.html</a:t>
            </a:r>
            <a:endParaRPr lang="en-IN" dirty="0"/>
          </a:p>
          <a:p>
            <a:endParaRPr lang="en-IN" dirty="0"/>
          </a:p>
          <a:p>
            <a:r>
              <a:rPr lang="en-IN" dirty="0">
                <a:hlinkClick r:id="rId3"/>
              </a:rPr>
              <a:t>https://stackoverflow.com/questions/12346326/cap-theorem-availability-and-partition-tolerance</a:t>
            </a:r>
            <a:endParaRPr lang="en-IN" dirty="0"/>
          </a:p>
          <a:p>
            <a:endParaRPr lang="en-IN" dirty="0"/>
          </a:p>
        </p:txBody>
      </p:sp>
    </p:spTree>
    <p:extLst>
      <p:ext uri="{BB962C8B-B14F-4D97-AF65-F5344CB8AC3E}">
        <p14:creationId xmlns:p14="http://schemas.microsoft.com/office/powerpoint/2010/main" val="1202350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3184</TotalTime>
  <Words>2712</Words>
  <Application>Microsoft Office PowerPoint</Application>
  <PresentationFormat>Widescreen</PresentationFormat>
  <Paragraphs>275</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__Source_Sans_3_a605e5</vt:lpstr>
      <vt:lpstr>-apple-system</vt:lpstr>
      <vt:lpstr>Arial</vt:lpstr>
      <vt:lpstr>Assistant</vt:lpstr>
      <vt:lpstr>Calibri</vt:lpstr>
      <vt:lpstr>Calibri Light</vt:lpstr>
      <vt:lpstr>source-serif-pro</vt:lpstr>
      <vt:lpstr>Office Theme</vt:lpstr>
      <vt:lpstr>System Design Case Studies</vt:lpstr>
      <vt:lpstr>Functional vs. Non-functional Requirements</vt:lpstr>
      <vt:lpstr>Back-of-the-Envelope Estimations</vt:lpstr>
      <vt:lpstr>Some useful metrics</vt:lpstr>
      <vt:lpstr>Key Characteristics of Distributed Systems  </vt:lpstr>
      <vt:lpstr>Key Characteristics of Distributed Systems  </vt:lpstr>
      <vt:lpstr>Load Balancing</vt:lpstr>
      <vt:lpstr>API Architecture Styles</vt:lpstr>
      <vt:lpstr>Caching</vt:lpstr>
      <vt:lpstr>Data</vt:lpstr>
      <vt:lpstr>Proxy</vt:lpstr>
      <vt:lpstr>CAP Theorem in databases</vt:lpstr>
      <vt:lpstr>Consistent Hashing</vt:lpstr>
      <vt:lpstr>Bloom filter</vt:lpstr>
      <vt:lpstr>Write Ahead Log</vt:lpstr>
      <vt:lpstr>PowerPoint Presentation</vt:lpstr>
      <vt:lpstr>URL shortening - TinyURL</vt:lpstr>
      <vt:lpstr>Image sharing - Instagram</vt:lpstr>
      <vt:lpstr>Dropbox</vt:lpstr>
      <vt:lpstr>Instant Messaging</vt:lpstr>
      <vt:lpstr>Twitter (X)</vt:lpstr>
      <vt:lpstr>YouTube</vt:lpstr>
      <vt:lpstr>Google Type Ahead Suggestion</vt:lpstr>
      <vt:lpstr>Uber/Lyft</vt:lpstr>
      <vt:lpstr>Rate Limiter</vt:lpstr>
      <vt:lpstr>Ticketmaster</vt:lpstr>
      <vt:lpstr>DynamoDB</vt:lpstr>
      <vt:lpstr>Live Streaming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Urmisha Sengupta</dc:creator>
  <cp:lastModifiedBy>Urmisha Sengupta</cp:lastModifiedBy>
  <cp:revision>278</cp:revision>
  <dcterms:created xsi:type="dcterms:W3CDTF">2025-01-22T04:36:50Z</dcterms:created>
  <dcterms:modified xsi:type="dcterms:W3CDTF">2025-04-09T16:28:58Z</dcterms:modified>
</cp:coreProperties>
</file>