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98" r:id="rId3"/>
    <p:sldId id="271" r:id="rId4"/>
    <p:sldId id="297" r:id="rId5"/>
    <p:sldId id="276" r:id="rId6"/>
    <p:sldId id="277" r:id="rId7"/>
    <p:sldId id="278" r:id="rId8"/>
    <p:sldId id="279" r:id="rId9"/>
    <p:sldId id="280" r:id="rId10"/>
    <p:sldId id="281" r:id="rId11"/>
    <p:sldId id="283" r:id="rId12"/>
    <p:sldId id="282" r:id="rId13"/>
    <p:sldId id="284" r:id="rId14"/>
    <p:sldId id="287" r:id="rId15"/>
    <p:sldId id="285" r:id="rId16"/>
    <p:sldId id="288" r:id="rId17"/>
    <p:sldId id="289" r:id="rId18"/>
    <p:sldId id="286" r:id="rId19"/>
    <p:sldId id="290" r:id="rId20"/>
    <p:sldId id="291" r:id="rId21"/>
    <p:sldId id="272" r:id="rId22"/>
    <p:sldId id="292" r:id="rId23"/>
    <p:sldId id="295" r:id="rId24"/>
    <p:sldId id="296" r:id="rId25"/>
    <p:sldId id="309" r:id="rId26"/>
    <p:sldId id="293" r:id="rId27"/>
    <p:sldId id="294" r:id="rId28"/>
    <p:sldId id="300" r:id="rId29"/>
    <p:sldId id="299" r:id="rId30"/>
    <p:sldId id="301" r:id="rId31"/>
    <p:sldId id="302" r:id="rId32"/>
    <p:sldId id="303" r:id="rId33"/>
    <p:sldId id="304" r:id="rId34"/>
    <p:sldId id="305" r:id="rId35"/>
    <p:sldId id="273" r:id="rId36"/>
    <p:sldId id="307" r:id="rId37"/>
    <p:sldId id="306" r:id="rId38"/>
    <p:sldId id="275" r:id="rId39"/>
    <p:sldId id="308" r:id="rId40"/>
    <p:sldId id="27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81ABB6-7E2A-4D7C-B839-68B3775D8503}"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1DB28-8D43-4DC0-8BEA-6B2E3EDCD65B}" type="slidenum">
              <a:rPr lang="en-IN" smtClean="0"/>
              <a:t>‹#›</a:t>
            </a:fld>
            <a:endParaRPr lang="en-IN"/>
          </a:p>
        </p:txBody>
      </p:sp>
    </p:spTree>
    <p:extLst>
      <p:ext uri="{BB962C8B-B14F-4D97-AF65-F5344CB8AC3E}">
        <p14:creationId xmlns:p14="http://schemas.microsoft.com/office/powerpoint/2010/main" val="2364739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4E1DB28-8D43-4DC0-8BEA-6B2E3EDCD65B}" type="slidenum">
              <a:rPr lang="en-IN" smtClean="0"/>
              <a:t>8</a:t>
            </a:fld>
            <a:endParaRPr lang="en-IN"/>
          </a:p>
        </p:txBody>
      </p:sp>
    </p:spTree>
    <p:extLst>
      <p:ext uri="{BB962C8B-B14F-4D97-AF65-F5344CB8AC3E}">
        <p14:creationId xmlns:p14="http://schemas.microsoft.com/office/powerpoint/2010/main" val="1158738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4E1DB28-8D43-4DC0-8BEA-6B2E3EDCD65B}" type="slidenum">
              <a:rPr lang="en-IN" smtClean="0"/>
              <a:t>9</a:t>
            </a:fld>
            <a:endParaRPr lang="en-IN"/>
          </a:p>
        </p:txBody>
      </p:sp>
    </p:spTree>
    <p:extLst>
      <p:ext uri="{BB962C8B-B14F-4D97-AF65-F5344CB8AC3E}">
        <p14:creationId xmlns:p14="http://schemas.microsoft.com/office/powerpoint/2010/main" val="1017096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4E1DB28-8D43-4DC0-8BEA-6B2E3EDCD65B}" type="slidenum">
              <a:rPr lang="en-IN" smtClean="0"/>
              <a:t>10</a:t>
            </a:fld>
            <a:endParaRPr lang="en-IN"/>
          </a:p>
        </p:txBody>
      </p:sp>
    </p:spTree>
    <p:extLst>
      <p:ext uri="{BB962C8B-B14F-4D97-AF65-F5344CB8AC3E}">
        <p14:creationId xmlns:p14="http://schemas.microsoft.com/office/powerpoint/2010/main" val="355132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B847-11F5-2860-7111-10814A6F99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6F6EAC9-72C1-3789-1CF7-E0DFC8698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90E479-F2D2-384C-8603-985D1DF181A1}"/>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5" name="Footer Placeholder 4">
            <a:extLst>
              <a:ext uri="{FF2B5EF4-FFF2-40B4-BE49-F238E27FC236}">
                <a16:creationId xmlns:a16="http://schemas.microsoft.com/office/drawing/2014/main" id="{3112DF08-58E9-1E14-0BAF-4EEA39F837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7DD318-6CBE-476F-9032-66FDE77AA56B}"/>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2539783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02839-572C-520F-342C-2C22E888F2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DE0869-21A9-517C-E0DC-3128F03972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FC940C-4541-F322-FBE1-30846CF625B1}"/>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5" name="Footer Placeholder 4">
            <a:extLst>
              <a:ext uri="{FF2B5EF4-FFF2-40B4-BE49-F238E27FC236}">
                <a16:creationId xmlns:a16="http://schemas.microsoft.com/office/drawing/2014/main" id="{ED2531EC-B101-9C89-70CE-D184F7AFE1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4DBFC8-AA66-21B6-1D60-27ADAF89ACAF}"/>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191399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69D12-F6A2-B36D-4AAF-ABF9A6F03B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66118D-E8D3-03E1-1D23-498A90983E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7EFA1A-48C7-7C25-C761-399FE3BF4A56}"/>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5" name="Footer Placeholder 4">
            <a:extLst>
              <a:ext uri="{FF2B5EF4-FFF2-40B4-BE49-F238E27FC236}">
                <a16:creationId xmlns:a16="http://schemas.microsoft.com/office/drawing/2014/main" id="{D01C5483-7AF5-C370-B66E-24109AEB5F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CB93AD-B088-902A-A8A8-11D9757B8A8A}"/>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1200244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ADFA6-F606-18B1-4889-9D46387BF8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DF1F68-940B-D5EC-FE2F-89BF605B37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E17157-421C-4259-22F1-47CCC04B7D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59A96D-AD0C-D14A-2AFF-FF23405F8C8F}"/>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6" name="Footer Placeholder 5">
            <a:extLst>
              <a:ext uri="{FF2B5EF4-FFF2-40B4-BE49-F238E27FC236}">
                <a16:creationId xmlns:a16="http://schemas.microsoft.com/office/drawing/2014/main" id="{88EB7195-F581-CBCD-0327-962F997B4C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6F2F12-D180-17FE-9593-29EEB68196B7}"/>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1693517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CB64E-7510-0284-32D2-A455F293AA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61EF5C-D3D2-63DA-03AD-3D62C1AF1F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383B46-17F3-5790-7F44-7D016DFDA1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6468CE-9C5E-DF0D-B10D-C0CA987399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8A6662-95A8-C29E-539F-4DD8BB57B2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C6CCB2-257C-E158-34E4-7C318AE11B0A}"/>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8" name="Footer Placeholder 7">
            <a:extLst>
              <a:ext uri="{FF2B5EF4-FFF2-40B4-BE49-F238E27FC236}">
                <a16:creationId xmlns:a16="http://schemas.microsoft.com/office/drawing/2014/main" id="{88BF8413-3C2F-AE28-CE7F-E054D992D2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531DE4-C3C5-F1A3-314F-3CE6F4A6658C}"/>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3791638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4FAC9-A828-B2B5-A3A5-8B80FD1C0E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C1789A-8B58-E85C-1D19-152CF4D57418}"/>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4" name="Footer Placeholder 3">
            <a:extLst>
              <a:ext uri="{FF2B5EF4-FFF2-40B4-BE49-F238E27FC236}">
                <a16:creationId xmlns:a16="http://schemas.microsoft.com/office/drawing/2014/main" id="{FA8E30DE-B83B-AB0C-BAC7-B4A3A5E66E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4DBE0F-4982-0407-304C-971F491D177A}"/>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3382050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9C93E1-B8BF-9B01-69A3-AE816203C316}"/>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3" name="Footer Placeholder 2">
            <a:extLst>
              <a:ext uri="{FF2B5EF4-FFF2-40B4-BE49-F238E27FC236}">
                <a16:creationId xmlns:a16="http://schemas.microsoft.com/office/drawing/2014/main" id="{C9C20417-A6F0-D3EE-360F-C98BFAC2019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D06FC5-E220-1DB4-7B6B-879506E9998B}"/>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2717475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BC85-D116-5D74-2877-3CB8AC87C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45A0E9-07B9-87D5-ACCA-5E16F6B436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0D1018-03ED-870A-8B20-99861F6D66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A6981C-69A2-7E32-A6AA-C4F07DBBA60C}"/>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6" name="Footer Placeholder 5">
            <a:extLst>
              <a:ext uri="{FF2B5EF4-FFF2-40B4-BE49-F238E27FC236}">
                <a16:creationId xmlns:a16="http://schemas.microsoft.com/office/drawing/2014/main" id="{9284FACA-6ED1-FFE7-D533-49EDE5C8C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C2FABC-275B-7089-3E39-5CD0EC599284}"/>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553417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6F36D-BB3A-F1CC-9586-36388D55DC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B7AD02F-0A3C-FB96-2EBF-B73E545BAF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B26C22-55ED-3DC5-1FBF-E18AE9B04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F20888-124D-7499-7C65-05B8D0622C11}"/>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6" name="Footer Placeholder 5">
            <a:extLst>
              <a:ext uri="{FF2B5EF4-FFF2-40B4-BE49-F238E27FC236}">
                <a16:creationId xmlns:a16="http://schemas.microsoft.com/office/drawing/2014/main" id="{90BA1800-0076-D3A4-E1B0-B69FB386CF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4BFDCA-ACE4-AA64-F92F-EDC3D5445ADE}"/>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116025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A766-1CFB-0C77-D98D-79F6A15054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F1B7FD-EAA7-78F3-FD0E-176C26320D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02E730-C9CF-9CD4-C6CA-EDE011BD3237}"/>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5" name="Footer Placeholder 4">
            <a:extLst>
              <a:ext uri="{FF2B5EF4-FFF2-40B4-BE49-F238E27FC236}">
                <a16:creationId xmlns:a16="http://schemas.microsoft.com/office/drawing/2014/main" id="{ACD9B0DE-FC58-2281-D77F-794B6DFFC2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E4AA08-3FBC-4D4D-9882-01BC0D17C833}"/>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107012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6F362D-94B6-0CC7-FA6B-9B0F3ABE43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D82E73-3509-5B7C-D8C2-154F3E5C21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8AD0AB-683D-FB77-F013-A1FDDE50AF2C}"/>
              </a:ext>
            </a:extLst>
          </p:cNvPr>
          <p:cNvSpPr>
            <a:spLocks noGrp="1"/>
          </p:cNvSpPr>
          <p:nvPr>
            <p:ph type="dt" sz="half" idx="10"/>
          </p:nvPr>
        </p:nvSpPr>
        <p:spPr/>
        <p:txBody>
          <a:bodyPr/>
          <a:lstStyle/>
          <a:p>
            <a:fld id="{F5A44470-471B-40AC-97E8-FC3F73992C43}" type="datetimeFigureOut">
              <a:rPr lang="en-IN" smtClean="0"/>
              <a:t>01-05-2025</a:t>
            </a:fld>
            <a:endParaRPr lang="en-IN"/>
          </a:p>
        </p:txBody>
      </p:sp>
      <p:sp>
        <p:nvSpPr>
          <p:cNvPr id="5" name="Footer Placeholder 4">
            <a:extLst>
              <a:ext uri="{FF2B5EF4-FFF2-40B4-BE49-F238E27FC236}">
                <a16:creationId xmlns:a16="http://schemas.microsoft.com/office/drawing/2014/main" id="{80FBD7CB-BC1B-7C75-F2AD-12F9D25668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6A42E7-2FB9-CC5F-9D44-1E11070E0C9B}"/>
              </a:ext>
            </a:extLst>
          </p:cNvPr>
          <p:cNvSpPr>
            <a:spLocks noGrp="1"/>
          </p:cNvSpPr>
          <p:nvPr>
            <p:ph type="sldNum" sz="quarter" idx="12"/>
          </p:nvPr>
        </p:nvSpPr>
        <p:spPr/>
        <p:txBody>
          <a:bodyPr/>
          <a:lstStyle/>
          <a:p>
            <a:fld id="{F8B7B5BC-EA66-48A8-836F-2AF0FCD41B5E}" type="slidenum">
              <a:rPr lang="en-IN" smtClean="0"/>
              <a:t>‹#›</a:t>
            </a:fld>
            <a:endParaRPr lang="en-IN"/>
          </a:p>
        </p:txBody>
      </p:sp>
    </p:spTree>
    <p:extLst>
      <p:ext uri="{BB962C8B-B14F-4D97-AF65-F5344CB8AC3E}">
        <p14:creationId xmlns:p14="http://schemas.microsoft.com/office/powerpoint/2010/main" val="1238206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85BFEB-7D3B-190A-769A-AD8E3DA616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531CED-D60E-E01A-D3A0-FFD9AE46AB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8B5987-AADE-45F0-B8C4-EE20DBDB59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A44470-471B-40AC-97E8-FC3F73992C43}" type="datetimeFigureOut">
              <a:rPr lang="en-IN" smtClean="0"/>
              <a:t>01-05-2025</a:t>
            </a:fld>
            <a:endParaRPr lang="en-IN"/>
          </a:p>
        </p:txBody>
      </p:sp>
      <p:sp>
        <p:nvSpPr>
          <p:cNvPr id="5" name="Footer Placeholder 4">
            <a:extLst>
              <a:ext uri="{FF2B5EF4-FFF2-40B4-BE49-F238E27FC236}">
                <a16:creationId xmlns:a16="http://schemas.microsoft.com/office/drawing/2014/main" id="{E304AA54-C5E7-6EA5-1C30-B3832BC41B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F6925CB-CE9A-864E-738A-E775183D58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B7B5BC-EA66-48A8-836F-2AF0FCD41B5E}" type="slidenum">
              <a:rPr lang="en-IN" smtClean="0"/>
              <a:t>‹#›</a:t>
            </a:fld>
            <a:endParaRPr lang="en-IN"/>
          </a:p>
        </p:txBody>
      </p:sp>
    </p:spTree>
    <p:extLst>
      <p:ext uri="{BB962C8B-B14F-4D97-AF65-F5344CB8AC3E}">
        <p14:creationId xmlns:p14="http://schemas.microsoft.com/office/powerpoint/2010/main" val="1014219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https://docs.aws.amazon.com/whitepapers/latest/aws-overview/introduction.html" TargetMode="External"/><Relationship Id="rId7" Type="http://schemas.openxmlformats.org/officeDocument/2006/relationships/hyperlink" Target="https://tanzu.vmware.com/developer/tv/talk/141/" TargetMode="External"/><Relationship Id="rId2" Type="http://schemas.openxmlformats.org/officeDocument/2006/relationships/hyperlink" Target="https://www.slideshare.net/AmazonWebServices/aws-technical-essentials-day-234995748" TargetMode="External"/><Relationship Id="rId1" Type="http://schemas.openxmlformats.org/officeDocument/2006/relationships/slideLayout" Target="../slideLayouts/slideLayout2.xml"/><Relationship Id="rId6" Type="http://schemas.openxmlformats.org/officeDocument/2006/relationships/hyperlink" Target="https://www.slideshare.net/d501159/microsoft-azure-cloud-services-102313997" TargetMode="External"/><Relationship Id="rId5" Type="http://schemas.openxmlformats.org/officeDocument/2006/relationships/hyperlink" Target="https://learn.microsoft.com/en-us/azure/architecture/aws-professional/services" TargetMode="External"/><Relationship Id="rId4" Type="http://schemas.openxmlformats.org/officeDocument/2006/relationships/hyperlink" Target="https://azure.microsoft.com/en-in/produc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1513632"/>
            <a:ext cx="8120743" cy="1158649"/>
          </a:xfrm>
        </p:spPr>
        <p:txBody>
          <a:bodyPr>
            <a:normAutofit/>
          </a:bodyPr>
          <a:lstStyle/>
          <a:p>
            <a:r>
              <a:rPr lang="en-US" dirty="0"/>
              <a:t>Cloud (AWS, Azure, PCF)</a:t>
            </a:r>
          </a:p>
        </p:txBody>
      </p:sp>
      <p:sp>
        <p:nvSpPr>
          <p:cNvPr id="3" name="Subtitle 2"/>
          <p:cNvSpPr>
            <a:spLocks noGrp="1"/>
          </p:cNvSpPr>
          <p:nvPr>
            <p:ph type="subTitle" idx="1"/>
          </p:nvPr>
        </p:nvSpPr>
        <p:spPr/>
        <p:txBody>
          <a:bodyPr>
            <a:normAutofit/>
          </a:bodyPr>
          <a:lstStyle/>
          <a:p>
            <a:r>
              <a:rPr lang="en-US" dirty="0"/>
              <a:t>Ayan Sengupta</a:t>
            </a:r>
          </a:p>
        </p:txBody>
      </p:sp>
    </p:spTree>
    <p:extLst>
      <p:ext uri="{BB962C8B-B14F-4D97-AF65-F5344CB8AC3E}">
        <p14:creationId xmlns:p14="http://schemas.microsoft.com/office/powerpoint/2010/main" val="3237039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F9F5E3-D9B7-AC88-D1FD-025FEE0FED35}"/>
              </a:ext>
            </a:extLst>
          </p:cNvPr>
          <p:cNvPicPr>
            <a:picLocks noChangeAspect="1"/>
          </p:cNvPicPr>
          <p:nvPr/>
        </p:nvPicPr>
        <p:blipFill>
          <a:blip r:embed="rId2"/>
          <a:stretch>
            <a:fillRect/>
          </a:stretch>
        </p:blipFill>
        <p:spPr>
          <a:xfrm>
            <a:off x="969503" y="474689"/>
            <a:ext cx="10427840" cy="5908622"/>
          </a:xfrm>
          <a:prstGeom prst="rect">
            <a:avLst/>
          </a:prstGeom>
        </p:spPr>
      </p:pic>
    </p:spTree>
    <p:extLst>
      <p:ext uri="{BB962C8B-B14F-4D97-AF65-F5344CB8AC3E}">
        <p14:creationId xmlns:p14="http://schemas.microsoft.com/office/powerpoint/2010/main" val="2896819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270AC-5033-FCC4-4635-4BDF25778F37}"/>
              </a:ext>
            </a:extLst>
          </p:cNvPr>
          <p:cNvSpPr>
            <a:spLocks noGrp="1"/>
          </p:cNvSpPr>
          <p:nvPr>
            <p:ph type="title"/>
          </p:nvPr>
        </p:nvSpPr>
        <p:spPr>
          <a:xfrm>
            <a:off x="3298371" y="2640239"/>
            <a:ext cx="5671458" cy="1325563"/>
          </a:xfrm>
        </p:spPr>
        <p:txBody>
          <a:bodyPr/>
          <a:lstStyle/>
          <a:p>
            <a:pPr algn="ctr"/>
            <a:r>
              <a:rPr lang="en-IN" dirty="0"/>
              <a:t>AWS</a:t>
            </a:r>
          </a:p>
        </p:txBody>
      </p:sp>
    </p:spTree>
    <p:extLst>
      <p:ext uri="{BB962C8B-B14F-4D97-AF65-F5344CB8AC3E}">
        <p14:creationId xmlns:p14="http://schemas.microsoft.com/office/powerpoint/2010/main" val="1489049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A39A-4EFF-4A39-C28F-4EDBB4E44A97}"/>
              </a:ext>
            </a:extLst>
          </p:cNvPr>
          <p:cNvSpPr>
            <a:spLocks noGrp="1"/>
          </p:cNvSpPr>
          <p:nvPr>
            <p:ph type="title"/>
          </p:nvPr>
        </p:nvSpPr>
        <p:spPr>
          <a:xfrm>
            <a:off x="97971" y="169182"/>
            <a:ext cx="10515600" cy="462189"/>
          </a:xfrm>
        </p:spPr>
        <p:txBody>
          <a:bodyPr>
            <a:normAutofit fontScale="90000"/>
          </a:bodyPr>
          <a:lstStyle/>
          <a:p>
            <a:r>
              <a:rPr lang="en-IN" dirty="0"/>
              <a:t>Availability</a:t>
            </a:r>
          </a:p>
        </p:txBody>
      </p:sp>
      <p:sp>
        <p:nvSpPr>
          <p:cNvPr id="4" name="TextBox 3">
            <a:extLst>
              <a:ext uri="{FF2B5EF4-FFF2-40B4-BE49-F238E27FC236}">
                <a16:creationId xmlns:a16="http://schemas.microsoft.com/office/drawing/2014/main" id="{77D42DCF-89C4-8BC2-69C2-BAA701CADE70}"/>
              </a:ext>
            </a:extLst>
          </p:cNvPr>
          <p:cNvSpPr txBox="1"/>
          <p:nvPr/>
        </p:nvSpPr>
        <p:spPr>
          <a:xfrm>
            <a:off x="7805057" y="1180742"/>
            <a:ext cx="3309257" cy="3970318"/>
          </a:xfrm>
          <a:prstGeom prst="rect">
            <a:avLst/>
          </a:prstGeom>
          <a:noFill/>
        </p:spPr>
        <p:txBody>
          <a:bodyPr wrap="square">
            <a:spAutoFit/>
          </a:bodyPr>
          <a:lstStyle/>
          <a:p>
            <a:pPr marL="285750" indent="-285750">
              <a:buFont typeface="Arial" panose="020B0604020202020204" pitchFamily="34" charset="0"/>
              <a:buChar char="•"/>
            </a:pPr>
            <a:r>
              <a:rPr lang="en-US" dirty="0"/>
              <a:t>AWS has the concept of a </a:t>
            </a:r>
            <a:r>
              <a:rPr lang="en-US" b="1" dirty="0"/>
              <a:t>Region</a:t>
            </a:r>
            <a:r>
              <a:rPr lang="en-US" dirty="0"/>
              <a:t>, which is a </a:t>
            </a:r>
            <a:r>
              <a:rPr lang="en-US" b="1" dirty="0"/>
              <a:t>physical location</a:t>
            </a:r>
            <a:r>
              <a:rPr lang="en-US" dirty="0"/>
              <a:t> around the world where we cluster data centers.</a:t>
            </a:r>
          </a:p>
          <a:p>
            <a:pPr marL="285750" indent="-285750">
              <a:buFont typeface="Arial" panose="020B0604020202020204" pitchFamily="34" charset="0"/>
              <a:buChar char="•"/>
            </a:pPr>
            <a:r>
              <a:rPr lang="en-US" b="1" dirty="0"/>
              <a:t>Availability Zone (AZ) is one or more data centers </a:t>
            </a:r>
            <a:r>
              <a:rPr lang="en-US" dirty="0"/>
              <a:t>with redundant power, networking, and connectivity in an AWS Region.</a:t>
            </a:r>
          </a:p>
          <a:p>
            <a:pPr marL="285750" indent="-285750">
              <a:buFont typeface="Arial" panose="020B0604020202020204" pitchFamily="34" charset="0"/>
              <a:buChar char="•"/>
            </a:pPr>
            <a:r>
              <a:rPr lang="en-US" dirty="0"/>
              <a:t>Each AWS Region consists of a </a:t>
            </a:r>
            <a:r>
              <a:rPr lang="en-US" b="1" dirty="0"/>
              <a:t>minimum of three</a:t>
            </a:r>
            <a:r>
              <a:rPr lang="en-US" dirty="0"/>
              <a:t>, isolated, and physically separate AZs within a geographic area</a:t>
            </a:r>
            <a:endParaRPr lang="en-IN" b="1" dirty="0"/>
          </a:p>
        </p:txBody>
      </p:sp>
      <p:pic>
        <p:nvPicPr>
          <p:cNvPr id="3074" name="Picture 2" descr="AWS Availability Zones">
            <a:extLst>
              <a:ext uri="{FF2B5EF4-FFF2-40B4-BE49-F238E27FC236}">
                <a16:creationId xmlns:a16="http://schemas.microsoft.com/office/drawing/2014/main" id="{1FAE1498-B81B-72F6-5405-0375987BA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916" y="622068"/>
            <a:ext cx="6781798" cy="5918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6648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4C816-7E5A-71FC-8E94-FEEDE4332DB9}"/>
              </a:ext>
            </a:extLst>
          </p:cNvPr>
          <p:cNvSpPr>
            <a:spLocks noGrp="1"/>
          </p:cNvSpPr>
          <p:nvPr>
            <p:ph type="title"/>
          </p:nvPr>
        </p:nvSpPr>
        <p:spPr>
          <a:xfrm>
            <a:off x="261257" y="245383"/>
            <a:ext cx="10515600" cy="418646"/>
          </a:xfrm>
        </p:spPr>
        <p:txBody>
          <a:bodyPr>
            <a:normAutofit fontScale="90000"/>
          </a:bodyPr>
          <a:lstStyle/>
          <a:p>
            <a:r>
              <a:rPr lang="en-IN" dirty="0"/>
              <a:t>Compute - VM</a:t>
            </a:r>
          </a:p>
        </p:txBody>
      </p:sp>
      <p:sp>
        <p:nvSpPr>
          <p:cNvPr id="3" name="TextBox 2">
            <a:extLst>
              <a:ext uri="{FF2B5EF4-FFF2-40B4-BE49-F238E27FC236}">
                <a16:creationId xmlns:a16="http://schemas.microsoft.com/office/drawing/2014/main" id="{FC2DCDA3-0925-F940-6E89-9387B7485461}"/>
              </a:ext>
            </a:extLst>
          </p:cNvPr>
          <p:cNvSpPr txBox="1"/>
          <p:nvPr/>
        </p:nvSpPr>
        <p:spPr>
          <a:xfrm>
            <a:off x="576942" y="1034143"/>
            <a:ext cx="11364687" cy="2862322"/>
          </a:xfrm>
          <a:prstGeom prst="rect">
            <a:avLst/>
          </a:prstGeom>
          <a:noFill/>
        </p:spPr>
        <p:txBody>
          <a:bodyPr wrap="square" rtlCol="0">
            <a:spAutoFit/>
          </a:bodyPr>
          <a:lstStyle/>
          <a:p>
            <a:r>
              <a:rPr lang="en-IN" b="1" dirty="0"/>
              <a:t>EC2</a:t>
            </a:r>
            <a:r>
              <a:rPr lang="en-IN" dirty="0"/>
              <a:t> – virtual servers in the cloud</a:t>
            </a:r>
          </a:p>
          <a:p>
            <a:r>
              <a:rPr lang="en-IN" b="1" dirty="0"/>
              <a:t>EC2 Auto Scaling </a:t>
            </a:r>
            <a:r>
              <a:rPr lang="en-IN" dirty="0"/>
              <a:t>– </a:t>
            </a:r>
            <a:r>
              <a:rPr lang="en-US" dirty="0"/>
              <a:t>add or remove EC2 instances according to conditions you define</a:t>
            </a:r>
            <a:endParaRPr lang="en-IN" dirty="0"/>
          </a:p>
          <a:p>
            <a:endParaRPr lang="en-IN" dirty="0"/>
          </a:p>
          <a:p>
            <a:r>
              <a:rPr lang="en-IN" dirty="0"/>
              <a:t>Types :</a:t>
            </a:r>
          </a:p>
          <a:p>
            <a:pPr marL="285750" indent="-285750">
              <a:buFont typeface="Arial" panose="020B0604020202020204" pitchFamily="34" charset="0"/>
              <a:buChar char="•"/>
            </a:pPr>
            <a:r>
              <a:rPr lang="en-IN" b="1" dirty="0"/>
              <a:t>General Purpose </a:t>
            </a:r>
            <a:r>
              <a:rPr lang="en-IN" dirty="0"/>
              <a:t>[</a:t>
            </a:r>
            <a:r>
              <a:rPr lang="en-US" dirty="0"/>
              <a:t>balance of compute, memory and networking resources</a:t>
            </a:r>
            <a:r>
              <a:rPr lang="en-IN" dirty="0"/>
              <a:t>]– M*, T*</a:t>
            </a:r>
          </a:p>
          <a:p>
            <a:pPr marL="285750" indent="-285750">
              <a:buFont typeface="Arial" panose="020B0604020202020204" pitchFamily="34" charset="0"/>
              <a:buChar char="•"/>
            </a:pPr>
            <a:r>
              <a:rPr lang="en-IN" b="1" dirty="0"/>
              <a:t>Compute Optimized </a:t>
            </a:r>
            <a:r>
              <a:rPr lang="en-IN" dirty="0"/>
              <a:t>[high performance processors] – C*</a:t>
            </a:r>
          </a:p>
          <a:p>
            <a:pPr marL="285750" indent="-285750">
              <a:buFont typeface="Arial" panose="020B0604020202020204" pitchFamily="34" charset="0"/>
              <a:buChar char="•"/>
            </a:pPr>
            <a:r>
              <a:rPr lang="en-IN" b="1" dirty="0"/>
              <a:t>Memory Optimized </a:t>
            </a:r>
            <a:r>
              <a:rPr lang="en-IN" dirty="0"/>
              <a:t>[</a:t>
            </a:r>
            <a:r>
              <a:rPr lang="en-US" dirty="0"/>
              <a:t>process large data sets in memory</a:t>
            </a:r>
            <a:r>
              <a:rPr lang="en-IN" dirty="0"/>
              <a:t>]– R*, X*, z*</a:t>
            </a:r>
          </a:p>
          <a:p>
            <a:pPr marL="285750" indent="-285750">
              <a:buFont typeface="Arial" panose="020B0604020202020204" pitchFamily="34" charset="0"/>
              <a:buChar char="•"/>
            </a:pPr>
            <a:r>
              <a:rPr lang="en-IN" b="1" dirty="0"/>
              <a:t>Accelerated Computing </a:t>
            </a:r>
            <a:r>
              <a:rPr lang="en-IN" dirty="0"/>
              <a:t>[</a:t>
            </a:r>
            <a:r>
              <a:rPr lang="en-US" dirty="0"/>
              <a:t>hardware accelerators to perform functions, such as floating point number</a:t>
            </a:r>
            <a:r>
              <a:rPr lang="en-IN" dirty="0"/>
              <a:t>]– P*, G*, T* etc</a:t>
            </a:r>
          </a:p>
          <a:p>
            <a:pPr marL="285750" indent="-285750">
              <a:buFont typeface="Arial" panose="020B0604020202020204" pitchFamily="34" charset="0"/>
              <a:buChar char="•"/>
            </a:pPr>
            <a:r>
              <a:rPr lang="en-IN" b="1" dirty="0"/>
              <a:t>Storage Optimized </a:t>
            </a:r>
            <a:r>
              <a:rPr lang="en-IN" dirty="0"/>
              <a:t>[</a:t>
            </a:r>
            <a:r>
              <a:rPr lang="en-US" dirty="0"/>
              <a:t>high, sequential read and write access to very large data sets on local storage.</a:t>
            </a:r>
            <a:r>
              <a:rPr lang="en-IN" dirty="0"/>
              <a:t>]– I*, D*, H*</a:t>
            </a:r>
          </a:p>
          <a:p>
            <a:pPr marL="285750" indent="-285750">
              <a:buFont typeface="Arial" panose="020B0604020202020204" pitchFamily="34" charset="0"/>
              <a:buChar char="•"/>
            </a:pPr>
            <a:r>
              <a:rPr lang="en-IN" b="1" dirty="0"/>
              <a:t>HPC Optimized </a:t>
            </a:r>
            <a:r>
              <a:rPr lang="en-IN" dirty="0"/>
              <a:t>[</a:t>
            </a:r>
            <a:r>
              <a:rPr lang="en-US" dirty="0"/>
              <a:t>high-performance processors such as large, complex simulations and deep learning workloads</a:t>
            </a:r>
            <a:r>
              <a:rPr lang="en-IN" dirty="0"/>
              <a:t>]– H*</a:t>
            </a:r>
          </a:p>
        </p:txBody>
      </p:sp>
      <p:pic>
        <p:nvPicPr>
          <p:cNvPr id="5" name="Picture 4">
            <a:extLst>
              <a:ext uri="{FF2B5EF4-FFF2-40B4-BE49-F238E27FC236}">
                <a16:creationId xmlns:a16="http://schemas.microsoft.com/office/drawing/2014/main" id="{B757255D-A5D3-9207-6CEE-261373BA5E43}"/>
              </a:ext>
            </a:extLst>
          </p:cNvPr>
          <p:cNvPicPr>
            <a:picLocks noChangeAspect="1"/>
          </p:cNvPicPr>
          <p:nvPr/>
        </p:nvPicPr>
        <p:blipFill>
          <a:blip r:embed="rId2"/>
          <a:stretch>
            <a:fillRect/>
          </a:stretch>
        </p:blipFill>
        <p:spPr>
          <a:xfrm>
            <a:off x="2332569" y="3896465"/>
            <a:ext cx="7526862" cy="2809603"/>
          </a:xfrm>
          <a:prstGeom prst="rect">
            <a:avLst/>
          </a:prstGeom>
        </p:spPr>
      </p:pic>
    </p:spTree>
    <p:extLst>
      <p:ext uri="{BB962C8B-B14F-4D97-AF65-F5344CB8AC3E}">
        <p14:creationId xmlns:p14="http://schemas.microsoft.com/office/powerpoint/2010/main" val="471534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82EA0-4FA7-A568-EE67-F44A57F0E63E}"/>
              </a:ext>
            </a:extLst>
          </p:cNvPr>
          <p:cNvSpPr>
            <a:spLocks noGrp="1"/>
          </p:cNvSpPr>
          <p:nvPr>
            <p:ph type="title"/>
          </p:nvPr>
        </p:nvSpPr>
        <p:spPr>
          <a:xfrm>
            <a:off x="228600" y="310698"/>
            <a:ext cx="10515600" cy="298904"/>
          </a:xfrm>
        </p:spPr>
        <p:txBody>
          <a:bodyPr>
            <a:normAutofit fontScale="90000"/>
          </a:bodyPr>
          <a:lstStyle/>
          <a:p>
            <a:r>
              <a:rPr lang="en-IN" dirty="0"/>
              <a:t>Compute - PaaS</a:t>
            </a:r>
          </a:p>
        </p:txBody>
      </p:sp>
      <p:sp>
        <p:nvSpPr>
          <p:cNvPr id="3" name="TextBox 2">
            <a:extLst>
              <a:ext uri="{FF2B5EF4-FFF2-40B4-BE49-F238E27FC236}">
                <a16:creationId xmlns:a16="http://schemas.microsoft.com/office/drawing/2014/main" id="{8C3C40EB-8734-E4A9-6323-FB35DC9DA226}"/>
              </a:ext>
            </a:extLst>
          </p:cNvPr>
          <p:cNvSpPr txBox="1"/>
          <p:nvPr/>
        </p:nvSpPr>
        <p:spPr>
          <a:xfrm>
            <a:off x="881743" y="1349829"/>
            <a:ext cx="11038114" cy="2585323"/>
          </a:xfrm>
          <a:prstGeom prst="rect">
            <a:avLst/>
          </a:prstGeom>
          <a:noFill/>
        </p:spPr>
        <p:txBody>
          <a:bodyPr wrap="square" rtlCol="0">
            <a:spAutoFit/>
          </a:bodyPr>
          <a:lstStyle/>
          <a:p>
            <a:r>
              <a:rPr lang="en-IN" b="1" dirty="0"/>
              <a:t>Elastic Beanstalk </a:t>
            </a:r>
            <a:r>
              <a:rPr lang="en-IN" dirty="0"/>
              <a:t>– Run and scale web application as PaaS</a:t>
            </a:r>
          </a:p>
          <a:p>
            <a:endParaRPr lang="en-IN" dirty="0"/>
          </a:p>
          <a:p>
            <a:r>
              <a:rPr lang="en-US" dirty="0"/>
              <a:t>AWS Elastic Beanstalk is an easy-to-use service for deploying and scaling web applications and services developed with Java, .NET, PHP, Node.js, Python, Ruby, Go, and Docker on familiar servers such as Apache, Nginx, Passenger, and Internet Information Services (IIS).</a:t>
            </a:r>
          </a:p>
          <a:p>
            <a:endParaRPr lang="en-US" dirty="0"/>
          </a:p>
          <a:p>
            <a:r>
              <a:rPr lang="en-US" dirty="0"/>
              <a:t>You can simply upload your code, and AWS Elastic Beanstalk automatically handles the deployment, from capacity provisioning, load balancing, and auto scaling to application health monitoring. At the same time, you retain full control over the AWS resources powering your application and can access the underlying resources at any time.</a:t>
            </a:r>
            <a:endParaRPr lang="en-IN" dirty="0"/>
          </a:p>
        </p:txBody>
      </p:sp>
    </p:spTree>
    <p:extLst>
      <p:ext uri="{BB962C8B-B14F-4D97-AF65-F5344CB8AC3E}">
        <p14:creationId xmlns:p14="http://schemas.microsoft.com/office/powerpoint/2010/main" val="3868481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EA699-D756-EB67-FBEA-2C90AB2D4997}"/>
              </a:ext>
            </a:extLst>
          </p:cNvPr>
          <p:cNvSpPr>
            <a:spLocks noGrp="1"/>
          </p:cNvSpPr>
          <p:nvPr>
            <p:ph type="title"/>
          </p:nvPr>
        </p:nvSpPr>
        <p:spPr>
          <a:xfrm>
            <a:off x="174172" y="310696"/>
            <a:ext cx="10515600" cy="396875"/>
          </a:xfrm>
        </p:spPr>
        <p:txBody>
          <a:bodyPr>
            <a:normAutofit fontScale="90000"/>
          </a:bodyPr>
          <a:lstStyle/>
          <a:p>
            <a:r>
              <a:rPr lang="en-IN" dirty="0"/>
              <a:t>Networking - VPC</a:t>
            </a:r>
          </a:p>
        </p:txBody>
      </p:sp>
      <p:sp>
        <p:nvSpPr>
          <p:cNvPr id="3" name="TextBox 2">
            <a:extLst>
              <a:ext uri="{FF2B5EF4-FFF2-40B4-BE49-F238E27FC236}">
                <a16:creationId xmlns:a16="http://schemas.microsoft.com/office/drawing/2014/main" id="{033F5CFB-EE25-97B2-0BBA-8B2CBF87A2BE}"/>
              </a:ext>
            </a:extLst>
          </p:cNvPr>
          <p:cNvSpPr txBox="1"/>
          <p:nvPr/>
        </p:nvSpPr>
        <p:spPr>
          <a:xfrm>
            <a:off x="174172" y="1005252"/>
            <a:ext cx="10907486" cy="369332"/>
          </a:xfrm>
          <a:prstGeom prst="rect">
            <a:avLst/>
          </a:prstGeom>
          <a:noFill/>
        </p:spPr>
        <p:txBody>
          <a:bodyPr wrap="square" rtlCol="0">
            <a:spAutoFit/>
          </a:bodyPr>
          <a:lstStyle/>
          <a:p>
            <a:r>
              <a:rPr lang="en-US" b="0" i="0" dirty="0">
                <a:solidFill>
                  <a:srgbClr val="2E3C4E"/>
                </a:solidFill>
                <a:effectLst/>
                <a:latin typeface="Amazon Ember Display"/>
              </a:rPr>
              <a:t>Virtual Private Cloud - Define and launch AWS resources in a logically isolated virtual network</a:t>
            </a:r>
            <a:endParaRPr lang="en-IN" dirty="0"/>
          </a:p>
        </p:txBody>
      </p:sp>
      <p:pic>
        <p:nvPicPr>
          <p:cNvPr id="5" name="Picture 4">
            <a:extLst>
              <a:ext uri="{FF2B5EF4-FFF2-40B4-BE49-F238E27FC236}">
                <a16:creationId xmlns:a16="http://schemas.microsoft.com/office/drawing/2014/main" id="{4B333E00-39C5-7A37-9529-9BFD0340DCEA}"/>
              </a:ext>
            </a:extLst>
          </p:cNvPr>
          <p:cNvPicPr>
            <a:picLocks noChangeAspect="1"/>
          </p:cNvPicPr>
          <p:nvPr/>
        </p:nvPicPr>
        <p:blipFill>
          <a:blip r:embed="rId2"/>
          <a:stretch>
            <a:fillRect/>
          </a:stretch>
        </p:blipFill>
        <p:spPr>
          <a:xfrm>
            <a:off x="250106" y="1601252"/>
            <a:ext cx="5181866" cy="2597283"/>
          </a:xfrm>
          <a:prstGeom prst="rect">
            <a:avLst/>
          </a:prstGeom>
        </p:spPr>
      </p:pic>
      <p:pic>
        <p:nvPicPr>
          <p:cNvPr id="7" name="Picture 6">
            <a:extLst>
              <a:ext uri="{FF2B5EF4-FFF2-40B4-BE49-F238E27FC236}">
                <a16:creationId xmlns:a16="http://schemas.microsoft.com/office/drawing/2014/main" id="{FFA83A43-ED0C-7A5C-888F-0F975AA9510F}"/>
              </a:ext>
            </a:extLst>
          </p:cNvPr>
          <p:cNvPicPr>
            <a:picLocks noChangeAspect="1"/>
          </p:cNvPicPr>
          <p:nvPr/>
        </p:nvPicPr>
        <p:blipFill>
          <a:blip r:embed="rId3"/>
          <a:stretch>
            <a:fillRect/>
          </a:stretch>
        </p:blipFill>
        <p:spPr>
          <a:xfrm>
            <a:off x="5627915" y="1601252"/>
            <a:ext cx="6216970" cy="3416476"/>
          </a:xfrm>
          <a:prstGeom prst="rect">
            <a:avLst/>
          </a:prstGeom>
        </p:spPr>
      </p:pic>
      <p:sp>
        <p:nvSpPr>
          <p:cNvPr id="8" name="TextBox 7">
            <a:extLst>
              <a:ext uri="{FF2B5EF4-FFF2-40B4-BE49-F238E27FC236}">
                <a16:creationId xmlns:a16="http://schemas.microsoft.com/office/drawing/2014/main" id="{9E70FEB1-4CBB-28DA-C190-AADC28D95290}"/>
              </a:ext>
            </a:extLst>
          </p:cNvPr>
          <p:cNvSpPr txBox="1"/>
          <p:nvPr/>
        </p:nvSpPr>
        <p:spPr>
          <a:xfrm>
            <a:off x="6476999" y="5267972"/>
            <a:ext cx="4321629" cy="1169551"/>
          </a:xfrm>
          <a:prstGeom prst="rect">
            <a:avLst/>
          </a:prstGeom>
          <a:noFill/>
        </p:spPr>
        <p:txBody>
          <a:bodyPr wrap="square" rtlCol="0">
            <a:spAutoFit/>
          </a:bodyPr>
          <a:lstStyle/>
          <a:p>
            <a:pPr marL="285750" indent="-285750">
              <a:buFont typeface="Arial" panose="020B0604020202020204" pitchFamily="34" charset="0"/>
              <a:buChar char="•"/>
            </a:pPr>
            <a:r>
              <a:rPr lang="en-IN" sz="1400" dirty="0"/>
              <a:t>Internet Gateway – request/response from/to internet</a:t>
            </a:r>
          </a:p>
          <a:p>
            <a:pPr marL="285750" indent="-285750">
              <a:buFont typeface="Arial" panose="020B0604020202020204" pitchFamily="34" charset="0"/>
              <a:buChar char="•"/>
            </a:pPr>
            <a:r>
              <a:rPr lang="en-IN" sz="1400" dirty="0"/>
              <a:t>Virtual Private Gateway – VPN connection between AWS VPC and Corporate network</a:t>
            </a:r>
          </a:p>
          <a:p>
            <a:endParaRPr lang="en-IN" sz="1400" dirty="0"/>
          </a:p>
        </p:txBody>
      </p:sp>
    </p:spTree>
    <p:extLst>
      <p:ext uri="{BB962C8B-B14F-4D97-AF65-F5344CB8AC3E}">
        <p14:creationId xmlns:p14="http://schemas.microsoft.com/office/powerpoint/2010/main" val="179140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711C-0CC3-2FCA-51CF-1454BCC4B3CB}"/>
              </a:ext>
            </a:extLst>
          </p:cNvPr>
          <p:cNvSpPr>
            <a:spLocks noGrp="1"/>
          </p:cNvSpPr>
          <p:nvPr>
            <p:ph type="title"/>
          </p:nvPr>
        </p:nvSpPr>
        <p:spPr>
          <a:xfrm>
            <a:off x="108857" y="0"/>
            <a:ext cx="10515600" cy="740229"/>
          </a:xfrm>
        </p:spPr>
        <p:txBody>
          <a:bodyPr/>
          <a:lstStyle/>
          <a:p>
            <a:r>
              <a:rPr lang="en-IN" dirty="0"/>
              <a:t>Networking – ACL &amp; Security Group</a:t>
            </a:r>
          </a:p>
        </p:txBody>
      </p:sp>
      <p:pic>
        <p:nvPicPr>
          <p:cNvPr id="4" name="Picture 3">
            <a:extLst>
              <a:ext uri="{FF2B5EF4-FFF2-40B4-BE49-F238E27FC236}">
                <a16:creationId xmlns:a16="http://schemas.microsoft.com/office/drawing/2014/main" id="{E2371C1C-FDF3-B743-9C39-43943EA7FA0B}"/>
              </a:ext>
            </a:extLst>
          </p:cNvPr>
          <p:cNvPicPr>
            <a:picLocks noChangeAspect="1"/>
          </p:cNvPicPr>
          <p:nvPr/>
        </p:nvPicPr>
        <p:blipFill>
          <a:blip r:embed="rId3"/>
          <a:stretch>
            <a:fillRect/>
          </a:stretch>
        </p:blipFill>
        <p:spPr>
          <a:xfrm>
            <a:off x="486980" y="1352462"/>
            <a:ext cx="7093635" cy="3970651"/>
          </a:xfrm>
          <a:prstGeom prst="rect">
            <a:avLst/>
          </a:prstGeom>
        </p:spPr>
      </p:pic>
      <p:sp>
        <p:nvSpPr>
          <p:cNvPr id="5" name="TextBox 4">
            <a:extLst>
              <a:ext uri="{FF2B5EF4-FFF2-40B4-BE49-F238E27FC236}">
                <a16:creationId xmlns:a16="http://schemas.microsoft.com/office/drawing/2014/main" id="{F8B8DE32-2605-065F-EEBB-3391D604E239}"/>
              </a:ext>
            </a:extLst>
          </p:cNvPr>
          <p:cNvSpPr txBox="1"/>
          <p:nvPr/>
        </p:nvSpPr>
        <p:spPr>
          <a:xfrm>
            <a:off x="7979228" y="1352462"/>
            <a:ext cx="4016829" cy="3416320"/>
          </a:xfrm>
          <a:prstGeom prst="rect">
            <a:avLst/>
          </a:prstGeom>
          <a:noFill/>
        </p:spPr>
        <p:txBody>
          <a:bodyPr wrap="square" rtlCol="0">
            <a:spAutoFit/>
          </a:bodyPr>
          <a:lstStyle/>
          <a:p>
            <a:pPr marL="285750" indent="-285750">
              <a:buFont typeface="Arial" panose="020B0604020202020204" pitchFamily="34" charset="0"/>
              <a:buChar char="•"/>
            </a:pPr>
            <a:r>
              <a:rPr lang="en-IN" sz="2400" b="1" dirty="0"/>
              <a:t>Access Control List </a:t>
            </a:r>
            <a:r>
              <a:rPr lang="en-IN" sz="2400" dirty="0"/>
              <a:t>(ACL)</a:t>
            </a:r>
          </a:p>
          <a:p>
            <a:pPr marL="742950" lvl="1" indent="-285750">
              <a:buFont typeface="Arial" panose="020B0604020202020204" pitchFamily="34" charset="0"/>
              <a:buChar char="•"/>
            </a:pPr>
            <a:r>
              <a:rPr lang="en-IN" sz="2400" dirty="0"/>
              <a:t>is a </a:t>
            </a:r>
            <a:r>
              <a:rPr lang="en-IN" sz="2400" b="1" dirty="0">
                <a:solidFill>
                  <a:srgbClr val="FF0000"/>
                </a:solidFill>
              </a:rPr>
              <a:t>virtual firewall for a subnet</a:t>
            </a:r>
          </a:p>
          <a:p>
            <a:pPr marL="742950" lvl="1" indent="-285750">
              <a:buFont typeface="Arial" panose="020B0604020202020204" pitchFamily="34" charset="0"/>
              <a:buChar char="•"/>
            </a:pPr>
            <a:r>
              <a:rPr lang="en-IN" sz="2400" dirty="0"/>
              <a:t>Stateless packet filtering</a:t>
            </a:r>
          </a:p>
          <a:p>
            <a:pPr marL="742950" lvl="1"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Security Group</a:t>
            </a:r>
          </a:p>
          <a:p>
            <a:pPr marL="742950" lvl="1" indent="-285750">
              <a:buFont typeface="Arial" panose="020B0604020202020204" pitchFamily="34" charset="0"/>
              <a:buChar char="•"/>
            </a:pPr>
            <a:r>
              <a:rPr lang="en-IN" sz="2400" dirty="0"/>
              <a:t>Is </a:t>
            </a:r>
            <a:r>
              <a:rPr lang="en-IN" sz="2400" b="1" dirty="0">
                <a:solidFill>
                  <a:srgbClr val="00B0F0"/>
                </a:solidFill>
              </a:rPr>
              <a:t>a virtual firewall for an EC2 instance</a:t>
            </a:r>
          </a:p>
          <a:p>
            <a:pPr marL="742950" lvl="1" indent="-285750">
              <a:buFont typeface="Arial" panose="020B0604020202020204" pitchFamily="34" charset="0"/>
              <a:buChar char="•"/>
            </a:pPr>
            <a:r>
              <a:rPr lang="en-IN" sz="2400" dirty="0"/>
              <a:t>Stateful packet filtering</a:t>
            </a:r>
          </a:p>
        </p:txBody>
      </p:sp>
    </p:spTree>
    <p:extLst>
      <p:ext uri="{BB962C8B-B14F-4D97-AF65-F5344CB8AC3E}">
        <p14:creationId xmlns:p14="http://schemas.microsoft.com/office/powerpoint/2010/main" val="17432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711C-0CC3-2FCA-51CF-1454BCC4B3CB}"/>
              </a:ext>
            </a:extLst>
          </p:cNvPr>
          <p:cNvSpPr>
            <a:spLocks noGrp="1"/>
          </p:cNvSpPr>
          <p:nvPr>
            <p:ph type="title"/>
          </p:nvPr>
        </p:nvSpPr>
        <p:spPr>
          <a:xfrm>
            <a:off x="108857" y="0"/>
            <a:ext cx="10515600" cy="740229"/>
          </a:xfrm>
        </p:spPr>
        <p:txBody>
          <a:bodyPr/>
          <a:lstStyle/>
          <a:p>
            <a:r>
              <a:rPr lang="en-IN" dirty="0"/>
              <a:t>Networking – Route 53</a:t>
            </a:r>
          </a:p>
        </p:txBody>
      </p:sp>
      <p:sp>
        <p:nvSpPr>
          <p:cNvPr id="6" name="TextBox 5">
            <a:extLst>
              <a:ext uri="{FF2B5EF4-FFF2-40B4-BE49-F238E27FC236}">
                <a16:creationId xmlns:a16="http://schemas.microsoft.com/office/drawing/2014/main" id="{239219D6-FEDD-F187-B167-8A75F0E91E31}"/>
              </a:ext>
            </a:extLst>
          </p:cNvPr>
          <p:cNvSpPr txBox="1"/>
          <p:nvPr/>
        </p:nvSpPr>
        <p:spPr>
          <a:xfrm>
            <a:off x="2941865" y="2187752"/>
            <a:ext cx="6166756" cy="2308324"/>
          </a:xfrm>
          <a:prstGeom prst="rect">
            <a:avLst/>
          </a:prstGeom>
          <a:noFill/>
        </p:spPr>
        <p:txBody>
          <a:bodyPr wrap="square">
            <a:spAutoFit/>
          </a:bodyPr>
          <a:lstStyle/>
          <a:p>
            <a:r>
              <a:rPr lang="en-US" dirty="0"/>
              <a:t>Amazon Route 53 is a highly available and scalable cloud Domain Name System (DNS) web service. It is designed to give developers and businesses an extremely reliable and cost-effective way to route users to internet applications by translating human-readable names, such as www.example.com, into the numeric IP addresses, such as 192.0.2.1, that computers use to connect to each other. Amazon Route 53 is fully compliant with IPv6 as well.</a:t>
            </a:r>
            <a:endParaRPr lang="en-IN" dirty="0"/>
          </a:p>
        </p:txBody>
      </p:sp>
    </p:spTree>
    <p:extLst>
      <p:ext uri="{BB962C8B-B14F-4D97-AF65-F5344CB8AC3E}">
        <p14:creationId xmlns:p14="http://schemas.microsoft.com/office/powerpoint/2010/main" val="2310653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711C-0CC3-2FCA-51CF-1454BCC4B3CB}"/>
              </a:ext>
            </a:extLst>
          </p:cNvPr>
          <p:cNvSpPr>
            <a:spLocks noGrp="1"/>
          </p:cNvSpPr>
          <p:nvPr>
            <p:ph type="title"/>
          </p:nvPr>
        </p:nvSpPr>
        <p:spPr>
          <a:xfrm>
            <a:off x="108857" y="0"/>
            <a:ext cx="10515600" cy="740229"/>
          </a:xfrm>
        </p:spPr>
        <p:txBody>
          <a:bodyPr/>
          <a:lstStyle/>
          <a:p>
            <a:r>
              <a:rPr lang="en-IN" dirty="0"/>
              <a:t>Networking – Elastic Load Balancing</a:t>
            </a:r>
          </a:p>
        </p:txBody>
      </p:sp>
      <p:pic>
        <p:nvPicPr>
          <p:cNvPr id="1026" name="Picture 2">
            <a:extLst>
              <a:ext uri="{FF2B5EF4-FFF2-40B4-BE49-F238E27FC236}">
                <a16:creationId xmlns:a16="http://schemas.microsoft.com/office/drawing/2014/main" id="{D062B8C9-4C4A-B259-AB51-0147B450A6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286" y="1604483"/>
            <a:ext cx="9383485" cy="47393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B47C00D-CCDA-23A6-6111-DDDABAEA5831}"/>
              </a:ext>
            </a:extLst>
          </p:cNvPr>
          <p:cNvSpPr txBox="1"/>
          <p:nvPr/>
        </p:nvSpPr>
        <p:spPr>
          <a:xfrm>
            <a:off x="1323974" y="849190"/>
            <a:ext cx="8586107" cy="646331"/>
          </a:xfrm>
          <a:prstGeom prst="rect">
            <a:avLst/>
          </a:prstGeom>
          <a:noFill/>
        </p:spPr>
        <p:txBody>
          <a:bodyPr wrap="square">
            <a:spAutoFit/>
          </a:bodyPr>
          <a:lstStyle/>
          <a:p>
            <a:r>
              <a:rPr lang="en-US" b="0" i="0" dirty="0">
                <a:solidFill>
                  <a:srgbClr val="333333"/>
                </a:solidFill>
                <a:effectLst/>
                <a:latin typeface="AmazonEmber"/>
              </a:rPr>
              <a:t>Elastic Load Balancing (ELB) automatically distributes incoming application traffic across multiple targets and virtual appliances in one or more Availability Zones (AZs).</a:t>
            </a:r>
            <a:endParaRPr lang="en-IN" dirty="0"/>
          </a:p>
        </p:txBody>
      </p:sp>
    </p:spTree>
    <p:extLst>
      <p:ext uri="{BB962C8B-B14F-4D97-AF65-F5344CB8AC3E}">
        <p14:creationId xmlns:p14="http://schemas.microsoft.com/office/powerpoint/2010/main" val="864768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97673-E968-180F-3705-6A929AFC5A15}"/>
              </a:ext>
            </a:extLst>
          </p:cNvPr>
          <p:cNvSpPr>
            <a:spLocks noGrp="1"/>
          </p:cNvSpPr>
          <p:nvPr>
            <p:ph type="title"/>
          </p:nvPr>
        </p:nvSpPr>
        <p:spPr>
          <a:xfrm>
            <a:off x="206828" y="103868"/>
            <a:ext cx="10515600" cy="483961"/>
          </a:xfrm>
        </p:spPr>
        <p:txBody>
          <a:bodyPr>
            <a:normAutofit fontScale="90000"/>
          </a:bodyPr>
          <a:lstStyle/>
          <a:p>
            <a:r>
              <a:rPr lang="en-IN" dirty="0"/>
              <a:t>Storage –S3, S3 Glacier</a:t>
            </a:r>
          </a:p>
        </p:txBody>
      </p:sp>
      <p:pic>
        <p:nvPicPr>
          <p:cNvPr id="4" name="Picture 3">
            <a:extLst>
              <a:ext uri="{FF2B5EF4-FFF2-40B4-BE49-F238E27FC236}">
                <a16:creationId xmlns:a16="http://schemas.microsoft.com/office/drawing/2014/main" id="{515AE589-C3FA-82C7-4466-99278E1491C1}"/>
              </a:ext>
            </a:extLst>
          </p:cNvPr>
          <p:cNvPicPr>
            <a:picLocks noChangeAspect="1"/>
          </p:cNvPicPr>
          <p:nvPr/>
        </p:nvPicPr>
        <p:blipFill>
          <a:blip r:embed="rId2"/>
          <a:stretch>
            <a:fillRect/>
          </a:stretch>
        </p:blipFill>
        <p:spPr>
          <a:xfrm>
            <a:off x="397174" y="844468"/>
            <a:ext cx="5143655" cy="2723750"/>
          </a:xfrm>
          <a:prstGeom prst="rect">
            <a:avLst/>
          </a:prstGeom>
        </p:spPr>
      </p:pic>
      <p:sp>
        <p:nvSpPr>
          <p:cNvPr id="5" name="TextBox 4">
            <a:extLst>
              <a:ext uri="{FF2B5EF4-FFF2-40B4-BE49-F238E27FC236}">
                <a16:creationId xmlns:a16="http://schemas.microsoft.com/office/drawing/2014/main" id="{23F68EC2-DC76-0438-3731-332AB9454568}"/>
              </a:ext>
            </a:extLst>
          </p:cNvPr>
          <p:cNvSpPr txBox="1"/>
          <p:nvPr/>
        </p:nvSpPr>
        <p:spPr>
          <a:xfrm>
            <a:off x="6185808" y="844468"/>
            <a:ext cx="5222421" cy="923330"/>
          </a:xfrm>
          <a:prstGeom prst="rect">
            <a:avLst/>
          </a:prstGeom>
          <a:noFill/>
        </p:spPr>
        <p:txBody>
          <a:bodyPr wrap="square">
            <a:spAutoFit/>
          </a:bodyPr>
          <a:lstStyle/>
          <a:p>
            <a:r>
              <a:rPr lang="en-US" dirty="0"/>
              <a:t>S3 Glacier storage classes</a:t>
            </a:r>
          </a:p>
          <a:p>
            <a:r>
              <a:rPr lang="en-US" dirty="0"/>
              <a:t>Long-term, secure, durable storage classes for data archiving at the lowest cost and milliseconds access</a:t>
            </a:r>
            <a:endParaRPr lang="en-IN" dirty="0"/>
          </a:p>
        </p:txBody>
      </p:sp>
      <p:cxnSp>
        <p:nvCxnSpPr>
          <p:cNvPr id="7" name="Straight Connector 6">
            <a:extLst>
              <a:ext uri="{FF2B5EF4-FFF2-40B4-BE49-F238E27FC236}">
                <a16:creationId xmlns:a16="http://schemas.microsoft.com/office/drawing/2014/main" id="{F9281D96-00A3-BBF0-3C9E-C5BB7D290109}"/>
              </a:ext>
            </a:extLst>
          </p:cNvPr>
          <p:cNvCxnSpPr/>
          <p:nvPr/>
        </p:nvCxnSpPr>
        <p:spPr>
          <a:xfrm>
            <a:off x="6019799" y="103868"/>
            <a:ext cx="0" cy="63463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082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97673-E968-180F-3705-6A929AFC5A15}"/>
              </a:ext>
            </a:extLst>
          </p:cNvPr>
          <p:cNvSpPr>
            <a:spLocks noGrp="1"/>
          </p:cNvSpPr>
          <p:nvPr>
            <p:ph type="title"/>
          </p:nvPr>
        </p:nvSpPr>
        <p:spPr>
          <a:xfrm>
            <a:off x="206828" y="103868"/>
            <a:ext cx="10515600" cy="483961"/>
          </a:xfrm>
        </p:spPr>
        <p:txBody>
          <a:bodyPr>
            <a:normAutofit fontScale="90000"/>
          </a:bodyPr>
          <a:lstStyle/>
          <a:p>
            <a:r>
              <a:rPr lang="en-IN" dirty="0"/>
              <a:t>Storage – EBS, EFS</a:t>
            </a:r>
          </a:p>
        </p:txBody>
      </p:sp>
      <p:pic>
        <p:nvPicPr>
          <p:cNvPr id="6" name="Picture 5">
            <a:extLst>
              <a:ext uri="{FF2B5EF4-FFF2-40B4-BE49-F238E27FC236}">
                <a16:creationId xmlns:a16="http://schemas.microsoft.com/office/drawing/2014/main" id="{9BFCB4A4-CCC0-3DB0-A2DD-1C8058CAE8CC}"/>
              </a:ext>
            </a:extLst>
          </p:cNvPr>
          <p:cNvPicPr>
            <a:picLocks noChangeAspect="1"/>
          </p:cNvPicPr>
          <p:nvPr/>
        </p:nvPicPr>
        <p:blipFill>
          <a:blip r:embed="rId2"/>
          <a:stretch>
            <a:fillRect/>
          </a:stretch>
        </p:blipFill>
        <p:spPr>
          <a:xfrm>
            <a:off x="398079" y="790039"/>
            <a:ext cx="6083613" cy="2921150"/>
          </a:xfrm>
          <a:prstGeom prst="rect">
            <a:avLst/>
          </a:prstGeom>
        </p:spPr>
      </p:pic>
      <p:pic>
        <p:nvPicPr>
          <p:cNvPr id="8" name="Picture 7">
            <a:extLst>
              <a:ext uri="{FF2B5EF4-FFF2-40B4-BE49-F238E27FC236}">
                <a16:creationId xmlns:a16="http://schemas.microsoft.com/office/drawing/2014/main" id="{AAE40BF7-603B-DC15-AB33-55AD9EBF2C76}"/>
              </a:ext>
            </a:extLst>
          </p:cNvPr>
          <p:cNvPicPr>
            <a:picLocks noChangeAspect="1"/>
          </p:cNvPicPr>
          <p:nvPr/>
        </p:nvPicPr>
        <p:blipFill>
          <a:blip r:embed="rId3"/>
          <a:stretch>
            <a:fillRect/>
          </a:stretch>
        </p:blipFill>
        <p:spPr>
          <a:xfrm>
            <a:off x="474282" y="3879336"/>
            <a:ext cx="5931205" cy="2343270"/>
          </a:xfrm>
          <a:prstGeom prst="rect">
            <a:avLst/>
          </a:prstGeom>
        </p:spPr>
      </p:pic>
      <p:sp>
        <p:nvSpPr>
          <p:cNvPr id="12" name="TextBox 11">
            <a:extLst>
              <a:ext uri="{FF2B5EF4-FFF2-40B4-BE49-F238E27FC236}">
                <a16:creationId xmlns:a16="http://schemas.microsoft.com/office/drawing/2014/main" id="{7A785D85-5843-F5D2-10FD-01D7A27DBD64}"/>
              </a:ext>
            </a:extLst>
          </p:cNvPr>
          <p:cNvSpPr txBox="1"/>
          <p:nvPr/>
        </p:nvSpPr>
        <p:spPr>
          <a:xfrm>
            <a:off x="7626295" y="790039"/>
            <a:ext cx="3622221" cy="646331"/>
          </a:xfrm>
          <a:prstGeom prst="rect">
            <a:avLst/>
          </a:prstGeom>
          <a:noFill/>
        </p:spPr>
        <p:txBody>
          <a:bodyPr wrap="square">
            <a:spAutoFit/>
          </a:bodyPr>
          <a:lstStyle/>
          <a:p>
            <a:r>
              <a:rPr lang="en-US" b="1" dirty="0"/>
              <a:t>Elastic File System</a:t>
            </a:r>
          </a:p>
          <a:p>
            <a:r>
              <a:rPr lang="en-US" dirty="0"/>
              <a:t>Serverless, fully elastic file storage</a:t>
            </a:r>
            <a:endParaRPr lang="en-IN" dirty="0"/>
          </a:p>
        </p:txBody>
      </p:sp>
      <p:pic>
        <p:nvPicPr>
          <p:cNvPr id="14" name="Picture 13">
            <a:extLst>
              <a:ext uri="{FF2B5EF4-FFF2-40B4-BE49-F238E27FC236}">
                <a16:creationId xmlns:a16="http://schemas.microsoft.com/office/drawing/2014/main" id="{E17D2AE2-0A2A-E76C-AAF3-B5125FD618BD}"/>
              </a:ext>
            </a:extLst>
          </p:cNvPr>
          <p:cNvPicPr>
            <a:picLocks noChangeAspect="1"/>
          </p:cNvPicPr>
          <p:nvPr/>
        </p:nvPicPr>
        <p:blipFill>
          <a:blip r:embed="rId4"/>
          <a:stretch>
            <a:fillRect/>
          </a:stretch>
        </p:blipFill>
        <p:spPr>
          <a:xfrm>
            <a:off x="7626295" y="2042830"/>
            <a:ext cx="2121009" cy="2343270"/>
          </a:xfrm>
          <a:prstGeom prst="rect">
            <a:avLst/>
          </a:prstGeom>
        </p:spPr>
      </p:pic>
      <p:cxnSp>
        <p:nvCxnSpPr>
          <p:cNvPr id="16" name="Straight Connector 15">
            <a:extLst>
              <a:ext uri="{FF2B5EF4-FFF2-40B4-BE49-F238E27FC236}">
                <a16:creationId xmlns:a16="http://schemas.microsoft.com/office/drawing/2014/main" id="{8E52505C-58BF-FAC7-8BF3-91F40E646072}"/>
              </a:ext>
            </a:extLst>
          </p:cNvPr>
          <p:cNvCxnSpPr/>
          <p:nvPr/>
        </p:nvCxnSpPr>
        <p:spPr>
          <a:xfrm>
            <a:off x="7010399" y="185058"/>
            <a:ext cx="0" cy="63463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289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46D12-A254-1CDB-C7AF-2AE03FAF160F}"/>
              </a:ext>
            </a:extLst>
          </p:cNvPr>
          <p:cNvSpPr>
            <a:spLocks noGrp="1"/>
          </p:cNvSpPr>
          <p:nvPr>
            <p:ph type="title"/>
          </p:nvPr>
        </p:nvSpPr>
        <p:spPr>
          <a:xfrm>
            <a:off x="119742" y="180069"/>
            <a:ext cx="10515600" cy="353332"/>
          </a:xfrm>
        </p:spPr>
        <p:txBody>
          <a:bodyPr>
            <a:normAutofit fontScale="90000"/>
          </a:bodyPr>
          <a:lstStyle/>
          <a:p>
            <a:r>
              <a:rPr lang="en-IN" dirty="0"/>
              <a:t>Security</a:t>
            </a:r>
          </a:p>
        </p:txBody>
      </p:sp>
      <p:pic>
        <p:nvPicPr>
          <p:cNvPr id="4" name="Picture 3">
            <a:extLst>
              <a:ext uri="{FF2B5EF4-FFF2-40B4-BE49-F238E27FC236}">
                <a16:creationId xmlns:a16="http://schemas.microsoft.com/office/drawing/2014/main" id="{E69D3FC0-1C1C-A461-0424-40F57CD16A59}"/>
              </a:ext>
            </a:extLst>
          </p:cNvPr>
          <p:cNvPicPr>
            <a:picLocks noChangeAspect="1"/>
          </p:cNvPicPr>
          <p:nvPr/>
        </p:nvPicPr>
        <p:blipFill>
          <a:blip r:embed="rId2"/>
          <a:stretch>
            <a:fillRect/>
          </a:stretch>
        </p:blipFill>
        <p:spPr>
          <a:xfrm>
            <a:off x="466569" y="984618"/>
            <a:ext cx="6077262" cy="3321221"/>
          </a:xfrm>
          <a:prstGeom prst="rect">
            <a:avLst/>
          </a:prstGeom>
        </p:spPr>
      </p:pic>
      <p:sp>
        <p:nvSpPr>
          <p:cNvPr id="8" name="TextBox 7">
            <a:extLst>
              <a:ext uri="{FF2B5EF4-FFF2-40B4-BE49-F238E27FC236}">
                <a16:creationId xmlns:a16="http://schemas.microsoft.com/office/drawing/2014/main" id="{2817CF51-4910-4F19-4C87-8EB796F0FC0F}"/>
              </a:ext>
            </a:extLst>
          </p:cNvPr>
          <p:cNvSpPr txBox="1"/>
          <p:nvPr/>
        </p:nvSpPr>
        <p:spPr>
          <a:xfrm>
            <a:off x="6708322" y="217630"/>
            <a:ext cx="5017109" cy="2585323"/>
          </a:xfrm>
          <a:prstGeom prst="rect">
            <a:avLst/>
          </a:prstGeom>
          <a:noFill/>
        </p:spPr>
        <p:txBody>
          <a:bodyPr wrap="square">
            <a:spAutoFit/>
          </a:bodyPr>
          <a:lstStyle/>
          <a:p>
            <a:r>
              <a:rPr lang="en-US" b="1" dirty="0"/>
              <a:t>Identity and Access Management</a:t>
            </a:r>
          </a:p>
          <a:p>
            <a:r>
              <a:rPr lang="en-US" dirty="0"/>
              <a:t>AWS Identity and Access Management (IAM) enables you to securely control access to AWS services and resources for your AWS users, groups, and roles. Using IAM, you can create and manage fine-grained access controls with permissions, specify who can access which services and resources, and under which conditions. IAM allows you to do the following:</a:t>
            </a:r>
            <a:endParaRPr lang="en-IN" dirty="0"/>
          </a:p>
        </p:txBody>
      </p:sp>
      <p:sp>
        <p:nvSpPr>
          <p:cNvPr id="10" name="TextBox 9">
            <a:extLst>
              <a:ext uri="{FF2B5EF4-FFF2-40B4-BE49-F238E27FC236}">
                <a16:creationId xmlns:a16="http://schemas.microsoft.com/office/drawing/2014/main" id="{750E3174-F8D6-E971-3F52-8CCE06566435}"/>
              </a:ext>
            </a:extLst>
          </p:cNvPr>
          <p:cNvSpPr txBox="1"/>
          <p:nvPr/>
        </p:nvSpPr>
        <p:spPr>
          <a:xfrm>
            <a:off x="6708322" y="2962409"/>
            <a:ext cx="5222421" cy="2308324"/>
          </a:xfrm>
          <a:prstGeom prst="rect">
            <a:avLst/>
          </a:prstGeom>
          <a:noFill/>
        </p:spPr>
        <p:txBody>
          <a:bodyPr wrap="square">
            <a:spAutoFit/>
          </a:bodyPr>
          <a:lstStyle/>
          <a:p>
            <a:r>
              <a:rPr lang="en-US" b="1" dirty="0"/>
              <a:t>Cognito</a:t>
            </a:r>
          </a:p>
          <a:p>
            <a:r>
              <a:rPr lang="en-US" dirty="0"/>
              <a:t>Amazon Cognito lets you add user sign-up, sign-in, and access control to your web and mobile apps quickly and easily. With Amazon Cognito, you can scale to millions of users and supports sign-in with social identity providers such as Apple, Facebook, Twitter, or Amazon, with SAML 2.0 identity solutions, or by using your own identity system.</a:t>
            </a:r>
            <a:endParaRPr lang="en-IN" dirty="0"/>
          </a:p>
        </p:txBody>
      </p:sp>
      <p:sp>
        <p:nvSpPr>
          <p:cNvPr id="12" name="TextBox 11">
            <a:extLst>
              <a:ext uri="{FF2B5EF4-FFF2-40B4-BE49-F238E27FC236}">
                <a16:creationId xmlns:a16="http://schemas.microsoft.com/office/drawing/2014/main" id="{EE68F8C7-4CF3-D107-EEF9-A7CB1F14C2BF}"/>
              </a:ext>
            </a:extLst>
          </p:cNvPr>
          <p:cNvSpPr txBox="1"/>
          <p:nvPr/>
        </p:nvSpPr>
        <p:spPr>
          <a:xfrm>
            <a:off x="563338" y="4465295"/>
            <a:ext cx="6144984" cy="2031325"/>
          </a:xfrm>
          <a:prstGeom prst="rect">
            <a:avLst/>
          </a:prstGeom>
          <a:noFill/>
        </p:spPr>
        <p:txBody>
          <a:bodyPr wrap="square">
            <a:spAutoFit/>
          </a:bodyPr>
          <a:lstStyle/>
          <a:p>
            <a:r>
              <a:rPr lang="en-US" b="1" dirty="0"/>
              <a:t>WAF</a:t>
            </a:r>
            <a:r>
              <a:rPr lang="en-US" dirty="0"/>
              <a:t> is a web application ﬁrewall that helps protect your web applications or APIs against common web exploits and bots that may affect availability, compromise security, or consume excessive resources. AWS WAF gives you control over how traffic reaches your applications by enabling you to create security rules that control bot traffic and block common attack patterns, such as SQL injection or cross-site scripting.</a:t>
            </a:r>
            <a:endParaRPr lang="en-IN" dirty="0"/>
          </a:p>
        </p:txBody>
      </p:sp>
      <p:sp>
        <p:nvSpPr>
          <p:cNvPr id="14" name="TextBox 13">
            <a:extLst>
              <a:ext uri="{FF2B5EF4-FFF2-40B4-BE49-F238E27FC236}">
                <a16:creationId xmlns:a16="http://schemas.microsoft.com/office/drawing/2014/main" id="{CEFCC9B4-CEA1-9C94-EFE8-DA80D09EED9F}"/>
              </a:ext>
            </a:extLst>
          </p:cNvPr>
          <p:cNvSpPr txBox="1"/>
          <p:nvPr/>
        </p:nvSpPr>
        <p:spPr>
          <a:xfrm>
            <a:off x="6848631" y="5699010"/>
            <a:ext cx="6144984" cy="369332"/>
          </a:xfrm>
          <a:prstGeom prst="rect">
            <a:avLst/>
          </a:prstGeom>
          <a:noFill/>
        </p:spPr>
        <p:txBody>
          <a:bodyPr wrap="square">
            <a:spAutoFit/>
          </a:bodyPr>
          <a:lstStyle/>
          <a:p>
            <a:r>
              <a:rPr lang="en-US" b="1" dirty="0"/>
              <a:t>GuardDuty</a:t>
            </a:r>
            <a:r>
              <a:rPr lang="en-US" dirty="0"/>
              <a:t> is an intelligent threat detection</a:t>
            </a:r>
            <a:endParaRPr lang="en-IN" dirty="0"/>
          </a:p>
        </p:txBody>
      </p:sp>
    </p:spTree>
    <p:extLst>
      <p:ext uri="{BB962C8B-B14F-4D97-AF65-F5344CB8AC3E}">
        <p14:creationId xmlns:p14="http://schemas.microsoft.com/office/powerpoint/2010/main" val="838695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0407A-34A8-F053-6AA2-00FF3419AA05}"/>
              </a:ext>
            </a:extLst>
          </p:cNvPr>
          <p:cNvSpPr>
            <a:spLocks noGrp="1"/>
          </p:cNvSpPr>
          <p:nvPr>
            <p:ph type="title"/>
          </p:nvPr>
        </p:nvSpPr>
        <p:spPr>
          <a:xfrm>
            <a:off x="239485" y="256269"/>
            <a:ext cx="10515600" cy="124732"/>
          </a:xfrm>
        </p:spPr>
        <p:txBody>
          <a:bodyPr>
            <a:normAutofit fontScale="90000"/>
          </a:bodyPr>
          <a:lstStyle/>
          <a:p>
            <a:r>
              <a:rPr lang="en-IN" dirty="0"/>
              <a:t>Container</a:t>
            </a:r>
          </a:p>
        </p:txBody>
      </p:sp>
      <p:sp>
        <p:nvSpPr>
          <p:cNvPr id="4" name="TextBox 3">
            <a:extLst>
              <a:ext uri="{FF2B5EF4-FFF2-40B4-BE49-F238E27FC236}">
                <a16:creationId xmlns:a16="http://schemas.microsoft.com/office/drawing/2014/main" id="{E24F4C89-5BA2-6F35-4F92-30A5791EBD47}"/>
              </a:ext>
            </a:extLst>
          </p:cNvPr>
          <p:cNvSpPr txBox="1"/>
          <p:nvPr/>
        </p:nvSpPr>
        <p:spPr>
          <a:xfrm>
            <a:off x="424542" y="893711"/>
            <a:ext cx="5529945" cy="646331"/>
          </a:xfrm>
          <a:prstGeom prst="rect">
            <a:avLst/>
          </a:prstGeom>
          <a:noFill/>
        </p:spPr>
        <p:txBody>
          <a:bodyPr wrap="square">
            <a:spAutoFit/>
          </a:bodyPr>
          <a:lstStyle/>
          <a:p>
            <a:r>
              <a:rPr lang="en-US" b="1" dirty="0"/>
              <a:t>EKS</a:t>
            </a:r>
            <a:r>
              <a:rPr lang="en-US" dirty="0"/>
              <a:t> makes it easy to deploy, manage, and scale containerized applications using Kubernetes on AWS.</a:t>
            </a:r>
            <a:endParaRPr lang="en-IN" dirty="0"/>
          </a:p>
        </p:txBody>
      </p:sp>
      <p:sp>
        <p:nvSpPr>
          <p:cNvPr id="6" name="TextBox 5">
            <a:extLst>
              <a:ext uri="{FF2B5EF4-FFF2-40B4-BE49-F238E27FC236}">
                <a16:creationId xmlns:a16="http://schemas.microsoft.com/office/drawing/2014/main" id="{400797C8-CD9B-A7AD-AF55-C12C728FD249}"/>
              </a:ext>
            </a:extLst>
          </p:cNvPr>
          <p:cNvSpPr txBox="1"/>
          <p:nvPr/>
        </p:nvSpPr>
        <p:spPr>
          <a:xfrm>
            <a:off x="6487886" y="685517"/>
            <a:ext cx="4778827" cy="369332"/>
          </a:xfrm>
          <a:prstGeom prst="rect">
            <a:avLst/>
          </a:prstGeom>
          <a:noFill/>
        </p:spPr>
        <p:txBody>
          <a:bodyPr wrap="square">
            <a:spAutoFit/>
          </a:bodyPr>
          <a:lstStyle/>
          <a:p>
            <a:r>
              <a:rPr lang="en-US" b="1" dirty="0"/>
              <a:t>ECS</a:t>
            </a:r>
            <a:r>
              <a:rPr lang="en-US" dirty="0"/>
              <a:t> is a Docker based native offering</a:t>
            </a:r>
            <a:endParaRPr lang="en-IN" dirty="0"/>
          </a:p>
        </p:txBody>
      </p:sp>
      <p:pic>
        <p:nvPicPr>
          <p:cNvPr id="8" name="Picture 7">
            <a:extLst>
              <a:ext uri="{FF2B5EF4-FFF2-40B4-BE49-F238E27FC236}">
                <a16:creationId xmlns:a16="http://schemas.microsoft.com/office/drawing/2014/main" id="{CA579D7D-2D4A-162E-5554-03DF415E4B3F}"/>
              </a:ext>
            </a:extLst>
          </p:cNvPr>
          <p:cNvPicPr>
            <a:picLocks noChangeAspect="1"/>
          </p:cNvPicPr>
          <p:nvPr/>
        </p:nvPicPr>
        <p:blipFill>
          <a:blip r:embed="rId2"/>
          <a:stretch>
            <a:fillRect/>
          </a:stretch>
        </p:blipFill>
        <p:spPr>
          <a:xfrm>
            <a:off x="239485" y="2041866"/>
            <a:ext cx="5551719" cy="2485246"/>
          </a:xfrm>
          <a:prstGeom prst="rect">
            <a:avLst/>
          </a:prstGeom>
        </p:spPr>
      </p:pic>
      <p:pic>
        <p:nvPicPr>
          <p:cNvPr id="12" name="Picture 11">
            <a:extLst>
              <a:ext uri="{FF2B5EF4-FFF2-40B4-BE49-F238E27FC236}">
                <a16:creationId xmlns:a16="http://schemas.microsoft.com/office/drawing/2014/main" id="{A160D8AF-4790-71D9-4CB1-E1D01B12D562}"/>
              </a:ext>
            </a:extLst>
          </p:cNvPr>
          <p:cNvPicPr>
            <a:picLocks noChangeAspect="1"/>
          </p:cNvPicPr>
          <p:nvPr/>
        </p:nvPicPr>
        <p:blipFill>
          <a:blip r:embed="rId3"/>
          <a:stretch>
            <a:fillRect/>
          </a:stretch>
        </p:blipFill>
        <p:spPr>
          <a:xfrm>
            <a:off x="6487887" y="2094040"/>
            <a:ext cx="5658141" cy="3867349"/>
          </a:xfrm>
          <a:prstGeom prst="rect">
            <a:avLst/>
          </a:prstGeom>
        </p:spPr>
      </p:pic>
      <p:sp>
        <p:nvSpPr>
          <p:cNvPr id="14" name="TextBox 13">
            <a:extLst>
              <a:ext uri="{FF2B5EF4-FFF2-40B4-BE49-F238E27FC236}">
                <a16:creationId xmlns:a16="http://schemas.microsoft.com/office/drawing/2014/main" id="{77E14EA7-F608-FC36-5C75-A610CB1CF70F}"/>
              </a:ext>
            </a:extLst>
          </p:cNvPr>
          <p:cNvSpPr txBox="1"/>
          <p:nvPr/>
        </p:nvSpPr>
        <p:spPr>
          <a:xfrm>
            <a:off x="4958444" y="5826880"/>
            <a:ext cx="6096000" cy="646331"/>
          </a:xfrm>
          <a:prstGeom prst="rect">
            <a:avLst/>
          </a:prstGeom>
          <a:noFill/>
        </p:spPr>
        <p:txBody>
          <a:bodyPr wrap="square">
            <a:spAutoFit/>
          </a:bodyPr>
          <a:lstStyle/>
          <a:p>
            <a:r>
              <a:rPr lang="en-US" b="1" dirty="0"/>
              <a:t>Fargate</a:t>
            </a:r>
          </a:p>
          <a:p>
            <a:r>
              <a:rPr lang="en-US" dirty="0"/>
              <a:t>Serverless compute for containers</a:t>
            </a:r>
            <a:endParaRPr lang="en-IN" dirty="0"/>
          </a:p>
        </p:txBody>
      </p:sp>
      <p:cxnSp>
        <p:nvCxnSpPr>
          <p:cNvPr id="16" name="Straight Connector 15">
            <a:extLst>
              <a:ext uri="{FF2B5EF4-FFF2-40B4-BE49-F238E27FC236}">
                <a16:creationId xmlns:a16="http://schemas.microsoft.com/office/drawing/2014/main" id="{E35D824F-333F-0EAA-E85D-E3123EC87538}"/>
              </a:ext>
            </a:extLst>
          </p:cNvPr>
          <p:cNvCxnSpPr/>
          <p:nvPr/>
        </p:nvCxnSpPr>
        <p:spPr>
          <a:xfrm>
            <a:off x="6237514" y="511629"/>
            <a:ext cx="0" cy="52795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043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A68DC-2522-8CC5-DA09-4B0A6B274F09}"/>
              </a:ext>
            </a:extLst>
          </p:cNvPr>
          <p:cNvSpPr>
            <a:spLocks noGrp="1"/>
          </p:cNvSpPr>
          <p:nvPr>
            <p:ph type="title"/>
          </p:nvPr>
        </p:nvSpPr>
        <p:spPr>
          <a:xfrm>
            <a:off x="163286" y="201840"/>
            <a:ext cx="10515600" cy="375104"/>
          </a:xfrm>
        </p:spPr>
        <p:txBody>
          <a:bodyPr>
            <a:normAutofit fontScale="90000"/>
          </a:bodyPr>
          <a:lstStyle/>
          <a:p>
            <a:r>
              <a:rPr lang="en-IN" dirty="0"/>
              <a:t>Database</a:t>
            </a:r>
          </a:p>
        </p:txBody>
      </p:sp>
      <p:sp>
        <p:nvSpPr>
          <p:cNvPr id="3" name="TextBox 2">
            <a:extLst>
              <a:ext uri="{FF2B5EF4-FFF2-40B4-BE49-F238E27FC236}">
                <a16:creationId xmlns:a16="http://schemas.microsoft.com/office/drawing/2014/main" id="{A9AF2BCC-C104-3262-8DD4-11ABFB447323}"/>
              </a:ext>
            </a:extLst>
          </p:cNvPr>
          <p:cNvSpPr txBox="1"/>
          <p:nvPr/>
        </p:nvSpPr>
        <p:spPr>
          <a:xfrm>
            <a:off x="244928" y="1023257"/>
            <a:ext cx="3058885" cy="1200329"/>
          </a:xfrm>
          <a:prstGeom prst="rect">
            <a:avLst/>
          </a:prstGeom>
          <a:noFill/>
        </p:spPr>
        <p:txBody>
          <a:bodyPr wrap="square" rtlCol="0">
            <a:spAutoFit/>
          </a:bodyPr>
          <a:lstStyle/>
          <a:p>
            <a:r>
              <a:rPr lang="en-IN" b="1" dirty="0"/>
              <a:t>RDS</a:t>
            </a:r>
            <a:r>
              <a:rPr lang="en-IN" dirty="0"/>
              <a:t> – Managed Relation Database Service for MySQL, Postgres, Oracle, SQL Server, MariaDB</a:t>
            </a:r>
          </a:p>
        </p:txBody>
      </p:sp>
      <p:pic>
        <p:nvPicPr>
          <p:cNvPr id="5" name="Picture 4">
            <a:extLst>
              <a:ext uri="{FF2B5EF4-FFF2-40B4-BE49-F238E27FC236}">
                <a16:creationId xmlns:a16="http://schemas.microsoft.com/office/drawing/2014/main" id="{6E97052A-681C-99A0-10EA-61FF4FB0B1C2}"/>
              </a:ext>
            </a:extLst>
          </p:cNvPr>
          <p:cNvPicPr>
            <a:picLocks noChangeAspect="1"/>
          </p:cNvPicPr>
          <p:nvPr/>
        </p:nvPicPr>
        <p:blipFill>
          <a:blip r:embed="rId2"/>
          <a:stretch>
            <a:fillRect/>
          </a:stretch>
        </p:blipFill>
        <p:spPr>
          <a:xfrm>
            <a:off x="244928" y="3223894"/>
            <a:ext cx="2134447" cy="2134447"/>
          </a:xfrm>
          <a:prstGeom prst="rect">
            <a:avLst/>
          </a:prstGeom>
        </p:spPr>
      </p:pic>
      <p:sp>
        <p:nvSpPr>
          <p:cNvPr id="7" name="TextBox 6">
            <a:extLst>
              <a:ext uri="{FF2B5EF4-FFF2-40B4-BE49-F238E27FC236}">
                <a16:creationId xmlns:a16="http://schemas.microsoft.com/office/drawing/2014/main" id="{0A4ADA8D-BAFA-3C11-5027-996049A77BA0}"/>
              </a:ext>
            </a:extLst>
          </p:cNvPr>
          <p:cNvSpPr txBox="1"/>
          <p:nvPr/>
        </p:nvSpPr>
        <p:spPr>
          <a:xfrm>
            <a:off x="3303813" y="1023256"/>
            <a:ext cx="3058885" cy="1200329"/>
          </a:xfrm>
          <a:prstGeom prst="rect">
            <a:avLst/>
          </a:prstGeom>
          <a:noFill/>
        </p:spPr>
        <p:txBody>
          <a:bodyPr wrap="square">
            <a:spAutoFit/>
          </a:bodyPr>
          <a:lstStyle/>
          <a:p>
            <a:r>
              <a:rPr lang="en-US" b="1" dirty="0"/>
              <a:t>Aurora </a:t>
            </a:r>
            <a:r>
              <a:rPr lang="en-US" dirty="0"/>
              <a:t>High performance and availability at global scale with full MySQL and PostgreSQL compatibility</a:t>
            </a:r>
            <a:endParaRPr lang="en-IN" dirty="0"/>
          </a:p>
        </p:txBody>
      </p:sp>
      <p:pic>
        <p:nvPicPr>
          <p:cNvPr id="9" name="Picture 8">
            <a:extLst>
              <a:ext uri="{FF2B5EF4-FFF2-40B4-BE49-F238E27FC236}">
                <a16:creationId xmlns:a16="http://schemas.microsoft.com/office/drawing/2014/main" id="{371DB1F5-4736-87C7-C974-ABFD2B9522B8}"/>
              </a:ext>
            </a:extLst>
          </p:cNvPr>
          <p:cNvPicPr>
            <a:picLocks noChangeAspect="1"/>
          </p:cNvPicPr>
          <p:nvPr/>
        </p:nvPicPr>
        <p:blipFill>
          <a:blip r:embed="rId3"/>
          <a:stretch>
            <a:fillRect/>
          </a:stretch>
        </p:blipFill>
        <p:spPr>
          <a:xfrm>
            <a:off x="3303813" y="3115182"/>
            <a:ext cx="2134447" cy="2134447"/>
          </a:xfrm>
          <a:prstGeom prst="rect">
            <a:avLst/>
          </a:prstGeom>
        </p:spPr>
      </p:pic>
      <p:sp>
        <p:nvSpPr>
          <p:cNvPr id="11" name="TextBox 10">
            <a:extLst>
              <a:ext uri="{FF2B5EF4-FFF2-40B4-BE49-F238E27FC236}">
                <a16:creationId xmlns:a16="http://schemas.microsoft.com/office/drawing/2014/main" id="{32AB85B4-C6CA-445D-D082-F57C9B1D074E}"/>
              </a:ext>
            </a:extLst>
          </p:cNvPr>
          <p:cNvSpPr txBox="1"/>
          <p:nvPr/>
        </p:nvSpPr>
        <p:spPr>
          <a:xfrm>
            <a:off x="6607629" y="1023256"/>
            <a:ext cx="3058885" cy="1754326"/>
          </a:xfrm>
          <a:prstGeom prst="rect">
            <a:avLst/>
          </a:prstGeom>
          <a:noFill/>
        </p:spPr>
        <p:txBody>
          <a:bodyPr wrap="square">
            <a:spAutoFit/>
          </a:bodyPr>
          <a:lstStyle/>
          <a:p>
            <a:r>
              <a:rPr lang="en-US" b="1" dirty="0"/>
              <a:t>DynamoDB</a:t>
            </a:r>
          </a:p>
          <a:p>
            <a:r>
              <a:rPr lang="en-US" dirty="0"/>
              <a:t>Secure, serverless, NoSQL database with limitless scalability and consistent single-digit millisecond performance</a:t>
            </a:r>
            <a:endParaRPr lang="en-IN" dirty="0"/>
          </a:p>
        </p:txBody>
      </p:sp>
      <p:pic>
        <p:nvPicPr>
          <p:cNvPr id="13" name="Picture 12">
            <a:extLst>
              <a:ext uri="{FF2B5EF4-FFF2-40B4-BE49-F238E27FC236}">
                <a16:creationId xmlns:a16="http://schemas.microsoft.com/office/drawing/2014/main" id="{9FEE6252-7A97-7CF1-51D1-FDAE1A79D4CD}"/>
              </a:ext>
            </a:extLst>
          </p:cNvPr>
          <p:cNvPicPr>
            <a:picLocks noChangeAspect="1"/>
          </p:cNvPicPr>
          <p:nvPr/>
        </p:nvPicPr>
        <p:blipFill>
          <a:blip r:embed="rId4"/>
          <a:stretch>
            <a:fillRect/>
          </a:stretch>
        </p:blipFill>
        <p:spPr>
          <a:xfrm>
            <a:off x="6607629" y="3223894"/>
            <a:ext cx="2134447" cy="2134447"/>
          </a:xfrm>
          <a:prstGeom prst="rect">
            <a:avLst/>
          </a:prstGeom>
        </p:spPr>
      </p:pic>
      <p:sp>
        <p:nvSpPr>
          <p:cNvPr id="15" name="TextBox 14">
            <a:extLst>
              <a:ext uri="{FF2B5EF4-FFF2-40B4-BE49-F238E27FC236}">
                <a16:creationId xmlns:a16="http://schemas.microsoft.com/office/drawing/2014/main" id="{B49F9764-5F52-88C0-0048-00778E07EE8C}"/>
              </a:ext>
            </a:extLst>
          </p:cNvPr>
          <p:cNvSpPr txBox="1"/>
          <p:nvPr/>
        </p:nvSpPr>
        <p:spPr>
          <a:xfrm>
            <a:off x="9421583" y="982028"/>
            <a:ext cx="2525489" cy="1200329"/>
          </a:xfrm>
          <a:prstGeom prst="rect">
            <a:avLst/>
          </a:prstGeom>
          <a:noFill/>
        </p:spPr>
        <p:txBody>
          <a:bodyPr wrap="square">
            <a:spAutoFit/>
          </a:bodyPr>
          <a:lstStyle/>
          <a:p>
            <a:r>
              <a:rPr lang="en-US" b="1" dirty="0"/>
              <a:t>ElastiCache</a:t>
            </a:r>
            <a:r>
              <a:rPr lang="en-US" dirty="0"/>
              <a:t> is a fully managed, Redis- and Memcached-compatible service</a:t>
            </a:r>
            <a:endParaRPr lang="en-IN" dirty="0"/>
          </a:p>
        </p:txBody>
      </p:sp>
      <p:pic>
        <p:nvPicPr>
          <p:cNvPr id="17" name="Picture 16">
            <a:extLst>
              <a:ext uri="{FF2B5EF4-FFF2-40B4-BE49-F238E27FC236}">
                <a16:creationId xmlns:a16="http://schemas.microsoft.com/office/drawing/2014/main" id="{BE426D05-FB61-D5BA-C19F-D6B321018484}"/>
              </a:ext>
            </a:extLst>
          </p:cNvPr>
          <p:cNvPicPr>
            <a:picLocks noChangeAspect="1"/>
          </p:cNvPicPr>
          <p:nvPr/>
        </p:nvPicPr>
        <p:blipFill>
          <a:blip r:embed="rId5"/>
          <a:stretch>
            <a:fillRect/>
          </a:stretch>
        </p:blipFill>
        <p:spPr>
          <a:xfrm>
            <a:off x="9454240" y="3211285"/>
            <a:ext cx="2134447" cy="2134447"/>
          </a:xfrm>
          <a:prstGeom prst="rect">
            <a:avLst/>
          </a:prstGeom>
        </p:spPr>
      </p:pic>
    </p:spTree>
    <p:extLst>
      <p:ext uri="{BB962C8B-B14F-4D97-AF65-F5344CB8AC3E}">
        <p14:creationId xmlns:p14="http://schemas.microsoft.com/office/powerpoint/2010/main" val="2677083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423E5-AA21-88B3-7C90-6D708032A4FD}"/>
              </a:ext>
            </a:extLst>
          </p:cNvPr>
          <p:cNvSpPr>
            <a:spLocks noGrp="1"/>
          </p:cNvSpPr>
          <p:nvPr>
            <p:ph type="title"/>
          </p:nvPr>
        </p:nvSpPr>
        <p:spPr>
          <a:xfrm>
            <a:off x="108857" y="147412"/>
            <a:ext cx="10515600" cy="288018"/>
          </a:xfrm>
        </p:spPr>
        <p:txBody>
          <a:bodyPr>
            <a:normAutofit fontScale="90000"/>
          </a:bodyPr>
          <a:lstStyle/>
          <a:p>
            <a:r>
              <a:rPr lang="en-IN" dirty="0"/>
              <a:t>Messaging</a:t>
            </a:r>
          </a:p>
        </p:txBody>
      </p:sp>
      <p:sp>
        <p:nvSpPr>
          <p:cNvPr id="4" name="TextBox 3">
            <a:extLst>
              <a:ext uri="{FF2B5EF4-FFF2-40B4-BE49-F238E27FC236}">
                <a16:creationId xmlns:a16="http://schemas.microsoft.com/office/drawing/2014/main" id="{46844533-4E00-808A-D46D-C2DB461B9022}"/>
              </a:ext>
            </a:extLst>
          </p:cNvPr>
          <p:cNvSpPr txBox="1"/>
          <p:nvPr/>
        </p:nvSpPr>
        <p:spPr>
          <a:xfrm>
            <a:off x="408213" y="920232"/>
            <a:ext cx="3761015" cy="646331"/>
          </a:xfrm>
          <a:prstGeom prst="rect">
            <a:avLst/>
          </a:prstGeom>
          <a:noFill/>
        </p:spPr>
        <p:txBody>
          <a:bodyPr wrap="square">
            <a:spAutoFit/>
          </a:bodyPr>
          <a:lstStyle/>
          <a:p>
            <a:r>
              <a:rPr lang="en-IN" dirty="0"/>
              <a:t>Simple Notification Service  </a:t>
            </a:r>
            <a:r>
              <a:rPr lang="en-IN" b="1" dirty="0"/>
              <a:t>SNS</a:t>
            </a:r>
            <a:r>
              <a:rPr lang="en-IN" dirty="0"/>
              <a:t> – Fully managed pub/sub service</a:t>
            </a:r>
          </a:p>
        </p:txBody>
      </p:sp>
      <p:sp>
        <p:nvSpPr>
          <p:cNvPr id="6" name="TextBox 5">
            <a:extLst>
              <a:ext uri="{FF2B5EF4-FFF2-40B4-BE49-F238E27FC236}">
                <a16:creationId xmlns:a16="http://schemas.microsoft.com/office/drawing/2014/main" id="{BCF846A6-FA4A-53B4-3751-5757B8E4E5DD}"/>
              </a:ext>
            </a:extLst>
          </p:cNvPr>
          <p:cNvSpPr txBox="1"/>
          <p:nvPr/>
        </p:nvSpPr>
        <p:spPr>
          <a:xfrm>
            <a:off x="5987143" y="707894"/>
            <a:ext cx="4724400" cy="1754326"/>
          </a:xfrm>
          <a:prstGeom prst="rect">
            <a:avLst/>
          </a:prstGeom>
          <a:noFill/>
        </p:spPr>
        <p:txBody>
          <a:bodyPr wrap="square">
            <a:spAutoFit/>
          </a:bodyPr>
          <a:lstStyle/>
          <a:p>
            <a:r>
              <a:rPr lang="en-US" dirty="0"/>
              <a:t> Simple Queue Service </a:t>
            </a:r>
            <a:r>
              <a:rPr lang="en-US" b="1" dirty="0"/>
              <a:t>SQS</a:t>
            </a:r>
            <a:r>
              <a:rPr lang="en-US" dirty="0"/>
              <a:t> lets you send, store, and receive messages between software components at any volume, without losing messages or requiring other services to be available.</a:t>
            </a:r>
          </a:p>
          <a:p>
            <a:endParaRPr lang="en-US" dirty="0"/>
          </a:p>
        </p:txBody>
      </p:sp>
      <p:pic>
        <p:nvPicPr>
          <p:cNvPr id="8" name="Picture 7">
            <a:extLst>
              <a:ext uri="{FF2B5EF4-FFF2-40B4-BE49-F238E27FC236}">
                <a16:creationId xmlns:a16="http://schemas.microsoft.com/office/drawing/2014/main" id="{E7D68B1C-D5C0-C1A0-48D6-3AA0CDB08108}"/>
              </a:ext>
            </a:extLst>
          </p:cNvPr>
          <p:cNvPicPr>
            <a:picLocks noChangeAspect="1"/>
          </p:cNvPicPr>
          <p:nvPr/>
        </p:nvPicPr>
        <p:blipFill>
          <a:blip r:embed="rId2"/>
          <a:stretch>
            <a:fillRect/>
          </a:stretch>
        </p:blipFill>
        <p:spPr>
          <a:xfrm>
            <a:off x="2067674" y="2462220"/>
            <a:ext cx="6140766" cy="4248368"/>
          </a:xfrm>
          <a:prstGeom prst="rect">
            <a:avLst/>
          </a:prstGeom>
        </p:spPr>
      </p:pic>
    </p:spTree>
    <p:extLst>
      <p:ext uri="{BB962C8B-B14F-4D97-AF65-F5344CB8AC3E}">
        <p14:creationId xmlns:p14="http://schemas.microsoft.com/office/powerpoint/2010/main" val="4033521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8D2A7-27D8-364D-BA06-1C08B0E426C0}"/>
              </a:ext>
            </a:extLst>
          </p:cNvPr>
          <p:cNvSpPr>
            <a:spLocks noGrp="1"/>
          </p:cNvSpPr>
          <p:nvPr>
            <p:ph type="title"/>
          </p:nvPr>
        </p:nvSpPr>
        <p:spPr>
          <a:xfrm>
            <a:off x="152400" y="169183"/>
            <a:ext cx="10515600" cy="266246"/>
          </a:xfrm>
        </p:spPr>
        <p:txBody>
          <a:bodyPr>
            <a:normAutofit fontScale="90000"/>
          </a:bodyPr>
          <a:lstStyle/>
          <a:p>
            <a:r>
              <a:rPr lang="en-IN" dirty="0"/>
              <a:t>Serverless</a:t>
            </a:r>
          </a:p>
        </p:txBody>
      </p:sp>
      <p:sp>
        <p:nvSpPr>
          <p:cNvPr id="4" name="TextBox 3">
            <a:extLst>
              <a:ext uri="{FF2B5EF4-FFF2-40B4-BE49-F238E27FC236}">
                <a16:creationId xmlns:a16="http://schemas.microsoft.com/office/drawing/2014/main" id="{B66E3949-0EA2-36EB-41BB-95B707BF83F2}"/>
              </a:ext>
            </a:extLst>
          </p:cNvPr>
          <p:cNvSpPr txBox="1"/>
          <p:nvPr/>
        </p:nvSpPr>
        <p:spPr>
          <a:xfrm>
            <a:off x="1469571" y="743631"/>
            <a:ext cx="9035144" cy="369332"/>
          </a:xfrm>
          <a:prstGeom prst="rect">
            <a:avLst/>
          </a:prstGeom>
          <a:noFill/>
        </p:spPr>
        <p:txBody>
          <a:bodyPr wrap="square">
            <a:spAutoFit/>
          </a:bodyPr>
          <a:lstStyle/>
          <a:p>
            <a:r>
              <a:rPr lang="en-US" dirty="0"/>
              <a:t>AWS Lambda lets you run code without provisioning or managing servers.</a:t>
            </a:r>
            <a:endParaRPr lang="en-IN" dirty="0"/>
          </a:p>
        </p:txBody>
      </p:sp>
      <p:pic>
        <p:nvPicPr>
          <p:cNvPr id="6" name="Picture 5">
            <a:extLst>
              <a:ext uri="{FF2B5EF4-FFF2-40B4-BE49-F238E27FC236}">
                <a16:creationId xmlns:a16="http://schemas.microsoft.com/office/drawing/2014/main" id="{C9AD3725-02FF-231D-5A67-F9CED4EF2CFF}"/>
              </a:ext>
            </a:extLst>
          </p:cNvPr>
          <p:cNvPicPr>
            <a:picLocks noChangeAspect="1"/>
          </p:cNvPicPr>
          <p:nvPr/>
        </p:nvPicPr>
        <p:blipFill>
          <a:blip r:embed="rId2"/>
          <a:stretch>
            <a:fillRect/>
          </a:stretch>
        </p:blipFill>
        <p:spPr>
          <a:xfrm>
            <a:off x="1453911" y="2139883"/>
            <a:ext cx="9284177" cy="2578233"/>
          </a:xfrm>
          <a:prstGeom prst="rect">
            <a:avLst/>
          </a:prstGeom>
        </p:spPr>
      </p:pic>
    </p:spTree>
    <p:extLst>
      <p:ext uri="{BB962C8B-B14F-4D97-AF65-F5344CB8AC3E}">
        <p14:creationId xmlns:p14="http://schemas.microsoft.com/office/powerpoint/2010/main" val="2149594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9243D-38C2-4CD5-C649-7BB761E6BDA8}"/>
              </a:ext>
            </a:extLst>
          </p:cNvPr>
          <p:cNvSpPr>
            <a:spLocks noGrp="1"/>
          </p:cNvSpPr>
          <p:nvPr>
            <p:ph type="title"/>
          </p:nvPr>
        </p:nvSpPr>
        <p:spPr>
          <a:xfrm>
            <a:off x="206828" y="212726"/>
            <a:ext cx="10515600" cy="258309"/>
          </a:xfrm>
        </p:spPr>
        <p:txBody>
          <a:bodyPr>
            <a:normAutofit fontScale="90000"/>
          </a:bodyPr>
          <a:lstStyle/>
          <a:p>
            <a:r>
              <a:rPr lang="en-IN" dirty="0"/>
              <a:t>Monitoring</a:t>
            </a:r>
          </a:p>
        </p:txBody>
      </p:sp>
      <p:pic>
        <p:nvPicPr>
          <p:cNvPr id="8" name="Picture 7">
            <a:extLst>
              <a:ext uri="{FF2B5EF4-FFF2-40B4-BE49-F238E27FC236}">
                <a16:creationId xmlns:a16="http://schemas.microsoft.com/office/drawing/2014/main" id="{7C810104-3182-DE95-FBBF-5C96E2B5477B}"/>
              </a:ext>
            </a:extLst>
          </p:cNvPr>
          <p:cNvPicPr>
            <a:picLocks noChangeAspect="1"/>
          </p:cNvPicPr>
          <p:nvPr/>
        </p:nvPicPr>
        <p:blipFill>
          <a:blip r:embed="rId2"/>
          <a:stretch>
            <a:fillRect/>
          </a:stretch>
        </p:blipFill>
        <p:spPr>
          <a:xfrm>
            <a:off x="710923" y="579893"/>
            <a:ext cx="10770154" cy="3168813"/>
          </a:xfrm>
          <a:prstGeom prst="rect">
            <a:avLst/>
          </a:prstGeom>
        </p:spPr>
      </p:pic>
      <p:pic>
        <p:nvPicPr>
          <p:cNvPr id="10" name="Picture 9">
            <a:extLst>
              <a:ext uri="{FF2B5EF4-FFF2-40B4-BE49-F238E27FC236}">
                <a16:creationId xmlns:a16="http://schemas.microsoft.com/office/drawing/2014/main" id="{E429B176-3FAD-2086-9739-2585D10C0E07}"/>
              </a:ext>
            </a:extLst>
          </p:cNvPr>
          <p:cNvPicPr>
            <a:picLocks noChangeAspect="1"/>
          </p:cNvPicPr>
          <p:nvPr/>
        </p:nvPicPr>
        <p:blipFill>
          <a:blip r:embed="rId3"/>
          <a:stretch>
            <a:fillRect/>
          </a:stretch>
        </p:blipFill>
        <p:spPr>
          <a:xfrm>
            <a:off x="890539" y="3669775"/>
            <a:ext cx="10693950" cy="2762392"/>
          </a:xfrm>
          <a:prstGeom prst="rect">
            <a:avLst/>
          </a:prstGeom>
        </p:spPr>
      </p:pic>
    </p:spTree>
    <p:extLst>
      <p:ext uri="{BB962C8B-B14F-4D97-AF65-F5344CB8AC3E}">
        <p14:creationId xmlns:p14="http://schemas.microsoft.com/office/powerpoint/2010/main" val="1854710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6EEC1-C81C-BC35-7584-D8AD1044381F}"/>
              </a:ext>
            </a:extLst>
          </p:cNvPr>
          <p:cNvSpPr>
            <a:spLocks noGrp="1"/>
          </p:cNvSpPr>
          <p:nvPr>
            <p:ph type="title"/>
          </p:nvPr>
        </p:nvSpPr>
        <p:spPr>
          <a:xfrm>
            <a:off x="195943" y="223611"/>
            <a:ext cx="10515600" cy="233589"/>
          </a:xfrm>
        </p:spPr>
        <p:txBody>
          <a:bodyPr>
            <a:normAutofit fontScale="90000"/>
          </a:bodyPr>
          <a:lstStyle/>
          <a:p>
            <a:r>
              <a:rPr lang="en-IN" dirty="0"/>
              <a:t>DevOps</a:t>
            </a:r>
          </a:p>
        </p:txBody>
      </p:sp>
      <p:pic>
        <p:nvPicPr>
          <p:cNvPr id="8" name="Picture 7">
            <a:extLst>
              <a:ext uri="{FF2B5EF4-FFF2-40B4-BE49-F238E27FC236}">
                <a16:creationId xmlns:a16="http://schemas.microsoft.com/office/drawing/2014/main" id="{1CBC033F-702A-6E1F-A424-5D034DB73ACB}"/>
              </a:ext>
            </a:extLst>
          </p:cNvPr>
          <p:cNvPicPr>
            <a:picLocks noChangeAspect="1"/>
          </p:cNvPicPr>
          <p:nvPr/>
        </p:nvPicPr>
        <p:blipFill>
          <a:blip r:embed="rId2"/>
          <a:stretch>
            <a:fillRect/>
          </a:stretch>
        </p:blipFill>
        <p:spPr>
          <a:xfrm>
            <a:off x="2206425" y="106936"/>
            <a:ext cx="7779150" cy="4140413"/>
          </a:xfrm>
          <a:prstGeom prst="rect">
            <a:avLst/>
          </a:prstGeom>
        </p:spPr>
      </p:pic>
      <p:pic>
        <p:nvPicPr>
          <p:cNvPr id="10" name="Picture 9">
            <a:extLst>
              <a:ext uri="{FF2B5EF4-FFF2-40B4-BE49-F238E27FC236}">
                <a16:creationId xmlns:a16="http://schemas.microsoft.com/office/drawing/2014/main" id="{A7562BAB-D02D-B179-036D-1C557653A62F}"/>
              </a:ext>
            </a:extLst>
          </p:cNvPr>
          <p:cNvPicPr>
            <a:picLocks noChangeAspect="1"/>
          </p:cNvPicPr>
          <p:nvPr/>
        </p:nvPicPr>
        <p:blipFill>
          <a:blip r:embed="rId3"/>
          <a:stretch>
            <a:fillRect/>
          </a:stretch>
        </p:blipFill>
        <p:spPr>
          <a:xfrm>
            <a:off x="2109814" y="4247349"/>
            <a:ext cx="7798201" cy="2171812"/>
          </a:xfrm>
          <a:prstGeom prst="rect">
            <a:avLst/>
          </a:prstGeom>
        </p:spPr>
      </p:pic>
    </p:spTree>
    <p:extLst>
      <p:ext uri="{BB962C8B-B14F-4D97-AF65-F5344CB8AC3E}">
        <p14:creationId xmlns:p14="http://schemas.microsoft.com/office/powerpoint/2010/main" val="3289956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74A0B-D2EF-367E-ACC0-76A0E00E6AFA}"/>
              </a:ext>
            </a:extLst>
          </p:cNvPr>
          <p:cNvSpPr>
            <a:spLocks noGrp="1"/>
          </p:cNvSpPr>
          <p:nvPr>
            <p:ph type="title"/>
          </p:nvPr>
        </p:nvSpPr>
        <p:spPr>
          <a:xfrm>
            <a:off x="163286" y="321582"/>
            <a:ext cx="10515600" cy="179161"/>
          </a:xfrm>
        </p:spPr>
        <p:txBody>
          <a:bodyPr>
            <a:normAutofit fontScale="90000"/>
          </a:bodyPr>
          <a:lstStyle/>
          <a:p>
            <a:r>
              <a:rPr lang="en-IN" dirty="0"/>
              <a:t>AI/ML</a:t>
            </a:r>
          </a:p>
        </p:txBody>
      </p:sp>
      <p:sp>
        <p:nvSpPr>
          <p:cNvPr id="4" name="TextBox 3">
            <a:extLst>
              <a:ext uri="{FF2B5EF4-FFF2-40B4-BE49-F238E27FC236}">
                <a16:creationId xmlns:a16="http://schemas.microsoft.com/office/drawing/2014/main" id="{F1A3180F-16F7-077E-3ABD-EBB76D9431A2}"/>
              </a:ext>
            </a:extLst>
          </p:cNvPr>
          <p:cNvSpPr txBox="1"/>
          <p:nvPr/>
        </p:nvSpPr>
        <p:spPr>
          <a:xfrm>
            <a:off x="220436" y="727893"/>
            <a:ext cx="11971564" cy="646331"/>
          </a:xfrm>
          <a:prstGeom prst="rect">
            <a:avLst/>
          </a:prstGeom>
          <a:noFill/>
        </p:spPr>
        <p:txBody>
          <a:bodyPr wrap="square">
            <a:spAutoFit/>
          </a:bodyPr>
          <a:lstStyle/>
          <a:p>
            <a:pPr algn="l"/>
            <a:r>
              <a:rPr lang="en-US" b="1" i="0" dirty="0" err="1">
                <a:solidFill>
                  <a:srgbClr val="1C2735"/>
                </a:solidFill>
                <a:effectLst/>
                <a:latin typeface="Amazon Ember Display"/>
              </a:rPr>
              <a:t>SageMaker</a:t>
            </a:r>
            <a:endParaRPr lang="en-US" b="1" i="0" dirty="0">
              <a:solidFill>
                <a:srgbClr val="1C2735"/>
              </a:solidFill>
              <a:effectLst/>
              <a:latin typeface="Amazon Ember Display"/>
            </a:endParaRPr>
          </a:p>
          <a:p>
            <a:r>
              <a:rPr lang="en-US" b="0" i="0" dirty="0">
                <a:solidFill>
                  <a:srgbClr val="2E3C4E"/>
                </a:solidFill>
                <a:effectLst/>
                <a:latin typeface="Amazon Ember Display"/>
              </a:rPr>
              <a:t>Build, train, and deploy machine learning (ML) models for any use case with fully managed infrastructure, tools, and workflows</a:t>
            </a:r>
            <a:endParaRPr lang="en-IN" dirty="0"/>
          </a:p>
        </p:txBody>
      </p:sp>
    </p:spTree>
    <p:extLst>
      <p:ext uri="{BB962C8B-B14F-4D97-AF65-F5344CB8AC3E}">
        <p14:creationId xmlns:p14="http://schemas.microsoft.com/office/powerpoint/2010/main" val="1725014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270AC-5033-FCC4-4635-4BDF25778F37}"/>
              </a:ext>
            </a:extLst>
          </p:cNvPr>
          <p:cNvSpPr>
            <a:spLocks noGrp="1"/>
          </p:cNvSpPr>
          <p:nvPr>
            <p:ph type="title"/>
          </p:nvPr>
        </p:nvSpPr>
        <p:spPr>
          <a:xfrm>
            <a:off x="3298371" y="2640239"/>
            <a:ext cx="5671458" cy="1325563"/>
          </a:xfrm>
        </p:spPr>
        <p:txBody>
          <a:bodyPr/>
          <a:lstStyle/>
          <a:p>
            <a:pPr algn="ctr"/>
            <a:r>
              <a:rPr lang="en-IN" dirty="0"/>
              <a:t>Azure</a:t>
            </a:r>
          </a:p>
        </p:txBody>
      </p:sp>
    </p:spTree>
    <p:extLst>
      <p:ext uri="{BB962C8B-B14F-4D97-AF65-F5344CB8AC3E}">
        <p14:creationId xmlns:p14="http://schemas.microsoft.com/office/powerpoint/2010/main" val="3549389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7B816-AF87-D10D-F95F-EB4D229C650B}"/>
              </a:ext>
            </a:extLst>
          </p:cNvPr>
          <p:cNvSpPr>
            <a:spLocks noGrp="1"/>
          </p:cNvSpPr>
          <p:nvPr>
            <p:ph type="title"/>
          </p:nvPr>
        </p:nvSpPr>
        <p:spPr>
          <a:xfrm>
            <a:off x="152400" y="190955"/>
            <a:ext cx="10515600" cy="277132"/>
          </a:xfrm>
        </p:spPr>
        <p:txBody>
          <a:bodyPr>
            <a:normAutofit fontScale="90000"/>
          </a:bodyPr>
          <a:lstStyle/>
          <a:p>
            <a:r>
              <a:rPr lang="en-IN" dirty="0"/>
              <a:t>Compute - VM</a:t>
            </a:r>
          </a:p>
        </p:txBody>
      </p:sp>
      <p:pic>
        <p:nvPicPr>
          <p:cNvPr id="4" name="Picture 3">
            <a:extLst>
              <a:ext uri="{FF2B5EF4-FFF2-40B4-BE49-F238E27FC236}">
                <a16:creationId xmlns:a16="http://schemas.microsoft.com/office/drawing/2014/main" id="{7B2EF2FF-C5E2-B7EE-E745-D5F7750DB4F9}"/>
              </a:ext>
            </a:extLst>
          </p:cNvPr>
          <p:cNvPicPr>
            <a:picLocks noChangeAspect="1"/>
          </p:cNvPicPr>
          <p:nvPr/>
        </p:nvPicPr>
        <p:blipFill>
          <a:blip r:embed="rId2"/>
          <a:stretch>
            <a:fillRect/>
          </a:stretch>
        </p:blipFill>
        <p:spPr>
          <a:xfrm>
            <a:off x="1763485" y="1902694"/>
            <a:ext cx="7062716" cy="3706252"/>
          </a:xfrm>
          <a:prstGeom prst="rect">
            <a:avLst/>
          </a:prstGeom>
        </p:spPr>
      </p:pic>
      <p:sp>
        <p:nvSpPr>
          <p:cNvPr id="8" name="TextBox 7">
            <a:extLst>
              <a:ext uri="{FF2B5EF4-FFF2-40B4-BE49-F238E27FC236}">
                <a16:creationId xmlns:a16="http://schemas.microsoft.com/office/drawing/2014/main" id="{D9BD975C-B134-27A1-FE76-00EDCD01B8A6}"/>
              </a:ext>
            </a:extLst>
          </p:cNvPr>
          <p:cNvSpPr txBox="1"/>
          <p:nvPr/>
        </p:nvSpPr>
        <p:spPr>
          <a:xfrm>
            <a:off x="440872" y="787389"/>
            <a:ext cx="6128656" cy="923330"/>
          </a:xfrm>
          <a:prstGeom prst="rect">
            <a:avLst/>
          </a:prstGeom>
          <a:noFill/>
        </p:spPr>
        <p:txBody>
          <a:bodyPr wrap="square">
            <a:spAutoFit/>
          </a:bodyPr>
          <a:lstStyle/>
          <a:p>
            <a:r>
              <a:rPr lang="en-US" b="1" dirty="0"/>
              <a:t>Virtual Machines</a:t>
            </a:r>
          </a:p>
          <a:p>
            <a:r>
              <a:rPr lang="en-US" dirty="0"/>
              <a:t>Create Linux and Windows virtual machines (VMs) in seconds and reduce costs.</a:t>
            </a:r>
            <a:endParaRPr lang="en-IN" dirty="0"/>
          </a:p>
        </p:txBody>
      </p:sp>
    </p:spTree>
    <p:extLst>
      <p:ext uri="{BB962C8B-B14F-4D97-AF65-F5344CB8AC3E}">
        <p14:creationId xmlns:p14="http://schemas.microsoft.com/office/powerpoint/2010/main" val="2682376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90D52-B194-512C-C60A-FF77B5BC79C6}"/>
              </a:ext>
            </a:extLst>
          </p:cNvPr>
          <p:cNvSpPr>
            <a:spLocks noGrp="1"/>
          </p:cNvSpPr>
          <p:nvPr>
            <p:ph type="title"/>
          </p:nvPr>
        </p:nvSpPr>
        <p:spPr>
          <a:xfrm>
            <a:off x="195942" y="190955"/>
            <a:ext cx="10515600" cy="222704"/>
          </a:xfrm>
        </p:spPr>
        <p:txBody>
          <a:bodyPr>
            <a:normAutofit fontScale="90000"/>
          </a:bodyPr>
          <a:lstStyle/>
          <a:p>
            <a:r>
              <a:rPr lang="en-IN" dirty="0"/>
              <a:t>Compute - PaaS</a:t>
            </a:r>
          </a:p>
        </p:txBody>
      </p:sp>
      <p:sp>
        <p:nvSpPr>
          <p:cNvPr id="4" name="TextBox 3">
            <a:extLst>
              <a:ext uri="{FF2B5EF4-FFF2-40B4-BE49-F238E27FC236}">
                <a16:creationId xmlns:a16="http://schemas.microsoft.com/office/drawing/2014/main" id="{F745AF3C-75EB-3E72-07F4-FD1B3372CFD3}"/>
              </a:ext>
            </a:extLst>
          </p:cNvPr>
          <p:cNvSpPr txBox="1"/>
          <p:nvPr/>
        </p:nvSpPr>
        <p:spPr>
          <a:xfrm>
            <a:off x="1208315" y="1410678"/>
            <a:ext cx="8806543" cy="923330"/>
          </a:xfrm>
          <a:prstGeom prst="rect">
            <a:avLst/>
          </a:prstGeom>
          <a:noFill/>
        </p:spPr>
        <p:txBody>
          <a:bodyPr wrap="square">
            <a:spAutoFit/>
          </a:bodyPr>
          <a:lstStyle/>
          <a:p>
            <a:r>
              <a:rPr lang="en-US" b="1" dirty="0"/>
              <a:t>App Service </a:t>
            </a:r>
            <a:r>
              <a:rPr lang="en-US" dirty="0"/>
              <a:t>- Quickly build, deploy, and scale web apps and APIs on your terms. Work with .NET, .NET Core, Node.js, Java, Python, or PHP in containers, or running on Windows or Linux. </a:t>
            </a:r>
            <a:endParaRPr lang="en-IN" dirty="0"/>
          </a:p>
        </p:txBody>
      </p:sp>
      <p:pic>
        <p:nvPicPr>
          <p:cNvPr id="5" name="Picture 4">
            <a:extLst>
              <a:ext uri="{FF2B5EF4-FFF2-40B4-BE49-F238E27FC236}">
                <a16:creationId xmlns:a16="http://schemas.microsoft.com/office/drawing/2014/main" id="{BD9153FD-C3E4-0529-8756-C1F2E4EFF930}"/>
              </a:ext>
            </a:extLst>
          </p:cNvPr>
          <p:cNvPicPr>
            <a:picLocks noChangeAspect="1"/>
          </p:cNvPicPr>
          <p:nvPr/>
        </p:nvPicPr>
        <p:blipFill>
          <a:blip r:embed="rId2"/>
          <a:stretch>
            <a:fillRect/>
          </a:stretch>
        </p:blipFill>
        <p:spPr>
          <a:xfrm>
            <a:off x="729970" y="2961764"/>
            <a:ext cx="10884459" cy="2197213"/>
          </a:xfrm>
          <a:prstGeom prst="rect">
            <a:avLst/>
          </a:prstGeom>
        </p:spPr>
      </p:pic>
    </p:spTree>
    <p:extLst>
      <p:ext uri="{BB962C8B-B14F-4D97-AF65-F5344CB8AC3E}">
        <p14:creationId xmlns:p14="http://schemas.microsoft.com/office/powerpoint/2010/main" val="1253318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A284F-5BF9-3571-1211-D5FC6E64DBDE}"/>
              </a:ext>
            </a:extLst>
          </p:cNvPr>
          <p:cNvSpPr>
            <a:spLocks noGrp="1"/>
          </p:cNvSpPr>
          <p:nvPr>
            <p:ph type="title"/>
          </p:nvPr>
        </p:nvSpPr>
        <p:spPr>
          <a:xfrm>
            <a:off x="239486" y="245383"/>
            <a:ext cx="10515600" cy="266246"/>
          </a:xfrm>
        </p:spPr>
        <p:txBody>
          <a:bodyPr>
            <a:normAutofit fontScale="90000"/>
          </a:bodyPr>
          <a:lstStyle/>
          <a:p>
            <a:r>
              <a:rPr lang="en-IN" dirty="0"/>
              <a:t>Networking</a:t>
            </a:r>
          </a:p>
        </p:txBody>
      </p:sp>
      <p:pic>
        <p:nvPicPr>
          <p:cNvPr id="6" name="Picture 5">
            <a:extLst>
              <a:ext uri="{FF2B5EF4-FFF2-40B4-BE49-F238E27FC236}">
                <a16:creationId xmlns:a16="http://schemas.microsoft.com/office/drawing/2014/main" id="{03190E94-8D64-CC21-8E8F-805FA7F234B0}"/>
              </a:ext>
            </a:extLst>
          </p:cNvPr>
          <p:cNvPicPr>
            <a:picLocks noChangeAspect="1"/>
          </p:cNvPicPr>
          <p:nvPr/>
        </p:nvPicPr>
        <p:blipFill>
          <a:blip r:embed="rId2"/>
          <a:stretch>
            <a:fillRect/>
          </a:stretch>
        </p:blipFill>
        <p:spPr>
          <a:xfrm>
            <a:off x="495012" y="3948043"/>
            <a:ext cx="5600988" cy="1073205"/>
          </a:xfrm>
          <a:prstGeom prst="rect">
            <a:avLst/>
          </a:prstGeom>
        </p:spPr>
      </p:pic>
      <p:pic>
        <p:nvPicPr>
          <p:cNvPr id="8" name="Picture 7">
            <a:extLst>
              <a:ext uri="{FF2B5EF4-FFF2-40B4-BE49-F238E27FC236}">
                <a16:creationId xmlns:a16="http://schemas.microsoft.com/office/drawing/2014/main" id="{9EAA9699-A4CF-ACC2-0A42-E06A7434A3FB}"/>
              </a:ext>
            </a:extLst>
          </p:cNvPr>
          <p:cNvPicPr>
            <a:picLocks noChangeAspect="1"/>
          </p:cNvPicPr>
          <p:nvPr/>
        </p:nvPicPr>
        <p:blipFill>
          <a:blip r:embed="rId3"/>
          <a:stretch>
            <a:fillRect/>
          </a:stretch>
        </p:blipFill>
        <p:spPr>
          <a:xfrm>
            <a:off x="6337912" y="1368669"/>
            <a:ext cx="5734345" cy="2711589"/>
          </a:xfrm>
          <a:prstGeom prst="rect">
            <a:avLst/>
          </a:prstGeom>
        </p:spPr>
      </p:pic>
      <p:pic>
        <p:nvPicPr>
          <p:cNvPr id="10" name="Picture 9">
            <a:extLst>
              <a:ext uri="{FF2B5EF4-FFF2-40B4-BE49-F238E27FC236}">
                <a16:creationId xmlns:a16="http://schemas.microsoft.com/office/drawing/2014/main" id="{401E309C-CE09-0A96-FE03-9F250EFD5195}"/>
              </a:ext>
            </a:extLst>
          </p:cNvPr>
          <p:cNvPicPr>
            <a:picLocks noChangeAspect="1"/>
          </p:cNvPicPr>
          <p:nvPr/>
        </p:nvPicPr>
        <p:blipFill>
          <a:blip r:embed="rId4"/>
          <a:stretch>
            <a:fillRect/>
          </a:stretch>
        </p:blipFill>
        <p:spPr>
          <a:xfrm>
            <a:off x="431509" y="1368669"/>
            <a:ext cx="5664491" cy="2457576"/>
          </a:xfrm>
          <a:prstGeom prst="rect">
            <a:avLst/>
          </a:prstGeom>
        </p:spPr>
      </p:pic>
    </p:spTree>
    <p:extLst>
      <p:ext uri="{BB962C8B-B14F-4D97-AF65-F5344CB8AC3E}">
        <p14:creationId xmlns:p14="http://schemas.microsoft.com/office/powerpoint/2010/main" val="3923860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3037B3-4BE1-9D46-B951-7819A3CDDB24}"/>
              </a:ext>
            </a:extLst>
          </p:cNvPr>
          <p:cNvPicPr>
            <a:picLocks noChangeAspect="1"/>
          </p:cNvPicPr>
          <p:nvPr/>
        </p:nvPicPr>
        <p:blipFill>
          <a:blip r:embed="rId2"/>
          <a:stretch>
            <a:fillRect/>
          </a:stretch>
        </p:blipFill>
        <p:spPr>
          <a:xfrm>
            <a:off x="0" y="3414"/>
            <a:ext cx="12192000" cy="6851171"/>
          </a:xfrm>
          <a:prstGeom prst="rect">
            <a:avLst/>
          </a:prstGeom>
        </p:spPr>
      </p:pic>
    </p:spTree>
    <p:extLst>
      <p:ext uri="{BB962C8B-B14F-4D97-AF65-F5344CB8AC3E}">
        <p14:creationId xmlns:p14="http://schemas.microsoft.com/office/powerpoint/2010/main" val="3169041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A2E68-A279-1B35-1234-BE894C917E98}"/>
              </a:ext>
            </a:extLst>
          </p:cNvPr>
          <p:cNvSpPr>
            <a:spLocks noGrp="1"/>
          </p:cNvSpPr>
          <p:nvPr>
            <p:ph type="title"/>
          </p:nvPr>
        </p:nvSpPr>
        <p:spPr>
          <a:xfrm>
            <a:off x="381000" y="348343"/>
            <a:ext cx="10515600" cy="440418"/>
          </a:xfrm>
        </p:spPr>
        <p:txBody>
          <a:bodyPr>
            <a:normAutofit fontScale="90000"/>
          </a:bodyPr>
          <a:lstStyle/>
          <a:p>
            <a:r>
              <a:rPr lang="en-IN" dirty="0"/>
              <a:t>Storage</a:t>
            </a:r>
          </a:p>
        </p:txBody>
      </p:sp>
      <p:pic>
        <p:nvPicPr>
          <p:cNvPr id="4" name="Picture 3">
            <a:extLst>
              <a:ext uri="{FF2B5EF4-FFF2-40B4-BE49-F238E27FC236}">
                <a16:creationId xmlns:a16="http://schemas.microsoft.com/office/drawing/2014/main" id="{9F9440E4-0B4D-D4E1-994F-C8C3EF5632B5}"/>
              </a:ext>
            </a:extLst>
          </p:cNvPr>
          <p:cNvPicPr>
            <a:picLocks noChangeAspect="1"/>
          </p:cNvPicPr>
          <p:nvPr/>
        </p:nvPicPr>
        <p:blipFill>
          <a:blip r:embed="rId2"/>
          <a:stretch>
            <a:fillRect/>
          </a:stretch>
        </p:blipFill>
        <p:spPr>
          <a:xfrm>
            <a:off x="657299" y="1129284"/>
            <a:ext cx="10877401" cy="5130002"/>
          </a:xfrm>
          <a:prstGeom prst="rect">
            <a:avLst/>
          </a:prstGeom>
        </p:spPr>
      </p:pic>
    </p:spTree>
    <p:extLst>
      <p:ext uri="{BB962C8B-B14F-4D97-AF65-F5344CB8AC3E}">
        <p14:creationId xmlns:p14="http://schemas.microsoft.com/office/powerpoint/2010/main" val="1691895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84836C-BFD8-9C28-E185-9B3EE18DBC71}"/>
              </a:ext>
            </a:extLst>
          </p:cNvPr>
          <p:cNvPicPr>
            <a:picLocks noChangeAspect="1"/>
          </p:cNvPicPr>
          <p:nvPr/>
        </p:nvPicPr>
        <p:blipFill>
          <a:blip r:embed="rId2"/>
          <a:stretch>
            <a:fillRect/>
          </a:stretch>
        </p:blipFill>
        <p:spPr>
          <a:xfrm>
            <a:off x="533400" y="275555"/>
            <a:ext cx="11353800" cy="6436486"/>
          </a:xfrm>
          <a:prstGeom prst="rect">
            <a:avLst/>
          </a:prstGeom>
        </p:spPr>
      </p:pic>
    </p:spTree>
    <p:extLst>
      <p:ext uri="{BB962C8B-B14F-4D97-AF65-F5344CB8AC3E}">
        <p14:creationId xmlns:p14="http://schemas.microsoft.com/office/powerpoint/2010/main" val="1932420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8E2C3-F938-50FF-BD38-5E45CF9DFA31}"/>
              </a:ext>
            </a:extLst>
          </p:cNvPr>
          <p:cNvSpPr>
            <a:spLocks noGrp="1"/>
          </p:cNvSpPr>
          <p:nvPr>
            <p:ph type="title"/>
          </p:nvPr>
        </p:nvSpPr>
        <p:spPr>
          <a:xfrm>
            <a:off x="87086" y="175955"/>
            <a:ext cx="10515600" cy="385989"/>
          </a:xfrm>
        </p:spPr>
        <p:txBody>
          <a:bodyPr>
            <a:normAutofit fontScale="90000"/>
          </a:bodyPr>
          <a:lstStyle/>
          <a:p>
            <a:r>
              <a:rPr lang="en-IN" dirty="0"/>
              <a:t>Security</a:t>
            </a:r>
          </a:p>
        </p:txBody>
      </p:sp>
      <p:pic>
        <p:nvPicPr>
          <p:cNvPr id="4" name="Picture 3">
            <a:extLst>
              <a:ext uri="{FF2B5EF4-FFF2-40B4-BE49-F238E27FC236}">
                <a16:creationId xmlns:a16="http://schemas.microsoft.com/office/drawing/2014/main" id="{DFD14D15-8EC1-A6A3-D682-D62428DDF0C0}"/>
              </a:ext>
            </a:extLst>
          </p:cNvPr>
          <p:cNvPicPr>
            <a:picLocks noChangeAspect="1"/>
          </p:cNvPicPr>
          <p:nvPr/>
        </p:nvPicPr>
        <p:blipFill>
          <a:blip r:embed="rId2"/>
          <a:stretch>
            <a:fillRect/>
          </a:stretch>
        </p:blipFill>
        <p:spPr>
          <a:xfrm>
            <a:off x="367162" y="814493"/>
            <a:ext cx="5448259" cy="3037115"/>
          </a:xfrm>
          <a:prstGeom prst="rect">
            <a:avLst/>
          </a:prstGeom>
        </p:spPr>
      </p:pic>
      <p:pic>
        <p:nvPicPr>
          <p:cNvPr id="6" name="Picture 5">
            <a:extLst>
              <a:ext uri="{FF2B5EF4-FFF2-40B4-BE49-F238E27FC236}">
                <a16:creationId xmlns:a16="http://schemas.microsoft.com/office/drawing/2014/main" id="{082A43A7-2CF9-2C97-3370-179F92A17F62}"/>
              </a:ext>
            </a:extLst>
          </p:cNvPr>
          <p:cNvPicPr>
            <a:picLocks noChangeAspect="1"/>
          </p:cNvPicPr>
          <p:nvPr/>
        </p:nvPicPr>
        <p:blipFill>
          <a:blip r:embed="rId3"/>
          <a:stretch>
            <a:fillRect/>
          </a:stretch>
        </p:blipFill>
        <p:spPr>
          <a:xfrm>
            <a:off x="6494888" y="937745"/>
            <a:ext cx="4992366" cy="2913863"/>
          </a:xfrm>
          <a:prstGeom prst="rect">
            <a:avLst/>
          </a:prstGeom>
        </p:spPr>
      </p:pic>
      <p:sp>
        <p:nvSpPr>
          <p:cNvPr id="7" name="TextBox 6">
            <a:extLst>
              <a:ext uri="{FF2B5EF4-FFF2-40B4-BE49-F238E27FC236}">
                <a16:creationId xmlns:a16="http://schemas.microsoft.com/office/drawing/2014/main" id="{0E1E787C-8DCB-FF49-1210-ABD77DD80CD0}"/>
              </a:ext>
            </a:extLst>
          </p:cNvPr>
          <p:cNvSpPr txBox="1"/>
          <p:nvPr/>
        </p:nvSpPr>
        <p:spPr>
          <a:xfrm>
            <a:off x="2100943" y="4648200"/>
            <a:ext cx="8142514" cy="369332"/>
          </a:xfrm>
          <a:prstGeom prst="rect">
            <a:avLst/>
          </a:prstGeom>
          <a:noFill/>
        </p:spPr>
        <p:txBody>
          <a:bodyPr wrap="square" rtlCol="0">
            <a:spAutoFit/>
          </a:bodyPr>
          <a:lstStyle/>
          <a:p>
            <a:r>
              <a:rPr lang="en-IN" dirty="0">
                <a:solidFill>
                  <a:srgbClr val="FF0000"/>
                </a:solidFill>
              </a:rPr>
              <a:t>Important</a:t>
            </a:r>
            <a:r>
              <a:rPr lang="en-IN" dirty="0"/>
              <a:t> : Ability to sync on-prem Windows AD with cloud Azure AD</a:t>
            </a:r>
          </a:p>
        </p:txBody>
      </p:sp>
    </p:spTree>
    <p:extLst>
      <p:ext uri="{BB962C8B-B14F-4D97-AF65-F5344CB8AC3E}">
        <p14:creationId xmlns:p14="http://schemas.microsoft.com/office/powerpoint/2010/main" val="932987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F1988-9FAB-07B6-ABFA-87A1BC411B4A}"/>
              </a:ext>
            </a:extLst>
          </p:cNvPr>
          <p:cNvSpPr>
            <a:spLocks noGrp="1"/>
          </p:cNvSpPr>
          <p:nvPr>
            <p:ph type="title"/>
          </p:nvPr>
        </p:nvSpPr>
        <p:spPr>
          <a:xfrm>
            <a:off x="315686" y="114753"/>
            <a:ext cx="10515600" cy="494847"/>
          </a:xfrm>
        </p:spPr>
        <p:txBody>
          <a:bodyPr>
            <a:normAutofit fontScale="90000"/>
          </a:bodyPr>
          <a:lstStyle/>
          <a:p>
            <a:r>
              <a:rPr lang="en-IN" dirty="0"/>
              <a:t>Container</a:t>
            </a:r>
          </a:p>
        </p:txBody>
      </p:sp>
      <p:pic>
        <p:nvPicPr>
          <p:cNvPr id="4" name="Picture 3">
            <a:extLst>
              <a:ext uri="{FF2B5EF4-FFF2-40B4-BE49-F238E27FC236}">
                <a16:creationId xmlns:a16="http://schemas.microsoft.com/office/drawing/2014/main" id="{8B59216E-5990-DC0E-47AF-676231AE9AB6}"/>
              </a:ext>
            </a:extLst>
          </p:cNvPr>
          <p:cNvPicPr>
            <a:picLocks noChangeAspect="1"/>
          </p:cNvPicPr>
          <p:nvPr/>
        </p:nvPicPr>
        <p:blipFill>
          <a:blip r:embed="rId2"/>
          <a:stretch>
            <a:fillRect/>
          </a:stretch>
        </p:blipFill>
        <p:spPr>
          <a:xfrm>
            <a:off x="2579306" y="808855"/>
            <a:ext cx="7729465" cy="5934392"/>
          </a:xfrm>
          <a:prstGeom prst="rect">
            <a:avLst/>
          </a:prstGeom>
        </p:spPr>
      </p:pic>
    </p:spTree>
    <p:extLst>
      <p:ext uri="{BB962C8B-B14F-4D97-AF65-F5344CB8AC3E}">
        <p14:creationId xmlns:p14="http://schemas.microsoft.com/office/powerpoint/2010/main" val="321975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E9F5-4AEE-4CFF-D3CC-0B8541511CEC}"/>
              </a:ext>
            </a:extLst>
          </p:cNvPr>
          <p:cNvSpPr>
            <a:spLocks noGrp="1"/>
          </p:cNvSpPr>
          <p:nvPr>
            <p:ph type="title"/>
          </p:nvPr>
        </p:nvSpPr>
        <p:spPr>
          <a:xfrm>
            <a:off x="348343" y="201839"/>
            <a:ext cx="10515600" cy="396875"/>
          </a:xfrm>
        </p:spPr>
        <p:txBody>
          <a:bodyPr>
            <a:normAutofit fontScale="90000"/>
          </a:bodyPr>
          <a:lstStyle/>
          <a:p>
            <a:r>
              <a:rPr lang="en-IN" dirty="0"/>
              <a:t>Database</a:t>
            </a:r>
          </a:p>
        </p:txBody>
      </p:sp>
      <p:pic>
        <p:nvPicPr>
          <p:cNvPr id="4" name="Picture 3">
            <a:extLst>
              <a:ext uri="{FF2B5EF4-FFF2-40B4-BE49-F238E27FC236}">
                <a16:creationId xmlns:a16="http://schemas.microsoft.com/office/drawing/2014/main" id="{961E99F6-43AC-97CF-514C-F63458CA8D7E}"/>
              </a:ext>
            </a:extLst>
          </p:cNvPr>
          <p:cNvPicPr>
            <a:picLocks noChangeAspect="1"/>
          </p:cNvPicPr>
          <p:nvPr/>
        </p:nvPicPr>
        <p:blipFill>
          <a:blip r:embed="rId2"/>
          <a:stretch>
            <a:fillRect/>
          </a:stretch>
        </p:blipFill>
        <p:spPr>
          <a:xfrm>
            <a:off x="2762239" y="73661"/>
            <a:ext cx="7546531" cy="6784339"/>
          </a:xfrm>
          <a:prstGeom prst="rect">
            <a:avLst/>
          </a:prstGeom>
        </p:spPr>
      </p:pic>
    </p:spTree>
    <p:extLst>
      <p:ext uri="{BB962C8B-B14F-4D97-AF65-F5344CB8AC3E}">
        <p14:creationId xmlns:p14="http://schemas.microsoft.com/office/powerpoint/2010/main" val="2468431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FDC72-4AA4-3D9F-F22D-CCF6D1A6C864}"/>
              </a:ext>
            </a:extLst>
          </p:cNvPr>
          <p:cNvSpPr>
            <a:spLocks noGrp="1"/>
          </p:cNvSpPr>
          <p:nvPr>
            <p:ph type="title"/>
          </p:nvPr>
        </p:nvSpPr>
        <p:spPr>
          <a:xfrm>
            <a:off x="261257" y="125640"/>
            <a:ext cx="10515600" cy="375104"/>
          </a:xfrm>
        </p:spPr>
        <p:txBody>
          <a:bodyPr>
            <a:normAutofit fontScale="90000"/>
          </a:bodyPr>
          <a:lstStyle/>
          <a:p>
            <a:r>
              <a:rPr lang="en-IN" dirty="0"/>
              <a:t>Messaging</a:t>
            </a:r>
          </a:p>
        </p:txBody>
      </p:sp>
      <p:pic>
        <p:nvPicPr>
          <p:cNvPr id="4" name="Picture 3">
            <a:extLst>
              <a:ext uri="{FF2B5EF4-FFF2-40B4-BE49-F238E27FC236}">
                <a16:creationId xmlns:a16="http://schemas.microsoft.com/office/drawing/2014/main" id="{C710955C-970F-00FB-4010-28693274E94F}"/>
              </a:ext>
            </a:extLst>
          </p:cNvPr>
          <p:cNvPicPr>
            <a:picLocks noChangeAspect="1"/>
          </p:cNvPicPr>
          <p:nvPr/>
        </p:nvPicPr>
        <p:blipFill>
          <a:blip r:embed="rId2"/>
          <a:stretch>
            <a:fillRect/>
          </a:stretch>
        </p:blipFill>
        <p:spPr>
          <a:xfrm>
            <a:off x="2260904" y="881753"/>
            <a:ext cx="8145838" cy="5094494"/>
          </a:xfrm>
          <a:prstGeom prst="rect">
            <a:avLst/>
          </a:prstGeom>
        </p:spPr>
      </p:pic>
    </p:spTree>
    <p:extLst>
      <p:ext uri="{BB962C8B-B14F-4D97-AF65-F5344CB8AC3E}">
        <p14:creationId xmlns:p14="http://schemas.microsoft.com/office/powerpoint/2010/main" val="3443169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06A8C-8F4F-75E3-628A-49C5F96BE055}"/>
              </a:ext>
            </a:extLst>
          </p:cNvPr>
          <p:cNvSpPr>
            <a:spLocks noGrp="1"/>
          </p:cNvSpPr>
          <p:nvPr>
            <p:ph type="title"/>
          </p:nvPr>
        </p:nvSpPr>
        <p:spPr>
          <a:xfrm>
            <a:off x="195943" y="245382"/>
            <a:ext cx="10515600" cy="320675"/>
          </a:xfrm>
        </p:spPr>
        <p:txBody>
          <a:bodyPr>
            <a:normAutofit fontScale="90000"/>
          </a:bodyPr>
          <a:lstStyle/>
          <a:p>
            <a:r>
              <a:rPr lang="en-IN" dirty="0"/>
              <a:t>Serverless- Azure Functions</a:t>
            </a:r>
          </a:p>
        </p:txBody>
      </p:sp>
      <p:pic>
        <p:nvPicPr>
          <p:cNvPr id="4" name="Picture 3">
            <a:extLst>
              <a:ext uri="{FF2B5EF4-FFF2-40B4-BE49-F238E27FC236}">
                <a16:creationId xmlns:a16="http://schemas.microsoft.com/office/drawing/2014/main" id="{BCA3CC05-25FF-F3D1-E7F5-0D86519882BC}"/>
              </a:ext>
            </a:extLst>
          </p:cNvPr>
          <p:cNvPicPr>
            <a:picLocks noChangeAspect="1"/>
          </p:cNvPicPr>
          <p:nvPr/>
        </p:nvPicPr>
        <p:blipFill>
          <a:blip r:embed="rId2"/>
          <a:stretch>
            <a:fillRect/>
          </a:stretch>
        </p:blipFill>
        <p:spPr>
          <a:xfrm>
            <a:off x="949060" y="1873170"/>
            <a:ext cx="10293879" cy="3111660"/>
          </a:xfrm>
          <a:prstGeom prst="rect">
            <a:avLst/>
          </a:prstGeom>
        </p:spPr>
      </p:pic>
    </p:spTree>
    <p:extLst>
      <p:ext uri="{BB962C8B-B14F-4D97-AF65-F5344CB8AC3E}">
        <p14:creationId xmlns:p14="http://schemas.microsoft.com/office/powerpoint/2010/main" val="5460603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A7A9-302C-D835-F91C-FEC513355CA1}"/>
              </a:ext>
            </a:extLst>
          </p:cNvPr>
          <p:cNvSpPr>
            <a:spLocks noGrp="1"/>
          </p:cNvSpPr>
          <p:nvPr>
            <p:ph type="title"/>
          </p:nvPr>
        </p:nvSpPr>
        <p:spPr>
          <a:xfrm>
            <a:off x="0" y="234498"/>
            <a:ext cx="10515600" cy="70304"/>
          </a:xfrm>
        </p:spPr>
        <p:txBody>
          <a:bodyPr>
            <a:normAutofit fontScale="90000"/>
          </a:bodyPr>
          <a:lstStyle/>
          <a:p>
            <a:r>
              <a:rPr lang="en-IN" dirty="0"/>
              <a:t>DevOps</a:t>
            </a:r>
          </a:p>
        </p:txBody>
      </p:sp>
      <p:pic>
        <p:nvPicPr>
          <p:cNvPr id="4" name="Picture 3">
            <a:extLst>
              <a:ext uri="{FF2B5EF4-FFF2-40B4-BE49-F238E27FC236}">
                <a16:creationId xmlns:a16="http://schemas.microsoft.com/office/drawing/2014/main" id="{2D4FE23E-53DA-A51F-D241-D4258AFF0DBE}"/>
              </a:ext>
            </a:extLst>
          </p:cNvPr>
          <p:cNvPicPr>
            <a:picLocks noChangeAspect="1"/>
          </p:cNvPicPr>
          <p:nvPr/>
        </p:nvPicPr>
        <p:blipFill>
          <a:blip r:embed="rId2"/>
          <a:stretch>
            <a:fillRect/>
          </a:stretch>
        </p:blipFill>
        <p:spPr>
          <a:xfrm>
            <a:off x="930009" y="1701711"/>
            <a:ext cx="10331981" cy="3454578"/>
          </a:xfrm>
          <a:prstGeom prst="rect">
            <a:avLst/>
          </a:prstGeom>
        </p:spPr>
      </p:pic>
    </p:spTree>
    <p:extLst>
      <p:ext uri="{BB962C8B-B14F-4D97-AF65-F5344CB8AC3E}">
        <p14:creationId xmlns:p14="http://schemas.microsoft.com/office/powerpoint/2010/main" val="3555543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AC42B3-7851-758C-0947-067AE1DA6EA0}"/>
              </a:ext>
            </a:extLst>
          </p:cNvPr>
          <p:cNvPicPr>
            <a:picLocks noChangeAspect="1"/>
          </p:cNvPicPr>
          <p:nvPr/>
        </p:nvPicPr>
        <p:blipFill>
          <a:blip r:embed="rId2"/>
          <a:stretch>
            <a:fillRect/>
          </a:stretch>
        </p:blipFill>
        <p:spPr>
          <a:xfrm>
            <a:off x="2166257" y="372745"/>
            <a:ext cx="7180639" cy="6112509"/>
          </a:xfrm>
          <a:prstGeom prst="rect">
            <a:avLst/>
          </a:prstGeom>
        </p:spPr>
      </p:pic>
    </p:spTree>
    <p:extLst>
      <p:ext uri="{BB962C8B-B14F-4D97-AF65-F5344CB8AC3E}">
        <p14:creationId xmlns:p14="http://schemas.microsoft.com/office/powerpoint/2010/main" val="35178812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270AC-5033-FCC4-4635-4BDF25778F37}"/>
              </a:ext>
            </a:extLst>
          </p:cNvPr>
          <p:cNvSpPr>
            <a:spLocks noGrp="1"/>
          </p:cNvSpPr>
          <p:nvPr>
            <p:ph type="title"/>
          </p:nvPr>
        </p:nvSpPr>
        <p:spPr>
          <a:xfrm>
            <a:off x="3298371" y="2640239"/>
            <a:ext cx="5671458" cy="1325563"/>
          </a:xfrm>
        </p:spPr>
        <p:txBody>
          <a:bodyPr/>
          <a:lstStyle/>
          <a:p>
            <a:pPr algn="ctr"/>
            <a:r>
              <a:rPr lang="en-IN" dirty="0"/>
              <a:t>VMWare Tanzu</a:t>
            </a:r>
          </a:p>
        </p:txBody>
      </p:sp>
    </p:spTree>
    <p:extLst>
      <p:ext uri="{BB962C8B-B14F-4D97-AF65-F5344CB8AC3E}">
        <p14:creationId xmlns:p14="http://schemas.microsoft.com/office/powerpoint/2010/main" val="9177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04A57-F857-1F2E-8937-1B20CA5C9475}"/>
              </a:ext>
            </a:extLst>
          </p:cNvPr>
          <p:cNvSpPr>
            <a:spLocks noGrp="1"/>
          </p:cNvSpPr>
          <p:nvPr>
            <p:ph type="title"/>
          </p:nvPr>
        </p:nvSpPr>
        <p:spPr>
          <a:xfrm>
            <a:off x="838200" y="365126"/>
            <a:ext cx="10515600" cy="288018"/>
          </a:xfrm>
        </p:spPr>
        <p:txBody>
          <a:bodyPr>
            <a:normAutofit fontScale="90000"/>
          </a:bodyPr>
          <a:lstStyle/>
          <a:p>
            <a:r>
              <a:rPr lang="en-IN" dirty="0"/>
              <a:t>Tanzu Application Service – PaaS (PCF)</a:t>
            </a:r>
          </a:p>
        </p:txBody>
      </p:sp>
      <p:sp>
        <p:nvSpPr>
          <p:cNvPr id="4" name="TextBox 3">
            <a:extLst>
              <a:ext uri="{FF2B5EF4-FFF2-40B4-BE49-F238E27FC236}">
                <a16:creationId xmlns:a16="http://schemas.microsoft.com/office/drawing/2014/main" id="{6A28E496-A1AF-DEDF-4F0D-88C8D596751E}"/>
              </a:ext>
            </a:extLst>
          </p:cNvPr>
          <p:cNvSpPr txBox="1"/>
          <p:nvPr/>
        </p:nvSpPr>
        <p:spPr>
          <a:xfrm>
            <a:off x="1382486" y="1444510"/>
            <a:ext cx="9829800" cy="3416320"/>
          </a:xfrm>
          <a:prstGeom prst="rect">
            <a:avLst/>
          </a:prstGeom>
          <a:noFill/>
        </p:spPr>
        <p:txBody>
          <a:bodyPr wrap="square">
            <a:spAutoFit/>
          </a:bodyPr>
          <a:lstStyle/>
          <a:p>
            <a:r>
              <a:rPr lang="en-US" dirty="0"/>
              <a:t>TAS is based on Cloud Foundry technology, an open-source application platform whose tangled origins go back to VMware in 2009. It was then spun out to Pivotal Software, which handed the core software to the Cloud Foundry Foundation and was then re-acquired by VMware to become part of Tanzu. TAS, and Cloud Foundry, uses BOSH to package and deploy applications. "TAS does not run on Kubernetes. TAS runs on BOSH," said </a:t>
            </a:r>
            <a:r>
              <a:rPr lang="en-US" dirty="0" err="1"/>
              <a:t>McLuckie</a:t>
            </a:r>
            <a:r>
              <a:rPr lang="en-US" dirty="0"/>
              <a:t>. "We have invested significantly in work to get TAS on Kubernetes, but what we discovered was, to get to the full Zen of TAS, the three Rs, that fully orchestrated repaving of your application, rotating of certificates, </a:t>
            </a:r>
            <a:r>
              <a:rPr lang="en-US" dirty="0" err="1"/>
              <a:t>etc</a:t>
            </a:r>
            <a:r>
              <a:rPr lang="en-US" dirty="0"/>
              <a:t>, was going to take a fair bit of work."</a:t>
            </a:r>
          </a:p>
          <a:p>
            <a:endParaRPr lang="en-US" dirty="0"/>
          </a:p>
          <a:p>
            <a:r>
              <a:rPr lang="en-US" dirty="0"/>
              <a:t>The company made the decision to create </a:t>
            </a:r>
            <a:r>
              <a:rPr lang="en-US" b="1" dirty="0"/>
              <a:t>TAP as an alternative platform optimized for Kubernetes</a:t>
            </a:r>
            <a:r>
              <a:rPr lang="en-US" dirty="0"/>
              <a:t>, rather than adapting TAS. "Our intent is to product TAS-compatible APIs on top of this eventually, because there is value in converging everything on a united baseline, but the reality for most of our customers is that TAS works pretty well for what it does.</a:t>
            </a:r>
            <a:endParaRPr lang="en-IN" dirty="0"/>
          </a:p>
        </p:txBody>
      </p:sp>
    </p:spTree>
    <p:extLst>
      <p:ext uri="{BB962C8B-B14F-4D97-AF65-F5344CB8AC3E}">
        <p14:creationId xmlns:p14="http://schemas.microsoft.com/office/powerpoint/2010/main" val="1967755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CA68A4-DFB8-6062-749F-67F50376E775}"/>
              </a:ext>
            </a:extLst>
          </p:cNvPr>
          <p:cNvSpPr txBox="1">
            <a:spLocks/>
          </p:cNvSpPr>
          <p:nvPr/>
        </p:nvSpPr>
        <p:spPr>
          <a:xfrm>
            <a:off x="337457" y="186008"/>
            <a:ext cx="11745686" cy="80285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Tanzu Application Platform - PaaS for </a:t>
            </a:r>
            <a:r>
              <a:rPr lang="en-IN" b="1" dirty="0"/>
              <a:t>Kubernetes</a:t>
            </a:r>
          </a:p>
        </p:txBody>
      </p:sp>
      <p:pic>
        <p:nvPicPr>
          <p:cNvPr id="1026" name="Picture 2">
            <a:extLst>
              <a:ext uri="{FF2B5EF4-FFF2-40B4-BE49-F238E27FC236}">
                <a16:creationId xmlns:a16="http://schemas.microsoft.com/office/drawing/2014/main" id="{1835F8BD-15B7-D6C2-DDB8-823B020F8F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7" y="1129394"/>
            <a:ext cx="11058525" cy="544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480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270AC-5033-FCC4-4635-4BDF25778F37}"/>
              </a:ext>
            </a:extLst>
          </p:cNvPr>
          <p:cNvSpPr>
            <a:spLocks noGrp="1"/>
          </p:cNvSpPr>
          <p:nvPr>
            <p:ph type="title"/>
          </p:nvPr>
        </p:nvSpPr>
        <p:spPr>
          <a:xfrm>
            <a:off x="3298371" y="2640239"/>
            <a:ext cx="5671458" cy="1325563"/>
          </a:xfrm>
        </p:spPr>
        <p:txBody>
          <a:bodyPr/>
          <a:lstStyle/>
          <a:p>
            <a:pPr algn="ctr"/>
            <a:r>
              <a:rPr lang="en-IN" dirty="0"/>
              <a:t>Red Hat OpenShift</a:t>
            </a:r>
          </a:p>
        </p:txBody>
      </p:sp>
    </p:spTree>
    <p:extLst>
      <p:ext uri="{BB962C8B-B14F-4D97-AF65-F5344CB8AC3E}">
        <p14:creationId xmlns:p14="http://schemas.microsoft.com/office/powerpoint/2010/main" val="3310608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A1682-1E69-AFDC-6B85-93109E22A554}"/>
              </a:ext>
            </a:extLst>
          </p:cNvPr>
          <p:cNvSpPr>
            <a:spLocks noGrp="1"/>
          </p:cNvSpPr>
          <p:nvPr>
            <p:ph type="title"/>
          </p:nvPr>
        </p:nvSpPr>
        <p:spPr>
          <a:xfrm>
            <a:off x="272143" y="180068"/>
            <a:ext cx="10515600" cy="505732"/>
          </a:xfrm>
        </p:spPr>
        <p:txBody>
          <a:bodyPr>
            <a:normAutofit fontScale="90000"/>
          </a:bodyPr>
          <a:lstStyle/>
          <a:p>
            <a:r>
              <a:rPr lang="en-IN" i="0" dirty="0">
                <a:solidFill>
                  <a:srgbClr val="202122"/>
                </a:solidFill>
                <a:effectLst/>
                <a:latin typeface="Arial" panose="020B0604020202020204" pitchFamily="34" charset="0"/>
              </a:rPr>
              <a:t>OpenShift Container Platform</a:t>
            </a:r>
            <a:endParaRPr lang="en-IN" dirty="0"/>
          </a:p>
        </p:txBody>
      </p:sp>
      <p:sp>
        <p:nvSpPr>
          <p:cNvPr id="4" name="TextBox 3">
            <a:extLst>
              <a:ext uri="{FF2B5EF4-FFF2-40B4-BE49-F238E27FC236}">
                <a16:creationId xmlns:a16="http://schemas.microsoft.com/office/drawing/2014/main" id="{248F9AB9-7DF0-4809-17DA-B4606A7510D4}"/>
              </a:ext>
            </a:extLst>
          </p:cNvPr>
          <p:cNvSpPr txBox="1"/>
          <p:nvPr/>
        </p:nvSpPr>
        <p:spPr>
          <a:xfrm>
            <a:off x="1774371" y="1944078"/>
            <a:ext cx="7369629" cy="646331"/>
          </a:xfrm>
          <a:prstGeom prst="rect">
            <a:avLst/>
          </a:prstGeom>
          <a:noFill/>
        </p:spPr>
        <p:txBody>
          <a:bodyPr wrap="square">
            <a:spAutoFit/>
          </a:bodyPr>
          <a:lstStyle/>
          <a:p>
            <a:r>
              <a:rPr lang="en-US" dirty="0"/>
              <a:t>a hybrid cloud PaaS built around Linux containers orchestrated and managed by Kubernetes on a foundation of RHEL</a:t>
            </a:r>
            <a:endParaRPr lang="en-IN" dirty="0"/>
          </a:p>
        </p:txBody>
      </p:sp>
    </p:spTree>
    <p:extLst>
      <p:ext uri="{BB962C8B-B14F-4D97-AF65-F5344CB8AC3E}">
        <p14:creationId xmlns:p14="http://schemas.microsoft.com/office/powerpoint/2010/main" val="1094203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838200" y="1825625"/>
            <a:ext cx="10515600" cy="1788432"/>
          </a:xfrm>
        </p:spPr>
        <p:txBody>
          <a:bodyPr>
            <a:normAutofit fontScale="55000" lnSpcReduction="20000"/>
          </a:bodyPr>
          <a:lstStyle/>
          <a:p>
            <a:r>
              <a:rPr lang="en-US" dirty="0">
                <a:hlinkClick r:id="rId2"/>
              </a:rPr>
              <a:t>https://www.slideshare.net/AmazonWebServices/aws-technical-essentials-day-234995748</a:t>
            </a:r>
            <a:r>
              <a:rPr lang="en-US" dirty="0"/>
              <a:t> </a:t>
            </a:r>
          </a:p>
          <a:p>
            <a:r>
              <a:rPr lang="en-US" dirty="0">
                <a:hlinkClick r:id="rId3"/>
              </a:rPr>
              <a:t>https://docs.aws.amazon.com/whitepapers/latest/aws-overview/introduction.html</a:t>
            </a:r>
            <a:r>
              <a:rPr lang="en-US" dirty="0"/>
              <a:t> </a:t>
            </a:r>
          </a:p>
          <a:p>
            <a:r>
              <a:rPr lang="en-US" dirty="0">
                <a:hlinkClick r:id="rId4"/>
              </a:rPr>
              <a:t>https://azure.microsoft.com/en-in/products</a:t>
            </a:r>
            <a:r>
              <a:rPr lang="en-US" dirty="0"/>
              <a:t> </a:t>
            </a:r>
          </a:p>
          <a:p>
            <a:r>
              <a:rPr lang="en-US" dirty="0">
                <a:hlinkClick r:id="rId5"/>
              </a:rPr>
              <a:t>https://learn.microsoft.com/en-us/azure/architecture/aws-professional/services</a:t>
            </a:r>
            <a:r>
              <a:rPr lang="en-US" dirty="0"/>
              <a:t> </a:t>
            </a:r>
          </a:p>
          <a:p>
            <a:r>
              <a:rPr lang="en-US" dirty="0">
                <a:hlinkClick r:id="rId6"/>
              </a:rPr>
              <a:t>https://www.slideshare.net/d501159/microsoft-azure-cloud-services-102313997</a:t>
            </a:r>
            <a:r>
              <a:rPr lang="en-US" dirty="0"/>
              <a:t> </a:t>
            </a:r>
          </a:p>
          <a:p>
            <a:r>
              <a:rPr lang="en-US" dirty="0">
                <a:hlinkClick r:id="rId7"/>
              </a:rPr>
              <a:t>https://tanzu.vmware.com/developer/tv/talk/141/</a:t>
            </a:r>
            <a:r>
              <a:rPr lang="en-US" dirty="0"/>
              <a:t> </a:t>
            </a:r>
          </a:p>
        </p:txBody>
      </p:sp>
    </p:spTree>
    <p:extLst>
      <p:ext uri="{BB962C8B-B14F-4D97-AF65-F5344CB8AC3E}">
        <p14:creationId xmlns:p14="http://schemas.microsoft.com/office/powerpoint/2010/main" val="1074557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899</TotalTime>
  <Words>1385</Words>
  <Application>Microsoft Office PowerPoint</Application>
  <PresentationFormat>Widescreen</PresentationFormat>
  <Paragraphs>108</Paragraphs>
  <Slides>40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Amazon Ember Display</vt:lpstr>
      <vt:lpstr>AmazonEmber</vt:lpstr>
      <vt:lpstr>Arial</vt:lpstr>
      <vt:lpstr>Calibri</vt:lpstr>
      <vt:lpstr>Calibri Light</vt:lpstr>
      <vt:lpstr>Office Theme</vt:lpstr>
      <vt:lpstr>Cloud (AWS, Azure, PCF)</vt:lpstr>
      <vt:lpstr>PowerPoint Presentation</vt:lpstr>
      <vt:lpstr>AWS</vt:lpstr>
      <vt:lpstr>Availability</vt:lpstr>
      <vt:lpstr>Compute - VM</vt:lpstr>
      <vt:lpstr>Compute - PaaS</vt:lpstr>
      <vt:lpstr>Networking - VPC</vt:lpstr>
      <vt:lpstr>Networking – ACL &amp; Security Group</vt:lpstr>
      <vt:lpstr>Networking – Route 53</vt:lpstr>
      <vt:lpstr>Networking – Elastic Load Balancing</vt:lpstr>
      <vt:lpstr>Storage –S3, S3 Glacier</vt:lpstr>
      <vt:lpstr>Storage – EBS, EFS</vt:lpstr>
      <vt:lpstr>Security</vt:lpstr>
      <vt:lpstr>Container</vt:lpstr>
      <vt:lpstr>Database</vt:lpstr>
      <vt:lpstr>Messaging</vt:lpstr>
      <vt:lpstr>Serverless</vt:lpstr>
      <vt:lpstr>Monitoring</vt:lpstr>
      <vt:lpstr>DevOps</vt:lpstr>
      <vt:lpstr>AI/ML</vt:lpstr>
      <vt:lpstr>Azure</vt:lpstr>
      <vt:lpstr>Compute - VM</vt:lpstr>
      <vt:lpstr>Compute - PaaS</vt:lpstr>
      <vt:lpstr>Networking</vt:lpstr>
      <vt:lpstr>PowerPoint Presentation</vt:lpstr>
      <vt:lpstr>Storage</vt:lpstr>
      <vt:lpstr>PowerPoint Presentation</vt:lpstr>
      <vt:lpstr>Security</vt:lpstr>
      <vt:lpstr>Container</vt:lpstr>
      <vt:lpstr>Database</vt:lpstr>
      <vt:lpstr>Messaging</vt:lpstr>
      <vt:lpstr>Serverless- Azure Functions</vt:lpstr>
      <vt:lpstr>DevOps</vt:lpstr>
      <vt:lpstr>PowerPoint Presentation</vt:lpstr>
      <vt:lpstr>VMWare Tanzu</vt:lpstr>
      <vt:lpstr>Tanzu Application Service – PaaS (PCF)</vt:lpstr>
      <vt:lpstr>PowerPoint Presentation</vt:lpstr>
      <vt:lpstr>Red Hat OpenShift</vt:lpstr>
      <vt:lpstr>OpenShift Container Platform</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(AWS, Azure, PCF)</dc:title>
  <dc:creator>Urmisha Sengupta</dc:creator>
  <cp:lastModifiedBy>Urmisha Sengupta</cp:lastModifiedBy>
  <cp:revision>181</cp:revision>
  <dcterms:created xsi:type="dcterms:W3CDTF">2023-11-21T04:36:29Z</dcterms:created>
  <dcterms:modified xsi:type="dcterms:W3CDTF">2025-05-01T12:48:38Z</dcterms:modified>
</cp:coreProperties>
</file>