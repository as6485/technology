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8" r:id="rId4"/>
    <p:sldId id="269" r:id="rId5"/>
    <p:sldId id="270" r:id="rId6"/>
    <p:sldId id="271" r:id="rId7"/>
    <p:sldId id="267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0CEC7-BB26-2898-662A-42198E6BEF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6870A2-123D-C29E-6625-36081435E6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E6C9ED-89FD-FC0D-B4A3-A489D2576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7FAA-67DB-41A7-B310-BFE150157C5B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41AF01-5976-7937-D0E2-9C16059D1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99129F-0D91-FEFC-D3F8-1A9CA77D6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B201C-14C4-4D75-8E20-2B6526C16A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3706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F4669-4E53-3943-0449-57EFCE91E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F980B2-BB23-AD16-17F8-EE4059E58F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F985DE-0306-908F-C6D9-5E8EC5B44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7FAA-67DB-41A7-B310-BFE150157C5B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5FF403-7599-B543-4116-4F3DC6E99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215B40-8316-024C-ABF8-7306AF0C1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B201C-14C4-4D75-8E20-2B6526C16A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53476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201C3-5E9C-91AE-9B9E-749E8D3AB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7E2E1C-999C-09E5-8C50-2C4D8A9B7C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9E351D-DA14-5CC4-4DCB-A609CD06A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7FAA-67DB-41A7-B310-BFE150157C5B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9918D1-2B2D-BA5D-3E54-002364C34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C2AFEF-57A6-F132-CCB0-EECF3BE03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B201C-14C4-4D75-8E20-2B6526C16A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96300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B362A-62A4-67F4-5D4F-C4F98B6DA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35D53-5537-BA88-AF57-4064C475CC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427289-CC2A-790B-86CB-7A91957D95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B93114-ED38-726F-0D9A-87A43CCF2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7FAA-67DB-41A7-B310-BFE150157C5B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CF5324-331D-C7E3-22A4-68315F264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8699E9-A7CA-BF1D-C0DA-801405EDE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B201C-14C4-4D75-8E20-2B6526C16A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72380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92647-42A3-5639-AF67-0ED16270A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21272E-9008-65FC-A49D-03E106AD00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F92E02-3801-638D-5C79-D16ADC4C33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86C8D9-1FB7-F23F-23AE-307C4D91F9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AED3C8-7163-8F54-ADF6-66318D9325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144039F-5E19-E6EC-822D-17A0D920E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7FAA-67DB-41A7-B310-BFE150157C5B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84215C-428C-ADD1-7B0F-038861C5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FE2D070-367A-E31A-B6CC-E3C2E818D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B201C-14C4-4D75-8E20-2B6526C16A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23776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7754E-4FA6-3A0A-1A2C-A5F49E85B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599EB8-F095-AACD-97B6-FFE36578D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7FAA-67DB-41A7-B310-BFE150157C5B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857078-918E-429D-E3FE-0F686C169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FC0CF2-8E6F-65C8-F9AE-A20C7C109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B201C-14C4-4D75-8E20-2B6526C16A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3793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94539A-0EC2-B375-B2A8-59CC9C95D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7FAA-67DB-41A7-B310-BFE150157C5B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F56001-D3CC-A4E1-4130-6845CE2B1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116D2A-D1D4-213E-BDAE-2D7D0772C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B201C-14C4-4D75-8E20-2B6526C16A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94452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15665-2FAC-2314-8015-8BCF2D6A45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E69FF8-D6DC-CE03-ADB3-A9DA5EF632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210F47-4EC8-53A6-6159-085B26E20D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62C29B-B92A-DFA7-38A3-AEF93250A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7FAA-67DB-41A7-B310-BFE150157C5B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202C37-0356-C443-9414-A673A4232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9E697A-8632-9E35-3A6F-3CD7D41B8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B201C-14C4-4D75-8E20-2B6526C16A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11189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F5200-76E7-C7C9-5948-5225201C7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FF8B2B-D74E-FE7C-21B5-2249D4D440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E8650D-2F91-87A5-30FB-9E08D5AA72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5C2C7D-B543-EF48-799D-B39504A18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7FAA-67DB-41A7-B310-BFE150157C5B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241D18-50CF-A2F4-7395-33495C5D7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2E698A-E095-25A6-F6CD-98091DDBD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B201C-14C4-4D75-8E20-2B6526C16A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56870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ED743-37D4-88A9-6F5D-C6702DAB44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E74CC5-7734-81CE-F486-5FE59B8617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0BC168-128D-34B7-4EA9-95E7C5047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7FAA-67DB-41A7-B310-BFE150157C5B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9B7033-5743-00E8-AD32-A1B4FBEB3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451ED3-10A6-A2F7-7E87-E132C01FD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B201C-14C4-4D75-8E20-2B6526C16A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96391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B2162C4-89FF-4DA2-D76C-1B548CE0FF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3D78CD-F28A-173A-700C-88E2D04696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ACF4A9-593B-EEE7-72D9-27E637A4C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7FAA-67DB-41A7-B310-BFE150157C5B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0E1F4E-5D30-86A1-9023-E6FF9C600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EAB646-5850-7A2F-FBF1-D81326487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B201C-14C4-4D75-8E20-2B6526C16A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66213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D6724E-8E3D-4DD8-B024-0CDEF17893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15B470-830F-4CE1-5735-FA8DE01488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44B647-51B4-7277-BDA9-704C32E1AF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407FAA-67DB-41A7-B310-BFE150157C5B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4B64CE-B13B-2DCD-7B4C-D4B1DF8DDF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A77883-0F51-1ED2-65CE-5D64CA23C7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5B201C-14C4-4D75-8E20-2B6526C16A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8672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www.youtube.com/watch?v=4MtpLt39WQU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wa4ehhzYZrA&amp;list=PLOjnr_4lopxbTz-W1rF9PiYU2JYjqCUMw&amp;index=4" TargetMode="External"/><Relationship Id="rId2" Type="http://schemas.openxmlformats.org/officeDocument/2006/relationships/hyperlink" Target="https://www.youtube.com/watch?v=mEQzR9cTnn8&amp;list=PLOjnr_4lopxbTz-W1rF9PiYU2JYjqCUMw&amp;index=2" TargetMode="Externa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C884E-A632-A081-5CBA-AD8BB8C40E2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BPMN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90B4F2-396F-D4AC-38E6-568AA97804D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Ayan Sengupta</a:t>
            </a:r>
          </a:p>
        </p:txBody>
      </p:sp>
    </p:spTree>
    <p:extLst>
      <p:ext uri="{BB962C8B-B14F-4D97-AF65-F5344CB8AC3E}">
        <p14:creationId xmlns:p14="http://schemas.microsoft.com/office/powerpoint/2010/main" val="364333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BE30F55-441A-DE9E-0EDE-4F3A7AEDDD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4168" y="147984"/>
            <a:ext cx="9350162" cy="6353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564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5800ED1-E665-808D-7083-F3E067E075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467" y="528232"/>
            <a:ext cx="9431066" cy="5801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993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A05347F-B64F-604E-2E8B-E3488400D339}"/>
              </a:ext>
            </a:extLst>
          </p:cNvPr>
          <p:cNvSpPr txBox="1"/>
          <p:nvPr/>
        </p:nvSpPr>
        <p:spPr>
          <a:xfrm>
            <a:off x="2509266" y="5996346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 </a:t>
            </a:r>
            <a:r>
              <a:rPr lang="en-IN" dirty="0">
                <a:hlinkClick r:id="rId2"/>
              </a:rPr>
              <a:t>https://www.youtube.com/watch?v=4MtpLt39WQU</a:t>
            </a:r>
            <a:r>
              <a:rPr lang="en-IN" dirty="0"/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6B73A1-E7D9-90FF-56CF-7725F6C68A89}"/>
              </a:ext>
            </a:extLst>
          </p:cNvPr>
          <p:cNvSpPr txBox="1"/>
          <p:nvPr/>
        </p:nvSpPr>
        <p:spPr>
          <a:xfrm>
            <a:off x="2020824" y="374904"/>
            <a:ext cx="5751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Comparison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E0CF26A-D851-03DB-AA04-07EAE104C0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12524"/>
            <a:ext cx="5306568" cy="299188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3732560-91E0-CD7D-A0C5-30FA22D5F0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2066" y="907374"/>
            <a:ext cx="5408530" cy="2974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03002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8D0C3-2B56-AF0D-E6FB-EE6935190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384683"/>
          </a:xfrm>
        </p:spPr>
        <p:txBody>
          <a:bodyPr>
            <a:normAutofit fontScale="90000"/>
          </a:bodyPr>
          <a:lstStyle/>
          <a:p>
            <a:r>
              <a:rPr lang="en-IN" dirty="0"/>
              <a:t>Comparison - General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326E4F7-F8CC-311A-59FC-80E4D34E6F75}"/>
              </a:ext>
            </a:extLst>
          </p:cNvPr>
          <p:cNvSpPr txBox="1"/>
          <p:nvPr/>
        </p:nvSpPr>
        <p:spPr>
          <a:xfrm>
            <a:off x="6446520" y="978408"/>
            <a:ext cx="4709160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/>
              <a:t>Detailed Product Insights</a:t>
            </a:r>
          </a:p>
          <a:p>
            <a:r>
              <a:rPr lang="en-US" sz="1000" b="1" dirty="0"/>
              <a:t>1. </a:t>
            </a:r>
            <a:r>
              <a:rPr lang="en-US" sz="1000" b="1" dirty="0" err="1"/>
              <a:t>jBPM</a:t>
            </a:r>
            <a:r>
              <a:rPr lang="en-US" sz="1000" b="1" dirty="0"/>
              <a:t> (by Red Hat)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Unique Selling Point: It is the only engine with a built-in Business Rules Management System (</a:t>
            </a:r>
            <a:r>
              <a:rPr lang="en-US" sz="1000" dirty="0">
                <a:highlight>
                  <a:srgbClr val="FFFF00"/>
                </a:highlight>
              </a:rPr>
              <a:t>Drools</a:t>
            </a:r>
            <a:r>
              <a:rPr lang="en-US" sz="1000" dirty="0"/>
              <a:t>), allowing for advanced rule-based decisioning out-of-the-box.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Architecture: Heavily investing in the </a:t>
            </a:r>
            <a:r>
              <a:rPr lang="en-US" sz="1000" dirty="0" err="1"/>
              <a:t>Kogito</a:t>
            </a:r>
            <a:r>
              <a:rPr lang="en-US" sz="1000" dirty="0"/>
              <a:t> project, which is a next-generation, cloud-native, and serverless-ready evolution of </a:t>
            </a:r>
            <a:r>
              <a:rPr lang="en-US" sz="1000" dirty="0" err="1"/>
              <a:t>jBPM</a:t>
            </a:r>
            <a:r>
              <a:rPr lang="en-US" sz="1000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Licensing: Offers a very open model where the community version is essentially the enterprise version minus the Red Hat support. </a:t>
            </a:r>
          </a:p>
          <a:p>
            <a:endParaRPr lang="en-US" sz="1000" b="1" dirty="0"/>
          </a:p>
          <a:p>
            <a:r>
              <a:rPr lang="en-US" sz="1000" b="1" dirty="0"/>
              <a:t>2. Camunda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Focus: Shifting toward Process Orchestration. With Camunda 8, it moved to a standalone-only mode (using the </a:t>
            </a:r>
            <a:r>
              <a:rPr lang="en-US" sz="1000" dirty="0" err="1"/>
              <a:t>Zeebe</a:t>
            </a:r>
            <a:r>
              <a:rPr lang="en-US" sz="1000" dirty="0"/>
              <a:t> engine) to solve </a:t>
            </a:r>
            <a:r>
              <a:rPr lang="en-US" sz="1000" dirty="0">
                <a:highlight>
                  <a:srgbClr val="FFFF00"/>
                </a:highlight>
              </a:rPr>
              <a:t>scalability</a:t>
            </a:r>
            <a:r>
              <a:rPr lang="en-US" sz="1000" dirty="0"/>
              <a:t> issues often found in embedded deployments.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Collaboration: Provides excellent tools like the Camunda Modeler for developer-business alignment.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Deployment: No longer supports an "embedded" Java mode in version 8, favoring a remote engine approach for better microservices isolation. </a:t>
            </a:r>
          </a:p>
          <a:p>
            <a:r>
              <a:rPr lang="en-US" sz="1000" b="1" dirty="0"/>
              <a:t> </a:t>
            </a:r>
          </a:p>
          <a:p>
            <a:r>
              <a:rPr lang="en-US" sz="1000" b="1" dirty="0"/>
              <a:t>3. Flowable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Case Management: Offers the most robust support for </a:t>
            </a:r>
            <a:r>
              <a:rPr lang="en-US" sz="1000" dirty="0">
                <a:highlight>
                  <a:srgbClr val="FFFF00"/>
                </a:highlight>
              </a:rPr>
              <a:t>CMMN</a:t>
            </a:r>
            <a:r>
              <a:rPr lang="en-US" sz="1000" dirty="0"/>
              <a:t> (Case Management Model and Notation) and DMN, making it ideal for processes that aren't strictly linear.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Performance: Refactored the original Activiti engine into a "v6 engine" that provides more predictable and consistent execution scopes.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Developer Friendly: Known for its lightweight footprint and ease of running in serverless environments like AWS Lambda. </a:t>
            </a:r>
          </a:p>
          <a:p>
            <a:endParaRPr lang="en-US" sz="1000" b="1" dirty="0"/>
          </a:p>
          <a:p>
            <a:r>
              <a:rPr lang="en-US" sz="1000" b="1" dirty="0"/>
              <a:t>4. Activiti (Alfresco)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Cloud Native: The current version (Activiti 7) is built from the ground up for </a:t>
            </a:r>
            <a:r>
              <a:rPr lang="en-US" sz="1000" dirty="0">
                <a:highlight>
                  <a:srgbClr val="FFFF00"/>
                </a:highlight>
              </a:rPr>
              <a:t>Kubernetes and Docker</a:t>
            </a:r>
            <a:r>
              <a:rPr lang="en-US" sz="1000" dirty="0"/>
              <a:t>, focusing on being a set of "cloud-native building blocks".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History: After the Flowable fork in 2016, the original Activiti project became quieter but has since reinvented itself as a lightweight automation platform for modern infrastructures.</a:t>
            </a:r>
            <a:endParaRPr lang="en-IN" sz="10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0F442CC-4723-2FD0-FA8C-D0DAF24707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532" y="978408"/>
            <a:ext cx="5982535" cy="5639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81450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775F4E7-B9C0-8481-D687-613CB8F619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3226" y="820872"/>
            <a:ext cx="6182588" cy="5344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33483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E2538-AFD5-96DC-AA27-16DBE66DB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References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D9DC4D-16A8-49F3-FFE7-E725893074D8}"/>
              </a:ext>
            </a:extLst>
          </p:cNvPr>
          <p:cNvSpPr txBox="1"/>
          <p:nvPr/>
        </p:nvSpPr>
        <p:spPr>
          <a:xfrm>
            <a:off x="3047238" y="3105835"/>
            <a:ext cx="609447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hlinkClick r:id="rId2"/>
              </a:rPr>
              <a:t>https://www.youtube.com/watch?v=mEQzR9cTnn8&amp;list=PLOjnr_4lopxbTz-W1rF9PiYU2JYjqCUMw&amp;index=2</a:t>
            </a:r>
            <a:r>
              <a:rPr lang="en-IN" dirty="0"/>
              <a:t> </a:t>
            </a:r>
          </a:p>
          <a:p>
            <a:endParaRPr lang="en-IN" dirty="0"/>
          </a:p>
          <a:p>
            <a:r>
              <a:rPr lang="en-IN" dirty="0">
                <a:hlinkClick r:id="rId3"/>
              </a:rPr>
              <a:t>https://www.youtube.com/watch?v=wa4ehhzYZrA&amp;list=PLOjnr_4lopxbTz-W1rF9PiYU2JYjqCUMw&amp;index=4</a:t>
            </a:r>
            <a:r>
              <a:rPr lang="en-IN" dirty="0"/>
              <a:t> 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023503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365</Words>
  <Application>Microsoft Office PowerPoint</Application>
  <PresentationFormat>Widescreen</PresentationFormat>
  <Paragraphs>28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BPMN</vt:lpstr>
      <vt:lpstr>PowerPoint Presentation</vt:lpstr>
      <vt:lpstr>PowerPoint Presentation</vt:lpstr>
      <vt:lpstr>PowerPoint Presentation</vt:lpstr>
      <vt:lpstr>Comparison - General</vt:lpstr>
      <vt:lpstr>PowerPoint Presentation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Urmisha Sengupta</dc:creator>
  <cp:lastModifiedBy>Urmisha Sengupta</cp:lastModifiedBy>
  <cp:revision>18</cp:revision>
  <dcterms:created xsi:type="dcterms:W3CDTF">2026-03-29T15:05:05Z</dcterms:created>
  <dcterms:modified xsi:type="dcterms:W3CDTF">2026-03-29T17:01:01Z</dcterms:modified>
</cp:coreProperties>
</file>